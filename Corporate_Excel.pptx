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Day 2 of our Excel workshop. You survived Day 1 — today we go deeper. By 11 AM you'll have real, practical Excel skills you can use starting Monday morning.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3 hours. Seven modules, each ending with a hands-on practice session. Research shows we retain skills far better when we apply them immediately — so expect to actually do the thing, not just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any formulas, let's get oriented in the Excel interface. Think of this like learning the dashboard of a car before you drive. Five key zones to know — and I want you to be able to name them all by the time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quick navigation tips that will save you real time. The Name Box is underrated — type any cell address and hit Enter to jump straight there, no scrolling. Ctrl+End jumps to the last used cell in your sheet — great for spotting where data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Open Excel, find all five labeled interface zones on your screen, then create a new workbook and save it. Call it MyFirstWorkbook.xlsx. That save step is important — we'll use this file throughout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these two tables. Same data, completely different impression. The one on the left is what raw data looks like when it comes out of a database or someone emails it to you. The one on the right is what a professional sends in a report. Formatting is communication — it signals that you're on top of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these seven shortcuts and you'll format faster than anyone else in your office. Ctrl+1 is the most powerful — it opens the Format Cells dialog for anything selected. I use it every single day. Ctrl+B, Ctrl+I, Ctrl+U work exactly like Word. The others we'll use throughout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formatting is a display mask — the underlying number never changes. 52000 is always 52000, but you can show it as $52,000, 52,000.00, or 5.20E+4 depending on who's reading. Date formatting works the same way — Excel stores dates as serial numbers and the format just changes how they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 sample dataset is in the shared folder. Your goal is to match the target screenshot exactly — bold headers, currency format on Salary, date format on Hire Date, and a border around the full table.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formula is just an instruction: take these inputs, do this operation, show me the result. Every formula starts with an equals sign — that's how Excel knows it's a calculation, not just text. Inside the formula, you reference cells by their address: column letter, row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adds every number in a range. AVERAGE divides the total by the count. Notice both use the exact same range — B2 through B11 — but give completely different answers. The function name changes the question you're asking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returns the smallest value in a range. MAX returns the largest. Together these four functions — SUM, AVERAGE, MIN, MAX — answer the majority of questions you'll ever ask about a column of numbers. Master these four and you're already ahead of most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power: the same column of salary data produces four completely different insights simultaneously. Write the formula once, and Excel handles all the arithmetic instantly — even if there are 10,000 rows. This is why formulas beat calculators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Open the salary dataset and build all four formulas beneath the table. The bonus question about Sales department salaries is a preview of SUMIF, which we'll cover in Module 5. Give it a try if you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one of the most-used features in Excel. You can sort by any column, ascending or descending. The real power is multi-level sorting — sort by Department A to Z first, then by Salary high to low within each department. That's how you make sense of large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is like wearing glasses that only show you the rows you care about. The other rows aren't deleted — they're hidden. Click the dropdown arrow on any header, uncheck what you don't want to see, and Excel instantly narrows the view. Click Clear Filter to bring everything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Merging data means connecting two separate tables that share a common column — like an Employee ID, a Product Code, or a Region name. You have the data in two places and you want to pull it together. This is the problem VLOOKUP was built to solve, which is exactly what we'll cover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Sort the table, apply the Department filter, and count the Marketing headcount. Here's the interesting question: if you run a SUM formula on the Salary column while the filter is active, does it include the hidden rows? Try it and find out — hint: use SUBTOTAL instead of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VLOOKUP is the most feared and most useful function in Excel. The mental model: you have a lookup value — like an employee ID — and you ask Excel to find that value in the first column of a reference table, then return something from a column to the right of it. That's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arguments of VLOOKUP: what to look up, where to look, which column number to return, and whether you want an exact match. The fourth argument — FALSE — is critical. It means exact match only. Always use FALSE unless you're doing something very specific with sorted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COUNTIF counts rows where a condition is true. The syntax is simple: the range to check, then the criteria to match. You can use wildcards — asterisk before and after a word to match anything containing that word. COUNTIF is your go-to for frequency questions: how many orders, how many employees, how many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SUMIF adds up values where a condition is true. Three arguments: the range to check the condition against, the condition itself, and the range to sum. This is how you answer questions like 'what's the total revenue from the East region' or 'what's the total salary for the Marketing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reference card for all three functions. Print this out or screenshot it — these three together can answer an enormous range of business questions. The key difference: VLOOKUP pulls a value from a row. COUNTIF counts matching rows. SUMIF totals matching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 this is the most complex practice in the workshop. Take your time setting up VLOOKUP. The most common mistake: forgetting to lock the table reference with dollar signs, so the range shifts when you copy the formula down. Use F4 after selecting the range to add the dollar signs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transform numbers into understanding. Before we build any chart, ask yourself: what story am I trying to tell? The chart type you choose should make the insight obvious to someone who's never seen the data before. If someone has to study your chart to understand it, it's the wrong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and column charts are your workhorses — use them whenever you're comparing quantities across categories. Columns go left to right and work well for showing change over time. Bars go horizontal and are better when you have long category names that would get crowded on an X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 charts work only when your slices add up to a meaningful 100%, and when you have fewer than six or seven categories. Line charts are the right choice for trends over time — they make the direction of movement immediately clear. Don't use a pie chart when a bar chart would be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decision guide whenever you're unsure which chart to pick. The most common mistake in business reporting: using a pie chart for data that isn't actually part-to-whole. When in doubt, default to a column chart — it's almost always readable, even with complex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to build all three charts. Focus on getting the data ranges right first, then add formatting. Don't forget chart titles — an unlabeled chart is meaningless to anyone who sees it outside of this room. Data labels on the bar chart make it easy to read exact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wow moment of the day. A Pivot Table takes a massive, flat dataset — imagine a thousand rows of raw sales transactions — and collapses it into a clear, interactive summary in seconds. No formulas. No manual counting. Just drag, drop, and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Pivot Table takes about ten seconds once you know the steps. Click anywhere inside your data, go to Insert, click PivotTable, and Excel creates a blank pivot with a field list on the right. Then you drag your column headers into four zones. That's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zones: Rows are your row labels — usually a category like Region or Product. Columns are your column labels — often a time dimension. Values are what you calculate — almost always Sum or Count of a numeric field. Filters let you slice the entire pivot by a dimension without showing it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magic of Pivot Tables is rearrangement. Drag Region from Rows to Columns and your entire view flips. Add a second field to Rows and you get instant subtotals. The same data, infinite views, zero formulas. This is the feature that turns hours of manual reporting into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Create the Pivot Table, add the Year slicer, find the top Q4 region. Then try rearranging the fields — drag Month into Rows instead of Region and see how the pivot transforms instantly. Common mistake: dragging a text field into Values — Excel counts it, which is actually useful for headcount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capstone — all seven skills chained together in sequence. This is exactly what real-world Excel work looks like: raw data arrives, you clean and format it, apply formulas, look things up from a reference table, build a chart, then summarize everything with a Pivot Table. You now have every piece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skills in three hours. You now have a toolkit that covers the vast majority of what knowledge workers use Excel for every day. These aren't niche tricks — SUM, VLOOKUP, and Pivot Tables are in use right now in every company in the world. The goal this week: use them on real work while they're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three focused hours today. One last thought: the gap between someone who's good at Excel and someone who's not isn't talent — it's repetition. You have the foundation. Go use it on something real this week, make mistakes, and you'll be surprised how quickly it clicks.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8000"/>
            </a:srgbClr>
          </a:solidFill>
          <a:ln/>
        </p:spPr>
      </p:sp>
      <p:sp>
        <p:nvSpPr>
          <p:cNvPr id="3" name="Shape 1"/>
          <p:cNvSpPr/>
          <p:nvPr/>
        </p:nvSpPr>
        <p:spPr>
          <a:xfrm>
            <a:off x="12763500" y="0"/>
            <a:ext cx="5524500" cy="10287000"/>
          </a:xfrm>
          <a:prstGeom prst="rect">
            <a:avLst/>
          </a:prstGeom>
          <a:solidFill>
            <a:srgbClr val="2DD4BF">
              <a:alpha val="5000"/>
            </a:srgbClr>
          </a:solidFill>
          <a:ln/>
        </p:spPr>
      </p:sp>
      <p:sp>
        <p:nvSpPr>
          <p:cNvPr id="4" name="Shape 2"/>
          <p:cNvSpPr/>
          <p:nvPr/>
        </p:nvSpPr>
        <p:spPr>
          <a:xfrm>
            <a:off x="952500" y="5543550"/>
            <a:ext cx="1143000" cy="57150"/>
          </a:xfrm>
          <a:prstGeom prst="roundRect">
            <a:avLst>
              <a:gd name="adj" fmla="val 50000"/>
            </a:avLst>
          </a:prstGeom>
          <a:solidFill>
            <a:srgbClr val="2DD4BF"/>
          </a:solidFill>
          <a:ln/>
        </p:spPr>
      </p:sp>
      <p:sp>
        <p:nvSpPr>
          <p:cNvPr id="5" name="Text 3"/>
          <p:cNvSpPr/>
          <p:nvPr/>
        </p:nvSpPr>
        <p:spPr>
          <a:xfrm>
            <a:off x="952500" y="5981700"/>
            <a:ext cx="11772900"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225" kern="0" dirty="0">
                <a:solidFill>
                  <a:srgbClr val="F0F6FC"/>
                </a:solidFill>
                <a:latin typeface="Arial" pitchFamily="34" charset="0"/>
                <a:ea typeface="Arial" pitchFamily="34" charset="-122"/>
                <a:cs typeface="Arial" pitchFamily="34" charset="-120"/>
              </a:rPr>
              <a:t>Mastering </a:t>
            </a:r>
            <a:pPr algn="l" indent="0" marL="0">
              <a:lnSpc>
                <a:spcPct val="100000"/>
              </a:lnSpc>
              <a:buNone/>
            </a:pPr>
            <a:r>
              <a:rPr lang="en-US" sz="7500" b="1" spc="-225" kern="0" dirty="0">
                <a:solidFill>
                  <a:srgbClr val="2DD4BF"/>
                </a:solidFill>
                <a:latin typeface="Arial" pitchFamily="34" charset="0"/>
                <a:ea typeface="Arial" pitchFamily="34" charset="-122"/>
                <a:cs typeface="Arial" pitchFamily="34" charset="-120"/>
              </a:rPr>
              <a:t>Microsoft </a:t>
            </a:r>
            <a:pPr algn="l" indent="0" marL="0">
              <a:lnSpc>
                <a:spcPct val="100000"/>
              </a:lnSpc>
              <a:buNone/>
            </a:pPr>
            <a:r>
              <a:rPr lang="en-US" sz="7500" b="1" spc="-225" kern="0" dirty="0">
                <a:solidFill>
                  <a:srgbClr val="F0F6FC"/>
                </a:solidFill>
                <a:latin typeface="Arial" pitchFamily="34" charset="0"/>
                <a:ea typeface="Arial" pitchFamily="34" charset="-122"/>
                <a:cs typeface="Arial" pitchFamily="34" charset="-120"/>
              </a:rPr>
              <a:t>Excel</a:t>
            </a:r>
            <a:endParaRPr lang="en-US" sz="7500" dirty="0"/>
          </a:p>
        </p:txBody>
      </p:sp>
      <p:sp>
        <p:nvSpPr>
          <p:cNvPr id="6" name="Text 4"/>
          <p:cNvSpPr/>
          <p:nvPr/>
        </p:nvSpPr>
        <p:spPr>
          <a:xfrm>
            <a:off x="952500" y="8229600"/>
            <a:ext cx="16874490" cy="40386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7D8590"/>
                </a:solidFill>
                <a:latin typeface="Arial" pitchFamily="34" charset="0"/>
                <a:ea typeface="Arial" pitchFamily="34" charset="-122"/>
                <a:cs typeface="Arial" pitchFamily="34" charset="-120"/>
              </a:rPr>
              <a:t>Day 2 · 8:00 AM – 11:00 AM · 3-Hour Hands-On Workshop</a:t>
            </a:r>
            <a:endParaRPr lang="en-US" sz="2550" dirty="0"/>
          </a:p>
        </p:txBody>
      </p:sp>
      <p:sp>
        <p:nvSpPr>
          <p:cNvPr id="7" name="Shape 5"/>
          <p:cNvSpPr/>
          <p:nvPr/>
        </p:nvSpPr>
        <p:spPr>
          <a:xfrm>
            <a:off x="952500" y="8955405"/>
            <a:ext cx="95250" cy="95250"/>
          </a:xfrm>
          <a:prstGeom prst="ellipse">
            <a:avLst/>
          </a:prstGeom>
          <a:solidFill>
            <a:srgbClr val="2DD4BF"/>
          </a:solidFill>
          <a:ln/>
        </p:spPr>
      </p:sp>
      <p:sp>
        <p:nvSpPr>
          <p:cNvPr id="8" name="Text 6"/>
          <p:cNvSpPr/>
          <p:nvPr/>
        </p:nvSpPr>
        <p:spPr>
          <a:xfrm>
            <a:off x="1200150" y="8862060"/>
            <a:ext cx="4465854" cy="32004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Beginner-friendly · Practical · Hands-on</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952500" y="762000"/>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Today's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Roadmap</a:t>
            </a:r>
            <a:endParaRPr lang="en-US" sz="5400" dirty="0"/>
          </a:p>
        </p:txBody>
      </p:sp>
      <p:sp>
        <p:nvSpPr>
          <p:cNvPr id="3" name="Shape 1"/>
          <p:cNvSpPr/>
          <p:nvPr/>
        </p:nvSpPr>
        <p:spPr>
          <a:xfrm>
            <a:off x="952500" y="1973580"/>
            <a:ext cx="1714500" cy="6995160"/>
          </a:xfrm>
          <a:prstGeom prst="roundRect">
            <a:avLst>
              <a:gd name="adj" fmla="val 6667"/>
            </a:avLst>
          </a:prstGeom>
          <a:solidFill>
            <a:srgbClr val="161B22"/>
          </a:solidFill>
          <a:ln w="7620">
            <a:solidFill>
              <a:srgbClr val="FFFFFF">
                <a:alpha val="8000"/>
              </a:srgbClr>
            </a:solidFill>
            <a:prstDash val="solid"/>
          </a:ln>
        </p:spPr>
      </p:sp>
      <p:sp>
        <p:nvSpPr>
          <p:cNvPr id="4" name="Text 2"/>
          <p:cNvSpPr/>
          <p:nvPr/>
        </p:nvSpPr>
        <p:spPr>
          <a:xfrm>
            <a:off x="1577102" y="4751070"/>
            <a:ext cx="465296"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01</a:t>
            </a:r>
            <a:endParaRPr lang="en-US" sz="2850" dirty="0"/>
          </a:p>
        </p:txBody>
      </p:sp>
      <p:sp>
        <p:nvSpPr>
          <p:cNvPr id="5" name="Text 3"/>
          <p:cNvSpPr/>
          <p:nvPr/>
        </p:nvSpPr>
        <p:spPr>
          <a:xfrm>
            <a:off x="1476732" y="5261610"/>
            <a:ext cx="666036"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Excel Intro</a:t>
            </a:r>
            <a:endParaRPr lang="en-US" sz="1800" dirty="0"/>
          </a:p>
        </p:txBody>
      </p:sp>
      <p:sp>
        <p:nvSpPr>
          <p:cNvPr id="6" name="Text 4"/>
          <p:cNvSpPr/>
          <p:nvPr/>
        </p:nvSpPr>
        <p:spPr>
          <a:xfrm>
            <a:off x="1428512"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20 min</a:t>
            </a:r>
            <a:endParaRPr lang="en-US" sz="1800" dirty="0"/>
          </a:p>
        </p:txBody>
      </p:sp>
      <p:sp>
        <p:nvSpPr>
          <p:cNvPr id="7" name="Shape 5"/>
          <p:cNvSpPr/>
          <p:nvPr/>
        </p:nvSpPr>
        <p:spPr>
          <a:xfrm>
            <a:off x="2937510" y="5414010"/>
            <a:ext cx="114300" cy="114300"/>
          </a:xfrm>
          <a:prstGeom prst="ellipse">
            <a:avLst/>
          </a:prstGeom>
          <a:solidFill>
            <a:srgbClr val="2DD4BF"/>
          </a:solidFill>
          <a:ln w="15240">
            <a:solidFill>
              <a:srgbClr val="0D1117"/>
            </a:solidFill>
            <a:prstDash val="solid"/>
          </a:ln>
        </p:spPr>
      </p:sp>
      <p:sp>
        <p:nvSpPr>
          <p:cNvPr id="8" name="Shape 6"/>
          <p:cNvSpPr/>
          <p:nvPr/>
        </p:nvSpPr>
        <p:spPr>
          <a:xfrm>
            <a:off x="3322439" y="1973580"/>
            <a:ext cx="1714500" cy="6995160"/>
          </a:xfrm>
          <a:prstGeom prst="roundRect">
            <a:avLst>
              <a:gd name="adj" fmla="val 6667"/>
            </a:avLst>
          </a:prstGeom>
          <a:solidFill>
            <a:srgbClr val="161B22"/>
          </a:solidFill>
          <a:ln w="7620">
            <a:solidFill>
              <a:srgbClr val="FFFFFF">
                <a:alpha val="8000"/>
              </a:srgbClr>
            </a:solidFill>
            <a:prstDash val="solid"/>
          </a:ln>
        </p:spPr>
      </p:sp>
      <p:sp>
        <p:nvSpPr>
          <p:cNvPr id="9" name="Text 7"/>
          <p:cNvSpPr/>
          <p:nvPr/>
        </p:nvSpPr>
        <p:spPr>
          <a:xfrm>
            <a:off x="3922514" y="4751070"/>
            <a:ext cx="514231"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02</a:t>
            </a:r>
            <a:endParaRPr lang="en-US" sz="2850" dirty="0"/>
          </a:p>
        </p:txBody>
      </p:sp>
      <p:sp>
        <p:nvSpPr>
          <p:cNvPr id="10" name="Text 8"/>
          <p:cNvSpPr/>
          <p:nvPr/>
        </p:nvSpPr>
        <p:spPr>
          <a:xfrm>
            <a:off x="3463885" y="5261610"/>
            <a:ext cx="1431608"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Data Entry &amp; Formatting</a:t>
            </a:r>
            <a:endParaRPr lang="en-US" sz="1800" dirty="0"/>
          </a:p>
        </p:txBody>
      </p:sp>
      <p:sp>
        <p:nvSpPr>
          <p:cNvPr id="11" name="Text 9"/>
          <p:cNvSpPr/>
          <p:nvPr/>
        </p:nvSpPr>
        <p:spPr>
          <a:xfrm>
            <a:off x="3798451"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25 min</a:t>
            </a:r>
            <a:endParaRPr lang="en-US" sz="1800" dirty="0"/>
          </a:p>
        </p:txBody>
      </p:sp>
      <p:sp>
        <p:nvSpPr>
          <p:cNvPr id="12" name="Shape 10"/>
          <p:cNvSpPr/>
          <p:nvPr/>
        </p:nvSpPr>
        <p:spPr>
          <a:xfrm>
            <a:off x="5307568" y="5414010"/>
            <a:ext cx="114300" cy="114300"/>
          </a:xfrm>
          <a:prstGeom prst="ellipse">
            <a:avLst/>
          </a:prstGeom>
          <a:solidFill>
            <a:srgbClr val="2DD4BF"/>
          </a:solidFill>
          <a:ln w="15240">
            <a:solidFill>
              <a:srgbClr val="0D1117"/>
            </a:solidFill>
            <a:prstDash val="solid"/>
          </a:ln>
        </p:spPr>
      </p:sp>
      <p:sp>
        <p:nvSpPr>
          <p:cNvPr id="13" name="Shape 11"/>
          <p:cNvSpPr/>
          <p:nvPr/>
        </p:nvSpPr>
        <p:spPr>
          <a:xfrm>
            <a:off x="5692497" y="1973580"/>
            <a:ext cx="1714500" cy="6995160"/>
          </a:xfrm>
          <a:prstGeom prst="roundRect">
            <a:avLst>
              <a:gd name="adj" fmla="val 6667"/>
            </a:avLst>
          </a:prstGeom>
          <a:solidFill>
            <a:srgbClr val="161B22"/>
          </a:solidFill>
          <a:ln w="7620">
            <a:solidFill>
              <a:srgbClr val="FFFFFF">
                <a:alpha val="8000"/>
              </a:srgbClr>
            </a:solidFill>
            <a:prstDash val="solid"/>
          </a:ln>
        </p:spPr>
      </p:sp>
      <p:sp>
        <p:nvSpPr>
          <p:cNvPr id="14" name="Text 12"/>
          <p:cNvSpPr/>
          <p:nvPr/>
        </p:nvSpPr>
        <p:spPr>
          <a:xfrm>
            <a:off x="6292572" y="4751070"/>
            <a:ext cx="514231"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03</a:t>
            </a:r>
            <a:endParaRPr lang="en-US" sz="2850" dirty="0"/>
          </a:p>
        </p:txBody>
      </p:sp>
      <p:sp>
        <p:nvSpPr>
          <p:cNvPr id="15" name="Text 13"/>
          <p:cNvSpPr/>
          <p:nvPr/>
        </p:nvSpPr>
        <p:spPr>
          <a:xfrm>
            <a:off x="5919431" y="5261610"/>
            <a:ext cx="1260634"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SUM, AVG, MIN, MAX</a:t>
            </a:r>
            <a:endParaRPr lang="en-US" sz="1800" dirty="0"/>
          </a:p>
        </p:txBody>
      </p:sp>
      <p:sp>
        <p:nvSpPr>
          <p:cNvPr id="16" name="Text 14"/>
          <p:cNvSpPr/>
          <p:nvPr/>
        </p:nvSpPr>
        <p:spPr>
          <a:xfrm>
            <a:off x="6168509"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25 min</a:t>
            </a:r>
            <a:endParaRPr lang="en-US" sz="1800" dirty="0"/>
          </a:p>
        </p:txBody>
      </p:sp>
      <p:sp>
        <p:nvSpPr>
          <p:cNvPr id="17" name="Shape 15"/>
          <p:cNvSpPr/>
          <p:nvPr/>
        </p:nvSpPr>
        <p:spPr>
          <a:xfrm>
            <a:off x="7677508" y="5414010"/>
            <a:ext cx="114300" cy="114300"/>
          </a:xfrm>
          <a:prstGeom prst="ellipse">
            <a:avLst/>
          </a:prstGeom>
          <a:solidFill>
            <a:srgbClr val="2DD4BF"/>
          </a:solidFill>
          <a:ln w="15240">
            <a:solidFill>
              <a:srgbClr val="0D1117"/>
            </a:solidFill>
            <a:prstDash val="solid"/>
          </a:ln>
        </p:spPr>
      </p:sp>
      <p:sp>
        <p:nvSpPr>
          <p:cNvPr id="18" name="Shape 16"/>
          <p:cNvSpPr/>
          <p:nvPr/>
        </p:nvSpPr>
        <p:spPr>
          <a:xfrm>
            <a:off x="8062436" y="1973580"/>
            <a:ext cx="1714500" cy="6995160"/>
          </a:xfrm>
          <a:prstGeom prst="roundRect">
            <a:avLst>
              <a:gd name="adj" fmla="val 6667"/>
            </a:avLst>
          </a:prstGeom>
          <a:solidFill>
            <a:srgbClr val="161B22"/>
          </a:solidFill>
          <a:ln w="7620">
            <a:solidFill>
              <a:srgbClr val="FFFFFF">
                <a:alpha val="8000"/>
              </a:srgbClr>
            </a:solidFill>
            <a:prstDash val="solid"/>
          </a:ln>
        </p:spPr>
      </p:sp>
      <p:sp>
        <p:nvSpPr>
          <p:cNvPr id="19" name="Text 17"/>
          <p:cNvSpPr/>
          <p:nvPr/>
        </p:nvSpPr>
        <p:spPr>
          <a:xfrm>
            <a:off x="8653343" y="4751070"/>
            <a:ext cx="532686"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04</a:t>
            </a:r>
            <a:endParaRPr lang="en-US" sz="2850" dirty="0"/>
          </a:p>
        </p:txBody>
      </p:sp>
      <p:sp>
        <p:nvSpPr>
          <p:cNvPr id="20" name="Text 18"/>
          <p:cNvSpPr/>
          <p:nvPr/>
        </p:nvSpPr>
        <p:spPr>
          <a:xfrm>
            <a:off x="8307229" y="5261610"/>
            <a:ext cx="1224796"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Sort, Filter &amp; Merge</a:t>
            </a:r>
            <a:endParaRPr lang="en-US" sz="1800" dirty="0"/>
          </a:p>
        </p:txBody>
      </p:sp>
      <p:sp>
        <p:nvSpPr>
          <p:cNvPr id="21" name="Text 19"/>
          <p:cNvSpPr/>
          <p:nvPr/>
        </p:nvSpPr>
        <p:spPr>
          <a:xfrm>
            <a:off x="8538448"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20 min</a:t>
            </a:r>
            <a:endParaRPr lang="en-US" sz="1800" dirty="0"/>
          </a:p>
        </p:txBody>
      </p:sp>
      <p:sp>
        <p:nvSpPr>
          <p:cNvPr id="22" name="Shape 20"/>
          <p:cNvSpPr/>
          <p:nvPr/>
        </p:nvSpPr>
        <p:spPr>
          <a:xfrm>
            <a:off x="10047566" y="5414010"/>
            <a:ext cx="114300" cy="114300"/>
          </a:xfrm>
          <a:prstGeom prst="ellipse">
            <a:avLst/>
          </a:prstGeom>
          <a:solidFill>
            <a:srgbClr val="2DD4BF"/>
          </a:solidFill>
          <a:ln w="15240">
            <a:solidFill>
              <a:srgbClr val="0D1117"/>
            </a:solidFill>
            <a:prstDash val="solid"/>
          </a:ln>
        </p:spPr>
      </p:sp>
      <p:sp>
        <p:nvSpPr>
          <p:cNvPr id="23" name="Shape 21"/>
          <p:cNvSpPr/>
          <p:nvPr/>
        </p:nvSpPr>
        <p:spPr>
          <a:xfrm>
            <a:off x="10432495" y="1973580"/>
            <a:ext cx="2162889" cy="6995160"/>
          </a:xfrm>
          <a:prstGeom prst="roundRect">
            <a:avLst>
              <a:gd name="adj" fmla="val 5285"/>
            </a:avLst>
          </a:prstGeom>
          <a:solidFill>
            <a:srgbClr val="161B22"/>
          </a:solidFill>
          <a:ln w="7620">
            <a:solidFill>
              <a:srgbClr val="FFFFFF">
                <a:alpha val="8000"/>
              </a:srgbClr>
            </a:solidFill>
            <a:prstDash val="solid"/>
          </a:ln>
        </p:spPr>
      </p:sp>
      <p:sp>
        <p:nvSpPr>
          <p:cNvPr id="24" name="Text 22"/>
          <p:cNvSpPr/>
          <p:nvPr/>
        </p:nvSpPr>
        <p:spPr>
          <a:xfrm>
            <a:off x="11260931" y="4751070"/>
            <a:ext cx="505897"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05</a:t>
            </a:r>
            <a:endParaRPr lang="en-US" sz="2850" dirty="0"/>
          </a:p>
        </p:txBody>
      </p:sp>
      <p:sp>
        <p:nvSpPr>
          <p:cNvPr id="25" name="Text 23"/>
          <p:cNvSpPr/>
          <p:nvPr/>
        </p:nvSpPr>
        <p:spPr>
          <a:xfrm>
            <a:off x="10554415" y="5261610"/>
            <a:ext cx="1919049"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VLOOKUP, COUNTIF, SUMIF</a:t>
            </a:r>
            <a:endParaRPr lang="en-US" sz="1800" dirty="0"/>
          </a:p>
        </p:txBody>
      </p:sp>
      <p:sp>
        <p:nvSpPr>
          <p:cNvPr id="26" name="Text 24"/>
          <p:cNvSpPr/>
          <p:nvPr/>
        </p:nvSpPr>
        <p:spPr>
          <a:xfrm>
            <a:off x="11132701"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30 min</a:t>
            </a:r>
            <a:endParaRPr lang="en-US" sz="1800" dirty="0"/>
          </a:p>
        </p:txBody>
      </p:sp>
      <p:sp>
        <p:nvSpPr>
          <p:cNvPr id="27" name="Shape 25"/>
          <p:cNvSpPr/>
          <p:nvPr/>
        </p:nvSpPr>
        <p:spPr>
          <a:xfrm>
            <a:off x="12866014" y="5414010"/>
            <a:ext cx="114300" cy="114300"/>
          </a:xfrm>
          <a:prstGeom prst="ellipse">
            <a:avLst/>
          </a:prstGeom>
          <a:solidFill>
            <a:srgbClr val="2DD4BF"/>
          </a:solidFill>
          <a:ln w="15240">
            <a:solidFill>
              <a:srgbClr val="0D1117"/>
            </a:solidFill>
            <a:prstDash val="solid"/>
          </a:ln>
        </p:spPr>
      </p:sp>
      <p:sp>
        <p:nvSpPr>
          <p:cNvPr id="28" name="Shape 26"/>
          <p:cNvSpPr/>
          <p:nvPr/>
        </p:nvSpPr>
        <p:spPr>
          <a:xfrm>
            <a:off x="13250942" y="1973580"/>
            <a:ext cx="1714500" cy="6995160"/>
          </a:xfrm>
          <a:prstGeom prst="roundRect">
            <a:avLst>
              <a:gd name="adj" fmla="val 6667"/>
            </a:avLst>
          </a:prstGeom>
          <a:solidFill>
            <a:srgbClr val="161B22"/>
          </a:solidFill>
          <a:ln w="7620">
            <a:solidFill>
              <a:srgbClr val="FFFFFF">
                <a:alpha val="8000"/>
              </a:srgbClr>
            </a:solidFill>
            <a:prstDash val="solid"/>
          </a:ln>
        </p:spPr>
      </p:sp>
      <p:sp>
        <p:nvSpPr>
          <p:cNvPr id="29" name="Text 27"/>
          <p:cNvSpPr/>
          <p:nvPr/>
        </p:nvSpPr>
        <p:spPr>
          <a:xfrm>
            <a:off x="13848516" y="4751070"/>
            <a:ext cx="519232"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06</a:t>
            </a:r>
            <a:endParaRPr lang="en-US" sz="2850" dirty="0"/>
          </a:p>
        </p:txBody>
      </p:sp>
      <p:sp>
        <p:nvSpPr>
          <p:cNvPr id="30" name="Text 28"/>
          <p:cNvSpPr/>
          <p:nvPr/>
        </p:nvSpPr>
        <p:spPr>
          <a:xfrm>
            <a:off x="13592413" y="5261610"/>
            <a:ext cx="1031558"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Tables &amp; Charts</a:t>
            </a:r>
            <a:endParaRPr lang="en-US" sz="1800" dirty="0"/>
          </a:p>
        </p:txBody>
      </p:sp>
      <p:sp>
        <p:nvSpPr>
          <p:cNvPr id="31" name="Text 29"/>
          <p:cNvSpPr/>
          <p:nvPr/>
        </p:nvSpPr>
        <p:spPr>
          <a:xfrm>
            <a:off x="13726954"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25 min</a:t>
            </a:r>
            <a:endParaRPr lang="en-US" sz="1800" dirty="0"/>
          </a:p>
        </p:txBody>
      </p:sp>
      <p:sp>
        <p:nvSpPr>
          <p:cNvPr id="32" name="Shape 30"/>
          <p:cNvSpPr/>
          <p:nvPr/>
        </p:nvSpPr>
        <p:spPr>
          <a:xfrm>
            <a:off x="15236071" y="5414010"/>
            <a:ext cx="114300" cy="114300"/>
          </a:xfrm>
          <a:prstGeom prst="ellipse">
            <a:avLst/>
          </a:prstGeom>
          <a:solidFill>
            <a:srgbClr val="2DD4BF"/>
          </a:solidFill>
          <a:ln w="15240">
            <a:solidFill>
              <a:srgbClr val="0D1117"/>
            </a:solidFill>
            <a:prstDash val="solid"/>
          </a:ln>
        </p:spPr>
      </p:sp>
      <p:sp>
        <p:nvSpPr>
          <p:cNvPr id="33" name="Shape 31"/>
          <p:cNvSpPr/>
          <p:nvPr/>
        </p:nvSpPr>
        <p:spPr>
          <a:xfrm>
            <a:off x="15621000" y="1973580"/>
            <a:ext cx="1714500" cy="6995160"/>
          </a:xfrm>
          <a:prstGeom prst="roundRect">
            <a:avLst>
              <a:gd name="adj" fmla="val 6667"/>
            </a:avLst>
          </a:prstGeom>
          <a:solidFill>
            <a:srgbClr val="161B22"/>
          </a:solidFill>
          <a:ln w="7620">
            <a:solidFill>
              <a:srgbClr val="2DD4BF">
                <a:alpha val="30000"/>
              </a:srgbClr>
            </a:solidFill>
            <a:prstDash val="solid"/>
          </a:ln>
        </p:spPr>
      </p:sp>
      <p:sp>
        <p:nvSpPr>
          <p:cNvPr id="34" name="Text 32"/>
          <p:cNvSpPr/>
          <p:nvPr/>
        </p:nvSpPr>
        <p:spPr>
          <a:xfrm>
            <a:off x="16222742" y="4751070"/>
            <a:ext cx="511016" cy="472440"/>
          </a:xfrm>
          <a:prstGeom prst="rect">
            <a:avLst/>
          </a:prstGeom>
          <a:noFill/>
          <a:ln/>
        </p:spPr>
        <p:txBody>
          <a:bodyPr wrap="square" lIns="25400" tIns="25400" rIns="25400" bIns="25400" rtlCol="0" anchor="t">
            <a:normAutofit/>
          </a:bodyPr>
          <a:lstStyle/>
          <a:p>
            <a:pPr algn="ctr" indent="0" marL="0">
              <a:buNone/>
            </a:pPr>
            <a:r>
              <a:rPr lang="en-US" sz="2850" b="1" dirty="0">
                <a:solidFill>
                  <a:srgbClr val="2DD4BF"/>
                </a:solidFill>
                <a:latin typeface="Arial" pitchFamily="34" charset="0"/>
                <a:ea typeface="Arial" pitchFamily="34" charset="-122"/>
                <a:cs typeface="Arial" pitchFamily="34" charset="-120"/>
              </a:rPr>
              <a:t>07</a:t>
            </a:r>
            <a:endParaRPr lang="en-US" sz="2850" dirty="0"/>
          </a:p>
        </p:txBody>
      </p:sp>
      <p:sp>
        <p:nvSpPr>
          <p:cNvPr id="35" name="Text 33"/>
          <p:cNvSpPr/>
          <p:nvPr/>
        </p:nvSpPr>
        <p:spPr>
          <a:xfrm>
            <a:off x="16086891" y="5261610"/>
            <a:ext cx="782598" cy="632460"/>
          </a:xfrm>
          <a:prstGeom prst="rect">
            <a:avLst/>
          </a:prstGeom>
          <a:noFill/>
          <a:ln/>
        </p:spPr>
        <p:txBody>
          <a:bodyPr wrap="square" lIns="25400" tIns="25400" rIns="25400" bIns="25400" rtlCol="0" anchor="t">
            <a:normAutofit/>
          </a:bodyPr>
          <a:lstStyle/>
          <a:p>
            <a:pPr algn="ctr" indent="0" marL="0">
              <a:lnSpc>
                <a:spcPct val="130000"/>
              </a:lnSpc>
              <a:buNone/>
            </a:pPr>
            <a:r>
              <a:rPr lang="en-US" sz="1800" b="1" dirty="0">
                <a:solidFill>
                  <a:srgbClr val="F0F6FC"/>
                </a:solidFill>
                <a:latin typeface="Arial" pitchFamily="34" charset="0"/>
                <a:ea typeface="Arial" pitchFamily="34" charset="-122"/>
                <a:cs typeface="Arial" pitchFamily="34" charset="-120"/>
              </a:rPr>
              <a:t>Pivot Tables</a:t>
            </a:r>
            <a:endParaRPr lang="en-US" sz="1800" dirty="0"/>
          </a:p>
        </p:txBody>
      </p:sp>
      <p:sp>
        <p:nvSpPr>
          <p:cNvPr id="36" name="Text 34"/>
          <p:cNvSpPr/>
          <p:nvPr/>
        </p:nvSpPr>
        <p:spPr>
          <a:xfrm>
            <a:off x="16097012" y="5932170"/>
            <a:ext cx="762357"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7D8590"/>
                </a:solidFill>
                <a:latin typeface="Arial" pitchFamily="34" charset="0"/>
                <a:ea typeface="Arial" pitchFamily="34" charset="-122"/>
                <a:cs typeface="Arial" pitchFamily="34" charset="-120"/>
              </a:rPr>
              <a:t>25 min</a:t>
            </a:r>
            <a:endParaRPr lang="en-US" sz="1800" dirty="0"/>
          </a:p>
        </p:txBody>
      </p:sp>
      <p:sp>
        <p:nvSpPr>
          <p:cNvPr id="37" name="Shape 35"/>
          <p:cNvSpPr/>
          <p:nvPr/>
        </p:nvSpPr>
        <p:spPr>
          <a:xfrm>
            <a:off x="952500" y="9342120"/>
            <a:ext cx="114300" cy="114300"/>
          </a:xfrm>
          <a:prstGeom prst="ellipse">
            <a:avLst/>
          </a:prstGeom>
          <a:solidFill>
            <a:srgbClr val="2DD4BF"/>
          </a:solidFill>
          <a:ln/>
        </p:spPr>
      </p:sp>
      <p:sp>
        <p:nvSpPr>
          <p:cNvPr id="38" name="Text 36"/>
          <p:cNvSpPr/>
          <p:nvPr/>
        </p:nvSpPr>
        <p:spPr>
          <a:xfrm>
            <a:off x="1200150" y="9281160"/>
            <a:ext cx="2566749" cy="266700"/>
          </a:xfrm>
          <a:prstGeom prst="rect">
            <a:avLst/>
          </a:prstGeom>
          <a:noFill/>
          <a:ln/>
        </p:spPr>
        <p:txBody>
          <a:bodyPr wrap="square" lIns="0" tIns="0" rIns="0" bIns="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Each connector dot marks a</a:t>
            </a:r>
            <a:endParaRPr lang="en-US" sz="1575" dirty="0"/>
          </a:p>
        </p:txBody>
      </p:sp>
      <p:sp>
        <p:nvSpPr>
          <p:cNvPr id="39" name="Text 37"/>
          <p:cNvSpPr/>
          <p:nvPr/>
        </p:nvSpPr>
        <p:spPr>
          <a:xfrm>
            <a:off x="3824049" y="9273540"/>
            <a:ext cx="684133"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Try It!</a:t>
            </a:r>
            <a:endParaRPr lang="en-US" sz="1575" dirty="0"/>
          </a:p>
        </p:txBody>
      </p:sp>
      <p:sp>
        <p:nvSpPr>
          <p:cNvPr id="40" name="Text 38"/>
          <p:cNvSpPr/>
          <p:nvPr/>
        </p:nvSpPr>
        <p:spPr>
          <a:xfrm>
            <a:off x="4565333" y="9281160"/>
            <a:ext cx="4519445" cy="266700"/>
          </a:xfrm>
          <a:prstGeom prst="rect">
            <a:avLst/>
          </a:prstGeom>
          <a:noFill/>
          <a:ln/>
        </p:spPr>
        <p:txBody>
          <a:bodyPr wrap="square" lIns="0" tIns="0" rIns="0" bIns="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practice session — learn, then immediately apply.</a:t>
            </a:r>
            <a:endParaRPr lang="en-US" sz="15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873413" y="8382000"/>
            <a:ext cx="1919288"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01</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1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Excel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Interface</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Getting oriented in your new workspace</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20 minutes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1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solidFill>
          <a:ln/>
        </p:spPr>
      </p:sp>
      <p:sp>
        <p:nvSpPr>
          <p:cNvPr id="4" name="Shape 2"/>
          <p:cNvSpPr/>
          <p:nvPr/>
        </p:nvSpPr>
        <p:spPr>
          <a:xfrm>
            <a:off x="15563850" y="400050"/>
            <a:ext cx="247650" cy="38100"/>
          </a:xfrm>
          <a:prstGeom prst="roundRect">
            <a:avLst>
              <a:gd name="adj" fmla="val 50000"/>
            </a:avLst>
          </a:prstGeom>
          <a:solidFill>
            <a:srgbClr val="1C2430"/>
          </a:solidFill>
          <a:ln/>
        </p:spPr>
      </p:sp>
      <p:sp>
        <p:nvSpPr>
          <p:cNvPr id="5" name="Shape 3"/>
          <p:cNvSpPr/>
          <p:nvPr/>
        </p:nvSpPr>
        <p:spPr>
          <a:xfrm>
            <a:off x="15868650" y="400050"/>
            <a:ext cx="247650" cy="38100"/>
          </a:xfrm>
          <a:prstGeom prst="roundRect">
            <a:avLst>
              <a:gd name="adj" fmla="val 50000"/>
            </a:avLst>
          </a:prstGeom>
          <a:solidFill>
            <a:srgbClr val="1C2430"/>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The Excel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Interface</a:t>
            </a:r>
            <a:endParaRPr lang="en-US" sz="4200" dirty="0"/>
          </a:p>
        </p:txBody>
      </p:sp>
      <p:sp>
        <p:nvSpPr>
          <p:cNvPr id="11" name="Shape 9"/>
          <p:cNvSpPr/>
          <p:nvPr/>
        </p:nvSpPr>
        <p:spPr>
          <a:xfrm>
            <a:off x="952500" y="1680210"/>
            <a:ext cx="11353800" cy="2922270"/>
          </a:xfrm>
          <a:prstGeom prst="roundRect">
            <a:avLst>
              <a:gd name="adj" fmla="val 1956"/>
            </a:avLst>
          </a:prstGeom>
          <a:solidFill>
            <a:srgbClr val="FFFFFF"/>
          </a:solidFill>
          <a:ln w="7620">
            <a:solidFill>
              <a:srgbClr val="BBBBBB"/>
            </a:solidFill>
            <a:prstDash val="solid"/>
          </a:ln>
        </p:spPr>
      </p:sp>
      <p:sp>
        <p:nvSpPr>
          <p:cNvPr id="12" name="Shape 10"/>
          <p:cNvSpPr/>
          <p:nvPr/>
        </p:nvSpPr>
        <p:spPr>
          <a:xfrm>
            <a:off x="960120" y="1687830"/>
            <a:ext cx="11338560" cy="293370"/>
          </a:xfrm>
          <a:prstGeom prst="rect">
            <a:avLst/>
          </a:prstGeom>
          <a:solidFill>
            <a:srgbClr val="1D6038"/>
          </a:solidFill>
          <a:ln/>
        </p:spPr>
      </p:sp>
      <p:sp>
        <p:nvSpPr>
          <p:cNvPr id="13" name="Shape 11"/>
          <p:cNvSpPr/>
          <p:nvPr/>
        </p:nvSpPr>
        <p:spPr>
          <a:xfrm>
            <a:off x="960120" y="1687830"/>
            <a:ext cx="680323" cy="293370"/>
          </a:xfrm>
          <a:prstGeom prst="rect">
            <a:avLst/>
          </a:prstGeom>
          <a:solidFill>
            <a:srgbClr val="FFFFFF"/>
          </a:solidFill>
          <a:ln/>
        </p:spPr>
      </p:sp>
      <p:sp>
        <p:nvSpPr>
          <p:cNvPr id="14" name="Text 12"/>
          <p:cNvSpPr/>
          <p:nvPr/>
        </p:nvSpPr>
        <p:spPr>
          <a:xfrm>
            <a:off x="1131570" y="1754505"/>
            <a:ext cx="413623" cy="198120"/>
          </a:xfrm>
          <a:prstGeom prst="rect">
            <a:avLst/>
          </a:prstGeom>
          <a:noFill/>
          <a:ln/>
        </p:spPr>
        <p:txBody>
          <a:bodyPr wrap="square" lIns="25400" tIns="25400" rIns="25400" bIns="25400" rtlCol="0" anchor="t">
            <a:normAutofit/>
          </a:bodyPr>
          <a:lstStyle/>
          <a:p>
            <a:pPr algn="l" indent="0" marL="0">
              <a:buNone/>
            </a:pPr>
            <a:r>
              <a:rPr lang="en-US" sz="938" b="1" dirty="0">
                <a:solidFill>
                  <a:srgbClr val="1D6038"/>
                </a:solidFill>
                <a:latin typeface="Segoe UI" pitchFamily="34" charset="0"/>
                <a:ea typeface="Segoe UI" pitchFamily="34" charset="-122"/>
                <a:cs typeface="Segoe UI" pitchFamily="34" charset="-120"/>
              </a:rPr>
              <a:t>Home</a:t>
            </a:r>
            <a:endParaRPr lang="en-US" sz="938" dirty="0"/>
          </a:p>
        </p:txBody>
      </p:sp>
      <p:sp>
        <p:nvSpPr>
          <p:cNvPr id="15" name="Text 13"/>
          <p:cNvSpPr/>
          <p:nvPr/>
        </p:nvSpPr>
        <p:spPr>
          <a:xfrm>
            <a:off x="1811893" y="1754505"/>
            <a:ext cx="369808" cy="198120"/>
          </a:xfrm>
          <a:prstGeom prst="rect">
            <a:avLst/>
          </a:prstGeom>
          <a:noFill/>
          <a:ln/>
        </p:spPr>
        <p:txBody>
          <a:bodyPr wrap="square" lIns="25400" tIns="25400" rIns="25400" bIns="25400" rtlCol="0" anchor="t">
            <a:normAutofit/>
          </a:bodyPr>
          <a:lstStyle/>
          <a:p>
            <a:pPr algn="l" indent="0" marL="0">
              <a:buNone/>
            </a:pPr>
            <a:r>
              <a:rPr lang="en-US" sz="938" dirty="0">
                <a:solidFill>
                  <a:srgbClr val="FFFFFF">
                    <a:alpha val="75000"/>
                  </a:srgbClr>
                </a:solidFill>
                <a:latin typeface="Segoe UI" pitchFamily="34" charset="0"/>
                <a:ea typeface="Segoe UI" pitchFamily="34" charset="-122"/>
                <a:cs typeface="Segoe UI" pitchFamily="34" charset="-120"/>
              </a:rPr>
              <a:t>Insert</a:t>
            </a:r>
            <a:endParaRPr lang="en-US" sz="938" dirty="0"/>
          </a:p>
        </p:txBody>
      </p:sp>
      <p:sp>
        <p:nvSpPr>
          <p:cNvPr id="16" name="Text 14"/>
          <p:cNvSpPr/>
          <p:nvPr/>
        </p:nvSpPr>
        <p:spPr>
          <a:xfrm>
            <a:off x="2448401" y="1754505"/>
            <a:ext cx="715923" cy="198120"/>
          </a:xfrm>
          <a:prstGeom prst="rect">
            <a:avLst/>
          </a:prstGeom>
          <a:noFill/>
          <a:ln/>
        </p:spPr>
        <p:txBody>
          <a:bodyPr wrap="square" lIns="25400" tIns="25400" rIns="25400" bIns="25400" rtlCol="0" anchor="t">
            <a:normAutofit/>
          </a:bodyPr>
          <a:lstStyle/>
          <a:p>
            <a:pPr algn="l" indent="0" marL="0">
              <a:buNone/>
            </a:pPr>
            <a:r>
              <a:rPr lang="en-US" sz="938" dirty="0">
                <a:solidFill>
                  <a:srgbClr val="FFFFFF">
                    <a:alpha val="75000"/>
                  </a:srgbClr>
                </a:solidFill>
                <a:latin typeface="Segoe UI" pitchFamily="34" charset="0"/>
                <a:ea typeface="Segoe UI" pitchFamily="34" charset="-122"/>
                <a:cs typeface="Segoe UI" pitchFamily="34" charset="-120"/>
              </a:rPr>
              <a:t>Page Layout</a:t>
            </a:r>
            <a:endParaRPr lang="en-US" sz="938" dirty="0"/>
          </a:p>
        </p:txBody>
      </p:sp>
      <p:sp>
        <p:nvSpPr>
          <p:cNvPr id="17" name="Text 15"/>
          <p:cNvSpPr/>
          <p:nvPr/>
        </p:nvSpPr>
        <p:spPr>
          <a:xfrm>
            <a:off x="3431024" y="1754505"/>
            <a:ext cx="555308" cy="198120"/>
          </a:xfrm>
          <a:prstGeom prst="rect">
            <a:avLst/>
          </a:prstGeom>
          <a:noFill/>
          <a:ln/>
        </p:spPr>
        <p:txBody>
          <a:bodyPr wrap="square" lIns="25400" tIns="25400" rIns="25400" bIns="25400" rtlCol="0" anchor="t">
            <a:normAutofit/>
          </a:bodyPr>
          <a:lstStyle/>
          <a:p>
            <a:pPr algn="l" indent="0" marL="0">
              <a:buNone/>
            </a:pPr>
            <a:r>
              <a:rPr lang="en-US" sz="938" dirty="0">
                <a:solidFill>
                  <a:srgbClr val="FFFFFF">
                    <a:alpha val="75000"/>
                  </a:srgbClr>
                </a:solidFill>
                <a:latin typeface="Segoe UI" pitchFamily="34" charset="0"/>
                <a:ea typeface="Segoe UI" pitchFamily="34" charset="-122"/>
                <a:cs typeface="Segoe UI" pitchFamily="34" charset="-120"/>
              </a:rPr>
              <a:t>Formulas</a:t>
            </a:r>
            <a:endParaRPr lang="en-US" sz="938" dirty="0"/>
          </a:p>
        </p:txBody>
      </p:sp>
      <p:sp>
        <p:nvSpPr>
          <p:cNvPr id="18" name="Text 16"/>
          <p:cNvSpPr/>
          <p:nvPr/>
        </p:nvSpPr>
        <p:spPr>
          <a:xfrm>
            <a:off x="4253032" y="1754505"/>
            <a:ext cx="321112" cy="198120"/>
          </a:xfrm>
          <a:prstGeom prst="rect">
            <a:avLst/>
          </a:prstGeom>
          <a:noFill/>
          <a:ln/>
        </p:spPr>
        <p:txBody>
          <a:bodyPr wrap="square" lIns="25400" tIns="25400" rIns="25400" bIns="25400" rtlCol="0" anchor="t">
            <a:normAutofit/>
          </a:bodyPr>
          <a:lstStyle/>
          <a:p>
            <a:pPr algn="l" indent="0" marL="0">
              <a:buNone/>
            </a:pPr>
            <a:r>
              <a:rPr lang="en-US" sz="938" dirty="0">
                <a:solidFill>
                  <a:srgbClr val="FFFFFF">
                    <a:alpha val="75000"/>
                  </a:srgbClr>
                </a:solidFill>
                <a:latin typeface="Segoe UI" pitchFamily="34" charset="0"/>
                <a:ea typeface="Segoe UI" pitchFamily="34" charset="-122"/>
                <a:cs typeface="Segoe UI" pitchFamily="34" charset="-120"/>
              </a:rPr>
              <a:t>Data</a:t>
            </a:r>
            <a:endParaRPr lang="en-US" sz="938" dirty="0"/>
          </a:p>
        </p:txBody>
      </p:sp>
      <p:sp>
        <p:nvSpPr>
          <p:cNvPr id="19" name="Text 17"/>
          <p:cNvSpPr/>
          <p:nvPr/>
        </p:nvSpPr>
        <p:spPr>
          <a:xfrm>
            <a:off x="4840843" y="1754505"/>
            <a:ext cx="440293" cy="198120"/>
          </a:xfrm>
          <a:prstGeom prst="rect">
            <a:avLst/>
          </a:prstGeom>
          <a:noFill/>
          <a:ln/>
        </p:spPr>
        <p:txBody>
          <a:bodyPr wrap="square" lIns="25400" tIns="25400" rIns="25400" bIns="25400" rtlCol="0" anchor="t">
            <a:normAutofit/>
          </a:bodyPr>
          <a:lstStyle/>
          <a:p>
            <a:pPr algn="l" indent="0" marL="0">
              <a:buNone/>
            </a:pPr>
            <a:r>
              <a:rPr lang="en-US" sz="938" dirty="0">
                <a:solidFill>
                  <a:srgbClr val="FFFFFF">
                    <a:alpha val="75000"/>
                  </a:srgbClr>
                </a:solidFill>
                <a:latin typeface="Segoe UI" pitchFamily="34" charset="0"/>
                <a:ea typeface="Segoe UI" pitchFamily="34" charset="-122"/>
                <a:cs typeface="Segoe UI" pitchFamily="34" charset="-120"/>
              </a:rPr>
              <a:t>Review</a:t>
            </a:r>
            <a:endParaRPr lang="en-US" sz="938" dirty="0"/>
          </a:p>
        </p:txBody>
      </p:sp>
      <p:sp>
        <p:nvSpPr>
          <p:cNvPr id="20" name="Shape 18"/>
          <p:cNvSpPr/>
          <p:nvPr/>
        </p:nvSpPr>
        <p:spPr>
          <a:xfrm>
            <a:off x="960120" y="1981200"/>
            <a:ext cx="11338560" cy="373380"/>
          </a:xfrm>
          <a:prstGeom prst="rect">
            <a:avLst/>
          </a:prstGeom>
          <a:solidFill>
            <a:srgbClr val="FFFFFF"/>
          </a:solidFill>
          <a:ln/>
        </p:spPr>
      </p:sp>
      <p:sp>
        <p:nvSpPr>
          <p:cNvPr id="21" name="Shape 19"/>
          <p:cNvSpPr/>
          <p:nvPr/>
        </p:nvSpPr>
        <p:spPr>
          <a:xfrm>
            <a:off x="960120" y="2346960"/>
            <a:ext cx="11338560" cy="9525"/>
          </a:xfrm>
          <a:prstGeom prst="rect">
            <a:avLst/>
          </a:prstGeom>
          <a:solidFill>
            <a:srgbClr val="DDDDDD"/>
          </a:solidFill>
          <a:ln/>
        </p:spPr>
      </p:sp>
      <p:sp>
        <p:nvSpPr>
          <p:cNvPr id="22" name="Text 20"/>
          <p:cNvSpPr/>
          <p:nvPr/>
        </p:nvSpPr>
        <p:spPr>
          <a:xfrm>
            <a:off x="1169670" y="2076450"/>
            <a:ext cx="168354" cy="213360"/>
          </a:xfrm>
          <a:prstGeom prst="rect">
            <a:avLst/>
          </a:prstGeom>
          <a:noFill/>
          <a:ln/>
        </p:spPr>
        <p:txBody>
          <a:bodyPr wrap="square" lIns="25400" tIns="25400" rIns="25400" bIns="25400" rtlCol="0" anchor="t">
            <a:normAutofit/>
          </a:bodyPr>
          <a:lstStyle/>
          <a:p>
            <a:pPr algn="l" indent="0" marL="0">
              <a:buNone/>
            </a:pPr>
            <a:r>
              <a:rPr lang="en-US" sz="1050" b="1" dirty="0">
                <a:solidFill>
                  <a:srgbClr val="333333"/>
                </a:solidFill>
                <a:latin typeface="Segoe UI" pitchFamily="34" charset="0"/>
                <a:ea typeface="Segoe UI" pitchFamily="34" charset="-122"/>
                <a:cs typeface="Segoe UI" pitchFamily="34" charset="-120"/>
              </a:rPr>
              <a:t>B</a:t>
            </a:r>
            <a:endParaRPr lang="en-US" sz="1050" dirty="0"/>
          </a:p>
        </p:txBody>
      </p:sp>
      <p:sp>
        <p:nvSpPr>
          <p:cNvPr id="23" name="Text 21"/>
          <p:cNvSpPr/>
          <p:nvPr/>
        </p:nvSpPr>
        <p:spPr>
          <a:xfrm>
            <a:off x="1547574" y="2087880"/>
            <a:ext cx="114300" cy="190500"/>
          </a:xfrm>
          <a:prstGeom prst="rect">
            <a:avLst/>
          </a:prstGeom>
          <a:noFill/>
          <a:ln/>
        </p:spPr>
        <p:txBody>
          <a:bodyPr wrap="square" lIns="25400" tIns="25400" rIns="25400" bIns="25400" rtlCol="0" anchor="t">
            <a:normAutofit/>
          </a:bodyPr>
          <a:lstStyle/>
          <a:p>
            <a:pPr algn="l" indent="0" marL="0">
              <a:buNone/>
            </a:pPr>
            <a:r>
              <a:rPr lang="en-US" sz="900" i="1" dirty="0">
                <a:solidFill>
                  <a:srgbClr val="333333"/>
                </a:solidFill>
                <a:latin typeface="Segoe UI" pitchFamily="34" charset="0"/>
                <a:ea typeface="Segoe UI" pitchFamily="34" charset="-122"/>
                <a:cs typeface="Segoe UI" pitchFamily="34" charset="-120"/>
              </a:rPr>
              <a:t>I</a:t>
            </a:r>
            <a:endParaRPr lang="en-US" sz="900" dirty="0"/>
          </a:p>
        </p:txBody>
      </p:sp>
      <p:sp>
        <p:nvSpPr>
          <p:cNvPr id="24" name="Text 22"/>
          <p:cNvSpPr/>
          <p:nvPr/>
        </p:nvSpPr>
        <p:spPr>
          <a:xfrm>
            <a:off x="1863804" y="2087880"/>
            <a:ext cx="154781" cy="190500"/>
          </a:xfrm>
          <a:prstGeom prst="rect">
            <a:avLst/>
          </a:prstGeom>
          <a:noFill/>
          <a:ln/>
        </p:spPr>
        <p:txBody>
          <a:bodyPr wrap="square" lIns="25400" tIns="25400" rIns="25400" bIns="25400" rtlCol="0" anchor="t">
            <a:normAutofit/>
          </a:bodyPr>
          <a:lstStyle/>
          <a:p>
            <a:pPr algn="l" indent="0" marL="0">
              <a:buNone/>
            </a:pPr>
            <a:r>
              <a:rPr lang="en-US" sz="900" u="sng" dirty="0">
                <a:solidFill>
                  <a:srgbClr val="333333"/>
                </a:solidFill>
                <a:latin typeface="Segoe UI" pitchFamily="34" charset="0"/>
                <a:ea typeface="Segoe UI" pitchFamily="34" charset="-122"/>
                <a:cs typeface="Segoe UI" pitchFamily="34" charset="-120"/>
              </a:rPr>
              <a:t>U</a:t>
            </a:r>
            <a:endParaRPr lang="en-US" sz="900" dirty="0"/>
          </a:p>
        </p:txBody>
      </p:sp>
      <p:sp>
        <p:nvSpPr>
          <p:cNvPr id="25" name="Shape 23"/>
          <p:cNvSpPr/>
          <p:nvPr/>
        </p:nvSpPr>
        <p:spPr>
          <a:xfrm>
            <a:off x="2151936" y="2068830"/>
            <a:ext cx="9525" cy="190500"/>
          </a:xfrm>
          <a:prstGeom prst="rect">
            <a:avLst/>
          </a:prstGeom>
          <a:solidFill>
            <a:srgbClr val="DDDDDD"/>
          </a:solidFill>
          <a:ln/>
        </p:spPr>
      </p:sp>
      <p:sp>
        <p:nvSpPr>
          <p:cNvPr id="26" name="Shape 24"/>
          <p:cNvSpPr/>
          <p:nvPr/>
        </p:nvSpPr>
        <p:spPr>
          <a:xfrm>
            <a:off x="2294811" y="2059305"/>
            <a:ext cx="214074" cy="209550"/>
          </a:xfrm>
          <a:prstGeom prst="roundRect">
            <a:avLst>
              <a:gd name="adj" fmla="val 13636"/>
            </a:avLst>
          </a:prstGeom>
          <a:solidFill>
            <a:srgbClr val="DDEEDD"/>
          </a:solidFill>
          <a:ln/>
        </p:spPr>
      </p:sp>
      <p:sp>
        <p:nvSpPr>
          <p:cNvPr id="27" name="Text 25"/>
          <p:cNvSpPr/>
          <p:nvPr/>
        </p:nvSpPr>
        <p:spPr>
          <a:xfrm>
            <a:off x="2371011" y="2087880"/>
            <a:ext cx="137874" cy="19050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a:t>
            </a:r>
            <a:endParaRPr lang="en-US" sz="900" dirty="0"/>
          </a:p>
        </p:txBody>
      </p:sp>
      <p:sp>
        <p:nvSpPr>
          <p:cNvPr id="28" name="Text 26"/>
          <p:cNvSpPr/>
          <p:nvPr/>
        </p:nvSpPr>
        <p:spPr>
          <a:xfrm>
            <a:off x="2718435" y="2087880"/>
            <a:ext cx="169783" cy="19050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a:t>
            </a:r>
            <a:endParaRPr lang="en-US" sz="900" dirty="0"/>
          </a:p>
        </p:txBody>
      </p:sp>
      <p:sp>
        <p:nvSpPr>
          <p:cNvPr id="29" name="Text 27"/>
          <p:cNvSpPr/>
          <p:nvPr/>
        </p:nvSpPr>
        <p:spPr>
          <a:xfrm>
            <a:off x="3097768" y="2087880"/>
            <a:ext cx="1143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a:t>
            </a:r>
            <a:endParaRPr lang="en-US" sz="900" dirty="0"/>
          </a:p>
        </p:txBody>
      </p:sp>
      <p:sp>
        <p:nvSpPr>
          <p:cNvPr id="30" name="Text 28"/>
          <p:cNvSpPr/>
          <p:nvPr/>
        </p:nvSpPr>
        <p:spPr>
          <a:xfrm>
            <a:off x="3408402" y="2087880"/>
            <a:ext cx="261223" cy="19050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.0→</a:t>
            </a:r>
            <a:endParaRPr lang="en-US" sz="900" dirty="0"/>
          </a:p>
        </p:txBody>
      </p:sp>
      <p:sp>
        <p:nvSpPr>
          <p:cNvPr id="31" name="Shape 29"/>
          <p:cNvSpPr/>
          <p:nvPr/>
        </p:nvSpPr>
        <p:spPr>
          <a:xfrm>
            <a:off x="3802975" y="2068830"/>
            <a:ext cx="9525" cy="190500"/>
          </a:xfrm>
          <a:prstGeom prst="rect">
            <a:avLst/>
          </a:prstGeom>
          <a:solidFill>
            <a:srgbClr val="DDDDDD"/>
          </a:solidFill>
          <a:ln/>
        </p:spPr>
      </p:sp>
      <p:sp>
        <p:nvSpPr>
          <p:cNvPr id="32" name="Text 30"/>
          <p:cNvSpPr/>
          <p:nvPr/>
        </p:nvSpPr>
        <p:spPr>
          <a:xfrm>
            <a:off x="4022050" y="2084070"/>
            <a:ext cx="502444" cy="19812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 Fill▾</a:t>
            </a:r>
            <a:endParaRPr lang="en-US" sz="900" dirty="0"/>
          </a:p>
        </p:txBody>
      </p:sp>
      <p:sp>
        <p:nvSpPr>
          <p:cNvPr id="33" name="Text 31"/>
          <p:cNvSpPr/>
          <p:nvPr/>
        </p:nvSpPr>
        <p:spPr>
          <a:xfrm>
            <a:off x="4734044" y="2084070"/>
            <a:ext cx="249079" cy="19812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A▾</a:t>
            </a:r>
            <a:endParaRPr lang="en-US" sz="900" dirty="0"/>
          </a:p>
        </p:txBody>
      </p:sp>
      <p:sp>
        <p:nvSpPr>
          <p:cNvPr id="34" name="Shape 32"/>
          <p:cNvSpPr/>
          <p:nvPr/>
        </p:nvSpPr>
        <p:spPr>
          <a:xfrm>
            <a:off x="11341060" y="2065020"/>
            <a:ext cx="824270" cy="198120"/>
          </a:xfrm>
          <a:prstGeom prst="roundRect">
            <a:avLst>
              <a:gd name="adj" fmla="val 19231"/>
            </a:avLst>
          </a:prstGeom>
          <a:solidFill>
            <a:srgbClr val="2DD4BF"/>
          </a:solidFill>
          <a:ln/>
        </p:spPr>
      </p:sp>
      <p:sp>
        <p:nvSpPr>
          <p:cNvPr id="35" name="Shape 33"/>
          <p:cNvSpPr/>
          <p:nvPr/>
        </p:nvSpPr>
        <p:spPr>
          <a:xfrm>
            <a:off x="11436310" y="2087880"/>
            <a:ext cx="152400" cy="152400"/>
          </a:xfrm>
          <a:prstGeom prst="ellipse">
            <a:avLst/>
          </a:prstGeom>
          <a:solidFill>
            <a:srgbClr val="000000"/>
          </a:solidFill>
          <a:ln/>
        </p:spPr>
      </p:sp>
      <p:sp>
        <p:nvSpPr>
          <p:cNvPr id="36" name="Text 34"/>
          <p:cNvSpPr/>
          <p:nvPr/>
        </p:nvSpPr>
        <p:spPr>
          <a:xfrm>
            <a:off x="11398210" y="2087880"/>
            <a:ext cx="228600" cy="190500"/>
          </a:xfrm>
          <a:prstGeom prst="rect">
            <a:avLst/>
          </a:prstGeom>
          <a:noFill/>
          <a:ln/>
        </p:spPr>
        <p:txBody>
          <a:bodyPr wrap="square" lIns="25400" tIns="25400" rIns="25400" bIns="25400" rtlCol="0" anchor="ctr">
            <a:normAutofit/>
          </a:bodyPr>
          <a:lstStyle/>
          <a:p>
            <a:pPr algn="ctr" indent="0" marL="0">
              <a:buNone/>
            </a:pPr>
            <a:r>
              <a:rPr lang="en-US" sz="825" b="1" dirty="0">
                <a:solidFill>
                  <a:srgbClr val="2DD4BF"/>
                </a:solidFill>
                <a:latin typeface="Arial" pitchFamily="34" charset="0"/>
                <a:ea typeface="Arial" pitchFamily="34" charset="-122"/>
                <a:cs typeface="Arial" pitchFamily="34" charset="-120"/>
              </a:rPr>
              <a:t>1</a:t>
            </a:r>
            <a:endParaRPr lang="en-US" sz="825" dirty="0"/>
          </a:p>
        </p:txBody>
      </p:sp>
      <p:sp>
        <p:nvSpPr>
          <p:cNvPr id="37" name="Text 35"/>
          <p:cNvSpPr/>
          <p:nvPr/>
        </p:nvSpPr>
        <p:spPr>
          <a:xfrm>
            <a:off x="11636335" y="2084070"/>
            <a:ext cx="509946" cy="198120"/>
          </a:xfrm>
          <a:prstGeom prst="rect">
            <a:avLst/>
          </a:prstGeom>
          <a:noFill/>
          <a:ln/>
        </p:spPr>
        <p:txBody>
          <a:bodyPr wrap="square" lIns="0" tIns="0" rIns="0" bIns="0" rtlCol="0" anchor="t">
            <a:normAutofit/>
          </a:bodyPr>
          <a:lstStyle/>
          <a:p>
            <a:pPr algn="l" indent="0" marL="0">
              <a:buNone/>
            </a:pPr>
            <a:r>
              <a:rPr lang="en-US" sz="975" b="1" dirty="0">
                <a:solidFill>
                  <a:srgbClr val="000000"/>
                </a:solidFill>
                <a:latin typeface="Arial" pitchFamily="34" charset="0"/>
                <a:ea typeface="Arial" pitchFamily="34" charset="-122"/>
                <a:cs typeface="Arial" pitchFamily="34" charset="-120"/>
              </a:rPr>
              <a:t>Ribbon</a:t>
            </a:r>
            <a:endParaRPr lang="en-US" sz="975" dirty="0"/>
          </a:p>
        </p:txBody>
      </p:sp>
      <p:sp>
        <p:nvSpPr>
          <p:cNvPr id="38" name="Shape 36"/>
          <p:cNvSpPr/>
          <p:nvPr/>
        </p:nvSpPr>
        <p:spPr>
          <a:xfrm>
            <a:off x="960120" y="2354580"/>
            <a:ext cx="11338560" cy="308610"/>
          </a:xfrm>
          <a:prstGeom prst="rect">
            <a:avLst/>
          </a:prstGeom>
          <a:solidFill>
            <a:srgbClr val="F5F5F5"/>
          </a:solidFill>
          <a:ln/>
        </p:spPr>
      </p:sp>
      <p:sp>
        <p:nvSpPr>
          <p:cNvPr id="39" name="Shape 37"/>
          <p:cNvSpPr/>
          <p:nvPr/>
        </p:nvSpPr>
        <p:spPr>
          <a:xfrm>
            <a:off x="960120" y="2655570"/>
            <a:ext cx="11338560" cy="9525"/>
          </a:xfrm>
          <a:prstGeom prst="rect">
            <a:avLst/>
          </a:prstGeom>
          <a:solidFill>
            <a:srgbClr val="DDDDDD"/>
          </a:solidFill>
          <a:ln/>
        </p:spPr>
      </p:sp>
      <p:sp>
        <p:nvSpPr>
          <p:cNvPr id="40" name="Shape 38"/>
          <p:cNvSpPr/>
          <p:nvPr/>
        </p:nvSpPr>
        <p:spPr>
          <a:xfrm>
            <a:off x="1036320" y="2392680"/>
            <a:ext cx="647700" cy="224790"/>
          </a:xfrm>
          <a:prstGeom prst="rect">
            <a:avLst/>
          </a:prstGeom>
          <a:solidFill>
            <a:srgbClr val="FFFFFF"/>
          </a:solidFill>
          <a:ln w="7620">
            <a:solidFill>
              <a:srgbClr val="CCCCCC"/>
            </a:solidFill>
            <a:prstDash val="solid"/>
          </a:ln>
        </p:spPr>
      </p:sp>
      <p:sp>
        <p:nvSpPr>
          <p:cNvPr id="41" name="Text 39"/>
          <p:cNvSpPr/>
          <p:nvPr/>
        </p:nvSpPr>
        <p:spPr>
          <a:xfrm>
            <a:off x="1082040" y="2428875"/>
            <a:ext cx="556260" cy="190500"/>
          </a:xfrm>
          <a:prstGeom prst="rect">
            <a:avLst/>
          </a:prstGeom>
          <a:noFill/>
          <a:ln/>
        </p:spPr>
        <p:txBody>
          <a:bodyPr wrap="square" lIns="25400" tIns="25400" rIns="25400" bIns="25400" rtlCol="0" anchor="t">
            <a:normAutofit/>
          </a:bodyPr>
          <a:lstStyle/>
          <a:p>
            <a:pPr algn="ctr" indent="0" marL="0">
              <a:buNone/>
            </a:pPr>
            <a:r>
              <a:rPr lang="en-US" sz="900" dirty="0">
                <a:solidFill>
                  <a:srgbClr val="333333"/>
                </a:solidFill>
                <a:latin typeface="Segoe UI" pitchFamily="34" charset="0"/>
                <a:ea typeface="Segoe UI" pitchFamily="34" charset="-122"/>
                <a:cs typeface="Segoe UI" pitchFamily="34" charset="-120"/>
              </a:rPr>
              <a:t>B2</a:t>
            </a:r>
            <a:endParaRPr lang="en-US" sz="900" dirty="0"/>
          </a:p>
        </p:txBody>
      </p:sp>
      <p:sp>
        <p:nvSpPr>
          <p:cNvPr id="42" name="Text 40"/>
          <p:cNvSpPr/>
          <p:nvPr/>
        </p:nvSpPr>
        <p:spPr>
          <a:xfrm>
            <a:off x="1760220" y="2417445"/>
            <a:ext cx="202168" cy="213360"/>
          </a:xfrm>
          <a:prstGeom prst="rect">
            <a:avLst/>
          </a:prstGeom>
          <a:noFill/>
          <a:ln/>
        </p:spPr>
        <p:txBody>
          <a:bodyPr wrap="square" lIns="25400" tIns="25400" rIns="25400" bIns="25400" rtlCol="0" anchor="t">
            <a:normAutofit/>
          </a:bodyPr>
          <a:lstStyle/>
          <a:p>
            <a:pPr algn="l" indent="0" marL="0">
              <a:buNone/>
            </a:pPr>
            <a:r>
              <a:rPr lang="en-US" sz="1050" b="1" dirty="0">
                <a:solidFill>
                  <a:srgbClr val="217346"/>
                </a:solidFill>
                <a:latin typeface="Segoe UI" pitchFamily="34" charset="0"/>
                <a:ea typeface="Segoe UI" pitchFamily="34" charset="-122"/>
                <a:cs typeface="Segoe UI" pitchFamily="34" charset="-120"/>
              </a:rPr>
              <a:t>fx</a:t>
            </a:r>
            <a:endParaRPr lang="en-US" sz="1050" dirty="0"/>
          </a:p>
        </p:txBody>
      </p:sp>
      <p:sp>
        <p:nvSpPr>
          <p:cNvPr id="43" name="Text 41"/>
          <p:cNvSpPr/>
          <p:nvPr/>
        </p:nvSpPr>
        <p:spPr>
          <a:xfrm>
            <a:off x="2019538" y="2440305"/>
            <a:ext cx="899398" cy="167640"/>
          </a:xfrm>
          <a:prstGeom prst="rect">
            <a:avLst/>
          </a:prstGeom>
          <a:noFill/>
          <a:ln/>
        </p:spPr>
        <p:txBody>
          <a:bodyPr wrap="square" lIns="25400" tIns="25400" rIns="25400" bIns="25400" rtlCol="0" anchor="t">
            <a:normAutofit/>
          </a:bodyPr>
          <a:lstStyle/>
          <a:p>
            <a:pPr algn="l" indent="0" marL="0">
              <a:buNone/>
            </a:pPr>
            <a:r>
              <a:rPr lang="en-US" sz="900" dirty="0">
                <a:solidFill>
                  <a:srgbClr val="333333"/>
                </a:solidFill>
                <a:latin typeface="Courier New" pitchFamily="34" charset="0"/>
                <a:ea typeface="Courier New" pitchFamily="34" charset="-122"/>
                <a:cs typeface="Courier New" pitchFamily="34" charset="-120"/>
              </a:rPr>
              <a:t>=SUM(B2:B11)</a:t>
            </a:r>
            <a:endParaRPr lang="en-US" sz="900" dirty="0"/>
          </a:p>
        </p:txBody>
      </p:sp>
      <p:sp>
        <p:nvSpPr>
          <p:cNvPr id="44" name="Shape 42"/>
          <p:cNvSpPr/>
          <p:nvPr/>
        </p:nvSpPr>
        <p:spPr>
          <a:xfrm>
            <a:off x="10276880" y="2413635"/>
            <a:ext cx="885825" cy="182880"/>
          </a:xfrm>
          <a:prstGeom prst="roundRect">
            <a:avLst>
              <a:gd name="adj" fmla="val 20833"/>
            </a:avLst>
          </a:prstGeom>
          <a:solidFill>
            <a:srgbClr val="FBBF24">
              <a:alpha val="90000"/>
            </a:srgbClr>
          </a:solidFill>
          <a:ln/>
        </p:spPr>
      </p:sp>
      <p:sp>
        <p:nvSpPr>
          <p:cNvPr id="45" name="Shape 43"/>
          <p:cNvSpPr/>
          <p:nvPr/>
        </p:nvSpPr>
        <p:spPr>
          <a:xfrm>
            <a:off x="10353080" y="2438400"/>
            <a:ext cx="133350" cy="133350"/>
          </a:xfrm>
          <a:prstGeom prst="ellipse">
            <a:avLst/>
          </a:prstGeom>
          <a:solidFill>
            <a:srgbClr val="000000"/>
          </a:solidFill>
          <a:ln/>
        </p:spPr>
      </p:sp>
      <p:sp>
        <p:nvSpPr>
          <p:cNvPr id="46" name="Text 44"/>
          <p:cNvSpPr/>
          <p:nvPr/>
        </p:nvSpPr>
        <p:spPr>
          <a:xfrm>
            <a:off x="10314980" y="2438400"/>
            <a:ext cx="209550" cy="171450"/>
          </a:xfrm>
          <a:prstGeom prst="rect">
            <a:avLst/>
          </a:prstGeom>
          <a:noFill/>
          <a:ln/>
        </p:spPr>
        <p:txBody>
          <a:bodyPr wrap="square" lIns="25400" tIns="25400" rIns="25400" bIns="25400" rtlCol="0" anchor="ctr">
            <a:normAutofit/>
          </a:bodyPr>
          <a:lstStyle/>
          <a:p>
            <a:pPr algn="ctr" indent="0" marL="0">
              <a:buNone/>
            </a:pPr>
            <a:r>
              <a:rPr lang="en-US" sz="750" b="1" dirty="0">
                <a:solidFill>
                  <a:srgbClr val="FBBF24"/>
                </a:solidFill>
                <a:latin typeface="Arial" pitchFamily="34" charset="0"/>
                <a:ea typeface="Arial" pitchFamily="34" charset="-122"/>
                <a:cs typeface="Arial" pitchFamily="34" charset="-120"/>
              </a:rPr>
              <a:t>3</a:t>
            </a:r>
            <a:endParaRPr lang="en-US" sz="750" dirty="0"/>
          </a:p>
        </p:txBody>
      </p:sp>
      <p:sp>
        <p:nvSpPr>
          <p:cNvPr id="47" name="Text 45"/>
          <p:cNvSpPr/>
          <p:nvPr/>
        </p:nvSpPr>
        <p:spPr>
          <a:xfrm>
            <a:off x="10524530" y="2432685"/>
            <a:ext cx="638175" cy="182880"/>
          </a:xfrm>
          <a:prstGeom prst="rect">
            <a:avLst/>
          </a:prstGeom>
          <a:noFill/>
          <a:ln/>
        </p:spPr>
        <p:txBody>
          <a:bodyPr wrap="square" lIns="0" tIns="0" rIns="0" bIns="0" rtlCol="0" anchor="t">
            <a:normAutofit/>
          </a:bodyPr>
          <a:lstStyle/>
          <a:p>
            <a:pPr algn="l" indent="0" marL="0">
              <a:buNone/>
            </a:pPr>
            <a:r>
              <a:rPr lang="en-US" sz="900" b="1" dirty="0">
                <a:solidFill>
                  <a:srgbClr val="000000"/>
                </a:solidFill>
                <a:latin typeface="Arial" pitchFamily="34" charset="0"/>
                <a:ea typeface="Arial" pitchFamily="34" charset="-122"/>
                <a:cs typeface="Arial" pitchFamily="34" charset="-120"/>
              </a:rPr>
              <a:t>Name Box</a:t>
            </a:r>
            <a:endParaRPr lang="en-US" sz="900" dirty="0"/>
          </a:p>
        </p:txBody>
      </p:sp>
      <p:sp>
        <p:nvSpPr>
          <p:cNvPr id="48" name="Shape 46"/>
          <p:cNvSpPr/>
          <p:nvPr/>
        </p:nvSpPr>
        <p:spPr>
          <a:xfrm>
            <a:off x="11238905" y="2413635"/>
            <a:ext cx="983575" cy="182880"/>
          </a:xfrm>
          <a:prstGeom prst="roundRect">
            <a:avLst>
              <a:gd name="adj" fmla="val 20833"/>
            </a:avLst>
          </a:prstGeom>
          <a:solidFill>
            <a:srgbClr val="22D3EE">
              <a:alpha val="90000"/>
            </a:srgbClr>
          </a:solidFill>
          <a:ln/>
        </p:spPr>
      </p:sp>
      <p:sp>
        <p:nvSpPr>
          <p:cNvPr id="49" name="Shape 47"/>
          <p:cNvSpPr/>
          <p:nvPr/>
        </p:nvSpPr>
        <p:spPr>
          <a:xfrm>
            <a:off x="11315105" y="2438400"/>
            <a:ext cx="133350" cy="133350"/>
          </a:xfrm>
          <a:prstGeom prst="ellipse">
            <a:avLst/>
          </a:prstGeom>
          <a:solidFill>
            <a:srgbClr val="000000"/>
          </a:solidFill>
          <a:ln/>
        </p:spPr>
      </p:sp>
      <p:sp>
        <p:nvSpPr>
          <p:cNvPr id="50" name="Text 48"/>
          <p:cNvSpPr/>
          <p:nvPr/>
        </p:nvSpPr>
        <p:spPr>
          <a:xfrm>
            <a:off x="11277005" y="2438400"/>
            <a:ext cx="209550" cy="171450"/>
          </a:xfrm>
          <a:prstGeom prst="rect">
            <a:avLst/>
          </a:prstGeom>
          <a:noFill/>
          <a:ln/>
        </p:spPr>
        <p:txBody>
          <a:bodyPr wrap="square" lIns="25400" tIns="25400" rIns="25400" bIns="25400" rtlCol="0" anchor="ctr">
            <a:normAutofit/>
          </a:bodyPr>
          <a:lstStyle/>
          <a:p>
            <a:pPr algn="ctr" indent="0" marL="0">
              <a:buNone/>
            </a:pPr>
            <a:r>
              <a:rPr lang="en-US" sz="750" b="1" dirty="0">
                <a:solidFill>
                  <a:srgbClr val="22D3EE"/>
                </a:solidFill>
                <a:latin typeface="Arial" pitchFamily="34" charset="0"/>
                <a:ea typeface="Arial" pitchFamily="34" charset="-122"/>
                <a:cs typeface="Arial" pitchFamily="34" charset="-120"/>
              </a:rPr>
              <a:t>2</a:t>
            </a:r>
            <a:endParaRPr lang="en-US" sz="750" dirty="0"/>
          </a:p>
        </p:txBody>
      </p:sp>
      <p:sp>
        <p:nvSpPr>
          <p:cNvPr id="51" name="Text 49"/>
          <p:cNvSpPr/>
          <p:nvPr/>
        </p:nvSpPr>
        <p:spPr>
          <a:xfrm>
            <a:off x="11486555" y="2432685"/>
            <a:ext cx="735926" cy="182880"/>
          </a:xfrm>
          <a:prstGeom prst="rect">
            <a:avLst/>
          </a:prstGeom>
          <a:noFill/>
          <a:ln/>
        </p:spPr>
        <p:txBody>
          <a:bodyPr wrap="square" lIns="0" tIns="0" rIns="0" bIns="0" rtlCol="0" anchor="t">
            <a:normAutofit/>
          </a:bodyPr>
          <a:lstStyle/>
          <a:p>
            <a:pPr algn="l" indent="0" marL="0">
              <a:buNone/>
            </a:pPr>
            <a:r>
              <a:rPr lang="en-US" sz="900" b="1" dirty="0">
                <a:solidFill>
                  <a:srgbClr val="000000"/>
                </a:solidFill>
                <a:latin typeface="Arial" pitchFamily="34" charset="0"/>
                <a:ea typeface="Arial" pitchFamily="34" charset="-122"/>
                <a:cs typeface="Arial" pitchFamily="34" charset="-120"/>
              </a:rPr>
              <a:t>Formula Bar</a:t>
            </a:r>
            <a:endParaRPr lang="en-US" sz="900" dirty="0"/>
          </a:p>
        </p:txBody>
      </p:sp>
      <p:sp>
        <p:nvSpPr>
          <p:cNvPr id="52" name="Shape 50"/>
          <p:cNvSpPr/>
          <p:nvPr/>
        </p:nvSpPr>
        <p:spPr>
          <a:xfrm>
            <a:off x="960120" y="2663190"/>
            <a:ext cx="361950" cy="228600"/>
          </a:xfrm>
          <a:prstGeom prst="rect">
            <a:avLst/>
          </a:prstGeom>
          <a:solidFill>
            <a:srgbClr val="F0F0F0"/>
          </a:solidFill>
          <a:ln/>
        </p:spPr>
      </p:sp>
      <p:sp>
        <p:nvSpPr>
          <p:cNvPr id="53" name="Shape 51"/>
          <p:cNvSpPr/>
          <p:nvPr/>
        </p:nvSpPr>
        <p:spPr>
          <a:xfrm>
            <a:off x="960120" y="2884170"/>
            <a:ext cx="361950" cy="9525"/>
          </a:xfrm>
          <a:prstGeom prst="rect">
            <a:avLst/>
          </a:prstGeom>
          <a:solidFill>
            <a:srgbClr val="E0E0E0"/>
          </a:solidFill>
          <a:ln/>
        </p:spPr>
      </p:sp>
      <p:sp>
        <p:nvSpPr>
          <p:cNvPr id="54" name="Shape 52"/>
          <p:cNvSpPr/>
          <p:nvPr/>
        </p:nvSpPr>
        <p:spPr>
          <a:xfrm>
            <a:off x="1314450" y="2663190"/>
            <a:ext cx="9525" cy="228600"/>
          </a:xfrm>
          <a:prstGeom prst="rect">
            <a:avLst/>
          </a:prstGeom>
          <a:solidFill>
            <a:srgbClr val="E0E0E0"/>
          </a:solidFill>
          <a:ln/>
        </p:spPr>
      </p:sp>
      <p:sp>
        <p:nvSpPr>
          <p:cNvPr id="55" name="Shape 53"/>
          <p:cNvSpPr/>
          <p:nvPr/>
        </p:nvSpPr>
        <p:spPr>
          <a:xfrm>
            <a:off x="1322070" y="2663190"/>
            <a:ext cx="2195274" cy="228600"/>
          </a:xfrm>
          <a:prstGeom prst="rect">
            <a:avLst/>
          </a:prstGeom>
          <a:solidFill>
            <a:srgbClr val="F0F0F0"/>
          </a:solidFill>
          <a:ln/>
        </p:spPr>
      </p:sp>
      <p:sp>
        <p:nvSpPr>
          <p:cNvPr id="56" name="Shape 54"/>
          <p:cNvSpPr/>
          <p:nvPr/>
        </p:nvSpPr>
        <p:spPr>
          <a:xfrm>
            <a:off x="1322070" y="2884170"/>
            <a:ext cx="2195274" cy="9525"/>
          </a:xfrm>
          <a:prstGeom prst="rect">
            <a:avLst/>
          </a:prstGeom>
          <a:solidFill>
            <a:srgbClr val="E0E0E0"/>
          </a:solidFill>
          <a:ln/>
        </p:spPr>
      </p:sp>
      <p:sp>
        <p:nvSpPr>
          <p:cNvPr id="57" name="Shape 55"/>
          <p:cNvSpPr/>
          <p:nvPr/>
        </p:nvSpPr>
        <p:spPr>
          <a:xfrm>
            <a:off x="3509724" y="2663190"/>
            <a:ext cx="9525" cy="228600"/>
          </a:xfrm>
          <a:prstGeom prst="rect">
            <a:avLst/>
          </a:prstGeom>
          <a:solidFill>
            <a:srgbClr val="E0E0E0"/>
          </a:solidFill>
          <a:ln/>
        </p:spPr>
      </p:sp>
      <p:sp>
        <p:nvSpPr>
          <p:cNvPr id="58" name="Text 56"/>
          <p:cNvSpPr/>
          <p:nvPr/>
        </p:nvSpPr>
        <p:spPr>
          <a:xfrm>
            <a:off x="1350645" y="2701290"/>
            <a:ext cx="2130504" cy="182880"/>
          </a:xfrm>
          <a:prstGeom prst="rect">
            <a:avLst/>
          </a:prstGeom>
          <a:noFill/>
          <a:ln/>
        </p:spPr>
        <p:txBody>
          <a:bodyPr wrap="square" lIns="25400" tIns="25400" rIns="25400" bIns="25400" rtlCol="0" anchor="ctr">
            <a:normAutofit/>
          </a:bodyPr>
          <a:lstStyle/>
          <a:p>
            <a:pPr algn="ctr" indent="0" marL="0">
              <a:buNone/>
            </a:pPr>
            <a:r>
              <a:rPr lang="en-US" sz="825" b="1" dirty="0">
                <a:solidFill>
                  <a:srgbClr val="555555"/>
                </a:solidFill>
                <a:latin typeface="Segoe UI" pitchFamily="34" charset="0"/>
                <a:ea typeface="Segoe UI" pitchFamily="34" charset="-122"/>
                <a:cs typeface="Segoe UI" pitchFamily="34" charset="-120"/>
              </a:rPr>
              <a:t>A</a:t>
            </a:r>
            <a:endParaRPr lang="en-US" sz="825" dirty="0"/>
          </a:p>
        </p:txBody>
      </p:sp>
      <p:sp>
        <p:nvSpPr>
          <p:cNvPr id="59" name="Shape 57"/>
          <p:cNvSpPr/>
          <p:nvPr/>
        </p:nvSpPr>
        <p:spPr>
          <a:xfrm>
            <a:off x="3517344" y="2663190"/>
            <a:ext cx="2195274" cy="228600"/>
          </a:xfrm>
          <a:prstGeom prst="rect">
            <a:avLst/>
          </a:prstGeom>
          <a:solidFill>
            <a:srgbClr val="F0F0F0"/>
          </a:solidFill>
          <a:ln/>
        </p:spPr>
      </p:sp>
      <p:sp>
        <p:nvSpPr>
          <p:cNvPr id="60" name="Shape 58"/>
          <p:cNvSpPr/>
          <p:nvPr/>
        </p:nvSpPr>
        <p:spPr>
          <a:xfrm>
            <a:off x="3517344" y="2884170"/>
            <a:ext cx="2195274" cy="9525"/>
          </a:xfrm>
          <a:prstGeom prst="rect">
            <a:avLst/>
          </a:prstGeom>
          <a:solidFill>
            <a:srgbClr val="E0E0E0"/>
          </a:solidFill>
          <a:ln/>
        </p:spPr>
      </p:sp>
      <p:sp>
        <p:nvSpPr>
          <p:cNvPr id="61" name="Shape 59"/>
          <p:cNvSpPr/>
          <p:nvPr/>
        </p:nvSpPr>
        <p:spPr>
          <a:xfrm>
            <a:off x="5704999" y="2663190"/>
            <a:ext cx="9525" cy="228600"/>
          </a:xfrm>
          <a:prstGeom prst="rect">
            <a:avLst/>
          </a:prstGeom>
          <a:solidFill>
            <a:srgbClr val="E0E0E0"/>
          </a:solidFill>
          <a:ln/>
        </p:spPr>
      </p:sp>
      <p:sp>
        <p:nvSpPr>
          <p:cNvPr id="62" name="Text 60"/>
          <p:cNvSpPr/>
          <p:nvPr/>
        </p:nvSpPr>
        <p:spPr>
          <a:xfrm>
            <a:off x="3545919" y="2701290"/>
            <a:ext cx="2130504" cy="182880"/>
          </a:xfrm>
          <a:prstGeom prst="rect">
            <a:avLst/>
          </a:prstGeom>
          <a:noFill/>
          <a:ln/>
        </p:spPr>
        <p:txBody>
          <a:bodyPr wrap="square" lIns="25400" tIns="25400" rIns="25400" bIns="25400" rtlCol="0" anchor="ctr">
            <a:normAutofit/>
          </a:bodyPr>
          <a:lstStyle/>
          <a:p>
            <a:pPr algn="ctr" indent="0" marL="0">
              <a:buNone/>
            </a:pPr>
            <a:r>
              <a:rPr lang="en-US" sz="825" b="1" dirty="0">
                <a:solidFill>
                  <a:srgbClr val="555555"/>
                </a:solidFill>
                <a:latin typeface="Segoe UI" pitchFamily="34" charset="0"/>
                <a:ea typeface="Segoe UI" pitchFamily="34" charset="-122"/>
                <a:cs typeface="Segoe UI" pitchFamily="34" charset="-120"/>
              </a:rPr>
              <a:t>B</a:t>
            </a:r>
            <a:endParaRPr lang="en-US" sz="825" dirty="0"/>
          </a:p>
        </p:txBody>
      </p:sp>
      <p:sp>
        <p:nvSpPr>
          <p:cNvPr id="63" name="Shape 61"/>
          <p:cNvSpPr/>
          <p:nvPr/>
        </p:nvSpPr>
        <p:spPr>
          <a:xfrm>
            <a:off x="5712619" y="2663190"/>
            <a:ext cx="2195393" cy="228600"/>
          </a:xfrm>
          <a:prstGeom prst="rect">
            <a:avLst/>
          </a:prstGeom>
          <a:solidFill>
            <a:srgbClr val="F0F0F0"/>
          </a:solidFill>
          <a:ln/>
        </p:spPr>
      </p:sp>
      <p:sp>
        <p:nvSpPr>
          <p:cNvPr id="64" name="Shape 62"/>
          <p:cNvSpPr/>
          <p:nvPr/>
        </p:nvSpPr>
        <p:spPr>
          <a:xfrm>
            <a:off x="5712619" y="2884170"/>
            <a:ext cx="2195393" cy="9525"/>
          </a:xfrm>
          <a:prstGeom prst="rect">
            <a:avLst/>
          </a:prstGeom>
          <a:solidFill>
            <a:srgbClr val="E0E0E0"/>
          </a:solidFill>
          <a:ln/>
        </p:spPr>
      </p:sp>
      <p:sp>
        <p:nvSpPr>
          <p:cNvPr id="65" name="Shape 63"/>
          <p:cNvSpPr/>
          <p:nvPr/>
        </p:nvSpPr>
        <p:spPr>
          <a:xfrm>
            <a:off x="7900392" y="2663190"/>
            <a:ext cx="9525" cy="228600"/>
          </a:xfrm>
          <a:prstGeom prst="rect">
            <a:avLst/>
          </a:prstGeom>
          <a:solidFill>
            <a:srgbClr val="E0E0E0"/>
          </a:solidFill>
          <a:ln/>
        </p:spPr>
      </p:sp>
      <p:sp>
        <p:nvSpPr>
          <p:cNvPr id="66" name="Text 64"/>
          <p:cNvSpPr/>
          <p:nvPr/>
        </p:nvSpPr>
        <p:spPr>
          <a:xfrm>
            <a:off x="5741194" y="2701290"/>
            <a:ext cx="2130623" cy="182880"/>
          </a:xfrm>
          <a:prstGeom prst="rect">
            <a:avLst/>
          </a:prstGeom>
          <a:noFill/>
          <a:ln/>
        </p:spPr>
        <p:txBody>
          <a:bodyPr wrap="square" lIns="25400" tIns="25400" rIns="25400" bIns="25400" rtlCol="0" anchor="ctr">
            <a:normAutofit/>
          </a:bodyPr>
          <a:lstStyle/>
          <a:p>
            <a:pPr algn="ctr" indent="0" marL="0">
              <a:buNone/>
            </a:pPr>
            <a:r>
              <a:rPr lang="en-US" sz="825" b="1" dirty="0">
                <a:solidFill>
                  <a:srgbClr val="555555"/>
                </a:solidFill>
                <a:latin typeface="Segoe UI" pitchFamily="34" charset="0"/>
                <a:ea typeface="Segoe UI" pitchFamily="34" charset="-122"/>
                <a:cs typeface="Segoe UI" pitchFamily="34" charset="-120"/>
              </a:rPr>
              <a:t>C</a:t>
            </a:r>
            <a:endParaRPr lang="en-US" sz="825" dirty="0"/>
          </a:p>
        </p:txBody>
      </p:sp>
      <p:sp>
        <p:nvSpPr>
          <p:cNvPr id="67" name="Shape 65"/>
          <p:cNvSpPr/>
          <p:nvPr/>
        </p:nvSpPr>
        <p:spPr>
          <a:xfrm>
            <a:off x="7908012" y="2663190"/>
            <a:ext cx="2195274" cy="228600"/>
          </a:xfrm>
          <a:prstGeom prst="rect">
            <a:avLst/>
          </a:prstGeom>
          <a:solidFill>
            <a:srgbClr val="F0F0F0"/>
          </a:solidFill>
          <a:ln/>
        </p:spPr>
      </p:sp>
      <p:sp>
        <p:nvSpPr>
          <p:cNvPr id="68" name="Shape 66"/>
          <p:cNvSpPr/>
          <p:nvPr/>
        </p:nvSpPr>
        <p:spPr>
          <a:xfrm>
            <a:off x="7908012" y="2884170"/>
            <a:ext cx="2195274" cy="9525"/>
          </a:xfrm>
          <a:prstGeom prst="rect">
            <a:avLst/>
          </a:prstGeom>
          <a:solidFill>
            <a:srgbClr val="E0E0E0"/>
          </a:solidFill>
          <a:ln/>
        </p:spPr>
      </p:sp>
      <p:sp>
        <p:nvSpPr>
          <p:cNvPr id="69" name="Shape 67"/>
          <p:cNvSpPr/>
          <p:nvPr/>
        </p:nvSpPr>
        <p:spPr>
          <a:xfrm>
            <a:off x="10095667" y="2663190"/>
            <a:ext cx="9525" cy="228600"/>
          </a:xfrm>
          <a:prstGeom prst="rect">
            <a:avLst/>
          </a:prstGeom>
          <a:solidFill>
            <a:srgbClr val="E0E0E0"/>
          </a:solidFill>
          <a:ln/>
        </p:spPr>
      </p:sp>
      <p:sp>
        <p:nvSpPr>
          <p:cNvPr id="70" name="Text 68"/>
          <p:cNvSpPr/>
          <p:nvPr/>
        </p:nvSpPr>
        <p:spPr>
          <a:xfrm>
            <a:off x="7936587" y="2701290"/>
            <a:ext cx="2130504" cy="182880"/>
          </a:xfrm>
          <a:prstGeom prst="rect">
            <a:avLst/>
          </a:prstGeom>
          <a:noFill/>
          <a:ln/>
        </p:spPr>
        <p:txBody>
          <a:bodyPr wrap="square" lIns="25400" tIns="25400" rIns="25400" bIns="25400" rtlCol="0" anchor="ctr">
            <a:normAutofit/>
          </a:bodyPr>
          <a:lstStyle/>
          <a:p>
            <a:pPr algn="ctr" indent="0" marL="0">
              <a:buNone/>
            </a:pPr>
            <a:r>
              <a:rPr lang="en-US" sz="825" b="1" dirty="0">
                <a:solidFill>
                  <a:srgbClr val="555555"/>
                </a:solidFill>
                <a:latin typeface="Segoe UI" pitchFamily="34" charset="0"/>
                <a:ea typeface="Segoe UI" pitchFamily="34" charset="-122"/>
                <a:cs typeface="Segoe UI" pitchFamily="34" charset="-120"/>
              </a:rPr>
              <a:t>D</a:t>
            </a:r>
            <a:endParaRPr lang="en-US" sz="825" dirty="0"/>
          </a:p>
        </p:txBody>
      </p:sp>
      <p:sp>
        <p:nvSpPr>
          <p:cNvPr id="71" name="Shape 69"/>
          <p:cNvSpPr/>
          <p:nvPr/>
        </p:nvSpPr>
        <p:spPr>
          <a:xfrm>
            <a:off x="10103287" y="2663190"/>
            <a:ext cx="2195393" cy="228600"/>
          </a:xfrm>
          <a:prstGeom prst="rect">
            <a:avLst/>
          </a:prstGeom>
          <a:solidFill>
            <a:srgbClr val="F0F0F0"/>
          </a:solidFill>
          <a:ln/>
        </p:spPr>
      </p:sp>
      <p:sp>
        <p:nvSpPr>
          <p:cNvPr id="72" name="Shape 70"/>
          <p:cNvSpPr/>
          <p:nvPr/>
        </p:nvSpPr>
        <p:spPr>
          <a:xfrm>
            <a:off x="10103287" y="2884170"/>
            <a:ext cx="2195393" cy="9525"/>
          </a:xfrm>
          <a:prstGeom prst="rect">
            <a:avLst/>
          </a:prstGeom>
          <a:solidFill>
            <a:srgbClr val="E0E0E0"/>
          </a:solidFill>
          <a:ln/>
        </p:spPr>
      </p:sp>
      <p:sp>
        <p:nvSpPr>
          <p:cNvPr id="73" name="Shape 71"/>
          <p:cNvSpPr/>
          <p:nvPr/>
        </p:nvSpPr>
        <p:spPr>
          <a:xfrm>
            <a:off x="12291060" y="2663190"/>
            <a:ext cx="9525" cy="228600"/>
          </a:xfrm>
          <a:prstGeom prst="rect">
            <a:avLst/>
          </a:prstGeom>
          <a:solidFill>
            <a:srgbClr val="E0E0E0"/>
          </a:solidFill>
          <a:ln/>
        </p:spPr>
      </p:sp>
      <p:sp>
        <p:nvSpPr>
          <p:cNvPr id="74" name="Text 72"/>
          <p:cNvSpPr/>
          <p:nvPr/>
        </p:nvSpPr>
        <p:spPr>
          <a:xfrm>
            <a:off x="10131862" y="2701290"/>
            <a:ext cx="2130623" cy="182880"/>
          </a:xfrm>
          <a:prstGeom prst="rect">
            <a:avLst/>
          </a:prstGeom>
          <a:noFill/>
          <a:ln/>
        </p:spPr>
        <p:txBody>
          <a:bodyPr wrap="square" lIns="25400" tIns="25400" rIns="25400" bIns="25400" rtlCol="0" anchor="ctr">
            <a:normAutofit/>
          </a:bodyPr>
          <a:lstStyle/>
          <a:p>
            <a:pPr algn="ctr" indent="0" marL="0">
              <a:buNone/>
            </a:pPr>
            <a:r>
              <a:rPr lang="en-US" sz="825" b="1" dirty="0">
                <a:solidFill>
                  <a:srgbClr val="555555"/>
                </a:solidFill>
                <a:latin typeface="Segoe UI" pitchFamily="34" charset="0"/>
                <a:ea typeface="Segoe UI" pitchFamily="34" charset="-122"/>
                <a:cs typeface="Segoe UI" pitchFamily="34" charset="-120"/>
              </a:rPr>
              <a:t>E</a:t>
            </a:r>
            <a:endParaRPr lang="en-US" sz="825" dirty="0"/>
          </a:p>
        </p:txBody>
      </p:sp>
      <p:sp>
        <p:nvSpPr>
          <p:cNvPr id="75" name="Shape 73"/>
          <p:cNvSpPr/>
          <p:nvPr/>
        </p:nvSpPr>
        <p:spPr>
          <a:xfrm>
            <a:off x="960120" y="2891790"/>
            <a:ext cx="361950" cy="236220"/>
          </a:xfrm>
          <a:prstGeom prst="rect">
            <a:avLst/>
          </a:prstGeom>
          <a:solidFill>
            <a:srgbClr val="F0F0F0"/>
          </a:solidFill>
          <a:ln/>
        </p:spPr>
      </p:sp>
      <p:sp>
        <p:nvSpPr>
          <p:cNvPr id="76" name="Shape 74"/>
          <p:cNvSpPr/>
          <p:nvPr/>
        </p:nvSpPr>
        <p:spPr>
          <a:xfrm>
            <a:off x="960120" y="3120390"/>
            <a:ext cx="361950" cy="9525"/>
          </a:xfrm>
          <a:prstGeom prst="rect">
            <a:avLst/>
          </a:prstGeom>
          <a:solidFill>
            <a:srgbClr val="E0E0E0"/>
          </a:solidFill>
          <a:ln/>
        </p:spPr>
      </p:sp>
      <p:sp>
        <p:nvSpPr>
          <p:cNvPr id="77" name="Shape 75"/>
          <p:cNvSpPr/>
          <p:nvPr/>
        </p:nvSpPr>
        <p:spPr>
          <a:xfrm>
            <a:off x="1314450" y="2891790"/>
            <a:ext cx="9525" cy="236220"/>
          </a:xfrm>
          <a:prstGeom prst="rect">
            <a:avLst/>
          </a:prstGeom>
          <a:solidFill>
            <a:srgbClr val="E0E0E0"/>
          </a:solidFill>
          <a:ln/>
        </p:spPr>
      </p:sp>
      <p:sp>
        <p:nvSpPr>
          <p:cNvPr id="78" name="Text 76"/>
          <p:cNvSpPr/>
          <p:nvPr/>
        </p:nvSpPr>
        <p:spPr>
          <a:xfrm>
            <a:off x="988695" y="2929890"/>
            <a:ext cx="297180" cy="190500"/>
          </a:xfrm>
          <a:prstGeom prst="rect">
            <a:avLst/>
          </a:prstGeom>
          <a:noFill/>
          <a:ln/>
        </p:spPr>
        <p:txBody>
          <a:bodyPr wrap="square" lIns="25400" tIns="25400" rIns="25400" bIns="25400" rtlCol="0" anchor="ctr">
            <a:normAutofit/>
          </a:bodyPr>
          <a:lstStyle/>
          <a:p>
            <a:pPr algn="ctr" indent="0" marL="0">
              <a:buNone/>
            </a:pPr>
            <a:r>
              <a:rPr lang="en-US" sz="825" dirty="0">
                <a:solidFill>
                  <a:srgbClr val="555555"/>
                </a:solidFill>
                <a:latin typeface="Segoe UI" pitchFamily="34" charset="0"/>
                <a:ea typeface="Segoe UI" pitchFamily="34" charset="-122"/>
                <a:cs typeface="Segoe UI" pitchFamily="34" charset="-120"/>
              </a:rPr>
              <a:t>1</a:t>
            </a:r>
            <a:endParaRPr lang="en-US" sz="825" dirty="0"/>
          </a:p>
        </p:txBody>
      </p:sp>
      <p:sp>
        <p:nvSpPr>
          <p:cNvPr id="79" name="Shape 77"/>
          <p:cNvSpPr/>
          <p:nvPr/>
        </p:nvSpPr>
        <p:spPr>
          <a:xfrm>
            <a:off x="1322070" y="2891790"/>
            <a:ext cx="2195274" cy="236220"/>
          </a:xfrm>
          <a:prstGeom prst="rect">
            <a:avLst/>
          </a:prstGeom>
          <a:solidFill>
            <a:srgbClr val="E8F0E8"/>
          </a:solidFill>
          <a:ln/>
        </p:spPr>
      </p:sp>
      <p:sp>
        <p:nvSpPr>
          <p:cNvPr id="80" name="Shape 78"/>
          <p:cNvSpPr/>
          <p:nvPr/>
        </p:nvSpPr>
        <p:spPr>
          <a:xfrm>
            <a:off x="1322070" y="3120390"/>
            <a:ext cx="2195274" cy="9525"/>
          </a:xfrm>
          <a:prstGeom prst="rect">
            <a:avLst/>
          </a:prstGeom>
          <a:solidFill>
            <a:srgbClr val="E0E0E0"/>
          </a:solidFill>
          <a:ln/>
        </p:spPr>
      </p:sp>
      <p:sp>
        <p:nvSpPr>
          <p:cNvPr id="81" name="Shape 79"/>
          <p:cNvSpPr/>
          <p:nvPr/>
        </p:nvSpPr>
        <p:spPr>
          <a:xfrm>
            <a:off x="3509724" y="2891790"/>
            <a:ext cx="9525" cy="236220"/>
          </a:xfrm>
          <a:prstGeom prst="rect">
            <a:avLst/>
          </a:prstGeom>
          <a:solidFill>
            <a:srgbClr val="E0E0E0"/>
          </a:solidFill>
          <a:ln/>
        </p:spPr>
      </p:sp>
      <p:sp>
        <p:nvSpPr>
          <p:cNvPr id="82" name="Text 80"/>
          <p:cNvSpPr/>
          <p:nvPr/>
        </p:nvSpPr>
        <p:spPr>
          <a:xfrm>
            <a:off x="1388745" y="2929890"/>
            <a:ext cx="2130504" cy="190500"/>
          </a:xfrm>
          <a:prstGeom prst="rect">
            <a:avLst/>
          </a:prstGeom>
          <a:noFill/>
          <a:ln/>
        </p:spPr>
        <p:txBody>
          <a:bodyPr wrap="square" lIns="25400" tIns="25400" rIns="25400" bIns="25400" rtlCol="0" anchor="ctr">
            <a:normAutofit/>
          </a:bodyPr>
          <a:lstStyle/>
          <a:p>
            <a:pPr algn="l" indent="0" marL="0">
              <a:buNone/>
            </a:pPr>
            <a:r>
              <a:rPr lang="en-US" sz="900" b="1" dirty="0">
                <a:solidFill>
                  <a:srgbClr val="1D6038"/>
                </a:solidFill>
                <a:latin typeface="Segoe UI" pitchFamily="34" charset="0"/>
                <a:ea typeface="Segoe UI" pitchFamily="34" charset="-122"/>
                <a:cs typeface="Segoe UI" pitchFamily="34" charset="-120"/>
              </a:rPr>
              <a:t>Name</a:t>
            </a:r>
            <a:endParaRPr lang="en-US" sz="900" dirty="0"/>
          </a:p>
        </p:txBody>
      </p:sp>
      <p:sp>
        <p:nvSpPr>
          <p:cNvPr id="83" name="Shape 81"/>
          <p:cNvSpPr/>
          <p:nvPr/>
        </p:nvSpPr>
        <p:spPr>
          <a:xfrm>
            <a:off x="3517344" y="2891790"/>
            <a:ext cx="2195274" cy="236220"/>
          </a:xfrm>
          <a:prstGeom prst="rect">
            <a:avLst/>
          </a:prstGeom>
          <a:solidFill>
            <a:srgbClr val="E8F0E8"/>
          </a:solidFill>
          <a:ln/>
        </p:spPr>
      </p:sp>
      <p:sp>
        <p:nvSpPr>
          <p:cNvPr id="84" name="Shape 82"/>
          <p:cNvSpPr/>
          <p:nvPr/>
        </p:nvSpPr>
        <p:spPr>
          <a:xfrm>
            <a:off x="3517344" y="3120390"/>
            <a:ext cx="2195274" cy="9525"/>
          </a:xfrm>
          <a:prstGeom prst="rect">
            <a:avLst/>
          </a:prstGeom>
          <a:solidFill>
            <a:srgbClr val="E0E0E0"/>
          </a:solidFill>
          <a:ln/>
        </p:spPr>
      </p:sp>
      <p:sp>
        <p:nvSpPr>
          <p:cNvPr id="85" name="Shape 83"/>
          <p:cNvSpPr/>
          <p:nvPr/>
        </p:nvSpPr>
        <p:spPr>
          <a:xfrm>
            <a:off x="5704999" y="2891790"/>
            <a:ext cx="9525" cy="236220"/>
          </a:xfrm>
          <a:prstGeom prst="rect">
            <a:avLst/>
          </a:prstGeom>
          <a:solidFill>
            <a:srgbClr val="E0E0E0"/>
          </a:solidFill>
          <a:ln/>
        </p:spPr>
      </p:sp>
      <p:sp>
        <p:nvSpPr>
          <p:cNvPr id="86" name="Text 84"/>
          <p:cNvSpPr/>
          <p:nvPr/>
        </p:nvSpPr>
        <p:spPr>
          <a:xfrm>
            <a:off x="3584019" y="2929890"/>
            <a:ext cx="2130504" cy="190500"/>
          </a:xfrm>
          <a:prstGeom prst="rect">
            <a:avLst/>
          </a:prstGeom>
          <a:noFill/>
          <a:ln/>
        </p:spPr>
        <p:txBody>
          <a:bodyPr wrap="square" lIns="25400" tIns="25400" rIns="25400" bIns="25400" rtlCol="0" anchor="ctr">
            <a:normAutofit/>
          </a:bodyPr>
          <a:lstStyle/>
          <a:p>
            <a:pPr algn="l" indent="0" marL="0">
              <a:buNone/>
            </a:pPr>
            <a:r>
              <a:rPr lang="en-US" sz="900" b="1" dirty="0">
                <a:solidFill>
                  <a:srgbClr val="1D6038"/>
                </a:solidFill>
                <a:latin typeface="Segoe UI" pitchFamily="34" charset="0"/>
                <a:ea typeface="Segoe UI" pitchFamily="34" charset="-122"/>
                <a:cs typeface="Segoe UI" pitchFamily="34" charset="-120"/>
              </a:rPr>
              <a:t>Salary</a:t>
            </a:r>
            <a:endParaRPr lang="en-US" sz="900" dirty="0"/>
          </a:p>
        </p:txBody>
      </p:sp>
      <p:sp>
        <p:nvSpPr>
          <p:cNvPr id="87" name="Shape 85"/>
          <p:cNvSpPr/>
          <p:nvPr/>
        </p:nvSpPr>
        <p:spPr>
          <a:xfrm>
            <a:off x="5712619" y="2891790"/>
            <a:ext cx="2195393" cy="236220"/>
          </a:xfrm>
          <a:prstGeom prst="rect">
            <a:avLst/>
          </a:prstGeom>
          <a:solidFill>
            <a:srgbClr val="E8F0E8"/>
          </a:solidFill>
          <a:ln/>
        </p:spPr>
      </p:sp>
      <p:sp>
        <p:nvSpPr>
          <p:cNvPr id="88" name="Shape 86"/>
          <p:cNvSpPr/>
          <p:nvPr/>
        </p:nvSpPr>
        <p:spPr>
          <a:xfrm>
            <a:off x="5712619" y="3120390"/>
            <a:ext cx="2195393" cy="9525"/>
          </a:xfrm>
          <a:prstGeom prst="rect">
            <a:avLst/>
          </a:prstGeom>
          <a:solidFill>
            <a:srgbClr val="E0E0E0"/>
          </a:solidFill>
          <a:ln/>
        </p:spPr>
      </p:sp>
      <p:sp>
        <p:nvSpPr>
          <p:cNvPr id="89" name="Shape 87"/>
          <p:cNvSpPr/>
          <p:nvPr/>
        </p:nvSpPr>
        <p:spPr>
          <a:xfrm>
            <a:off x="7900392" y="2891790"/>
            <a:ext cx="9525" cy="236220"/>
          </a:xfrm>
          <a:prstGeom prst="rect">
            <a:avLst/>
          </a:prstGeom>
          <a:solidFill>
            <a:srgbClr val="E0E0E0"/>
          </a:solidFill>
          <a:ln/>
        </p:spPr>
      </p:sp>
      <p:sp>
        <p:nvSpPr>
          <p:cNvPr id="90" name="Text 88"/>
          <p:cNvSpPr/>
          <p:nvPr/>
        </p:nvSpPr>
        <p:spPr>
          <a:xfrm>
            <a:off x="5779294" y="2929890"/>
            <a:ext cx="2130623" cy="190500"/>
          </a:xfrm>
          <a:prstGeom prst="rect">
            <a:avLst/>
          </a:prstGeom>
          <a:noFill/>
          <a:ln/>
        </p:spPr>
        <p:txBody>
          <a:bodyPr wrap="square" lIns="25400" tIns="25400" rIns="25400" bIns="25400" rtlCol="0" anchor="ctr">
            <a:normAutofit/>
          </a:bodyPr>
          <a:lstStyle/>
          <a:p>
            <a:pPr algn="l" indent="0" marL="0">
              <a:buNone/>
            </a:pPr>
            <a:r>
              <a:rPr lang="en-US" sz="900" b="1" dirty="0">
                <a:solidFill>
                  <a:srgbClr val="1D6038"/>
                </a:solidFill>
                <a:latin typeface="Segoe UI" pitchFamily="34" charset="0"/>
                <a:ea typeface="Segoe UI" pitchFamily="34" charset="-122"/>
                <a:cs typeface="Segoe UI" pitchFamily="34" charset="-120"/>
              </a:rPr>
              <a:t>Dept</a:t>
            </a:r>
            <a:endParaRPr lang="en-US" sz="900" dirty="0"/>
          </a:p>
        </p:txBody>
      </p:sp>
      <p:sp>
        <p:nvSpPr>
          <p:cNvPr id="91" name="Shape 89"/>
          <p:cNvSpPr/>
          <p:nvPr/>
        </p:nvSpPr>
        <p:spPr>
          <a:xfrm>
            <a:off x="7908012" y="2891790"/>
            <a:ext cx="2195274" cy="236220"/>
          </a:xfrm>
          <a:prstGeom prst="rect">
            <a:avLst/>
          </a:prstGeom>
          <a:solidFill>
            <a:srgbClr val="E8F0E8"/>
          </a:solidFill>
          <a:ln/>
        </p:spPr>
      </p:sp>
      <p:sp>
        <p:nvSpPr>
          <p:cNvPr id="92" name="Shape 90"/>
          <p:cNvSpPr/>
          <p:nvPr/>
        </p:nvSpPr>
        <p:spPr>
          <a:xfrm>
            <a:off x="7908012" y="3120390"/>
            <a:ext cx="2195274" cy="9525"/>
          </a:xfrm>
          <a:prstGeom prst="rect">
            <a:avLst/>
          </a:prstGeom>
          <a:solidFill>
            <a:srgbClr val="E0E0E0"/>
          </a:solidFill>
          <a:ln/>
        </p:spPr>
      </p:sp>
      <p:sp>
        <p:nvSpPr>
          <p:cNvPr id="93" name="Shape 91"/>
          <p:cNvSpPr/>
          <p:nvPr/>
        </p:nvSpPr>
        <p:spPr>
          <a:xfrm>
            <a:off x="10095667" y="2891790"/>
            <a:ext cx="9525" cy="236220"/>
          </a:xfrm>
          <a:prstGeom prst="rect">
            <a:avLst/>
          </a:prstGeom>
          <a:solidFill>
            <a:srgbClr val="E0E0E0"/>
          </a:solidFill>
          <a:ln/>
        </p:spPr>
      </p:sp>
      <p:sp>
        <p:nvSpPr>
          <p:cNvPr id="94" name="Text 92"/>
          <p:cNvSpPr/>
          <p:nvPr/>
        </p:nvSpPr>
        <p:spPr>
          <a:xfrm>
            <a:off x="7974687" y="2929890"/>
            <a:ext cx="2130504" cy="190500"/>
          </a:xfrm>
          <a:prstGeom prst="rect">
            <a:avLst/>
          </a:prstGeom>
          <a:noFill/>
          <a:ln/>
        </p:spPr>
        <p:txBody>
          <a:bodyPr wrap="square" lIns="25400" tIns="25400" rIns="25400" bIns="25400" rtlCol="0" anchor="ctr">
            <a:normAutofit/>
          </a:bodyPr>
          <a:lstStyle/>
          <a:p>
            <a:pPr algn="l" indent="0" marL="0">
              <a:buNone/>
            </a:pPr>
            <a:r>
              <a:rPr lang="en-US" sz="900" b="1" dirty="0">
                <a:solidFill>
                  <a:srgbClr val="1D6038"/>
                </a:solidFill>
                <a:latin typeface="Segoe UI" pitchFamily="34" charset="0"/>
                <a:ea typeface="Segoe UI" pitchFamily="34" charset="-122"/>
                <a:cs typeface="Segoe UI" pitchFamily="34" charset="-120"/>
              </a:rPr>
              <a:t>Hire Date</a:t>
            </a:r>
            <a:endParaRPr lang="en-US" sz="900" dirty="0"/>
          </a:p>
        </p:txBody>
      </p:sp>
      <p:sp>
        <p:nvSpPr>
          <p:cNvPr id="95" name="Shape 93"/>
          <p:cNvSpPr/>
          <p:nvPr/>
        </p:nvSpPr>
        <p:spPr>
          <a:xfrm>
            <a:off x="10103287" y="2891790"/>
            <a:ext cx="2195393" cy="236220"/>
          </a:xfrm>
          <a:prstGeom prst="rect">
            <a:avLst/>
          </a:prstGeom>
          <a:solidFill>
            <a:srgbClr val="E8F0E8"/>
          </a:solidFill>
          <a:ln/>
        </p:spPr>
      </p:sp>
      <p:sp>
        <p:nvSpPr>
          <p:cNvPr id="96" name="Shape 94"/>
          <p:cNvSpPr/>
          <p:nvPr/>
        </p:nvSpPr>
        <p:spPr>
          <a:xfrm>
            <a:off x="10103287" y="3120390"/>
            <a:ext cx="2195393" cy="9525"/>
          </a:xfrm>
          <a:prstGeom prst="rect">
            <a:avLst/>
          </a:prstGeom>
          <a:solidFill>
            <a:srgbClr val="E0E0E0"/>
          </a:solidFill>
          <a:ln/>
        </p:spPr>
      </p:sp>
      <p:sp>
        <p:nvSpPr>
          <p:cNvPr id="97" name="Shape 95"/>
          <p:cNvSpPr/>
          <p:nvPr/>
        </p:nvSpPr>
        <p:spPr>
          <a:xfrm>
            <a:off x="12291060" y="2891790"/>
            <a:ext cx="9525" cy="236220"/>
          </a:xfrm>
          <a:prstGeom prst="rect">
            <a:avLst/>
          </a:prstGeom>
          <a:solidFill>
            <a:srgbClr val="E0E0E0"/>
          </a:solidFill>
          <a:ln/>
        </p:spPr>
      </p:sp>
      <p:sp>
        <p:nvSpPr>
          <p:cNvPr id="98" name="Text 96"/>
          <p:cNvSpPr/>
          <p:nvPr/>
        </p:nvSpPr>
        <p:spPr>
          <a:xfrm>
            <a:off x="10169962" y="2929890"/>
            <a:ext cx="2130623" cy="190500"/>
          </a:xfrm>
          <a:prstGeom prst="rect">
            <a:avLst/>
          </a:prstGeom>
          <a:noFill/>
          <a:ln/>
        </p:spPr>
        <p:txBody>
          <a:bodyPr wrap="square" lIns="25400" tIns="25400" rIns="25400" bIns="25400" rtlCol="0" anchor="ctr">
            <a:normAutofit/>
          </a:bodyPr>
          <a:lstStyle/>
          <a:p>
            <a:pPr algn="l" indent="0" marL="0">
              <a:buNone/>
            </a:pPr>
            <a:r>
              <a:rPr lang="en-US" sz="900" b="1" dirty="0">
                <a:solidFill>
                  <a:srgbClr val="1D6038"/>
                </a:solidFill>
                <a:latin typeface="Segoe UI" pitchFamily="34" charset="0"/>
                <a:ea typeface="Segoe UI" pitchFamily="34" charset="-122"/>
                <a:cs typeface="Segoe UI" pitchFamily="34" charset="-120"/>
              </a:rPr>
              <a:t>Status</a:t>
            </a:r>
            <a:endParaRPr lang="en-US" sz="900" dirty="0"/>
          </a:p>
        </p:txBody>
      </p:sp>
      <p:sp>
        <p:nvSpPr>
          <p:cNvPr id="99" name="Shape 97"/>
          <p:cNvSpPr/>
          <p:nvPr/>
        </p:nvSpPr>
        <p:spPr>
          <a:xfrm>
            <a:off x="960120" y="3128010"/>
            <a:ext cx="361950" cy="236220"/>
          </a:xfrm>
          <a:prstGeom prst="rect">
            <a:avLst/>
          </a:prstGeom>
          <a:solidFill>
            <a:srgbClr val="F0F0F0"/>
          </a:solidFill>
          <a:ln/>
        </p:spPr>
      </p:sp>
      <p:sp>
        <p:nvSpPr>
          <p:cNvPr id="100" name="Shape 98"/>
          <p:cNvSpPr/>
          <p:nvPr/>
        </p:nvSpPr>
        <p:spPr>
          <a:xfrm>
            <a:off x="960120" y="3356610"/>
            <a:ext cx="361950" cy="9525"/>
          </a:xfrm>
          <a:prstGeom prst="rect">
            <a:avLst/>
          </a:prstGeom>
          <a:solidFill>
            <a:srgbClr val="E0E0E0"/>
          </a:solidFill>
          <a:ln/>
        </p:spPr>
      </p:sp>
      <p:sp>
        <p:nvSpPr>
          <p:cNvPr id="101" name="Shape 99"/>
          <p:cNvSpPr/>
          <p:nvPr/>
        </p:nvSpPr>
        <p:spPr>
          <a:xfrm>
            <a:off x="1314450" y="3128010"/>
            <a:ext cx="9525" cy="236220"/>
          </a:xfrm>
          <a:prstGeom prst="rect">
            <a:avLst/>
          </a:prstGeom>
          <a:solidFill>
            <a:srgbClr val="E0E0E0"/>
          </a:solidFill>
          <a:ln/>
        </p:spPr>
      </p:sp>
      <p:sp>
        <p:nvSpPr>
          <p:cNvPr id="102" name="Text 100"/>
          <p:cNvSpPr/>
          <p:nvPr/>
        </p:nvSpPr>
        <p:spPr>
          <a:xfrm>
            <a:off x="988695" y="3166110"/>
            <a:ext cx="297180" cy="190500"/>
          </a:xfrm>
          <a:prstGeom prst="rect">
            <a:avLst/>
          </a:prstGeom>
          <a:noFill/>
          <a:ln/>
        </p:spPr>
        <p:txBody>
          <a:bodyPr wrap="square" lIns="25400" tIns="25400" rIns="25400" bIns="25400" rtlCol="0" anchor="ctr">
            <a:normAutofit/>
          </a:bodyPr>
          <a:lstStyle/>
          <a:p>
            <a:pPr algn="ctr" indent="0" marL="0">
              <a:buNone/>
            </a:pPr>
            <a:r>
              <a:rPr lang="en-US" sz="825" dirty="0">
                <a:solidFill>
                  <a:srgbClr val="555555"/>
                </a:solidFill>
                <a:latin typeface="Segoe UI" pitchFamily="34" charset="0"/>
                <a:ea typeface="Segoe UI" pitchFamily="34" charset="-122"/>
                <a:cs typeface="Segoe UI" pitchFamily="34" charset="-120"/>
              </a:rPr>
              <a:t>2</a:t>
            </a:r>
            <a:endParaRPr lang="en-US" sz="825" dirty="0"/>
          </a:p>
        </p:txBody>
      </p:sp>
      <p:sp>
        <p:nvSpPr>
          <p:cNvPr id="103" name="Shape 101"/>
          <p:cNvSpPr/>
          <p:nvPr/>
        </p:nvSpPr>
        <p:spPr>
          <a:xfrm>
            <a:off x="1322070" y="3356610"/>
            <a:ext cx="2195274" cy="9525"/>
          </a:xfrm>
          <a:prstGeom prst="rect">
            <a:avLst/>
          </a:prstGeom>
          <a:solidFill>
            <a:srgbClr val="E0E0E0"/>
          </a:solidFill>
          <a:ln/>
        </p:spPr>
      </p:sp>
      <p:sp>
        <p:nvSpPr>
          <p:cNvPr id="104" name="Shape 102"/>
          <p:cNvSpPr/>
          <p:nvPr/>
        </p:nvSpPr>
        <p:spPr>
          <a:xfrm>
            <a:off x="3509724" y="3128010"/>
            <a:ext cx="9525" cy="236220"/>
          </a:xfrm>
          <a:prstGeom prst="rect">
            <a:avLst/>
          </a:prstGeom>
          <a:solidFill>
            <a:srgbClr val="E0E0E0"/>
          </a:solidFill>
          <a:ln/>
        </p:spPr>
      </p:sp>
      <p:sp>
        <p:nvSpPr>
          <p:cNvPr id="105" name="Text 103"/>
          <p:cNvSpPr/>
          <p:nvPr/>
        </p:nvSpPr>
        <p:spPr>
          <a:xfrm>
            <a:off x="1388745" y="316611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Alice Johnson</a:t>
            </a:r>
            <a:endParaRPr lang="en-US" sz="900" dirty="0"/>
          </a:p>
        </p:txBody>
      </p:sp>
      <p:sp>
        <p:nvSpPr>
          <p:cNvPr id="106" name="Shape 104"/>
          <p:cNvSpPr/>
          <p:nvPr/>
        </p:nvSpPr>
        <p:spPr>
          <a:xfrm>
            <a:off x="3517344" y="3128010"/>
            <a:ext cx="2195274" cy="236220"/>
          </a:xfrm>
          <a:prstGeom prst="rect">
            <a:avLst/>
          </a:prstGeom>
          <a:solidFill>
            <a:srgbClr val="E8F5E9"/>
          </a:solidFill>
          <a:ln/>
        </p:spPr>
      </p:sp>
      <p:sp>
        <p:nvSpPr>
          <p:cNvPr id="107" name="Shape 105"/>
          <p:cNvSpPr/>
          <p:nvPr/>
        </p:nvSpPr>
        <p:spPr>
          <a:xfrm>
            <a:off x="3517344" y="3356610"/>
            <a:ext cx="2195274" cy="9525"/>
          </a:xfrm>
          <a:prstGeom prst="rect">
            <a:avLst/>
          </a:prstGeom>
          <a:solidFill>
            <a:srgbClr val="E0E0E0"/>
          </a:solidFill>
          <a:ln/>
        </p:spPr>
      </p:sp>
      <p:sp>
        <p:nvSpPr>
          <p:cNvPr id="108" name="Shape 106"/>
          <p:cNvSpPr/>
          <p:nvPr/>
        </p:nvSpPr>
        <p:spPr>
          <a:xfrm>
            <a:off x="5704999" y="3128010"/>
            <a:ext cx="9525" cy="236220"/>
          </a:xfrm>
          <a:prstGeom prst="rect">
            <a:avLst/>
          </a:prstGeom>
          <a:solidFill>
            <a:srgbClr val="E0E0E0"/>
          </a:solidFill>
          <a:ln/>
        </p:spPr>
      </p:sp>
      <p:sp>
        <p:nvSpPr>
          <p:cNvPr id="109" name="Text 107"/>
          <p:cNvSpPr/>
          <p:nvPr/>
        </p:nvSpPr>
        <p:spPr>
          <a:xfrm>
            <a:off x="3507819" y="3166110"/>
            <a:ext cx="2130504" cy="190500"/>
          </a:xfrm>
          <a:prstGeom prst="rect">
            <a:avLst/>
          </a:prstGeom>
          <a:noFill/>
          <a:ln/>
        </p:spPr>
        <p:txBody>
          <a:bodyPr wrap="square" lIns="25400" tIns="25400" rIns="25400" bIns="25400" rtlCol="0" anchor="ctr">
            <a:normAutofit/>
          </a:bodyPr>
          <a:lstStyle/>
          <a:p>
            <a:pPr algn="r" indent="0" marL="0">
              <a:buNone/>
            </a:pPr>
            <a:r>
              <a:rPr lang="en-US" sz="900" dirty="0">
                <a:solidFill>
                  <a:srgbClr val="333333"/>
                </a:solidFill>
                <a:latin typeface="Segoe UI" pitchFamily="34" charset="0"/>
                <a:ea typeface="Segoe UI" pitchFamily="34" charset="-122"/>
                <a:cs typeface="Segoe UI" pitchFamily="34" charset="-120"/>
              </a:rPr>
              <a:t>$52,000</a:t>
            </a:r>
            <a:endParaRPr lang="en-US" sz="900" dirty="0"/>
          </a:p>
        </p:txBody>
      </p:sp>
      <p:sp>
        <p:nvSpPr>
          <p:cNvPr id="110" name="Shape 108"/>
          <p:cNvSpPr/>
          <p:nvPr/>
        </p:nvSpPr>
        <p:spPr>
          <a:xfrm>
            <a:off x="5712619" y="3356610"/>
            <a:ext cx="2195393" cy="9525"/>
          </a:xfrm>
          <a:prstGeom prst="rect">
            <a:avLst/>
          </a:prstGeom>
          <a:solidFill>
            <a:srgbClr val="E0E0E0"/>
          </a:solidFill>
          <a:ln/>
        </p:spPr>
      </p:sp>
      <p:sp>
        <p:nvSpPr>
          <p:cNvPr id="111" name="Shape 109"/>
          <p:cNvSpPr/>
          <p:nvPr/>
        </p:nvSpPr>
        <p:spPr>
          <a:xfrm>
            <a:off x="7900392" y="3128010"/>
            <a:ext cx="9525" cy="236220"/>
          </a:xfrm>
          <a:prstGeom prst="rect">
            <a:avLst/>
          </a:prstGeom>
          <a:solidFill>
            <a:srgbClr val="E0E0E0"/>
          </a:solidFill>
          <a:ln/>
        </p:spPr>
      </p:sp>
      <p:sp>
        <p:nvSpPr>
          <p:cNvPr id="112" name="Text 110"/>
          <p:cNvSpPr/>
          <p:nvPr/>
        </p:nvSpPr>
        <p:spPr>
          <a:xfrm>
            <a:off x="5779294" y="316611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Marketing</a:t>
            </a:r>
            <a:endParaRPr lang="en-US" sz="900" dirty="0"/>
          </a:p>
        </p:txBody>
      </p:sp>
      <p:sp>
        <p:nvSpPr>
          <p:cNvPr id="113" name="Shape 111"/>
          <p:cNvSpPr/>
          <p:nvPr/>
        </p:nvSpPr>
        <p:spPr>
          <a:xfrm>
            <a:off x="7908012" y="3356610"/>
            <a:ext cx="2195274" cy="9525"/>
          </a:xfrm>
          <a:prstGeom prst="rect">
            <a:avLst/>
          </a:prstGeom>
          <a:solidFill>
            <a:srgbClr val="E0E0E0"/>
          </a:solidFill>
          <a:ln/>
        </p:spPr>
      </p:sp>
      <p:sp>
        <p:nvSpPr>
          <p:cNvPr id="114" name="Shape 112"/>
          <p:cNvSpPr/>
          <p:nvPr/>
        </p:nvSpPr>
        <p:spPr>
          <a:xfrm>
            <a:off x="10095667" y="3128010"/>
            <a:ext cx="9525" cy="236220"/>
          </a:xfrm>
          <a:prstGeom prst="rect">
            <a:avLst/>
          </a:prstGeom>
          <a:solidFill>
            <a:srgbClr val="E0E0E0"/>
          </a:solidFill>
          <a:ln/>
        </p:spPr>
      </p:sp>
      <p:sp>
        <p:nvSpPr>
          <p:cNvPr id="115" name="Text 113"/>
          <p:cNvSpPr/>
          <p:nvPr/>
        </p:nvSpPr>
        <p:spPr>
          <a:xfrm>
            <a:off x="7974687" y="316611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01/15/2022</a:t>
            </a:r>
            <a:endParaRPr lang="en-US" sz="900" dirty="0"/>
          </a:p>
        </p:txBody>
      </p:sp>
      <p:sp>
        <p:nvSpPr>
          <p:cNvPr id="116" name="Shape 114"/>
          <p:cNvSpPr/>
          <p:nvPr/>
        </p:nvSpPr>
        <p:spPr>
          <a:xfrm>
            <a:off x="10103287" y="3356610"/>
            <a:ext cx="2195393" cy="9525"/>
          </a:xfrm>
          <a:prstGeom prst="rect">
            <a:avLst/>
          </a:prstGeom>
          <a:solidFill>
            <a:srgbClr val="E0E0E0"/>
          </a:solidFill>
          <a:ln/>
        </p:spPr>
      </p:sp>
      <p:sp>
        <p:nvSpPr>
          <p:cNvPr id="117" name="Shape 115"/>
          <p:cNvSpPr/>
          <p:nvPr/>
        </p:nvSpPr>
        <p:spPr>
          <a:xfrm>
            <a:off x="12291060" y="3128010"/>
            <a:ext cx="9525" cy="236220"/>
          </a:xfrm>
          <a:prstGeom prst="rect">
            <a:avLst/>
          </a:prstGeom>
          <a:solidFill>
            <a:srgbClr val="E0E0E0"/>
          </a:solidFill>
          <a:ln/>
        </p:spPr>
      </p:sp>
      <p:sp>
        <p:nvSpPr>
          <p:cNvPr id="118" name="Text 116"/>
          <p:cNvSpPr/>
          <p:nvPr/>
        </p:nvSpPr>
        <p:spPr>
          <a:xfrm>
            <a:off x="10169962" y="316611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217346"/>
                </a:solidFill>
                <a:latin typeface="Segoe UI" pitchFamily="34" charset="0"/>
                <a:ea typeface="Segoe UI" pitchFamily="34" charset="-122"/>
                <a:cs typeface="Segoe UI" pitchFamily="34" charset="-120"/>
              </a:rPr>
              <a:t>Active</a:t>
            </a:r>
            <a:endParaRPr lang="en-US" sz="900" dirty="0"/>
          </a:p>
        </p:txBody>
      </p:sp>
      <p:sp>
        <p:nvSpPr>
          <p:cNvPr id="119" name="Shape 117"/>
          <p:cNvSpPr/>
          <p:nvPr/>
        </p:nvSpPr>
        <p:spPr>
          <a:xfrm>
            <a:off x="960120" y="3364230"/>
            <a:ext cx="361950" cy="236220"/>
          </a:xfrm>
          <a:prstGeom prst="rect">
            <a:avLst/>
          </a:prstGeom>
          <a:solidFill>
            <a:srgbClr val="F0F0F0"/>
          </a:solidFill>
          <a:ln/>
        </p:spPr>
      </p:sp>
      <p:sp>
        <p:nvSpPr>
          <p:cNvPr id="120" name="Shape 118"/>
          <p:cNvSpPr/>
          <p:nvPr/>
        </p:nvSpPr>
        <p:spPr>
          <a:xfrm>
            <a:off x="960120" y="3592830"/>
            <a:ext cx="361950" cy="9525"/>
          </a:xfrm>
          <a:prstGeom prst="rect">
            <a:avLst/>
          </a:prstGeom>
          <a:solidFill>
            <a:srgbClr val="E0E0E0"/>
          </a:solidFill>
          <a:ln/>
        </p:spPr>
      </p:sp>
      <p:sp>
        <p:nvSpPr>
          <p:cNvPr id="121" name="Shape 119"/>
          <p:cNvSpPr/>
          <p:nvPr/>
        </p:nvSpPr>
        <p:spPr>
          <a:xfrm>
            <a:off x="1314450" y="3364230"/>
            <a:ext cx="9525" cy="236220"/>
          </a:xfrm>
          <a:prstGeom prst="rect">
            <a:avLst/>
          </a:prstGeom>
          <a:solidFill>
            <a:srgbClr val="E0E0E0"/>
          </a:solidFill>
          <a:ln/>
        </p:spPr>
      </p:sp>
      <p:sp>
        <p:nvSpPr>
          <p:cNvPr id="122" name="Text 120"/>
          <p:cNvSpPr/>
          <p:nvPr/>
        </p:nvSpPr>
        <p:spPr>
          <a:xfrm>
            <a:off x="988695" y="3402330"/>
            <a:ext cx="297180" cy="190500"/>
          </a:xfrm>
          <a:prstGeom prst="rect">
            <a:avLst/>
          </a:prstGeom>
          <a:noFill/>
          <a:ln/>
        </p:spPr>
        <p:txBody>
          <a:bodyPr wrap="square" lIns="25400" tIns="25400" rIns="25400" bIns="25400" rtlCol="0" anchor="ctr">
            <a:normAutofit/>
          </a:bodyPr>
          <a:lstStyle/>
          <a:p>
            <a:pPr algn="ctr" indent="0" marL="0">
              <a:buNone/>
            </a:pPr>
            <a:r>
              <a:rPr lang="en-US" sz="825" dirty="0">
                <a:solidFill>
                  <a:srgbClr val="555555"/>
                </a:solidFill>
                <a:latin typeface="Segoe UI" pitchFamily="34" charset="0"/>
                <a:ea typeface="Segoe UI" pitchFamily="34" charset="-122"/>
                <a:cs typeface="Segoe UI" pitchFamily="34" charset="-120"/>
              </a:rPr>
              <a:t>3</a:t>
            </a:r>
            <a:endParaRPr lang="en-US" sz="825" dirty="0"/>
          </a:p>
        </p:txBody>
      </p:sp>
      <p:sp>
        <p:nvSpPr>
          <p:cNvPr id="123" name="Shape 121"/>
          <p:cNvSpPr/>
          <p:nvPr/>
        </p:nvSpPr>
        <p:spPr>
          <a:xfrm>
            <a:off x="1322070" y="3592830"/>
            <a:ext cx="2195274" cy="9525"/>
          </a:xfrm>
          <a:prstGeom prst="rect">
            <a:avLst/>
          </a:prstGeom>
          <a:solidFill>
            <a:srgbClr val="E0E0E0"/>
          </a:solidFill>
          <a:ln/>
        </p:spPr>
      </p:sp>
      <p:sp>
        <p:nvSpPr>
          <p:cNvPr id="124" name="Shape 122"/>
          <p:cNvSpPr/>
          <p:nvPr/>
        </p:nvSpPr>
        <p:spPr>
          <a:xfrm>
            <a:off x="3509724" y="3364230"/>
            <a:ext cx="9525" cy="236220"/>
          </a:xfrm>
          <a:prstGeom prst="rect">
            <a:avLst/>
          </a:prstGeom>
          <a:solidFill>
            <a:srgbClr val="E0E0E0"/>
          </a:solidFill>
          <a:ln/>
        </p:spPr>
      </p:sp>
      <p:sp>
        <p:nvSpPr>
          <p:cNvPr id="125" name="Text 123"/>
          <p:cNvSpPr/>
          <p:nvPr/>
        </p:nvSpPr>
        <p:spPr>
          <a:xfrm>
            <a:off x="1388745" y="340233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Bob Chen</a:t>
            </a:r>
            <a:endParaRPr lang="en-US" sz="900" dirty="0"/>
          </a:p>
        </p:txBody>
      </p:sp>
      <p:sp>
        <p:nvSpPr>
          <p:cNvPr id="126" name="Shape 124"/>
          <p:cNvSpPr/>
          <p:nvPr/>
        </p:nvSpPr>
        <p:spPr>
          <a:xfrm>
            <a:off x="3517344" y="3592830"/>
            <a:ext cx="2195274" cy="9525"/>
          </a:xfrm>
          <a:prstGeom prst="rect">
            <a:avLst/>
          </a:prstGeom>
          <a:solidFill>
            <a:srgbClr val="E0E0E0"/>
          </a:solidFill>
          <a:ln/>
        </p:spPr>
      </p:sp>
      <p:sp>
        <p:nvSpPr>
          <p:cNvPr id="127" name="Shape 125"/>
          <p:cNvSpPr/>
          <p:nvPr/>
        </p:nvSpPr>
        <p:spPr>
          <a:xfrm>
            <a:off x="5704999" y="3364230"/>
            <a:ext cx="9525" cy="236220"/>
          </a:xfrm>
          <a:prstGeom prst="rect">
            <a:avLst/>
          </a:prstGeom>
          <a:solidFill>
            <a:srgbClr val="E0E0E0"/>
          </a:solidFill>
          <a:ln/>
        </p:spPr>
      </p:sp>
      <p:sp>
        <p:nvSpPr>
          <p:cNvPr id="128" name="Text 126"/>
          <p:cNvSpPr/>
          <p:nvPr/>
        </p:nvSpPr>
        <p:spPr>
          <a:xfrm>
            <a:off x="3507819" y="3402330"/>
            <a:ext cx="2130504" cy="190500"/>
          </a:xfrm>
          <a:prstGeom prst="rect">
            <a:avLst/>
          </a:prstGeom>
          <a:noFill/>
          <a:ln/>
        </p:spPr>
        <p:txBody>
          <a:bodyPr wrap="square" lIns="25400" tIns="25400" rIns="25400" bIns="25400" rtlCol="0" anchor="ctr">
            <a:normAutofit/>
          </a:bodyPr>
          <a:lstStyle/>
          <a:p>
            <a:pPr algn="r" indent="0" marL="0">
              <a:buNone/>
            </a:pPr>
            <a:r>
              <a:rPr lang="en-US" sz="900" dirty="0">
                <a:solidFill>
                  <a:srgbClr val="333333"/>
                </a:solidFill>
                <a:latin typeface="Segoe UI" pitchFamily="34" charset="0"/>
                <a:ea typeface="Segoe UI" pitchFamily="34" charset="-122"/>
                <a:cs typeface="Segoe UI" pitchFamily="34" charset="-120"/>
              </a:rPr>
              <a:t>$68,500</a:t>
            </a:r>
            <a:endParaRPr lang="en-US" sz="900" dirty="0"/>
          </a:p>
        </p:txBody>
      </p:sp>
      <p:sp>
        <p:nvSpPr>
          <p:cNvPr id="129" name="Shape 127"/>
          <p:cNvSpPr/>
          <p:nvPr/>
        </p:nvSpPr>
        <p:spPr>
          <a:xfrm>
            <a:off x="5712619" y="3592830"/>
            <a:ext cx="2195393" cy="9525"/>
          </a:xfrm>
          <a:prstGeom prst="rect">
            <a:avLst/>
          </a:prstGeom>
          <a:solidFill>
            <a:srgbClr val="E0E0E0"/>
          </a:solidFill>
          <a:ln/>
        </p:spPr>
      </p:sp>
      <p:sp>
        <p:nvSpPr>
          <p:cNvPr id="130" name="Shape 128"/>
          <p:cNvSpPr/>
          <p:nvPr/>
        </p:nvSpPr>
        <p:spPr>
          <a:xfrm>
            <a:off x="7900392" y="3364230"/>
            <a:ext cx="9525" cy="236220"/>
          </a:xfrm>
          <a:prstGeom prst="rect">
            <a:avLst/>
          </a:prstGeom>
          <a:solidFill>
            <a:srgbClr val="E0E0E0"/>
          </a:solidFill>
          <a:ln/>
        </p:spPr>
      </p:sp>
      <p:sp>
        <p:nvSpPr>
          <p:cNvPr id="131" name="Text 129"/>
          <p:cNvSpPr/>
          <p:nvPr/>
        </p:nvSpPr>
        <p:spPr>
          <a:xfrm>
            <a:off x="5779294" y="340233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Sales</a:t>
            </a:r>
            <a:endParaRPr lang="en-US" sz="900" dirty="0"/>
          </a:p>
        </p:txBody>
      </p:sp>
      <p:sp>
        <p:nvSpPr>
          <p:cNvPr id="132" name="Shape 130"/>
          <p:cNvSpPr/>
          <p:nvPr/>
        </p:nvSpPr>
        <p:spPr>
          <a:xfrm>
            <a:off x="7908012" y="3592830"/>
            <a:ext cx="2195274" cy="9525"/>
          </a:xfrm>
          <a:prstGeom prst="rect">
            <a:avLst/>
          </a:prstGeom>
          <a:solidFill>
            <a:srgbClr val="E0E0E0"/>
          </a:solidFill>
          <a:ln/>
        </p:spPr>
      </p:sp>
      <p:sp>
        <p:nvSpPr>
          <p:cNvPr id="133" name="Shape 131"/>
          <p:cNvSpPr/>
          <p:nvPr/>
        </p:nvSpPr>
        <p:spPr>
          <a:xfrm>
            <a:off x="10095667" y="3364230"/>
            <a:ext cx="9525" cy="236220"/>
          </a:xfrm>
          <a:prstGeom prst="rect">
            <a:avLst/>
          </a:prstGeom>
          <a:solidFill>
            <a:srgbClr val="E0E0E0"/>
          </a:solidFill>
          <a:ln/>
        </p:spPr>
      </p:sp>
      <p:sp>
        <p:nvSpPr>
          <p:cNvPr id="134" name="Text 132"/>
          <p:cNvSpPr/>
          <p:nvPr/>
        </p:nvSpPr>
        <p:spPr>
          <a:xfrm>
            <a:off x="7974687" y="340233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03/22/2021</a:t>
            </a:r>
            <a:endParaRPr lang="en-US" sz="900" dirty="0"/>
          </a:p>
        </p:txBody>
      </p:sp>
      <p:sp>
        <p:nvSpPr>
          <p:cNvPr id="135" name="Shape 133"/>
          <p:cNvSpPr/>
          <p:nvPr/>
        </p:nvSpPr>
        <p:spPr>
          <a:xfrm>
            <a:off x="10103287" y="3592830"/>
            <a:ext cx="2195393" cy="9525"/>
          </a:xfrm>
          <a:prstGeom prst="rect">
            <a:avLst/>
          </a:prstGeom>
          <a:solidFill>
            <a:srgbClr val="E0E0E0"/>
          </a:solidFill>
          <a:ln/>
        </p:spPr>
      </p:sp>
      <p:sp>
        <p:nvSpPr>
          <p:cNvPr id="136" name="Shape 134"/>
          <p:cNvSpPr/>
          <p:nvPr/>
        </p:nvSpPr>
        <p:spPr>
          <a:xfrm>
            <a:off x="12291060" y="3364230"/>
            <a:ext cx="9525" cy="236220"/>
          </a:xfrm>
          <a:prstGeom prst="rect">
            <a:avLst/>
          </a:prstGeom>
          <a:solidFill>
            <a:srgbClr val="E0E0E0"/>
          </a:solidFill>
          <a:ln/>
        </p:spPr>
      </p:sp>
      <p:sp>
        <p:nvSpPr>
          <p:cNvPr id="137" name="Text 135"/>
          <p:cNvSpPr/>
          <p:nvPr/>
        </p:nvSpPr>
        <p:spPr>
          <a:xfrm>
            <a:off x="10169962" y="340233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217346"/>
                </a:solidFill>
                <a:latin typeface="Segoe UI" pitchFamily="34" charset="0"/>
                <a:ea typeface="Segoe UI" pitchFamily="34" charset="-122"/>
                <a:cs typeface="Segoe UI" pitchFamily="34" charset="-120"/>
              </a:rPr>
              <a:t>Active</a:t>
            </a:r>
            <a:endParaRPr lang="en-US" sz="900" dirty="0"/>
          </a:p>
        </p:txBody>
      </p:sp>
      <p:sp>
        <p:nvSpPr>
          <p:cNvPr id="138" name="Shape 136"/>
          <p:cNvSpPr/>
          <p:nvPr/>
        </p:nvSpPr>
        <p:spPr>
          <a:xfrm>
            <a:off x="960120" y="3600450"/>
            <a:ext cx="361950" cy="236220"/>
          </a:xfrm>
          <a:prstGeom prst="rect">
            <a:avLst/>
          </a:prstGeom>
          <a:solidFill>
            <a:srgbClr val="F0F0F0"/>
          </a:solidFill>
          <a:ln/>
        </p:spPr>
      </p:sp>
      <p:sp>
        <p:nvSpPr>
          <p:cNvPr id="139" name="Shape 137"/>
          <p:cNvSpPr/>
          <p:nvPr/>
        </p:nvSpPr>
        <p:spPr>
          <a:xfrm>
            <a:off x="960120" y="3829050"/>
            <a:ext cx="361950" cy="9525"/>
          </a:xfrm>
          <a:prstGeom prst="rect">
            <a:avLst/>
          </a:prstGeom>
          <a:solidFill>
            <a:srgbClr val="E0E0E0"/>
          </a:solidFill>
          <a:ln/>
        </p:spPr>
      </p:sp>
      <p:sp>
        <p:nvSpPr>
          <p:cNvPr id="140" name="Shape 138"/>
          <p:cNvSpPr/>
          <p:nvPr/>
        </p:nvSpPr>
        <p:spPr>
          <a:xfrm>
            <a:off x="1314450" y="3600450"/>
            <a:ext cx="9525" cy="236220"/>
          </a:xfrm>
          <a:prstGeom prst="rect">
            <a:avLst/>
          </a:prstGeom>
          <a:solidFill>
            <a:srgbClr val="E0E0E0"/>
          </a:solidFill>
          <a:ln/>
        </p:spPr>
      </p:sp>
      <p:sp>
        <p:nvSpPr>
          <p:cNvPr id="141" name="Text 139"/>
          <p:cNvSpPr/>
          <p:nvPr/>
        </p:nvSpPr>
        <p:spPr>
          <a:xfrm>
            <a:off x="988695" y="3638550"/>
            <a:ext cx="297180" cy="190500"/>
          </a:xfrm>
          <a:prstGeom prst="rect">
            <a:avLst/>
          </a:prstGeom>
          <a:noFill/>
          <a:ln/>
        </p:spPr>
        <p:txBody>
          <a:bodyPr wrap="square" lIns="25400" tIns="25400" rIns="25400" bIns="25400" rtlCol="0" anchor="ctr">
            <a:normAutofit/>
          </a:bodyPr>
          <a:lstStyle/>
          <a:p>
            <a:pPr algn="ctr" indent="0" marL="0">
              <a:buNone/>
            </a:pPr>
            <a:r>
              <a:rPr lang="en-US" sz="825" dirty="0">
                <a:solidFill>
                  <a:srgbClr val="555555"/>
                </a:solidFill>
                <a:latin typeface="Segoe UI" pitchFamily="34" charset="0"/>
                <a:ea typeface="Segoe UI" pitchFamily="34" charset="-122"/>
                <a:cs typeface="Segoe UI" pitchFamily="34" charset="-120"/>
              </a:rPr>
              <a:t>4</a:t>
            </a:r>
            <a:endParaRPr lang="en-US" sz="825" dirty="0"/>
          </a:p>
        </p:txBody>
      </p:sp>
      <p:sp>
        <p:nvSpPr>
          <p:cNvPr id="142" name="Shape 140"/>
          <p:cNvSpPr/>
          <p:nvPr/>
        </p:nvSpPr>
        <p:spPr>
          <a:xfrm>
            <a:off x="1322070" y="3829050"/>
            <a:ext cx="2195274" cy="9525"/>
          </a:xfrm>
          <a:prstGeom prst="rect">
            <a:avLst/>
          </a:prstGeom>
          <a:solidFill>
            <a:srgbClr val="E0E0E0"/>
          </a:solidFill>
          <a:ln/>
        </p:spPr>
      </p:sp>
      <p:sp>
        <p:nvSpPr>
          <p:cNvPr id="143" name="Shape 141"/>
          <p:cNvSpPr/>
          <p:nvPr/>
        </p:nvSpPr>
        <p:spPr>
          <a:xfrm>
            <a:off x="3509724" y="3600450"/>
            <a:ext cx="9525" cy="236220"/>
          </a:xfrm>
          <a:prstGeom prst="rect">
            <a:avLst/>
          </a:prstGeom>
          <a:solidFill>
            <a:srgbClr val="E0E0E0"/>
          </a:solidFill>
          <a:ln/>
        </p:spPr>
      </p:sp>
      <p:sp>
        <p:nvSpPr>
          <p:cNvPr id="144" name="Text 142"/>
          <p:cNvSpPr/>
          <p:nvPr/>
        </p:nvSpPr>
        <p:spPr>
          <a:xfrm>
            <a:off x="1388745" y="363855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Carol Smith</a:t>
            </a:r>
            <a:endParaRPr lang="en-US" sz="900" dirty="0"/>
          </a:p>
        </p:txBody>
      </p:sp>
      <p:sp>
        <p:nvSpPr>
          <p:cNvPr id="145" name="Shape 143"/>
          <p:cNvSpPr/>
          <p:nvPr/>
        </p:nvSpPr>
        <p:spPr>
          <a:xfrm>
            <a:off x="3517344" y="3829050"/>
            <a:ext cx="2195274" cy="9525"/>
          </a:xfrm>
          <a:prstGeom prst="rect">
            <a:avLst/>
          </a:prstGeom>
          <a:solidFill>
            <a:srgbClr val="E0E0E0"/>
          </a:solidFill>
          <a:ln/>
        </p:spPr>
      </p:sp>
      <p:sp>
        <p:nvSpPr>
          <p:cNvPr id="146" name="Shape 144"/>
          <p:cNvSpPr/>
          <p:nvPr/>
        </p:nvSpPr>
        <p:spPr>
          <a:xfrm>
            <a:off x="5704999" y="3600450"/>
            <a:ext cx="9525" cy="236220"/>
          </a:xfrm>
          <a:prstGeom prst="rect">
            <a:avLst/>
          </a:prstGeom>
          <a:solidFill>
            <a:srgbClr val="E0E0E0"/>
          </a:solidFill>
          <a:ln/>
        </p:spPr>
      </p:sp>
      <p:sp>
        <p:nvSpPr>
          <p:cNvPr id="147" name="Text 145"/>
          <p:cNvSpPr/>
          <p:nvPr/>
        </p:nvSpPr>
        <p:spPr>
          <a:xfrm>
            <a:off x="3507819" y="3638550"/>
            <a:ext cx="2130504" cy="190500"/>
          </a:xfrm>
          <a:prstGeom prst="rect">
            <a:avLst/>
          </a:prstGeom>
          <a:noFill/>
          <a:ln/>
        </p:spPr>
        <p:txBody>
          <a:bodyPr wrap="square" lIns="25400" tIns="25400" rIns="25400" bIns="25400" rtlCol="0" anchor="ctr">
            <a:normAutofit/>
          </a:bodyPr>
          <a:lstStyle/>
          <a:p>
            <a:pPr algn="r" indent="0" marL="0">
              <a:buNone/>
            </a:pPr>
            <a:r>
              <a:rPr lang="en-US" sz="900" dirty="0">
                <a:solidFill>
                  <a:srgbClr val="333333"/>
                </a:solidFill>
                <a:latin typeface="Segoe UI" pitchFamily="34" charset="0"/>
                <a:ea typeface="Segoe UI" pitchFamily="34" charset="-122"/>
                <a:cs typeface="Segoe UI" pitchFamily="34" charset="-120"/>
              </a:rPr>
              <a:t>$45,200</a:t>
            </a:r>
            <a:endParaRPr lang="en-US" sz="900" dirty="0"/>
          </a:p>
        </p:txBody>
      </p:sp>
      <p:sp>
        <p:nvSpPr>
          <p:cNvPr id="148" name="Shape 146"/>
          <p:cNvSpPr/>
          <p:nvPr/>
        </p:nvSpPr>
        <p:spPr>
          <a:xfrm>
            <a:off x="5712619" y="3829050"/>
            <a:ext cx="2195393" cy="9525"/>
          </a:xfrm>
          <a:prstGeom prst="rect">
            <a:avLst/>
          </a:prstGeom>
          <a:solidFill>
            <a:srgbClr val="E0E0E0"/>
          </a:solidFill>
          <a:ln/>
        </p:spPr>
      </p:sp>
      <p:sp>
        <p:nvSpPr>
          <p:cNvPr id="149" name="Shape 147"/>
          <p:cNvSpPr/>
          <p:nvPr/>
        </p:nvSpPr>
        <p:spPr>
          <a:xfrm>
            <a:off x="7900392" y="3600450"/>
            <a:ext cx="9525" cy="236220"/>
          </a:xfrm>
          <a:prstGeom prst="rect">
            <a:avLst/>
          </a:prstGeom>
          <a:solidFill>
            <a:srgbClr val="E0E0E0"/>
          </a:solidFill>
          <a:ln/>
        </p:spPr>
      </p:sp>
      <p:sp>
        <p:nvSpPr>
          <p:cNvPr id="150" name="Text 148"/>
          <p:cNvSpPr/>
          <p:nvPr/>
        </p:nvSpPr>
        <p:spPr>
          <a:xfrm>
            <a:off x="5779294" y="363855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HR</a:t>
            </a:r>
            <a:endParaRPr lang="en-US" sz="900" dirty="0"/>
          </a:p>
        </p:txBody>
      </p:sp>
      <p:sp>
        <p:nvSpPr>
          <p:cNvPr id="151" name="Shape 149"/>
          <p:cNvSpPr/>
          <p:nvPr/>
        </p:nvSpPr>
        <p:spPr>
          <a:xfrm>
            <a:off x="7908012" y="3829050"/>
            <a:ext cx="2195274" cy="9525"/>
          </a:xfrm>
          <a:prstGeom prst="rect">
            <a:avLst/>
          </a:prstGeom>
          <a:solidFill>
            <a:srgbClr val="E0E0E0"/>
          </a:solidFill>
          <a:ln/>
        </p:spPr>
      </p:sp>
      <p:sp>
        <p:nvSpPr>
          <p:cNvPr id="152" name="Shape 150"/>
          <p:cNvSpPr/>
          <p:nvPr/>
        </p:nvSpPr>
        <p:spPr>
          <a:xfrm>
            <a:off x="10095667" y="3600450"/>
            <a:ext cx="9525" cy="236220"/>
          </a:xfrm>
          <a:prstGeom prst="rect">
            <a:avLst/>
          </a:prstGeom>
          <a:solidFill>
            <a:srgbClr val="E0E0E0"/>
          </a:solidFill>
          <a:ln/>
        </p:spPr>
      </p:sp>
      <p:sp>
        <p:nvSpPr>
          <p:cNvPr id="153" name="Text 151"/>
          <p:cNvSpPr/>
          <p:nvPr/>
        </p:nvSpPr>
        <p:spPr>
          <a:xfrm>
            <a:off x="7974687" y="363855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07/01/2023</a:t>
            </a:r>
            <a:endParaRPr lang="en-US" sz="900" dirty="0"/>
          </a:p>
        </p:txBody>
      </p:sp>
      <p:sp>
        <p:nvSpPr>
          <p:cNvPr id="154" name="Shape 152"/>
          <p:cNvSpPr/>
          <p:nvPr/>
        </p:nvSpPr>
        <p:spPr>
          <a:xfrm>
            <a:off x="10103287" y="3829050"/>
            <a:ext cx="2195393" cy="9525"/>
          </a:xfrm>
          <a:prstGeom prst="rect">
            <a:avLst/>
          </a:prstGeom>
          <a:solidFill>
            <a:srgbClr val="E0E0E0"/>
          </a:solidFill>
          <a:ln/>
        </p:spPr>
      </p:sp>
      <p:sp>
        <p:nvSpPr>
          <p:cNvPr id="155" name="Shape 153"/>
          <p:cNvSpPr/>
          <p:nvPr/>
        </p:nvSpPr>
        <p:spPr>
          <a:xfrm>
            <a:off x="12291060" y="3600450"/>
            <a:ext cx="9525" cy="236220"/>
          </a:xfrm>
          <a:prstGeom prst="rect">
            <a:avLst/>
          </a:prstGeom>
          <a:solidFill>
            <a:srgbClr val="E0E0E0"/>
          </a:solidFill>
          <a:ln/>
        </p:spPr>
      </p:sp>
      <p:sp>
        <p:nvSpPr>
          <p:cNvPr id="156" name="Text 154"/>
          <p:cNvSpPr/>
          <p:nvPr/>
        </p:nvSpPr>
        <p:spPr>
          <a:xfrm>
            <a:off x="10169962" y="363855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217346"/>
                </a:solidFill>
                <a:latin typeface="Segoe UI" pitchFamily="34" charset="0"/>
                <a:ea typeface="Segoe UI" pitchFamily="34" charset="-122"/>
                <a:cs typeface="Segoe UI" pitchFamily="34" charset="-120"/>
              </a:rPr>
              <a:t>Active</a:t>
            </a:r>
            <a:endParaRPr lang="en-US" sz="900" dirty="0"/>
          </a:p>
        </p:txBody>
      </p:sp>
      <p:sp>
        <p:nvSpPr>
          <p:cNvPr id="157" name="Shape 155"/>
          <p:cNvSpPr/>
          <p:nvPr/>
        </p:nvSpPr>
        <p:spPr>
          <a:xfrm>
            <a:off x="960120" y="3836670"/>
            <a:ext cx="361950" cy="236220"/>
          </a:xfrm>
          <a:prstGeom prst="rect">
            <a:avLst/>
          </a:prstGeom>
          <a:solidFill>
            <a:srgbClr val="F0F0F0"/>
          </a:solidFill>
          <a:ln/>
        </p:spPr>
      </p:sp>
      <p:sp>
        <p:nvSpPr>
          <p:cNvPr id="158" name="Shape 156"/>
          <p:cNvSpPr/>
          <p:nvPr/>
        </p:nvSpPr>
        <p:spPr>
          <a:xfrm>
            <a:off x="960120" y="4065270"/>
            <a:ext cx="361950" cy="9525"/>
          </a:xfrm>
          <a:prstGeom prst="rect">
            <a:avLst/>
          </a:prstGeom>
          <a:solidFill>
            <a:srgbClr val="E0E0E0"/>
          </a:solidFill>
          <a:ln/>
        </p:spPr>
      </p:sp>
      <p:sp>
        <p:nvSpPr>
          <p:cNvPr id="159" name="Shape 157"/>
          <p:cNvSpPr/>
          <p:nvPr/>
        </p:nvSpPr>
        <p:spPr>
          <a:xfrm>
            <a:off x="1314450" y="3836670"/>
            <a:ext cx="9525" cy="236220"/>
          </a:xfrm>
          <a:prstGeom prst="rect">
            <a:avLst/>
          </a:prstGeom>
          <a:solidFill>
            <a:srgbClr val="E0E0E0"/>
          </a:solidFill>
          <a:ln/>
        </p:spPr>
      </p:sp>
      <p:sp>
        <p:nvSpPr>
          <p:cNvPr id="160" name="Text 158"/>
          <p:cNvSpPr/>
          <p:nvPr/>
        </p:nvSpPr>
        <p:spPr>
          <a:xfrm>
            <a:off x="988695" y="3874770"/>
            <a:ext cx="297180" cy="190500"/>
          </a:xfrm>
          <a:prstGeom prst="rect">
            <a:avLst/>
          </a:prstGeom>
          <a:noFill/>
          <a:ln/>
        </p:spPr>
        <p:txBody>
          <a:bodyPr wrap="square" lIns="25400" tIns="25400" rIns="25400" bIns="25400" rtlCol="0" anchor="ctr">
            <a:normAutofit/>
          </a:bodyPr>
          <a:lstStyle/>
          <a:p>
            <a:pPr algn="ctr" indent="0" marL="0">
              <a:buNone/>
            </a:pPr>
            <a:r>
              <a:rPr lang="en-US" sz="825" dirty="0">
                <a:solidFill>
                  <a:srgbClr val="555555"/>
                </a:solidFill>
                <a:latin typeface="Segoe UI" pitchFamily="34" charset="0"/>
                <a:ea typeface="Segoe UI" pitchFamily="34" charset="-122"/>
                <a:cs typeface="Segoe UI" pitchFamily="34" charset="-120"/>
              </a:rPr>
              <a:t>5</a:t>
            </a:r>
            <a:endParaRPr lang="en-US" sz="825" dirty="0"/>
          </a:p>
        </p:txBody>
      </p:sp>
      <p:sp>
        <p:nvSpPr>
          <p:cNvPr id="161" name="Shape 159"/>
          <p:cNvSpPr/>
          <p:nvPr/>
        </p:nvSpPr>
        <p:spPr>
          <a:xfrm>
            <a:off x="1322070" y="4065270"/>
            <a:ext cx="2195274" cy="9525"/>
          </a:xfrm>
          <a:prstGeom prst="rect">
            <a:avLst/>
          </a:prstGeom>
          <a:solidFill>
            <a:srgbClr val="E0E0E0"/>
          </a:solidFill>
          <a:ln/>
        </p:spPr>
      </p:sp>
      <p:sp>
        <p:nvSpPr>
          <p:cNvPr id="162" name="Shape 160"/>
          <p:cNvSpPr/>
          <p:nvPr/>
        </p:nvSpPr>
        <p:spPr>
          <a:xfrm>
            <a:off x="3509724" y="3836670"/>
            <a:ext cx="9525" cy="236220"/>
          </a:xfrm>
          <a:prstGeom prst="rect">
            <a:avLst/>
          </a:prstGeom>
          <a:solidFill>
            <a:srgbClr val="E0E0E0"/>
          </a:solidFill>
          <a:ln/>
        </p:spPr>
      </p:sp>
      <p:sp>
        <p:nvSpPr>
          <p:cNvPr id="163" name="Text 161"/>
          <p:cNvSpPr/>
          <p:nvPr/>
        </p:nvSpPr>
        <p:spPr>
          <a:xfrm>
            <a:off x="1388745" y="387477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David Park</a:t>
            </a:r>
            <a:endParaRPr lang="en-US" sz="900" dirty="0"/>
          </a:p>
        </p:txBody>
      </p:sp>
      <p:sp>
        <p:nvSpPr>
          <p:cNvPr id="164" name="Shape 162"/>
          <p:cNvSpPr/>
          <p:nvPr/>
        </p:nvSpPr>
        <p:spPr>
          <a:xfrm>
            <a:off x="3517344" y="4065270"/>
            <a:ext cx="2195274" cy="9525"/>
          </a:xfrm>
          <a:prstGeom prst="rect">
            <a:avLst/>
          </a:prstGeom>
          <a:solidFill>
            <a:srgbClr val="E0E0E0"/>
          </a:solidFill>
          <a:ln/>
        </p:spPr>
      </p:sp>
      <p:sp>
        <p:nvSpPr>
          <p:cNvPr id="165" name="Shape 163"/>
          <p:cNvSpPr/>
          <p:nvPr/>
        </p:nvSpPr>
        <p:spPr>
          <a:xfrm>
            <a:off x="5704999" y="3836670"/>
            <a:ext cx="9525" cy="236220"/>
          </a:xfrm>
          <a:prstGeom prst="rect">
            <a:avLst/>
          </a:prstGeom>
          <a:solidFill>
            <a:srgbClr val="E0E0E0"/>
          </a:solidFill>
          <a:ln/>
        </p:spPr>
      </p:sp>
      <p:sp>
        <p:nvSpPr>
          <p:cNvPr id="166" name="Text 164"/>
          <p:cNvSpPr/>
          <p:nvPr/>
        </p:nvSpPr>
        <p:spPr>
          <a:xfrm>
            <a:off x="3507819" y="3874770"/>
            <a:ext cx="2130504" cy="190500"/>
          </a:xfrm>
          <a:prstGeom prst="rect">
            <a:avLst/>
          </a:prstGeom>
          <a:noFill/>
          <a:ln/>
        </p:spPr>
        <p:txBody>
          <a:bodyPr wrap="square" lIns="25400" tIns="25400" rIns="25400" bIns="25400" rtlCol="0" anchor="ctr">
            <a:normAutofit/>
          </a:bodyPr>
          <a:lstStyle/>
          <a:p>
            <a:pPr algn="r" indent="0" marL="0">
              <a:buNone/>
            </a:pPr>
            <a:r>
              <a:rPr lang="en-US" sz="900" dirty="0">
                <a:solidFill>
                  <a:srgbClr val="333333"/>
                </a:solidFill>
                <a:latin typeface="Segoe UI" pitchFamily="34" charset="0"/>
                <a:ea typeface="Segoe UI" pitchFamily="34" charset="-122"/>
                <a:cs typeface="Segoe UI" pitchFamily="34" charset="-120"/>
              </a:rPr>
              <a:t>$71,000</a:t>
            </a:r>
            <a:endParaRPr lang="en-US" sz="900" dirty="0"/>
          </a:p>
        </p:txBody>
      </p:sp>
      <p:sp>
        <p:nvSpPr>
          <p:cNvPr id="167" name="Shape 165"/>
          <p:cNvSpPr/>
          <p:nvPr/>
        </p:nvSpPr>
        <p:spPr>
          <a:xfrm>
            <a:off x="5712619" y="4065270"/>
            <a:ext cx="2195393" cy="9525"/>
          </a:xfrm>
          <a:prstGeom prst="rect">
            <a:avLst/>
          </a:prstGeom>
          <a:solidFill>
            <a:srgbClr val="E0E0E0"/>
          </a:solidFill>
          <a:ln/>
        </p:spPr>
      </p:sp>
      <p:sp>
        <p:nvSpPr>
          <p:cNvPr id="168" name="Shape 166"/>
          <p:cNvSpPr/>
          <p:nvPr/>
        </p:nvSpPr>
        <p:spPr>
          <a:xfrm>
            <a:off x="7900392" y="3836670"/>
            <a:ext cx="9525" cy="236220"/>
          </a:xfrm>
          <a:prstGeom prst="rect">
            <a:avLst/>
          </a:prstGeom>
          <a:solidFill>
            <a:srgbClr val="E0E0E0"/>
          </a:solidFill>
          <a:ln/>
        </p:spPr>
      </p:sp>
      <p:sp>
        <p:nvSpPr>
          <p:cNvPr id="169" name="Text 167"/>
          <p:cNvSpPr/>
          <p:nvPr/>
        </p:nvSpPr>
        <p:spPr>
          <a:xfrm>
            <a:off x="5779294" y="387477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Sales</a:t>
            </a:r>
            <a:endParaRPr lang="en-US" sz="900" dirty="0"/>
          </a:p>
        </p:txBody>
      </p:sp>
      <p:sp>
        <p:nvSpPr>
          <p:cNvPr id="170" name="Shape 168"/>
          <p:cNvSpPr/>
          <p:nvPr/>
        </p:nvSpPr>
        <p:spPr>
          <a:xfrm>
            <a:off x="7908012" y="4065270"/>
            <a:ext cx="2195274" cy="9525"/>
          </a:xfrm>
          <a:prstGeom prst="rect">
            <a:avLst/>
          </a:prstGeom>
          <a:solidFill>
            <a:srgbClr val="E0E0E0"/>
          </a:solidFill>
          <a:ln/>
        </p:spPr>
      </p:sp>
      <p:sp>
        <p:nvSpPr>
          <p:cNvPr id="171" name="Shape 169"/>
          <p:cNvSpPr/>
          <p:nvPr/>
        </p:nvSpPr>
        <p:spPr>
          <a:xfrm>
            <a:off x="10095667" y="3836670"/>
            <a:ext cx="9525" cy="236220"/>
          </a:xfrm>
          <a:prstGeom prst="rect">
            <a:avLst/>
          </a:prstGeom>
          <a:solidFill>
            <a:srgbClr val="E0E0E0"/>
          </a:solidFill>
          <a:ln/>
        </p:spPr>
      </p:sp>
      <p:sp>
        <p:nvSpPr>
          <p:cNvPr id="172" name="Text 170"/>
          <p:cNvSpPr/>
          <p:nvPr/>
        </p:nvSpPr>
        <p:spPr>
          <a:xfrm>
            <a:off x="7974687" y="3874770"/>
            <a:ext cx="213050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333333"/>
                </a:solidFill>
                <a:latin typeface="Segoe UI" pitchFamily="34" charset="0"/>
                <a:ea typeface="Segoe UI" pitchFamily="34" charset="-122"/>
                <a:cs typeface="Segoe UI" pitchFamily="34" charset="-120"/>
              </a:rPr>
              <a:t>11/14/2020</a:t>
            </a:r>
            <a:endParaRPr lang="en-US" sz="900" dirty="0"/>
          </a:p>
        </p:txBody>
      </p:sp>
      <p:sp>
        <p:nvSpPr>
          <p:cNvPr id="173" name="Shape 171"/>
          <p:cNvSpPr/>
          <p:nvPr/>
        </p:nvSpPr>
        <p:spPr>
          <a:xfrm>
            <a:off x="10103287" y="4065270"/>
            <a:ext cx="2195393" cy="9525"/>
          </a:xfrm>
          <a:prstGeom prst="rect">
            <a:avLst/>
          </a:prstGeom>
          <a:solidFill>
            <a:srgbClr val="E0E0E0"/>
          </a:solidFill>
          <a:ln/>
        </p:spPr>
      </p:sp>
      <p:sp>
        <p:nvSpPr>
          <p:cNvPr id="174" name="Shape 172"/>
          <p:cNvSpPr/>
          <p:nvPr/>
        </p:nvSpPr>
        <p:spPr>
          <a:xfrm>
            <a:off x="12291060" y="3836670"/>
            <a:ext cx="9525" cy="236220"/>
          </a:xfrm>
          <a:prstGeom prst="rect">
            <a:avLst/>
          </a:prstGeom>
          <a:solidFill>
            <a:srgbClr val="E0E0E0"/>
          </a:solidFill>
          <a:ln/>
        </p:spPr>
      </p:sp>
      <p:sp>
        <p:nvSpPr>
          <p:cNvPr id="175" name="Text 173"/>
          <p:cNvSpPr/>
          <p:nvPr/>
        </p:nvSpPr>
        <p:spPr>
          <a:xfrm>
            <a:off x="10169962" y="3874770"/>
            <a:ext cx="2130623"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CC0000"/>
                </a:solidFill>
                <a:latin typeface="Segoe UI" pitchFamily="34" charset="0"/>
                <a:ea typeface="Segoe UI" pitchFamily="34" charset="-122"/>
                <a:cs typeface="Segoe UI" pitchFamily="34" charset="-120"/>
              </a:rPr>
              <a:t>On Leave</a:t>
            </a:r>
            <a:endParaRPr lang="en-US" sz="900" dirty="0"/>
          </a:p>
        </p:txBody>
      </p:sp>
      <p:sp>
        <p:nvSpPr>
          <p:cNvPr id="176" name="Shape 174"/>
          <p:cNvSpPr/>
          <p:nvPr/>
        </p:nvSpPr>
        <p:spPr>
          <a:xfrm>
            <a:off x="960120" y="4072890"/>
            <a:ext cx="11338560" cy="281940"/>
          </a:xfrm>
          <a:prstGeom prst="rect">
            <a:avLst/>
          </a:prstGeom>
          <a:solidFill>
            <a:srgbClr val="E5E5E5"/>
          </a:solidFill>
          <a:ln/>
        </p:spPr>
      </p:sp>
      <p:sp>
        <p:nvSpPr>
          <p:cNvPr id="177" name="Shape 175"/>
          <p:cNvSpPr/>
          <p:nvPr/>
        </p:nvSpPr>
        <p:spPr>
          <a:xfrm>
            <a:off x="960120" y="4072890"/>
            <a:ext cx="11338560" cy="9525"/>
          </a:xfrm>
          <a:prstGeom prst="rect">
            <a:avLst/>
          </a:prstGeom>
          <a:solidFill>
            <a:srgbClr val="CCCCCC"/>
          </a:solidFill>
          <a:ln/>
        </p:spPr>
      </p:sp>
      <p:sp>
        <p:nvSpPr>
          <p:cNvPr id="178" name="Shape 176"/>
          <p:cNvSpPr/>
          <p:nvPr/>
        </p:nvSpPr>
        <p:spPr>
          <a:xfrm>
            <a:off x="1036320" y="4109085"/>
            <a:ext cx="831056" cy="217170"/>
          </a:xfrm>
          <a:prstGeom prst="rect">
            <a:avLst/>
          </a:prstGeom>
          <a:solidFill>
            <a:srgbClr val="FFFFFF"/>
          </a:solidFill>
          <a:ln/>
        </p:spPr>
      </p:sp>
      <p:sp>
        <p:nvSpPr>
          <p:cNvPr id="179" name="Shape 177"/>
          <p:cNvSpPr/>
          <p:nvPr/>
        </p:nvSpPr>
        <p:spPr>
          <a:xfrm>
            <a:off x="1036320" y="4109085"/>
            <a:ext cx="831056" cy="9525"/>
          </a:xfrm>
          <a:prstGeom prst="rect">
            <a:avLst/>
          </a:prstGeom>
          <a:solidFill>
            <a:srgbClr val="CCCCCC"/>
          </a:solidFill>
          <a:ln/>
        </p:spPr>
      </p:sp>
      <p:sp>
        <p:nvSpPr>
          <p:cNvPr id="180" name="Shape 178"/>
          <p:cNvSpPr/>
          <p:nvPr/>
        </p:nvSpPr>
        <p:spPr>
          <a:xfrm>
            <a:off x="1036320" y="4109085"/>
            <a:ext cx="9525" cy="217170"/>
          </a:xfrm>
          <a:prstGeom prst="rect">
            <a:avLst/>
          </a:prstGeom>
          <a:solidFill>
            <a:srgbClr val="CCCCCC"/>
          </a:solidFill>
          <a:ln/>
        </p:spPr>
      </p:sp>
      <p:sp>
        <p:nvSpPr>
          <p:cNvPr id="181" name="Shape 179"/>
          <p:cNvSpPr/>
          <p:nvPr/>
        </p:nvSpPr>
        <p:spPr>
          <a:xfrm>
            <a:off x="1859756" y="4109085"/>
            <a:ext cx="9525" cy="217170"/>
          </a:xfrm>
          <a:prstGeom prst="rect">
            <a:avLst/>
          </a:prstGeom>
          <a:solidFill>
            <a:srgbClr val="CCCCCC"/>
          </a:solidFill>
          <a:ln/>
        </p:spPr>
      </p:sp>
      <p:sp>
        <p:nvSpPr>
          <p:cNvPr id="182" name="Text 180"/>
          <p:cNvSpPr/>
          <p:nvPr/>
        </p:nvSpPr>
        <p:spPr>
          <a:xfrm>
            <a:off x="1177290" y="4145280"/>
            <a:ext cx="625316" cy="190500"/>
          </a:xfrm>
          <a:prstGeom prst="rect">
            <a:avLst/>
          </a:prstGeom>
          <a:noFill/>
          <a:ln/>
        </p:spPr>
        <p:txBody>
          <a:bodyPr wrap="square" lIns="25400" tIns="25400" rIns="25400" bIns="25400" rtlCol="0" anchor="t">
            <a:normAutofit/>
          </a:bodyPr>
          <a:lstStyle/>
          <a:p>
            <a:pPr algn="l" indent="0" marL="0">
              <a:buNone/>
            </a:pPr>
            <a:r>
              <a:rPr lang="en-US" sz="863" b="1" dirty="0">
                <a:solidFill>
                  <a:srgbClr val="217346"/>
                </a:solidFill>
                <a:latin typeface="Segoe UI" pitchFamily="34" charset="0"/>
                <a:ea typeface="Segoe UI" pitchFamily="34" charset="-122"/>
                <a:cs typeface="Segoe UI" pitchFamily="34" charset="-120"/>
              </a:rPr>
              <a:t>Employees</a:t>
            </a:r>
            <a:endParaRPr lang="en-US" sz="863" dirty="0"/>
          </a:p>
        </p:txBody>
      </p:sp>
      <p:sp>
        <p:nvSpPr>
          <p:cNvPr id="183" name="Text 181"/>
          <p:cNvSpPr/>
          <p:nvPr/>
        </p:nvSpPr>
        <p:spPr>
          <a:xfrm>
            <a:off x="2029301" y="4137660"/>
            <a:ext cx="397788" cy="198120"/>
          </a:xfrm>
          <a:prstGeom prst="rect">
            <a:avLst/>
          </a:prstGeom>
          <a:noFill/>
          <a:ln/>
        </p:spPr>
        <p:txBody>
          <a:bodyPr wrap="square" lIns="25400" tIns="25400" rIns="25400" bIns="25400" rtlCol="0" anchor="t">
            <a:normAutofit/>
          </a:bodyPr>
          <a:lstStyle/>
          <a:p>
            <a:pPr algn="l" indent="0" marL="0">
              <a:buNone/>
            </a:pPr>
            <a:r>
              <a:rPr lang="en-US" sz="863" dirty="0">
                <a:solidFill>
                  <a:srgbClr val="666666"/>
                </a:solidFill>
                <a:latin typeface="Segoe UI" pitchFamily="34" charset="0"/>
                <a:ea typeface="Segoe UI" pitchFamily="34" charset="-122"/>
                <a:cs typeface="Segoe UI" pitchFamily="34" charset="-120"/>
              </a:rPr>
              <a:t>Payroll</a:t>
            </a:r>
            <a:endParaRPr lang="en-US" sz="863" dirty="0"/>
          </a:p>
        </p:txBody>
      </p:sp>
      <p:sp>
        <p:nvSpPr>
          <p:cNvPr id="184" name="Text 182"/>
          <p:cNvSpPr/>
          <p:nvPr/>
        </p:nvSpPr>
        <p:spPr>
          <a:xfrm>
            <a:off x="2646164" y="4137660"/>
            <a:ext cx="531852" cy="198120"/>
          </a:xfrm>
          <a:prstGeom prst="rect">
            <a:avLst/>
          </a:prstGeom>
          <a:noFill/>
          <a:ln/>
        </p:spPr>
        <p:txBody>
          <a:bodyPr wrap="square" lIns="25400" tIns="25400" rIns="25400" bIns="25400" rtlCol="0" anchor="t">
            <a:normAutofit/>
          </a:bodyPr>
          <a:lstStyle/>
          <a:p>
            <a:pPr algn="l" indent="0" marL="0">
              <a:buNone/>
            </a:pPr>
            <a:r>
              <a:rPr lang="en-US" sz="863" dirty="0">
                <a:solidFill>
                  <a:srgbClr val="666666"/>
                </a:solidFill>
                <a:latin typeface="Segoe UI" pitchFamily="34" charset="0"/>
                <a:ea typeface="Segoe UI" pitchFamily="34" charset="-122"/>
                <a:cs typeface="Segoe UI" pitchFamily="34" charset="-120"/>
              </a:rPr>
              <a:t>Summary</a:t>
            </a:r>
            <a:endParaRPr lang="en-US" sz="863" dirty="0"/>
          </a:p>
        </p:txBody>
      </p:sp>
      <p:sp>
        <p:nvSpPr>
          <p:cNvPr id="185" name="Text 183"/>
          <p:cNvSpPr/>
          <p:nvPr/>
        </p:nvSpPr>
        <p:spPr>
          <a:xfrm>
            <a:off x="3397091" y="4137660"/>
            <a:ext cx="185737" cy="198120"/>
          </a:xfrm>
          <a:prstGeom prst="rect">
            <a:avLst/>
          </a:prstGeom>
          <a:noFill/>
          <a:ln/>
        </p:spPr>
        <p:txBody>
          <a:bodyPr wrap="square" lIns="25400" tIns="25400" rIns="25400" bIns="25400" rtlCol="0" anchor="t">
            <a:normAutofit/>
          </a:bodyPr>
          <a:lstStyle/>
          <a:p>
            <a:pPr algn="l" indent="0" marL="0">
              <a:buNone/>
            </a:pPr>
            <a:r>
              <a:rPr lang="en-US" sz="863" b="1" dirty="0">
                <a:solidFill>
                  <a:srgbClr val="217346"/>
                </a:solidFill>
                <a:latin typeface="Segoe UI" pitchFamily="34" charset="0"/>
                <a:ea typeface="Segoe UI" pitchFamily="34" charset="-122"/>
                <a:cs typeface="Segoe UI" pitchFamily="34" charset="-120"/>
              </a:rPr>
              <a:t>＋</a:t>
            </a:r>
            <a:endParaRPr lang="en-US" sz="863" dirty="0"/>
          </a:p>
        </p:txBody>
      </p:sp>
      <p:sp>
        <p:nvSpPr>
          <p:cNvPr id="186" name="Shape 184"/>
          <p:cNvSpPr/>
          <p:nvPr/>
        </p:nvSpPr>
        <p:spPr>
          <a:xfrm>
            <a:off x="10973395" y="4126230"/>
            <a:ext cx="1210985" cy="182880"/>
          </a:xfrm>
          <a:prstGeom prst="roundRect">
            <a:avLst>
              <a:gd name="adj" fmla="val 20833"/>
            </a:avLst>
          </a:prstGeom>
          <a:solidFill>
            <a:srgbClr val="A78BFA">
              <a:alpha val="90000"/>
            </a:srgbClr>
          </a:solidFill>
          <a:ln/>
        </p:spPr>
      </p:sp>
      <p:sp>
        <p:nvSpPr>
          <p:cNvPr id="187" name="Shape 185"/>
          <p:cNvSpPr/>
          <p:nvPr/>
        </p:nvSpPr>
        <p:spPr>
          <a:xfrm>
            <a:off x="11049595" y="4150995"/>
            <a:ext cx="133350" cy="133350"/>
          </a:xfrm>
          <a:prstGeom prst="ellipse">
            <a:avLst/>
          </a:prstGeom>
          <a:solidFill>
            <a:srgbClr val="000000"/>
          </a:solidFill>
          <a:ln/>
        </p:spPr>
      </p:sp>
      <p:sp>
        <p:nvSpPr>
          <p:cNvPr id="188" name="Text 186"/>
          <p:cNvSpPr/>
          <p:nvPr/>
        </p:nvSpPr>
        <p:spPr>
          <a:xfrm>
            <a:off x="11011495" y="4150995"/>
            <a:ext cx="209550" cy="171450"/>
          </a:xfrm>
          <a:prstGeom prst="rect">
            <a:avLst/>
          </a:prstGeom>
          <a:noFill/>
          <a:ln/>
        </p:spPr>
        <p:txBody>
          <a:bodyPr wrap="square" lIns="25400" tIns="25400" rIns="25400" bIns="25400" rtlCol="0" anchor="ctr">
            <a:normAutofit/>
          </a:bodyPr>
          <a:lstStyle/>
          <a:p>
            <a:pPr algn="ctr" indent="0" marL="0">
              <a:buNone/>
            </a:pPr>
            <a:r>
              <a:rPr lang="en-US" sz="750" b="1" dirty="0">
                <a:solidFill>
                  <a:srgbClr val="A78BFA"/>
                </a:solidFill>
                <a:latin typeface="Arial" pitchFamily="34" charset="0"/>
                <a:ea typeface="Arial" pitchFamily="34" charset="-122"/>
                <a:cs typeface="Arial" pitchFamily="34" charset="-120"/>
              </a:rPr>
              <a:t>4</a:t>
            </a:r>
            <a:endParaRPr lang="en-US" sz="750" dirty="0"/>
          </a:p>
        </p:txBody>
      </p:sp>
      <p:sp>
        <p:nvSpPr>
          <p:cNvPr id="189" name="Text 187"/>
          <p:cNvSpPr/>
          <p:nvPr/>
        </p:nvSpPr>
        <p:spPr>
          <a:xfrm>
            <a:off x="11221045" y="4145280"/>
            <a:ext cx="963335" cy="182880"/>
          </a:xfrm>
          <a:prstGeom prst="rect">
            <a:avLst/>
          </a:prstGeom>
          <a:noFill/>
          <a:ln/>
        </p:spPr>
        <p:txBody>
          <a:bodyPr wrap="square" lIns="0" tIns="0" rIns="0" bIns="0" rtlCol="0" anchor="t">
            <a:normAutofit/>
          </a:bodyPr>
          <a:lstStyle/>
          <a:p>
            <a:pPr algn="l" indent="0" marL="0">
              <a:buNone/>
            </a:pPr>
            <a:r>
              <a:rPr lang="en-US" sz="900" b="1" dirty="0">
                <a:solidFill>
                  <a:srgbClr val="000000"/>
                </a:solidFill>
                <a:latin typeface="Arial" pitchFamily="34" charset="0"/>
                <a:ea typeface="Arial" pitchFamily="34" charset="-122"/>
                <a:cs typeface="Arial" pitchFamily="34" charset="-120"/>
              </a:rPr>
              <a:t>Worksheet Tabs</a:t>
            </a:r>
            <a:endParaRPr lang="en-US" sz="900" dirty="0"/>
          </a:p>
        </p:txBody>
      </p:sp>
      <p:sp>
        <p:nvSpPr>
          <p:cNvPr id="190" name="Shape 188"/>
          <p:cNvSpPr/>
          <p:nvPr/>
        </p:nvSpPr>
        <p:spPr>
          <a:xfrm>
            <a:off x="960120" y="4354830"/>
            <a:ext cx="11338560" cy="240030"/>
          </a:xfrm>
          <a:prstGeom prst="rect">
            <a:avLst/>
          </a:prstGeom>
          <a:solidFill>
            <a:srgbClr val="217346"/>
          </a:solidFill>
          <a:ln/>
        </p:spPr>
      </p:sp>
      <p:sp>
        <p:nvSpPr>
          <p:cNvPr id="191" name="Text 189"/>
          <p:cNvSpPr/>
          <p:nvPr/>
        </p:nvSpPr>
        <p:spPr>
          <a:xfrm>
            <a:off x="1055370" y="4410075"/>
            <a:ext cx="343495" cy="167640"/>
          </a:xfrm>
          <a:prstGeom prst="rect">
            <a:avLst/>
          </a:prstGeom>
          <a:noFill/>
          <a:ln/>
        </p:spPr>
        <p:txBody>
          <a:bodyPr wrap="square" lIns="25400" tIns="25400" rIns="25400" bIns="25400" rtlCol="0" anchor="t">
            <a:normAutofit/>
          </a:bodyPr>
          <a:lstStyle/>
          <a:p>
            <a:pPr algn="l" indent="0" marL="0">
              <a:buNone/>
            </a:pPr>
            <a:r>
              <a:rPr lang="en-US" sz="788" dirty="0">
                <a:solidFill>
                  <a:srgbClr val="FFFFFF">
                    <a:alpha val="80000"/>
                  </a:srgbClr>
                </a:solidFill>
                <a:latin typeface="Segoe UI" pitchFamily="34" charset="0"/>
                <a:ea typeface="Segoe UI" pitchFamily="34" charset="-122"/>
                <a:cs typeface="Segoe UI" pitchFamily="34" charset="-120"/>
              </a:rPr>
              <a:t>Ready</a:t>
            </a:r>
            <a:endParaRPr lang="en-US" sz="788" dirty="0"/>
          </a:p>
        </p:txBody>
      </p:sp>
      <p:sp>
        <p:nvSpPr>
          <p:cNvPr id="192" name="Text 190"/>
          <p:cNvSpPr/>
          <p:nvPr/>
        </p:nvSpPr>
        <p:spPr>
          <a:xfrm>
            <a:off x="4985385" y="4410075"/>
            <a:ext cx="2008346" cy="167640"/>
          </a:xfrm>
          <a:prstGeom prst="rect">
            <a:avLst/>
          </a:prstGeom>
          <a:noFill/>
          <a:ln/>
        </p:spPr>
        <p:txBody>
          <a:bodyPr wrap="square" lIns="25400" tIns="25400" rIns="25400" bIns="25400" rtlCol="0" anchor="t">
            <a:normAutofit/>
          </a:bodyPr>
          <a:lstStyle/>
          <a:p>
            <a:pPr algn="l" indent="0" marL="0">
              <a:buNone/>
            </a:pPr>
            <a:r>
              <a:rPr lang="en-US" sz="788" dirty="0">
                <a:solidFill>
                  <a:srgbClr val="FFFFFF">
                    <a:alpha val="80000"/>
                  </a:srgbClr>
                </a:solidFill>
                <a:latin typeface="Segoe UI" pitchFamily="34" charset="0"/>
                <a:ea typeface="Segoe UI" pitchFamily="34" charset="-122"/>
                <a:cs typeface="Segoe UI" pitchFamily="34" charset="-120"/>
              </a:rPr>
              <a:t>Average: $59,175 Count: 4 Sum: $236,700</a:t>
            </a:r>
            <a:endParaRPr lang="en-US" sz="788" dirty="0"/>
          </a:p>
        </p:txBody>
      </p:sp>
      <p:sp>
        <p:nvSpPr>
          <p:cNvPr id="193" name="Text 191"/>
          <p:cNvSpPr/>
          <p:nvPr/>
        </p:nvSpPr>
        <p:spPr>
          <a:xfrm>
            <a:off x="10580251" y="4410075"/>
            <a:ext cx="731163" cy="167640"/>
          </a:xfrm>
          <a:prstGeom prst="rect">
            <a:avLst/>
          </a:prstGeom>
          <a:noFill/>
          <a:ln/>
        </p:spPr>
        <p:txBody>
          <a:bodyPr wrap="square" lIns="25400" tIns="25400" rIns="25400" bIns="25400" rtlCol="0" anchor="t">
            <a:normAutofit/>
          </a:bodyPr>
          <a:lstStyle/>
          <a:p>
            <a:pPr algn="l" indent="0" marL="0">
              <a:buNone/>
            </a:pPr>
            <a:r>
              <a:rPr lang="en-US" sz="788" dirty="0">
                <a:solidFill>
                  <a:srgbClr val="FFFFFF">
                    <a:alpha val="80000"/>
                  </a:srgbClr>
                </a:solidFill>
                <a:latin typeface="Segoe UI" pitchFamily="34" charset="0"/>
                <a:ea typeface="Segoe UI" pitchFamily="34" charset="-122"/>
                <a:cs typeface="Segoe UI" pitchFamily="34" charset="-120"/>
              </a:rPr>
              <a:t>Normal 100%</a:t>
            </a:r>
            <a:endParaRPr lang="en-US" sz="788" dirty="0"/>
          </a:p>
        </p:txBody>
      </p:sp>
      <p:sp>
        <p:nvSpPr>
          <p:cNvPr id="194" name="Shape 192"/>
          <p:cNvSpPr/>
          <p:nvPr/>
        </p:nvSpPr>
        <p:spPr>
          <a:xfrm>
            <a:off x="11311414" y="4383405"/>
            <a:ext cx="892016" cy="182880"/>
          </a:xfrm>
          <a:prstGeom prst="roundRect">
            <a:avLst>
              <a:gd name="adj" fmla="val 20833"/>
            </a:avLst>
          </a:prstGeom>
          <a:solidFill>
            <a:srgbClr val="34D399">
              <a:alpha val="90000"/>
            </a:srgbClr>
          </a:solidFill>
          <a:ln/>
        </p:spPr>
      </p:sp>
      <p:sp>
        <p:nvSpPr>
          <p:cNvPr id="195" name="Shape 193"/>
          <p:cNvSpPr/>
          <p:nvPr/>
        </p:nvSpPr>
        <p:spPr>
          <a:xfrm>
            <a:off x="11387614" y="4408170"/>
            <a:ext cx="133350" cy="133350"/>
          </a:xfrm>
          <a:prstGeom prst="ellipse">
            <a:avLst/>
          </a:prstGeom>
          <a:solidFill>
            <a:srgbClr val="000000"/>
          </a:solidFill>
          <a:ln/>
        </p:spPr>
      </p:sp>
      <p:sp>
        <p:nvSpPr>
          <p:cNvPr id="196" name="Text 194"/>
          <p:cNvSpPr/>
          <p:nvPr/>
        </p:nvSpPr>
        <p:spPr>
          <a:xfrm>
            <a:off x="11349514" y="4408170"/>
            <a:ext cx="209550" cy="171450"/>
          </a:xfrm>
          <a:prstGeom prst="rect">
            <a:avLst/>
          </a:prstGeom>
          <a:noFill/>
          <a:ln/>
        </p:spPr>
        <p:txBody>
          <a:bodyPr wrap="square" lIns="25400" tIns="25400" rIns="25400" bIns="25400" rtlCol="0" anchor="ctr">
            <a:normAutofit/>
          </a:bodyPr>
          <a:lstStyle/>
          <a:p>
            <a:pPr algn="ctr" indent="0" marL="0">
              <a:buNone/>
            </a:pPr>
            <a:r>
              <a:rPr lang="en-US" sz="750" b="1" dirty="0">
                <a:solidFill>
                  <a:srgbClr val="34D399"/>
                </a:solidFill>
                <a:latin typeface="Arial" pitchFamily="34" charset="0"/>
                <a:ea typeface="Arial" pitchFamily="34" charset="-122"/>
                <a:cs typeface="Arial" pitchFamily="34" charset="-120"/>
              </a:rPr>
              <a:t>5</a:t>
            </a:r>
            <a:endParaRPr lang="en-US" sz="750" dirty="0"/>
          </a:p>
        </p:txBody>
      </p:sp>
      <p:sp>
        <p:nvSpPr>
          <p:cNvPr id="197" name="Text 195"/>
          <p:cNvSpPr/>
          <p:nvPr/>
        </p:nvSpPr>
        <p:spPr>
          <a:xfrm>
            <a:off x="11559064" y="4402455"/>
            <a:ext cx="644366" cy="182880"/>
          </a:xfrm>
          <a:prstGeom prst="rect">
            <a:avLst/>
          </a:prstGeom>
          <a:noFill/>
          <a:ln/>
        </p:spPr>
        <p:txBody>
          <a:bodyPr wrap="square" lIns="0" tIns="0" rIns="0" bIns="0" rtlCol="0" anchor="t">
            <a:normAutofit/>
          </a:bodyPr>
          <a:lstStyle/>
          <a:p>
            <a:pPr algn="l" indent="0" marL="0">
              <a:buNone/>
            </a:pPr>
            <a:r>
              <a:rPr lang="en-US" sz="900" b="1" dirty="0">
                <a:solidFill>
                  <a:srgbClr val="000000"/>
                </a:solidFill>
                <a:latin typeface="Arial" pitchFamily="34" charset="0"/>
                <a:ea typeface="Arial" pitchFamily="34" charset="-122"/>
                <a:cs typeface="Arial" pitchFamily="34" charset="-120"/>
              </a:rPr>
              <a:t>Status Bar</a:t>
            </a:r>
            <a:endParaRPr lang="en-US" sz="900" dirty="0"/>
          </a:p>
        </p:txBody>
      </p:sp>
      <p:sp>
        <p:nvSpPr>
          <p:cNvPr id="198" name="Shape 196"/>
          <p:cNvSpPr/>
          <p:nvPr/>
        </p:nvSpPr>
        <p:spPr>
          <a:xfrm>
            <a:off x="12763500" y="1708785"/>
            <a:ext cx="304800" cy="304800"/>
          </a:xfrm>
          <a:prstGeom prst="ellipse">
            <a:avLst/>
          </a:prstGeom>
          <a:solidFill>
            <a:srgbClr val="2DD4BF"/>
          </a:solidFill>
          <a:ln/>
        </p:spPr>
      </p:sp>
      <p:sp>
        <p:nvSpPr>
          <p:cNvPr id="199" name="Text 197"/>
          <p:cNvSpPr/>
          <p:nvPr/>
        </p:nvSpPr>
        <p:spPr>
          <a:xfrm>
            <a:off x="12725400" y="1708785"/>
            <a:ext cx="381000" cy="34290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1</a:t>
            </a:r>
            <a:endParaRPr lang="en-US" sz="1200" dirty="0"/>
          </a:p>
        </p:txBody>
      </p:sp>
      <p:sp>
        <p:nvSpPr>
          <p:cNvPr id="200" name="Text 198"/>
          <p:cNvSpPr/>
          <p:nvPr/>
        </p:nvSpPr>
        <p:spPr>
          <a:xfrm>
            <a:off x="13182600" y="1680210"/>
            <a:ext cx="4277487"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0F6FC"/>
                </a:solidFill>
                <a:latin typeface="Arial" pitchFamily="34" charset="0"/>
                <a:ea typeface="Arial" pitchFamily="34" charset="-122"/>
                <a:cs typeface="Arial" pitchFamily="34" charset="-120"/>
              </a:rPr>
              <a:t>Ribbon</a:t>
            </a:r>
            <a:endParaRPr lang="en-US" sz="1650" dirty="0"/>
          </a:p>
        </p:txBody>
      </p:sp>
      <p:sp>
        <p:nvSpPr>
          <p:cNvPr id="201" name="Text 199"/>
          <p:cNvSpPr/>
          <p:nvPr/>
        </p:nvSpPr>
        <p:spPr>
          <a:xfrm>
            <a:off x="13182600" y="1965960"/>
            <a:ext cx="427748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7D8590"/>
                </a:solidFill>
                <a:latin typeface="Arial" pitchFamily="34" charset="0"/>
                <a:ea typeface="Arial" pitchFamily="34" charset="-122"/>
                <a:cs typeface="Arial" pitchFamily="34" charset="-120"/>
              </a:rPr>
              <a:t>All commands, organized into tabs. Home is your most-used tab.</a:t>
            </a:r>
            <a:endParaRPr lang="en-US" sz="1350" dirty="0"/>
          </a:p>
        </p:txBody>
      </p:sp>
      <p:sp>
        <p:nvSpPr>
          <p:cNvPr id="202" name="Shape 200"/>
          <p:cNvSpPr/>
          <p:nvPr/>
        </p:nvSpPr>
        <p:spPr>
          <a:xfrm>
            <a:off x="12763500" y="2703195"/>
            <a:ext cx="304800" cy="304800"/>
          </a:xfrm>
          <a:prstGeom prst="ellipse">
            <a:avLst/>
          </a:prstGeom>
          <a:solidFill>
            <a:srgbClr val="2DD4BF"/>
          </a:solidFill>
          <a:ln/>
        </p:spPr>
      </p:sp>
      <p:sp>
        <p:nvSpPr>
          <p:cNvPr id="203" name="Text 201"/>
          <p:cNvSpPr/>
          <p:nvPr/>
        </p:nvSpPr>
        <p:spPr>
          <a:xfrm>
            <a:off x="12725400" y="2703195"/>
            <a:ext cx="381000" cy="34290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2</a:t>
            </a:r>
            <a:endParaRPr lang="en-US" sz="1200" dirty="0"/>
          </a:p>
        </p:txBody>
      </p:sp>
      <p:sp>
        <p:nvSpPr>
          <p:cNvPr id="204" name="Text 202"/>
          <p:cNvSpPr/>
          <p:nvPr/>
        </p:nvSpPr>
        <p:spPr>
          <a:xfrm>
            <a:off x="13182600" y="2674620"/>
            <a:ext cx="4277487"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0F6FC"/>
                </a:solidFill>
                <a:latin typeface="Arial" pitchFamily="34" charset="0"/>
                <a:ea typeface="Arial" pitchFamily="34" charset="-122"/>
                <a:cs typeface="Arial" pitchFamily="34" charset="-120"/>
              </a:rPr>
              <a:t>Formula Bar</a:t>
            </a:r>
            <a:endParaRPr lang="en-US" sz="1650" dirty="0"/>
          </a:p>
        </p:txBody>
      </p:sp>
      <p:sp>
        <p:nvSpPr>
          <p:cNvPr id="205" name="Text 203"/>
          <p:cNvSpPr/>
          <p:nvPr/>
        </p:nvSpPr>
        <p:spPr>
          <a:xfrm>
            <a:off x="13182600" y="2960370"/>
            <a:ext cx="427748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7D8590"/>
                </a:solidFill>
                <a:latin typeface="Arial" pitchFamily="34" charset="0"/>
                <a:ea typeface="Arial" pitchFamily="34" charset="-122"/>
                <a:cs typeface="Arial" pitchFamily="34" charset="-120"/>
              </a:rPr>
              <a:t>Shows the actual content of the selected cell — text, numbers, or formulas.</a:t>
            </a:r>
            <a:endParaRPr lang="en-US" sz="1350" dirty="0"/>
          </a:p>
        </p:txBody>
      </p:sp>
      <p:sp>
        <p:nvSpPr>
          <p:cNvPr id="206" name="Shape 204"/>
          <p:cNvSpPr/>
          <p:nvPr/>
        </p:nvSpPr>
        <p:spPr>
          <a:xfrm>
            <a:off x="12763500" y="3697605"/>
            <a:ext cx="304800" cy="304800"/>
          </a:xfrm>
          <a:prstGeom prst="ellipse">
            <a:avLst/>
          </a:prstGeom>
          <a:solidFill>
            <a:srgbClr val="2DD4BF"/>
          </a:solidFill>
          <a:ln/>
        </p:spPr>
      </p:sp>
      <p:sp>
        <p:nvSpPr>
          <p:cNvPr id="207" name="Text 205"/>
          <p:cNvSpPr/>
          <p:nvPr/>
        </p:nvSpPr>
        <p:spPr>
          <a:xfrm>
            <a:off x="12725400" y="3697605"/>
            <a:ext cx="381000" cy="34290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3</a:t>
            </a:r>
            <a:endParaRPr lang="en-US" sz="1200" dirty="0"/>
          </a:p>
        </p:txBody>
      </p:sp>
      <p:sp>
        <p:nvSpPr>
          <p:cNvPr id="208" name="Text 206"/>
          <p:cNvSpPr/>
          <p:nvPr/>
        </p:nvSpPr>
        <p:spPr>
          <a:xfrm>
            <a:off x="13182600" y="3669030"/>
            <a:ext cx="4277487"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0F6FC"/>
                </a:solidFill>
                <a:latin typeface="Arial" pitchFamily="34" charset="0"/>
                <a:ea typeface="Arial" pitchFamily="34" charset="-122"/>
                <a:cs typeface="Arial" pitchFamily="34" charset="-120"/>
              </a:rPr>
              <a:t>Name Box</a:t>
            </a:r>
            <a:endParaRPr lang="en-US" sz="1650" dirty="0"/>
          </a:p>
        </p:txBody>
      </p:sp>
      <p:sp>
        <p:nvSpPr>
          <p:cNvPr id="209" name="Text 207"/>
          <p:cNvSpPr/>
          <p:nvPr/>
        </p:nvSpPr>
        <p:spPr>
          <a:xfrm>
            <a:off x="13182600" y="3954780"/>
            <a:ext cx="427748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7D8590"/>
                </a:solidFill>
                <a:latin typeface="Arial" pitchFamily="34" charset="0"/>
                <a:ea typeface="Arial" pitchFamily="34" charset="-122"/>
                <a:cs typeface="Arial" pitchFamily="34" charset="-120"/>
              </a:rPr>
              <a:t>Displays the current cell address. Type an address here and press Enter to navigate.</a:t>
            </a:r>
            <a:endParaRPr lang="en-US" sz="1350" dirty="0"/>
          </a:p>
        </p:txBody>
      </p:sp>
      <p:sp>
        <p:nvSpPr>
          <p:cNvPr id="210" name="Shape 208"/>
          <p:cNvSpPr/>
          <p:nvPr/>
        </p:nvSpPr>
        <p:spPr>
          <a:xfrm>
            <a:off x="12763500" y="4692015"/>
            <a:ext cx="304800" cy="304800"/>
          </a:xfrm>
          <a:prstGeom prst="ellipse">
            <a:avLst/>
          </a:prstGeom>
          <a:solidFill>
            <a:srgbClr val="2DD4BF"/>
          </a:solidFill>
          <a:ln/>
        </p:spPr>
      </p:sp>
      <p:sp>
        <p:nvSpPr>
          <p:cNvPr id="211" name="Text 209"/>
          <p:cNvSpPr/>
          <p:nvPr/>
        </p:nvSpPr>
        <p:spPr>
          <a:xfrm>
            <a:off x="12725400" y="4692015"/>
            <a:ext cx="381000" cy="34290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4</a:t>
            </a:r>
            <a:endParaRPr lang="en-US" sz="1200" dirty="0"/>
          </a:p>
        </p:txBody>
      </p:sp>
      <p:sp>
        <p:nvSpPr>
          <p:cNvPr id="212" name="Text 210"/>
          <p:cNvSpPr/>
          <p:nvPr/>
        </p:nvSpPr>
        <p:spPr>
          <a:xfrm>
            <a:off x="13182600" y="4663440"/>
            <a:ext cx="4277487"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0F6FC"/>
                </a:solidFill>
                <a:latin typeface="Arial" pitchFamily="34" charset="0"/>
                <a:ea typeface="Arial" pitchFamily="34" charset="-122"/>
                <a:cs typeface="Arial" pitchFamily="34" charset="-120"/>
              </a:rPr>
              <a:t>Worksheet Tabs</a:t>
            </a:r>
            <a:endParaRPr lang="en-US" sz="1650" dirty="0"/>
          </a:p>
        </p:txBody>
      </p:sp>
      <p:sp>
        <p:nvSpPr>
          <p:cNvPr id="213" name="Text 211"/>
          <p:cNvSpPr/>
          <p:nvPr/>
        </p:nvSpPr>
        <p:spPr>
          <a:xfrm>
            <a:off x="13182600" y="4949190"/>
            <a:ext cx="427748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7D8590"/>
                </a:solidFill>
                <a:latin typeface="Arial" pitchFamily="34" charset="0"/>
                <a:ea typeface="Arial" pitchFamily="34" charset="-122"/>
                <a:cs typeface="Arial" pitchFamily="34" charset="-120"/>
              </a:rPr>
              <a:t>Each tab is a separate sheet. Right-click to rename, move, or color-code.</a:t>
            </a:r>
            <a:endParaRPr lang="en-US" sz="1350" dirty="0"/>
          </a:p>
        </p:txBody>
      </p:sp>
      <p:sp>
        <p:nvSpPr>
          <p:cNvPr id="214" name="Shape 212"/>
          <p:cNvSpPr/>
          <p:nvPr/>
        </p:nvSpPr>
        <p:spPr>
          <a:xfrm>
            <a:off x="12763500" y="5686425"/>
            <a:ext cx="304800" cy="304800"/>
          </a:xfrm>
          <a:prstGeom prst="ellipse">
            <a:avLst/>
          </a:prstGeom>
          <a:solidFill>
            <a:srgbClr val="2DD4BF"/>
          </a:solidFill>
          <a:ln/>
        </p:spPr>
      </p:sp>
      <p:sp>
        <p:nvSpPr>
          <p:cNvPr id="215" name="Text 213"/>
          <p:cNvSpPr/>
          <p:nvPr/>
        </p:nvSpPr>
        <p:spPr>
          <a:xfrm>
            <a:off x="12725400" y="5686425"/>
            <a:ext cx="381000" cy="34290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5</a:t>
            </a:r>
            <a:endParaRPr lang="en-US" sz="1200" dirty="0"/>
          </a:p>
        </p:txBody>
      </p:sp>
      <p:sp>
        <p:nvSpPr>
          <p:cNvPr id="216" name="Text 214"/>
          <p:cNvSpPr/>
          <p:nvPr/>
        </p:nvSpPr>
        <p:spPr>
          <a:xfrm>
            <a:off x="13182600" y="5657850"/>
            <a:ext cx="4277487"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0F6FC"/>
                </a:solidFill>
                <a:latin typeface="Arial" pitchFamily="34" charset="0"/>
                <a:ea typeface="Arial" pitchFamily="34" charset="-122"/>
                <a:cs typeface="Arial" pitchFamily="34" charset="-120"/>
              </a:rPr>
              <a:t>Status Bar</a:t>
            </a:r>
            <a:endParaRPr lang="en-US" sz="1650" dirty="0"/>
          </a:p>
        </p:txBody>
      </p:sp>
      <p:sp>
        <p:nvSpPr>
          <p:cNvPr id="217" name="Text 215"/>
          <p:cNvSpPr/>
          <p:nvPr/>
        </p:nvSpPr>
        <p:spPr>
          <a:xfrm>
            <a:off x="13182600" y="5943600"/>
            <a:ext cx="427748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7D8590"/>
                </a:solidFill>
                <a:latin typeface="Arial" pitchFamily="34" charset="0"/>
                <a:ea typeface="Arial" pitchFamily="34" charset="-122"/>
                <a:cs typeface="Arial" pitchFamily="34" charset="-120"/>
              </a:rPr>
              <a:t>Quick stats on selected cells. Right-click to customize what's shown.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1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solidFill>
          <a:ln/>
        </p:spPr>
      </p:sp>
      <p:sp>
        <p:nvSpPr>
          <p:cNvPr id="4" name="Shape 2"/>
          <p:cNvSpPr/>
          <p:nvPr/>
        </p:nvSpPr>
        <p:spPr>
          <a:xfrm>
            <a:off x="15563850" y="400050"/>
            <a:ext cx="247650" cy="38100"/>
          </a:xfrm>
          <a:prstGeom prst="roundRect">
            <a:avLst>
              <a:gd name="adj" fmla="val 50000"/>
            </a:avLst>
          </a:prstGeom>
          <a:solidFill>
            <a:srgbClr val="1C2430"/>
          </a:solidFill>
          <a:ln/>
        </p:spPr>
      </p:sp>
      <p:sp>
        <p:nvSpPr>
          <p:cNvPr id="5" name="Shape 3"/>
          <p:cNvSpPr/>
          <p:nvPr/>
        </p:nvSpPr>
        <p:spPr>
          <a:xfrm>
            <a:off x="15868650" y="400050"/>
            <a:ext cx="247650" cy="38100"/>
          </a:xfrm>
          <a:prstGeom prst="roundRect">
            <a:avLst>
              <a:gd name="adj" fmla="val 50000"/>
            </a:avLst>
          </a:prstGeom>
          <a:solidFill>
            <a:srgbClr val="1C2430"/>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Quick Tip: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Keyboard Navigation</a:t>
            </a:r>
            <a:endParaRPr lang="en-US" sz="4200" dirty="0"/>
          </a:p>
        </p:txBody>
      </p:sp>
      <p:sp>
        <p:nvSpPr>
          <p:cNvPr id="11" name="Shape 9"/>
          <p:cNvSpPr/>
          <p:nvPr/>
        </p:nvSpPr>
        <p:spPr>
          <a:xfrm>
            <a:off x="952500" y="1756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2" name="Shape 10"/>
          <p:cNvSpPr/>
          <p:nvPr/>
        </p:nvSpPr>
        <p:spPr>
          <a:xfrm>
            <a:off x="952500" y="2114550"/>
            <a:ext cx="784979" cy="22860"/>
          </a:xfrm>
          <a:prstGeom prst="rect">
            <a:avLst/>
          </a:prstGeom>
          <a:solidFill>
            <a:srgbClr val="000000">
              <a:alpha val="50000"/>
            </a:srgbClr>
          </a:solidFill>
          <a:ln/>
        </p:spPr>
      </p:sp>
      <p:sp>
        <p:nvSpPr>
          <p:cNvPr id="13" name="Shape 11"/>
          <p:cNvSpPr/>
          <p:nvPr/>
        </p:nvSpPr>
        <p:spPr>
          <a:xfrm>
            <a:off x="952500" y="1756410"/>
            <a:ext cx="784979" cy="9525"/>
          </a:xfrm>
          <a:prstGeom prst="rect">
            <a:avLst/>
          </a:prstGeom>
          <a:solidFill>
            <a:srgbClr val="FFFFFF">
              <a:alpha val="18000"/>
            </a:srgbClr>
          </a:solidFill>
          <a:ln/>
        </p:spPr>
      </p:sp>
      <p:sp>
        <p:nvSpPr>
          <p:cNvPr id="14" name="Shape 12"/>
          <p:cNvSpPr/>
          <p:nvPr/>
        </p:nvSpPr>
        <p:spPr>
          <a:xfrm>
            <a:off x="952500" y="1756410"/>
            <a:ext cx="9525" cy="381000"/>
          </a:xfrm>
          <a:prstGeom prst="rect">
            <a:avLst/>
          </a:prstGeom>
          <a:solidFill>
            <a:srgbClr val="FFFFFF">
              <a:alpha val="18000"/>
            </a:srgbClr>
          </a:solidFill>
          <a:ln/>
        </p:spPr>
      </p:sp>
      <p:sp>
        <p:nvSpPr>
          <p:cNvPr id="15" name="Shape 13"/>
          <p:cNvSpPr/>
          <p:nvPr/>
        </p:nvSpPr>
        <p:spPr>
          <a:xfrm>
            <a:off x="1729859" y="1756410"/>
            <a:ext cx="9525" cy="381000"/>
          </a:xfrm>
          <a:prstGeom prst="rect">
            <a:avLst/>
          </a:prstGeom>
          <a:solidFill>
            <a:srgbClr val="FFFFFF">
              <a:alpha val="18000"/>
            </a:srgbClr>
          </a:solidFill>
          <a:ln/>
        </p:spPr>
      </p:sp>
      <p:sp>
        <p:nvSpPr>
          <p:cNvPr id="16" name="Text 14"/>
          <p:cNvSpPr/>
          <p:nvPr/>
        </p:nvSpPr>
        <p:spPr>
          <a:xfrm>
            <a:off x="1055370" y="1821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17" name="Text 15"/>
          <p:cNvSpPr/>
          <p:nvPr/>
        </p:nvSpPr>
        <p:spPr>
          <a:xfrm>
            <a:off x="1870829" y="1824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18" name="Shape 16"/>
          <p:cNvSpPr/>
          <p:nvPr/>
        </p:nvSpPr>
        <p:spPr>
          <a:xfrm>
            <a:off x="2126575" y="1756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9" name="Shape 17"/>
          <p:cNvSpPr/>
          <p:nvPr/>
        </p:nvSpPr>
        <p:spPr>
          <a:xfrm>
            <a:off x="2126575" y="2114550"/>
            <a:ext cx="784979" cy="22860"/>
          </a:xfrm>
          <a:prstGeom prst="rect">
            <a:avLst/>
          </a:prstGeom>
          <a:solidFill>
            <a:srgbClr val="000000">
              <a:alpha val="50000"/>
            </a:srgbClr>
          </a:solidFill>
          <a:ln/>
        </p:spPr>
      </p:sp>
      <p:sp>
        <p:nvSpPr>
          <p:cNvPr id="20" name="Shape 18"/>
          <p:cNvSpPr/>
          <p:nvPr/>
        </p:nvSpPr>
        <p:spPr>
          <a:xfrm>
            <a:off x="2126575" y="1756410"/>
            <a:ext cx="784979" cy="9525"/>
          </a:xfrm>
          <a:prstGeom prst="rect">
            <a:avLst/>
          </a:prstGeom>
          <a:solidFill>
            <a:srgbClr val="FFFFFF">
              <a:alpha val="18000"/>
            </a:srgbClr>
          </a:solidFill>
          <a:ln/>
        </p:spPr>
      </p:sp>
      <p:sp>
        <p:nvSpPr>
          <p:cNvPr id="21" name="Shape 19"/>
          <p:cNvSpPr/>
          <p:nvPr/>
        </p:nvSpPr>
        <p:spPr>
          <a:xfrm>
            <a:off x="2126575" y="1756410"/>
            <a:ext cx="9525" cy="381000"/>
          </a:xfrm>
          <a:prstGeom prst="rect">
            <a:avLst/>
          </a:prstGeom>
          <a:solidFill>
            <a:srgbClr val="FFFFFF">
              <a:alpha val="18000"/>
            </a:srgbClr>
          </a:solidFill>
          <a:ln/>
        </p:spPr>
      </p:sp>
      <p:sp>
        <p:nvSpPr>
          <p:cNvPr id="22" name="Shape 20"/>
          <p:cNvSpPr/>
          <p:nvPr/>
        </p:nvSpPr>
        <p:spPr>
          <a:xfrm>
            <a:off x="2903934" y="1756410"/>
            <a:ext cx="9525" cy="381000"/>
          </a:xfrm>
          <a:prstGeom prst="rect">
            <a:avLst/>
          </a:prstGeom>
          <a:solidFill>
            <a:srgbClr val="FFFFFF">
              <a:alpha val="18000"/>
            </a:srgbClr>
          </a:solidFill>
          <a:ln/>
        </p:spPr>
      </p:sp>
      <p:sp>
        <p:nvSpPr>
          <p:cNvPr id="23" name="Text 21"/>
          <p:cNvSpPr/>
          <p:nvPr/>
        </p:nvSpPr>
        <p:spPr>
          <a:xfrm>
            <a:off x="2229445" y="1821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Home</a:t>
            </a:r>
            <a:endParaRPr lang="en-US" sz="1650" dirty="0"/>
          </a:p>
        </p:txBody>
      </p:sp>
      <p:sp>
        <p:nvSpPr>
          <p:cNvPr id="24" name="Text 22"/>
          <p:cNvSpPr/>
          <p:nvPr/>
        </p:nvSpPr>
        <p:spPr>
          <a:xfrm>
            <a:off x="3044905" y="1805940"/>
            <a:ext cx="1755577" cy="320040"/>
          </a:xfrm>
          <a:prstGeom prst="rect">
            <a:avLst/>
          </a:prstGeom>
          <a:noFill/>
          <a:ln/>
        </p:spPr>
        <p:txBody>
          <a:bodyPr wrap="square" lIns="25400" tIns="25400" rIns="25400" bIns="25400" rtlCol="0" anchor="t">
            <a:normAutofit/>
          </a:bodyPr>
          <a:lstStyle/>
          <a:p>
            <a:pPr algn="l" indent="0" marL="0">
              <a:buNone/>
            </a:pPr>
            <a:r>
              <a:rPr lang="en-US" sz="1950" dirty="0">
                <a:solidFill>
                  <a:srgbClr val="F0F6FC"/>
                </a:solidFill>
                <a:latin typeface="Arial" pitchFamily="34" charset="0"/>
                <a:ea typeface="Arial" pitchFamily="34" charset="-122"/>
                <a:cs typeface="Arial" pitchFamily="34" charset="-120"/>
              </a:rPr>
              <a:t>Jump to cell A1</a:t>
            </a:r>
            <a:endParaRPr lang="en-US" sz="1950" dirty="0"/>
          </a:p>
        </p:txBody>
      </p:sp>
      <p:sp>
        <p:nvSpPr>
          <p:cNvPr id="25" name="Shape 23"/>
          <p:cNvSpPr/>
          <p:nvPr/>
        </p:nvSpPr>
        <p:spPr>
          <a:xfrm>
            <a:off x="952500" y="2137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26" name="Shape 24"/>
          <p:cNvSpPr/>
          <p:nvPr/>
        </p:nvSpPr>
        <p:spPr>
          <a:xfrm>
            <a:off x="952500" y="2495550"/>
            <a:ext cx="784979" cy="22860"/>
          </a:xfrm>
          <a:prstGeom prst="rect">
            <a:avLst/>
          </a:prstGeom>
          <a:solidFill>
            <a:srgbClr val="000000">
              <a:alpha val="50000"/>
            </a:srgbClr>
          </a:solidFill>
          <a:ln/>
        </p:spPr>
      </p:sp>
      <p:sp>
        <p:nvSpPr>
          <p:cNvPr id="27" name="Shape 25"/>
          <p:cNvSpPr/>
          <p:nvPr/>
        </p:nvSpPr>
        <p:spPr>
          <a:xfrm>
            <a:off x="952500" y="2137410"/>
            <a:ext cx="784979" cy="9525"/>
          </a:xfrm>
          <a:prstGeom prst="rect">
            <a:avLst/>
          </a:prstGeom>
          <a:solidFill>
            <a:srgbClr val="FFFFFF">
              <a:alpha val="18000"/>
            </a:srgbClr>
          </a:solidFill>
          <a:ln/>
        </p:spPr>
      </p:sp>
      <p:sp>
        <p:nvSpPr>
          <p:cNvPr id="28" name="Shape 26"/>
          <p:cNvSpPr/>
          <p:nvPr/>
        </p:nvSpPr>
        <p:spPr>
          <a:xfrm>
            <a:off x="952500" y="2137410"/>
            <a:ext cx="9525" cy="381000"/>
          </a:xfrm>
          <a:prstGeom prst="rect">
            <a:avLst/>
          </a:prstGeom>
          <a:solidFill>
            <a:srgbClr val="FFFFFF">
              <a:alpha val="18000"/>
            </a:srgbClr>
          </a:solidFill>
          <a:ln/>
        </p:spPr>
      </p:sp>
      <p:sp>
        <p:nvSpPr>
          <p:cNvPr id="29" name="Shape 27"/>
          <p:cNvSpPr/>
          <p:nvPr/>
        </p:nvSpPr>
        <p:spPr>
          <a:xfrm>
            <a:off x="1729859" y="2137410"/>
            <a:ext cx="9525" cy="381000"/>
          </a:xfrm>
          <a:prstGeom prst="rect">
            <a:avLst/>
          </a:prstGeom>
          <a:solidFill>
            <a:srgbClr val="FFFFFF">
              <a:alpha val="18000"/>
            </a:srgbClr>
          </a:solidFill>
          <a:ln/>
        </p:spPr>
      </p:sp>
      <p:sp>
        <p:nvSpPr>
          <p:cNvPr id="30" name="Text 28"/>
          <p:cNvSpPr/>
          <p:nvPr/>
        </p:nvSpPr>
        <p:spPr>
          <a:xfrm>
            <a:off x="1055370" y="2202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31" name="Text 29"/>
          <p:cNvSpPr/>
          <p:nvPr/>
        </p:nvSpPr>
        <p:spPr>
          <a:xfrm>
            <a:off x="1870829" y="2205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32" name="Shape 30"/>
          <p:cNvSpPr/>
          <p:nvPr/>
        </p:nvSpPr>
        <p:spPr>
          <a:xfrm>
            <a:off x="2126575" y="2137410"/>
            <a:ext cx="65924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33" name="Shape 31"/>
          <p:cNvSpPr/>
          <p:nvPr/>
        </p:nvSpPr>
        <p:spPr>
          <a:xfrm>
            <a:off x="2126575" y="2495550"/>
            <a:ext cx="659249" cy="22860"/>
          </a:xfrm>
          <a:prstGeom prst="rect">
            <a:avLst/>
          </a:prstGeom>
          <a:solidFill>
            <a:srgbClr val="000000">
              <a:alpha val="50000"/>
            </a:srgbClr>
          </a:solidFill>
          <a:ln/>
        </p:spPr>
      </p:sp>
      <p:sp>
        <p:nvSpPr>
          <p:cNvPr id="34" name="Shape 32"/>
          <p:cNvSpPr/>
          <p:nvPr/>
        </p:nvSpPr>
        <p:spPr>
          <a:xfrm>
            <a:off x="2126575" y="2137410"/>
            <a:ext cx="659249" cy="9525"/>
          </a:xfrm>
          <a:prstGeom prst="rect">
            <a:avLst/>
          </a:prstGeom>
          <a:solidFill>
            <a:srgbClr val="FFFFFF">
              <a:alpha val="18000"/>
            </a:srgbClr>
          </a:solidFill>
          <a:ln/>
        </p:spPr>
      </p:sp>
      <p:sp>
        <p:nvSpPr>
          <p:cNvPr id="35" name="Shape 33"/>
          <p:cNvSpPr/>
          <p:nvPr/>
        </p:nvSpPr>
        <p:spPr>
          <a:xfrm>
            <a:off x="2126575" y="2137410"/>
            <a:ext cx="9525" cy="381000"/>
          </a:xfrm>
          <a:prstGeom prst="rect">
            <a:avLst/>
          </a:prstGeom>
          <a:solidFill>
            <a:srgbClr val="FFFFFF">
              <a:alpha val="18000"/>
            </a:srgbClr>
          </a:solidFill>
          <a:ln/>
        </p:spPr>
      </p:sp>
      <p:sp>
        <p:nvSpPr>
          <p:cNvPr id="36" name="Shape 34"/>
          <p:cNvSpPr/>
          <p:nvPr/>
        </p:nvSpPr>
        <p:spPr>
          <a:xfrm>
            <a:off x="2778204" y="2137410"/>
            <a:ext cx="9525" cy="381000"/>
          </a:xfrm>
          <a:prstGeom prst="rect">
            <a:avLst/>
          </a:prstGeom>
          <a:solidFill>
            <a:srgbClr val="FFFFFF">
              <a:alpha val="18000"/>
            </a:srgbClr>
          </a:solidFill>
          <a:ln/>
        </p:spPr>
      </p:sp>
      <p:sp>
        <p:nvSpPr>
          <p:cNvPr id="37" name="Text 35"/>
          <p:cNvSpPr/>
          <p:nvPr/>
        </p:nvSpPr>
        <p:spPr>
          <a:xfrm>
            <a:off x="2229445" y="2202180"/>
            <a:ext cx="45350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End</a:t>
            </a:r>
            <a:endParaRPr lang="en-US" sz="1650" dirty="0"/>
          </a:p>
        </p:txBody>
      </p:sp>
      <p:sp>
        <p:nvSpPr>
          <p:cNvPr id="38" name="Text 36"/>
          <p:cNvSpPr/>
          <p:nvPr/>
        </p:nvSpPr>
        <p:spPr>
          <a:xfrm>
            <a:off x="2919174" y="2186940"/>
            <a:ext cx="2457569" cy="320040"/>
          </a:xfrm>
          <a:prstGeom prst="rect">
            <a:avLst/>
          </a:prstGeom>
          <a:noFill/>
          <a:ln/>
        </p:spPr>
        <p:txBody>
          <a:bodyPr wrap="square" lIns="25400" tIns="25400" rIns="25400" bIns="25400" rtlCol="0" anchor="t">
            <a:normAutofit/>
          </a:bodyPr>
          <a:lstStyle/>
          <a:p>
            <a:pPr algn="l" indent="0" marL="0">
              <a:buNone/>
            </a:pPr>
            <a:r>
              <a:rPr lang="en-US" sz="1950" dirty="0">
                <a:solidFill>
                  <a:srgbClr val="F0F6FC"/>
                </a:solidFill>
                <a:latin typeface="Arial" pitchFamily="34" charset="0"/>
                <a:ea typeface="Arial" pitchFamily="34" charset="-122"/>
                <a:cs typeface="Arial" pitchFamily="34" charset="-120"/>
              </a:rPr>
              <a:t>Jump to last used cell</a:t>
            </a:r>
            <a:endParaRPr lang="en-US" sz="1950" dirty="0"/>
          </a:p>
        </p:txBody>
      </p:sp>
      <p:sp>
        <p:nvSpPr>
          <p:cNvPr id="39" name="Shape 37"/>
          <p:cNvSpPr/>
          <p:nvPr/>
        </p:nvSpPr>
        <p:spPr>
          <a:xfrm>
            <a:off x="952500" y="2518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40" name="Shape 38"/>
          <p:cNvSpPr/>
          <p:nvPr/>
        </p:nvSpPr>
        <p:spPr>
          <a:xfrm>
            <a:off x="952500" y="2876550"/>
            <a:ext cx="784979" cy="22860"/>
          </a:xfrm>
          <a:prstGeom prst="rect">
            <a:avLst/>
          </a:prstGeom>
          <a:solidFill>
            <a:srgbClr val="000000">
              <a:alpha val="50000"/>
            </a:srgbClr>
          </a:solidFill>
          <a:ln/>
        </p:spPr>
      </p:sp>
      <p:sp>
        <p:nvSpPr>
          <p:cNvPr id="41" name="Shape 39"/>
          <p:cNvSpPr/>
          <p:nvPr/>
        </p:nvSpPr>
        <p:spPr>
          <a:xfrm>
            <a:off x="952500" y="2518410"/>
            <a:ext cx="784979" cy="9525"/>
          </a:xfrm>
          <a:prstGeom prst="rect">
            <a:avLst/>
          </a:prstGeom>
          <a:solidFill>
            <a:srgbClr val="FFFFFF">
              <a:alpha val="18000"/>
            </a:srgbClr>
          </a:solidFill>
          <a:ln/>
        </p:spPr>
      </p:sp>
      <p:sp>
        <p:nvSpPr>
          <p:cNvPr id="42" name="Shape 40"/>
          <p:cNvSpPr/>
          <p:nvPr/>
        </p:nvSpPr>
        <p:spPr>
          <a:xfrm>
            <a:off x="952500" y="2518410"/>
            <a:ext cx="9525" cy="381000"/>
          </a:xfrm>
          <a:prstGeom prst="rect">
            <a:avLst/>
          </a:prstGeom>
          <a:solidFill>
            <a:srgbClr val="FFFFFF">
              <a:alpha val="18000"/>
            </a:srgbClr>
          </a:solidFill>
          <a:ln/>
        </p:spPr>
      </p:sp>
      <p:sp>
        <p:nvSpPr>
          <p:cNvPr id="43" name="Shape 41"/>
          <p:cNvSpPr/>
          <p:nvPr/>
        </p:nvSpPr>
        <p:spPr>
          <a:xfrm>
            <a:off x="1729859" y="2518410"/>
            <a:ext cx="9525" cy="381000"/>
          </a:xfrm>
          <a:prstGeom prst="rect">
            <a:avLst/>
          </a:prstGeom>
          <a:solidFill>
            <a:srgbClr val="FFFFFF">
              <a:alpha val="18000"/>
            </a:srgbClr>
          </a:solidFill>
          <a:ln/>
        </p:spPr>
      </p:sp>
      <p:sp>
        <p:nvSpPr>
          <p:cNvPr id="44" name="Text 42"/>
          <p:cNvSpPr/>
          <p:nvPr/>
        </p:nvSpPr>
        <p:spPr>
          <a:xfrm>
            <a:off x="1055370" y="2583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45" name="Text 43"/>
          <p:cNvSpPr/>
          <p:nvPr/>
        </p:nvSpPr>
        <p:spPr>
          <a:xfrm>
            <a:off x="1870829" y="2586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46" name="Shape 44"/>
          <p:cNvSpPr/>
          <p:nvPr/>
        </p:nvSpPr>
        <p:spPr>
          <a:xfrm>
            <a:off x="2126575" y="2518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47" name="Shape 45"/>
          <p:cNvSpPr/>
          <p:nvPr/>
        </p:nvSpPr>
        <p:spPr>
          <a:xfrm>
            <a:off x="2126575" y="2876550"/>
            <a:ext cx="784979" cy="22860"/>
          </a:xfrm>
          <a:prstGeom prst="rect">
            <a:avLst/>
          </a:prstGeom>
          <a:solidFill>
            <a:srgbClr val="000000">
              <a:alpha val="50000"/>
            </a:srgbClr>
          </a:solidFill>
          <a:ln/>
        </p:spPr>
      </p:sp>
      <p:sp>
        <p:nvSpPr>
          <p:cNvPr id="48" name="Shape 46"/>
          <p:cNvSpPr/>
          <p:nvPr/>
        </p:nvSpPr>
        <p:spPr>
          <a:xfrm>
            <a:off x="2126575" y="2518410"/>
            <a:ext cx="784979" cy="9525"/>
          </a:xfrm>
          <a:prstGeom prst="rect">
            <a:avLst/>
          </a:prstGeom>
          <a:solidFill>
            <a:srgbClr val="FFFFFF">
              <a:alpha val="18000"/>
            </a:srgbClr>
          </a:solidFill>
          <a:ln/>
        </p:spPr>
      </p:sp>
      <p:sp>
        <p:nvSpPr>
          <p:cNvPr id="49" name="Shape 47"/>
          <p:cNvSpPr/>
          <p:nvPr/>
        </p:nvSpPr>
        <p:spPr>
          <a:xfrm>
            <a:off x="2126575" y="2518410"/>
            <a:ext cx="9525" cy="381000"/>
          </a:xfrm>
          <a:prstGeom prst="rect">
            <a:avLst/>
          </a:prstGeom>
          <a:solidFill>
            <a:srgbClr val="FFFFFF">
              <a:alpha val="18000"/>
            </a:srgbClr>
          </a:solidFill>
          <a:ln/>
        </p:spPr>
      </p:sp>
      <p:sp>
        <p:nvSpPr>
          <p:cNvPr id="50" name="Shape 48"/>
          <p:cNvSpPr/>
          <p:nvPr/>
        </p:nvSpPr>
        <p:spPr>
          <a:xfrm>
            <a:off x="2903934" y="2518410"/>
            <a:ext cx="9525" cy="381000"/>
          </a:xfrm>
          <a:prstGeom prst="rect">
            <a:avLst/>
          </a:prstGeom>
          <a:solidFill>
            <a:srgbClr val="FFFFFF">
              <a:alpha val="18000"/>
            </a:srgbClr>
          </a:solidFill>
          <a:ln/>
        </p:spPr>
      </p:sp>
      <p:sp>
        <p:nvSpPr>
          <p:cNvPr id="51" name="Text 49"/>
          <p:cNvSpPr/>
          <p:nvPr/>
        </p:nvSpPr>
        <p:spPr>
          <a:xfrm>
            <a:off x="2229445" y="2583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a:t>
            </a:r>
            <a:endParaRPr lang="en-US" sz="1650" dirty="0"/>
          </a:p>
        </p:txBody>
      </p:sp>
      <p:sp>
        <p:nvSpPr>
          <p:cNvPr id="52" name="Text 50"/>
          <p:cNvSpPr/>
          <p:nvPr/>
        </p:nvSpPr>
        <p:spPr>
          <a:xfrm>
            <a:off x="3044905" y="2567940"/>
            <a:ext cx="3176598" cy="320040"/>
          </a:xfrm>
          <a:prstGeom prst="rect">
            <a:avLst/>
          </a:prstGeom>
          <a:noFill/>
          <a:ln/>
        </p:spPr>
        <p:txBody>
          <a:bodyPr wrap="square" lIns="25400" tIns="25400" rIns="25400" bIns="25400" rtlCol="0" anchor="t">
            <a:normAutofit/>
          </a:bodyPr>
          <a:lstStyle/>
          <a:p>
            <a:pPr algn="l" indent="0" marL="0">
              <a:buNone/>
            </a:pPr>
            <a:r>
              <a:rPr lang="en-US" sz="1950" dirty="0">
                <a:solidFill>
                  <a:srgbClr val="F0F6FC"/>
                </a:solidFill>
                <a:latin typeface="Arial" pitchFamily="34" charset="0"/>
                <a:ea typeface="Arial" pitchFamily="34" charset="-122"/>
                <a:cs typeface="Arial" pitchFamily="34" charset="-120"/>
              </a:rPr>
              <a:t>Jump to edge of data region</a:t>
            </a:r>
            <a:endParaRPr lang="en-US" sz="1950" dirty="0"/>
          </a:p>
        </p:txBody>
      </p:sp>
      <p:sp>
        <p:nvSpPr>
          <p:cNvPr id="53" name="Shape 51"/>
          <p:cNvSpPr/>
          <p:nvPr/>
        </p:nvSpPr>
        <p:spPr>
          <a:xfrm>
            <a:off x="952500" y="2899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54" name="Shape 52"/>
          <p:cNvSpPr/>
          <p:nvPr/>
        </p:nvSpPr>
        <p:spPr>
          <a:xfrm>
            <a:off x="952500" y="3257550"/>
            <a:ext cx="784979" cy="22860"/>
          </a:xfrm>
          <a:prstGeom prst="rect">
            <a:avLst/>
          </a:prstGeom>
          <a:solidFill>
            <a:srgbClr val="000000">
              <a:alpha val="50000"/>
            </a:srgbClr>
          </a:solidFill>
          <a:ln/>
        </p:spPr>
      </p:sp>
      <p:sp>
        <p:nvSpPr>
          <p:cNvPr id="55" name="Shape 53"/>
          <p:cNvSpPr/>
          <p:nvPr/>
        </p:nvSpPr>
        <p:spPr>
          <a:xfrm>
            <a:off x="952500" y="2899410"/>
            <a:ext cx="784979" cy="9525"/>
          </a:xfrm>
          <a:prstGeom prst="rect">
            <a:avLst/>
          </a:prstGeom>
          <a:solidFill>
            <a:srgbClr val="FFFFFF">
              <a:alpha val="18000"/>
            </a:srgbClr>
          </a:solidFill>
          <a:ln/>
        </p:spPr>
      </p:sp>
      <p:sp>
        <p:nvSpPr>
          <p:cNvPr id="56" name="Shape 54"/>
          <p:cNvSpPr/>
          <p:nvPr/>
        </p:nvSpPr>
        <p:spPr>
          <a:xfrm>
            <a:off x="952500" y="2899410"/>
            <a:ext cx="9525" cy="381000"/>
          </a:xfrm>
          <a:prstGeom prst="rect">
            <a:avLst/>
          </a:prstGeom>
          <a:solidFill>
            <a:srgbClr val="FFFFFF">
              <a:alpha val="18000"/>
            </a:srgbClr>
          </a:solidFill>
          <a:ln/>
        </p:spPr>
      </p:sp>
      <p:sp>
        <p:nvSpPr>
          <p:cNvPr id="57" name="Shape 55"/>
          <p:cNvSpPr/>
          <p:nvPr/>
        </p:nvSpPr>
        <p:spPr>
          <a:xfrm>
            <a:off x="1729859" y="2899410"/>
            <a:ext cx="9525" cy="381000"/>
          </a:xfrm>
          <a:prstGeom prst="rect">
            <a:avLst/>
          </a:prstGeom>
          <a:solidFill>
            <a:srgbClr val="FFFFFF">
              <a:alpha val="18000"/>
            </a:srgbClr>
          </a:solidFill>
          <a:ln/>
        </p:spPr>
      </p:sp>
      <p:sp>
        <p:nvSpPr>
          <p:cNvPr id="58" name="Text 56"/>
          <p:cNvSpPr/>
          <p:nvPr/>
        </p:nvSpPr>
        <p:spPr>
          <a:xfrm>
            <a:off x="1055370" y="2964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59" name="Text 57"/>
          <p:cNvSpPr/>
          <p:nvPr/>
        </p:nvSpPr>
        <p:spPr>
          <a:xfrm>
            <a:off x="1870829" y="2967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60" name="Shape 58"/>
          <p:cNvSpPr/>
          <p:nvPr/>
        </p:nvSpPr>
        <p:spPr>
          <a:xfrm>
            <a:off x="2126575" y="2899410"/>
            <a:ext cx="91070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61" name="Shape 59"/>
          <p:cNvSpPr/>
          <p:nvPr/>
        </p:nvSpPr>
        <p:spPr>
          <a:xfrm>
            <a:off x="2126575" y="3257550"/>
            <a:ext cx="910709" cy="22860"/>
          </a:xfrm>
          <a:prstGeom prst="rect">
            <a:avLst/>
          </a:prstGeom>
          <a:solidFill>
            <a:srgbClr val="000000">
              <a:alpha val="50000"/>
            </a:srgbClr>
          </a:solidFill>
          <a:ln/>
        </p:spPr>
      </p:sp>
      <p:sp>
        <p:nvSpPr>
          <p:cNvPr id="62" name="Shape 60"/>
          <p:cNvSpPr/>
          <p:nvPr/>
        </p:nvSpPr>
        <p:spPr>
          <a:xfrm>
            <a:off x="2126575" y="2899410"/>
            <a:ext cx="910709" cy="9525"/>
          </a:xfrm>
          <a:prstGeom prst="rect">
            <a:avLst/>
          </a:prstGeom>
          <a:solidFill>
            <a:srgbClr val="FFFFFF">
              <a:alpha val="18000"/>
            </a:srgbClr>
          </a:solidFill>
          <a:ln/>
        </p:spPr>
      </p:sp>
      <p:sp>
        <p:nvSpPr>
          <p:cNvPr id="63" name="Shape 61"/>
          <p:cNvSpPr/>
          <p:nvPr/>
        </p:nvSpPr>
        <p:spPr>
          <a:xfrm>
            <a:off x="2126575" y="2899410"/>
            <a:ext cx="9525" cy="381000"/>
          </a:xfrm>
          <a:prstGeom prst="rect">
            <a:avLst/>
          </a:prstGeom>
          <a:solidFill>
            <a:srgbClr val="FFFFFF">
              <a:alpha val="18000"/>
            </a:srgbClr>
          </a:solidFill>
          <a:ln/>
        </p:spPr>
      </p:sp>
      <p:sp>
        <p:nvSpPr>
          <p:cNvPr id="64" name="Shape 62"/>
          <p:cNvSpPr/>
          <p:nvPr/>
        </p:nvSpPr>
        <p:spPr>
          <a:xfrm>
            <a:off x="3029664" y="2899410"/>
            <a:ext cx="9525" cy="381000"/>
          </a:xfrm>
          <a:prstGeom prst="rect">
            <a:avLst/>
          </a:prstGeom>
          <a:solidFill>
            <a:srgbClr val="FFFFFF">
              <a:alpha val="18000"/>
            </a:srgbClr>
          </a:solidFill>
          <a:ln/>
        </p:spPr>
      </p:sp>
      <p:sp>
        <p:nvSpPr>
          <p:cNvPr id="65" name="Text 63"/>
          <p:cNvSpPr/>
          <p:nvPr/>
        </p:nvSpPr>
        <p:spPr>
          <a:xfrm>
            <a:off x="2229445" y="2964180"/>
            <a:ext cx="70496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Shift</a:t>
            </a:r>
            <a:endParaRPr lang="en-US" sz="1650" dirty="0"/>
          </a:p>
        </p:txBody>
      </p:sp>
      <p:sp>
        <p:nvSpPr>
          <p:cNvPr id="66" name="Text 64"/>
          <p:cNvSpPr/>
          <p:nvPr/>
        </p:nvSpPr>
        <p:spPr>
          <a:xfrm>
            <a:off x="3170634" y="2967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67" name="Shape 65"/>
          <p:cNvSpPr/>
          <p:nvPr/>
        </p:nvSpPr>
        <p:spPr>
          <a:xfrm>
            <a:off x="3426381" y="2899410"/>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68" name="Shape 66"/>
          <p:cNvSpPr/>
          <p:nvPr/>
        </p:nvSpPr>
        <p:spPr>
          <a:xfrm>
            <a:off x="3426381" y="3257550"/>
            <a:ext cx="407789" cy="22860"/>
          </a:xfrm>
          <a:prstGeom prst="rect">
            <a:avLst/>
          </a:prstGeom>
          <a:solidFill>
            <a:srgbClr val="000000">
              <a:alpha val="50000"/>
            </a:srgbClr>
          </a:solidFill>
          <a:ln/>
        </p:spPr>
      </p:sp>
      <p:sp>
        <p:nvSpPr>
          <p:cNvPr id="69" name="Shape 67"/>
          <p:cNvSpPr/>
          <p:nvPr/>
        </p:nvSpPr>
        <p:spPr>
          <a:xfrm>
            <a:off x="3426381" y="2899410"/>
            <a:ext cx="407789" cy="9525"/>
          </a:xfrm>
          <a:prstGeom prst="rect">
            <a:avLst/>
          </a:prstGeom>
          <a:solidFill>
            <a:srgbClr val="FFFFFF">
              <a:alpha val="18000"/>
            </a:srgbClr>
          </a:solidFill>
          <a:ln/>
        </p:spPr>
      </p:sp>
      <p:sp>
        <p:nvSpPr>
          <p:cNvPr id="70" name="Shape 68"/>
          <p:cNvSpPr/>
          <p:nvPr/>
        </p:nvSpPr>
        <p:spPr>
          <a:xfrm>
            <a:off x="3426381" y="2899410"/>
            <a:ext cx="9525" cy="381000"/>
          </a:xfrm>
          <a:prstGeom prst="rect">
            <a:avLst/>
          </a:prstGeom>
          <a:solidFill>
            <a:srgbClr val="FFFFFF">
              <a:alpha val="18000"/>
            </a:srgbClr>
          </a:solidFill>
          <a:ln/>
        </p:spPr>
      </p:sp>
      <p:sp>
        <p:nvSpPr>
          <p:cNvPr id="71" name="Shape 69"/>
          <p:cNvSpPr/>
          <p:nvPr/>
        </p:nvSpPr>
        <p:spPr>
          <a:xfrm>
            <a:off x="3826550" y="2899410"/>
            <a:ext cx="9525" cy="381000"/>
          </a:xfrm>
          <a:prstGeom prst="rect">
            <a:avLst/>
          </a:prstGeom>
          <a:solidFill>
            <a:srgbClr val="FFFFFF">
              <a:alpha val="18000"/>
            </a:srgbClr>
          </a:solidFill>
          <a:ln/>
        </p:spPr>
      </p:sp>
      <p:sp>
        <p:nvSpPr>
          <p:cNvPr id="72" name="Text 70"/>
          <p:cNvSpPr/>
          <p:nvPr/>
        </p:nvSpPr>
        <p:spPr>
          <a:xfrm>
            <a:off x="3529251" y="2964180"/>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a:t>
            </a:r>
            <a:endParaRPr lang="en-US" sz="1650" dirty="0"/>
          </a:p>
        </p:txBody>
      </p:sp>
      <p:sp>
        <p:nvSpPr>
          <p:cNvPr id="73" name="Text 71"/>
          <p:cNvSpPr/>
          <p:nvPr/>
        </p:nvSpPr>
        <p:spPr>
          <a:xfrm>
            <a:off x="3967520" y="2948940"/>
            <a:ext cx="2793243" cy="320040"/>
          </a:xfrm>
          <a:prstGeom prst="rect">
            <a:avLst/>
          </a:prstGeom>
          <a:noFill/>
          <a:ln/>
        </p:spPr>
        <p:txBody>
          <a:bodyPr wrap="square" lIns="25400" tIns="25400" rIns="25400" bIns="25400" rtlCol="0" anchor="t">
            <a:normAutofit/>
          </a:bodyPr>
          <a:lstStyle/>
          <a:p>
            <a:pPr algn="l" indent="0" marL="0">
              <a:buNone/>
            </a:pPr>
            <a:r>
              <a:rPr lang="en-US" sz="1950" dirty="0">
                <a:solidFill>
                  <a:srgbClr val="F0F6FC"/>
                </a:solidFill>
                <a:latin typeface="Arial" pitchFamily="34" charset="0"/>
                <a:ea typeface="Arial" pitchFamily="34" charset="-122"/>
                <a:cs typeface="Arial" pitchFamily="34" charset="-120"/>
              </a:rPr>
              <a:t>Select to last row of data</a:t>
            </a:r>
            <a:endParaRPr lang="en-US" sz="1950" dirty="0"/>
          </a:p>
        </p:txBody>
      </p:sp>
      <p:sp>
        <p:nvSpPr>
          <p:cNvPr id="74" name="Shape 72"/>
          <p:cNvSpPr/>
          <p:nvPr/>
        </p:nvSpPr>
        <p:spPr>
          <a:xfrm>
            <a:off x="952500" y="3280410"/>
            <a:ext cx="53351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75" name="Shape 73"/>
          <p:cNvSpPr/>
          <p:nvPr/>
        </p:nvSpPr>
        <p:spPr>
          <a:xfrm>
            <a:off x="952500" y="3638550"/>
            <a:ext cx="533519" cy="22860"/>
          </a:xfrm>
          <a:prstGeom prst="rect">
            <a:avLst/>
          </a:prstGeom>
          <a:solidFill>
            <a:srgbClr val="000000">
              <a:alpha val="50000"/>
            </a:srgbClr>
          </a:solidFill>
          <a:ln/>
        </p:spPr>
      </p:sp>
      <p:sp>
        <p:nvSpPr>
          <p:cNvPr id="76" name="Shape 74"/>
          <p:cNvSpPr/>
          <p:nvPr/>
        </p:nvSpPr>
        <p:spPr>
          <a:xfrm>
            <a:off x="952500" y="3280410"/>
            <a:ext cx="533519" cy="9525"/>
          </a:xfrm>
          <a:prstGeom prst="rect">
            <a:avLst/>
          </a:prstGeom>
          <a:solidFill>
            <a:srgbClr val="FFFFFF">
              <a:alpha val="18000"/>
            </a:srgbClr>
          </a:solidFill>
          <a:ln/>
        </p:spPr>
      </p:sp>
      <p:sp>
        <p:nvSpPr>
          <p:cNvPr id="77" name="Shape 75"/>
          <p:cNvSpPr/>
          <p:nvPr/>
        </p:nvSpPr>
        <p:spPr>
          <a:xfrm>
            <a:off x="952500" y="3280410"/>
            <a:ext cx="9525" cy="381000"/>
          </a:xfrm>
          <a:prstGeom prst="rect">
            <a:avLst/>
          </a:prstGeom>
          <a:solidFill>
            <a:srgbClr val="FFFFFF">
              <a:alpha val="18000"/>
            </a:srgbClr>
          </a:solidFill>
          <a:ln/>
        </p:spPr>
      </p:sp>
      <p:sp>
        <p:nvSpPr>
          <p:cNvPr id="78" name="Shape 76"/>
          <p:cNvSpPr/>
          <p:nvPr/>
        </p:nvSpPr>
        <p:spPr>
          <a:xfrm>
            <a:off x="1478399" y="3280410"/>
            <a:ext cx="9525" cy="381000"/>
          </a:xfrm>
          <a:prstGeom prst="rect">
            <a:avLst/>
          </a:prstGeom>
          <a:solidFill>
            <a:srgbClr val="FFFFFF">
              <a:alpha val="18000"/>
            </a:srgbClr>
          </a:solidFill>
          <a:ln/>
        </p:spPr>
      </p:sp>
      <p:sp>
        <p:nvSpPr>
          <p:cNvPr id="79" name="Text 77"/>
          <p:cNvSpPr/>
          <p:nvPr/>
        </p:nvSpPr>
        <p:spPr>
          <a:xfrm>
            <a:off x="1055370" y="3345180"/>
            <a:ext cx="32777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F5</a:t>
            </a:r>
            <a:endParaRPr lang="en-US" sz="1650" dirty="0"/>
          </a:p>
        </p:txBody>
      </p:sp>
      <p:sp>
        <p:nvSpPr>
          <p:cNvPr id="80" name="Text 78"/>
          <p:cNvSpPr/>
          <p:nvPr/>
        </p:nvSpPr>
        <p:spPr>
          <a:xfrm>
            <a:off x="1619369" y="3341370"/>
            <a:ext cx="279559" cy="29718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or</a:t>
            </a:r>
            <a:endParaRPr lang="en-US" sz="1800" dirty="0"/>
          </a:p>
        </p:txBody>
      </p:sp>
      <p:sp>
        <p:nvSpPr>
          <p:cNvPr id="81" name="Shape 79"/>
          <p:cNvSpPr/>
          <p:nvPr/>
        </p:nvSpPr>
        <p:spPr>
          <a:xfrm>
            <a:off x="1956078" y="3280410"/>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82" name="Shape 80"/>
          <p:cNvSpPr/>
          <p:nvPr/>
        </p:nvSpPr>
        <p:spPr>
          <a:xfrm>
            <a:off x="1956078" y="3638550"/>
            <a:ext cx="784979" cy="22860"/>
          </a:xfrm>
          <a:prstGeom prst="rect">
            <a:avLst/>
          </a:prstGeom>
          <a:solidFill>
            <a:srgbClr val="000000">
              <a:alpha val="50000"/>
            </a:srgbClr>
          </a:solidFill>
          <a:ln/>
        </p:spPr>
      </p:sp>
      <p:sp>
        <p:nvSpPr>
          <p:cNvPr id="83" name="Shape 81"/>
          <p:cNvSpPr/>
          <p:nvPr/>
        </p:nvSpPr>
        <p:spPr>
          <a:xfrm>
            <a:off x="1956078" y="3280410"/>
            <a:ext cx="784979" cy="9525"/>
          </a:xfrm>
          <a:prstGeom prst="rect">
            <a:avLst/>
          </a:prstGeom>
          <a:solidFill>
            <a:srgbClr val="FFFFFF">
              <a:alpha val="18000"/>
            </a:srgbClr>
          </a:solidFill>
          <a:ln/>
        </p:spPr>
      </p:sp>
      <p:sp>
        <p:nvSpPr>
          <p:cNvPr id="84" name="Shape 82"/>
          <p:cNvSpPr/>
          <p:nvPr/>
        </p:nvSpPr>
        <p:spPr>
          <a:xfrm>
            <a:off x="1956078" y="3280410"/>
            <a:ext cx="9525" cy="381000"/>
          </a:xfrm>
          <a:prstGeom prst="rect">
            <a:avLst/>
          </a:prstGeom>
          <a:solidFill>
            <a:srgbClr val="FFFFFF">
              <a:alpha val="18000"/>
            </a:srgbClr>
          </a:solidFill>
          <a:ln/>
        </p:spPr>
      </p:sp>
      <p:sp>
        <p:nvSpPr>
          <p:cNvPr id="85" name="Shape 83"/>
          <p:cNvSpPr/>
          <p:nvPr/>
        </p:nvSpPr>
        <p:spPr>
          <a:xfrm>
            <a:off x="2733437" y="3280410"/>
            <a:ext cx="9525" cy="381000"/>
          </a:xfrm>
          <a:prstGeom prst="rect">
            <a:avLst/>
          </a:prstGeom>
          <a:solidFill>
            <a:srgbClr val="FFFFFF">
              <a:alpha val="18000"/>
            </a:srgbClr>
          </a:solidFill>
          <a:ln/>
        </p:spPr>
      </p:sp>
      <p:sp>
        <p:nvSpPr>
          <p:cNvPr id="86" name="Text 84"/>
          <p:cNvSpPr/>
          <p:nvPr/>
        </p:nvSpPr>
        <p:spPr>
          <a:xfrm>
            <a:off x="2058948" y="3345180"/>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87" name="Text 85"/>
          <p:cNvSpPr/>
          <p:nvPr/>
        </p:nvSpPr>
        <p:spPr>
          <a:xfrm>
            <a:off x="2874407" y="3348990"/>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88" name="Shape 86"/>
          <p:cNvSpPr/>
          <p:nvPr/>
        </p:nvSpPr>
        <p:spPr>
          <a:xfrm>
            <a:off x="3130153" y="3280410"/>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89" name="Shape 87"/>
          <p:cNvSpPr/>
          <p:nvPr/>
        </p:nvSpPr>
        <p:spPr>
          <a:xfrm>
            <a:off x="3130153" y="3638550"/>
            <a:ext cx="407789" cy="22860"/>
          </a:xfrm>
          <a:prstGeom prst="rect">
            <a:avLst/>
          </a:prstGeom>
          <a:solidFill>
            <a:srgbClr val="000000">
              <a:alpha val="50000"/>
            </a:srgbClr>
          </a:solidFill>
          <a:ln/>
        </p:spPr>
      </p:sp>
      <p:sp>
        <p:nvSpPr>
          <p:cNvPr id="90" name="Shape 88"/>
          <p:cNvSpPr/>
          <p:nvPr/>
        </p:nvSpPr>
        <p:spPr>
          <a:xfrm>
            <a:off x="3130153" y="3280410"/>
            <a:ext cx="407789" cy="9525"/>
          </a:xfrm>
          <a:prstGeom prst="rect">
            <a:avLst/>
          </a:prstGeom>
          <a:solidFill>
            <a:srgbClr val="FFFFFF">
              <a:alpha val="18000"/>
            </a:srgbClr>
          </a:solidFill>
          <a:ln/>
        </p:spPr>
      </p:sp>
      <p:sp>
        <p:nvSpPr>
          <p:cNvPr id="91" name="Shape 89"/>
          <p:cNvSpPr/>
          <p:nvPr/>
        </p:nvSpPr>
        <p:spPr>
          <a:xfrm>
            <a:off x="3130153" y="3280410"/>
            <a:ext cx="9525" cy="381000"/>
          </a:xfrm>
          <a:prstGeom prst="rect">
            <a:avLst/>
          </a:prstGeom>
          <a:solidFill>
            <a:srgbClr val="FFFFFF">
              <a:alpha val="18000"/>
            </a:srgbClr>
          </a:solidFill>
          <a:ln/>
        </p:spPr>
      </p:sp>
      <p:sp>
        <p:nvSpPr>
          <p:cNvPr id="92" name="Shape 90"/>
          <p:cNvSpPr/>
          <p:nvPr/>
        </p:nvSpPr>
        <p:spPr>
          <a:xfrm>
            <a:off x="3530322" y="3280410"/>
            <a:ext cx="9525" cy="381000"/>
          </a:xfrm>
          <a:prstGeom prst="rect">
            <a:avLst/>
          </a:prstGeom>
          <a:solidFill>
            <a:srgbClr val="FFFFFF">
              <a:alpha val="18000"/>
            </a:srgbClr>
          </a:solidFill>
          <a:ln/>
        </p:spPr>
      </p:sp>
      <p:sp>
        <p:nvSpPr>
          <p:cNvPr id="93" name="Text 91"/>
          <p:cNvSpPr/>
          <p:nvPr/>
        </p:nvSpPr>
        <p:spPr>
          <a:xfrm>
            <a:off x="3233023" y="3345180"/>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G</a:t>
            </a:r>
            <a:endParaRPr lang="en-US" sz="1650" dirty="0"/>
          </a:p>
        </p:txBody>
      </p:sp>
      <p:sp>
        <p:nvSpPr>
          <p:cNvPr id="94" name="Text 92"/>
          <p:cNvSpPr/>
          <p:nvPr/>
        </p:nvSpPr>
        <p:spPr>
          <a:xfrm>
            <a:off x="3671292" y="3329940"/>
            <a:ext cx="3866417" cy="320040"/>
          </a:xfrm>
          <a:prstGeom prst="rect">
            <a:avLst/>
          </a:prstGeom>
          <a:noFill/>
          <a:ln/>
        </p:spPr>
        <p:txBody>
          <a:bodyPr wrap="square" lIns="25400" tIns="25400" rIns="25400" bIns="25400" rtlCol="0" anchor="t">
            <a:normAutofit/>
          </a:bodyPr>
          <a:lstStyle/>
          <a:p>
            <a:pPr algn="l" indent="0" marL="0">
              <a:buNone/>
            </a:pPr>
            <a:r>
              <a:rPr lang="en-US" sz="1950" dirty="0">
                <a:solidFill>
                  <a:srgbClr val="F0F6FC"/>
                </a:solidFill>
                <a:latin typeface="Arial" pitchFamily="34" charset="0"/>
                <a:ea typeface="Arial" pitchFamily="34" charset="-122"/>
                <a:cs typeface="Arial" pitchFamily="34" charset="-120"/>
              </a:rPr>
              <a:t>Go To dialog — jump to any range</a:t>
            </a:r>
            <a:endParaRPr lang="en-US" sz="1950" dirty="0"/>
          </a:p>
        </p:txBody>
      </p:sp>
      <p:sp>
        <p:nvSpPr>
          <p:cNvPr id="95" name="Shape 93"/>
          <p:cNvSpPr/>
          <p:nvPr/>
        </p:nvSpPr>
        <p:spPr>
          <a:xfrm>
            <a:off x="9296400" y="1756410"/>
            <a:ext cx="8039100" cy="1784985"/>
          </a:xfrm>
          <a:prstGeom prst="roundRect">
            <a:avLst>
              <a:gd name="adj" fmla="val 6403"/>
            </a:avLst>
          </a:prstGeom>
          <a:solidFill>
            <a:srgbClr val="2DD4BF">
              <a:alpha val="5000"/>
            </a:srgbClr>
          </a:solidFill>
          <a:ln w="7620">
            <a:solidFill>
              <a:srgbClr val="2DD4BF">
                <a:alpha val="30000"/>
              </a:srgbClr>
            </a:solidFill>
            <a:prstDash val="solid"/>
          </a:ln>
        </p:spPr>
      </p:sp>
      <p:sp>
        <p:nvSpPr>
          <p:cNvPr id="96" name="Text 94"/>
          <p:cNvSpPr/>
          <p:nvPr/>
        </p:nvSpPr>
        <p:spPr>
          <a:xfrm>
            <a:off x="9646920" y="2068830"/>
            <a:ext cx="7558202" cy="320040"/>
          </a:xfrm>
          <a:prstGeom prst="rect">
            <a:avLst/>
          </a:prstGeom>
          <a:noFill/>
          <a:ln/>
        </p:spPr>
        <p:txBody>
          <a:bodyPr wrap="square" lIns="25400" tIns="25400" rIns="25400" bIns="25400" rtlCol="0" anchor="t">
            <a:normAutofit/>
          </a:bodyPr>
          <a:lstStyle/>
          <a:p>
            <a:pPr algn="l" indent="0" marL="0">
              <a:buNone/>
            </a:pPr>
            <a:r>
              <a:rPr lang="en-US" sz="1650" b="1" dirty="0">
                <a:solidFill>
                  <a:srgbClr val="2DD4BF"/>
                </a:solidFill>
                <a:latin typeface="Arial" pitchFamily="34" charset="0"/>
                <a:ea typeface="Arial" pitchFamily="34" charset="-122"/>
                <a:cs typeface="Arial" pitchFamily="34" charset="-120"/>
              </a:rPr>
              <a:t>💡 Pro Move</a:t>
            </a:r>
            <a:endParaRPr lang="en-US" sz="1650" dirty="0"/>
          </a:p>
        </p:txBody>
      </p:sp>
      <p:sp>
        <p:nvSpPr>
          <p:cNvPr id="97" name="Text 95"/>
          <p:cNvSpPr/>
          <p:nvPr/>
        </p:nvSpPr>
        <p:spPr>
          <a:xfrm>
            <a:off x="9646920" y="2446020"/>
            <a:ext cx="7558202"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Type a cell address in the </a:t>
            </a:r>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Name Box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(top-left) and press </a:t>
            </a:r>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Enter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to jump there instantly — no scrolling, no clicking.</a:t>
            </a:r>
            <a:endParaRPr lang="en-US" sz="1950" dirty="0"/>
          </a:p>
        </p:txBody>
      </p:sp>
      <p:sp>
        <p:nvSpPr>
          <p:cNvPr id="98" name="Shape 96"/>
          <p:cNvSpPr/>
          <p:nvPr/>
        </p:nvSpPr>
        <p:spPr>
          <a:xfrm>
            <a:off x="9296400" y="3541395"/>
            <a:ext cx="8039100" cy="2168842"/>
          </a:xfrm>
          <a:prstGeom prst="roundRect">
            <a:avLst>
              <a:gd name="adj" fmla="val 5270"/>
            </a:avLst>
          </a:prstGeom>
          <a:solidFill>
            <a:srgbClr val="FBBF24">
              <a:alpha val="5000"/>
            </a:srgbClr>
          </a:solidFill>
          <a:ln w="7620">
            <a:solidFill>
              <a:srgbClr val="FBBF24">
                <a:alpha val="30000"/>
              </a:srgbClr>
            </a:solidFill>
            <a:prstDash val="solid"/>
          </a:ln>
        </p:spPr>
      </p:sp>
      <p:sp>
        <p:nvSpPr>
          <p:cNvPr id="99" name="Text 97"/>
          <p:cNvSpPr/>
          <p:nvPr/>
        </p:nvSpPr>
        <p:spPr>
          <a:xfrm>
            <a:off x="9646920" y="3853815"/>
            <a:ext cx="7558202" cy="320040"/>
          </a:xfrm>
          <a:prstGeom prst="rect">
            <a:avLst/>
          </a:prstGeom>
          <a:noFill/>
          <a:ln/>
        </p:spPr>
        <p:txBody>
          <a:bodyPr wrap="square" lIns="25400" tIns="25400" rIns="25400" bIns="25400" rtlCol="0" anchor="t">
            <a:normAutofit/>
          </a:bodyPr>
          <a:lstStyle/>
          <a:p>
            <a:pPr algn="l" indent="0" marL="0">
              <a:buNone/>
            </a:pPr>
            <a:r>
              <a:rPr lang="en-US" sz="1650" b="1" dirty="0">
                <a:solidFill>
                  <a:srgbClr val="FBBF24"/>
                </a:solidFill>
                <a:latin typeface="Arial" pitchFamily="34" charset="0"/>
                <a:ea typeface="Arial" pitchFamily="34" charset="-122"/>
                <a:cs typeface="Arial" pitchFamily="34" charset="-120"/>
              </a:rPr>
              <a:t>⚠ Watch For</a:t>
            </a:r>
            <a:endParaRPr lang="en-US" sz="1650" dirty="0"/>
          </a:p>
        </p:txBody>
      </p:sp>
      <p:sp>
        <p:nvSpPr>
          <p:cNvPr id="100" name="Text 98"/>
          <p:cNvSpPr/>
          <p:nvPr/>
        </p:nvSpPr>
        <p:spPr>
          <a:xfrm>
            <a:off x="9646920" y="4231005"/>
            <a:ext cx="7558202" cy="120491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Accidentally pressing </a:t>
            </a:r>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Scroll Lock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makes arrow keys scroll the whole sheet instead of moving between cells. Check the status bar — it'll say "Scroll Lock" if active.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15885"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01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Open Excel &amp; Explore the Interface</a:t>
            </a:r>
            <a:endParaRPr lang="en-US" sz="3900" dirty="0"/>
          </a:p>
        </p:txBody>
      </p:sp>
      <p:sp>
        <p:nvSpPr>
          <p:cNvPr id="8" name="Text 6"/>
          <p:cNvSpPr/>
          <p:nvPr/>
        </p:nvSpPr>
        <p:spPr>
          <a:xfrm>
            <a:off x="1493520" y="2672715"/>
            <a:ext cx="15759989" cy="2268855"/>
          </a:xfrm>
          <a:prstGeom prst="rect">
            <a:avLst/>
          </a:prstGeom>
          <a:noFill/>
          <a:ln/>
        </p:spPr>
        <p:txBody>
          <a:bodyPr wrap="square" lIns="25400" tIns="25400" rIns="25400" bIns="25400" rtlCol="0" anchor="t">
            <a:normAutofit/>
          </a:bodyPr>
          <a:lstStyle/>
          <a:p>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Launch Microsoft Excel and open a blank workbook.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Locate and name all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5 interface elements</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Ribbon, Formula Bar, Name Box, Worksheet Tabs, Status Bar.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Use the Name Box to navigate directly to cell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D15</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4.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Create your workbook and save it as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'MyFirstWorkbook.xlsx'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on your desktop.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Rename Sheet1 to "Employee Data" by double-clicking the tab.</a:t>
            </a:r>
            <a:endParaRPr lang="en-US" sz="2100" dirty="0"/>
          </a:p>
        </p:txBody>
      </p:sp>
      <p:sp>
        <p:nvSpPr>
          <p:cNvPr id="9" name="Shape 7"/>
          <p:cNvSpPr/>
          <p:nvPr/>
        </p:nvSpPr>
        <p:spPr>
          <a:xfrm>
            <a:off x="1493520" y="5170170"/>
            <a:ext cx="1525072"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263515"/>
            <a:ext cx="1166932"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5 minutes</a:t>
            </a:r>
            <a:endParaRPr lang="en-US" sz="1500" dirty="0"/>
          </a:p>
        </p:txBody>
      </p:sp>
      <p:sp>
        <p:nvSpPr>
          <p:cNvPr id="11" name="Shape 9"/>
          <p:cNvSpPr/>
          <p:nvPr/>
        </p:nvSpPr>
        <p:spPr>
          <a:xfrm>
            <a:off x="3170992" y="5170170"/>
            <a:ext cx="1558409"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88162" y="5263515"/>
            <a:ext cx="1200269"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Beginner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641956" y="8382000"/>
            <a:ext cx="2150745"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02</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2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Data Entry &amp;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Formatting</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From raw data to professional presentation</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25 minutes</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2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solidFill>
          <a:ln/>
        </p:spPr>
      </p:sp>
      <p:sp>
        <p:nvSpPr>
          <p:cNvPr id="5" name="Shape 3"/>
          <p:cNvSpPr/>
          <p:nvPr/>
        </p:nvSpPr>
        <p:spPr>
          <a:xfrm>
            <a:off x="15868650" y="400050"/>
            <a:ext cx="247650" cy="38100"/>
          </a:xfrm>
          <a:prstGeom prst="roundRect">
            <a:avLst>
              <a:gd name="adj" fmla="val 50000"/>
            </a:avLst>
          </a:prstGeom>
          <a:solidFill>
            <a:srgbClr val="1C2430"/>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Formatting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Transforms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Data</a:t>
            </a:r>
            <a:endParaRPr lang="en-US" sz="4200" dirty="0"/>
          </a:p>
        </p:txBody>
      </p:sp>
      <p:sp>
        <p:nvSpPr>
          <p:cNvPr id="11" name="Text 9"/>
          <p:cNvSpPr/>
          <p:nvPr/>
        </p:nvSpPr>
        <p:spPr>
          <a:xfrm>
            <a:off x="952500" y="1718310"/>
            <a:ext cx="8241030" cy="320040"/>
          </a:xfrm>
          <a:prstGeom prst="rect">
            <a:avLst/>
          </a:prstGeom>
          <a:noFill/>
          <a:ln/>
        </p:spPr>
        <p:txBody>
          <a:bodyPr wrap="square" lIns="25400" tIns="25400" rIns="25400" bIns="25400" rtlCol="0" anchor="t">
            <a:normAutofit/>
          </a:bodyPr>
          <a:lstStyle/>
          <a:p>
            <a:pPr algn="l" indent="0" marL="0">
              <a:buNone/>
            </a:pPr>
            <a:r>
              <a:rPr lang="en-US" sz="1650" b="1" spc="83" kern="0" dirty="0">
                <a:solidFill>
                  <a:srgbClr val="F87171"/>
                </a:solidFill>
                <a:latin typeface="Arial" pitchFamily="34" charset="0"/>
                <a:ea typeface="Arial" pitchFamily="34" charset="-122"/>
                <a:cs typeface="Arial" pitchFamily="34" charset="-120"/>
              </a:rPr>
              <a:t>✗ BEFORE</a:t>
            </a:r>
            <a:endParaRPr lang="en-US" sz="1650" dirty="0"/>
          </a:p>
        </p:txBody>
      </p:sp>
      <p:sp>
        <p:nvSpPr>
          <p:cNvPr id="12" name="Shape 10"/>
          <p:cNvSpPr/>
          <p:nvPr/>
        </p:nvSpPr>
        <p:spPr>
          <a:xfrm>
            <a:off x="952500" y="2190750"/>
            <a:ext cx="2915841" cy="403860"/>
          </a:xfrm>
          <a:prstGeom prst="rect">
            <a:avLst/>
          </a:prstGeom>
          <a:solidFill>
            <a:srgbClr val="2D1F1F"/>
          </a:solidFill>
          <a:ln/>
        </p:spPr>
      </p:sp>
      <p:sp>
        <p:nvSpPr>
          <p:cNvPr id="13" name="Text 11"/>
          <p:cNvSpPr/>
          <p:nvPr/>
        </p:nvSpPr>
        <p:spPr>
          <a:xfrm>
            <a:off x="1085850" y="2286000"/>
            <a:ext cx="2736616"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F87171"/>
                </a:solidFill>
                <a:latin typeface="Arial" pitchFamily="34" charset="0"/>
                <a:ea typeface="Arial" pitchFamily="34" charset="-122"/>
                <a:cs typeface="Arial" pitchFamily="34" charset="-120"/>
              </a:rPr>
              <a:t>name</a:t>
            </a:r>
            <a:endParaRPr lang="en-US" sz="1350" dirty="0"/>
          </a:p>
        </p:txBody>
      </p:sp>
      <p:sp>
        <p:nvSpPr>
          <p:cNvPr id="14" name="Shape 12"/>
          <p:cNvSpPr/>
          <p:nvPr/>
        </p:nvSpPr>
        <p:spPr>
          <a:xfrm>
            <a:off x="3868341" y="2190750"/>
            <a:ext cx="1614726" cy="403860"/>
          </a:xfrm>
          <a:prstGeom prst="rect">
            <a:avLst/>
          </a:prstGeom>
          <a:solidFill>
            <a:srgbClr val="2D1F1F"/>
          </a:solidFill>
          <a:ln/>
        </p:spPr>
      </p:sp>
      <p:sp>
        <p:nvSpPr>
          <p:cNvPr id="15" name="Text 13"/>
          <p:cNvSpPr/>
          <p:nvPr/>
        </p:nvSpPr>
        <p:spPr>
          <a:xfrm>
            <a:off x="4001691" y="2286000"/>
            <a:ext cx="1424226"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F87171"/>
                </a:solidFill>
                <a:latin typeface="Arial" pitchFamily="34" charset="0"/>
                <a:ea typeface="Arial" pitchFamily="34" charset="-122"/>
                <a:cs typeface="Arial" pitchFamily="34" charset="-120"/>
              </a:rPr>
              <a:t>salary</a:t>
            </a:r>
            <a:endParaRPr lang="en-US" sz="1350" dirty="0"/>
          </a:p>
        </p:txBody>
      </p:sp>
      <p:sp>
        <p:nvSpPr>
          <p:cNvPr id="16" name="Shape 14"/>
          <p:cNvSpPr/>
          <p:nvPr/>
        </p:nvSpPr>
        <p:spPr>
          <a:xfrm>
            <a:off x="5483066" y="2190750"/>
            <a:ext cx="1506855" cy="403860"/>
          </a:xfrm>
          <a:prstGeom prst="rect">
            <a:avLst/>
          </a:prstGeom>
          <a:solidFill>
            <a:srgbClr val="2D1F1F"/>
          </a:solidFill>
          <a:ln/>
        </p:spPr>
      </p:sp>
      <p:sp>
        <p:nvSpPr>
          <p:cNvPr id="17" name="Text 15"/>
          <p:cNvSpPr/>
          <p:nvPr/>
        </p:nvSpPr>
        <p:spPr>
          <a:xfrm>
            <a:off x="5616416" y="2286000"/>
            <a:ext cx="1316355"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F87171"/>
                </a:solidFill>
                <a:latin typeface="Arial" pitchFamily="34" charset="0"/>
                <a:ea typeface="Arial" pitchFamily="34" charset="-122"/>
                <a:cs typeface="Arial" pitchFamily="34" charset="-120"/>
              </a:rPr>
              <a:t>dept</a:t>
            </a:r>
            <a:endParaRPr lang="en-US" sz="1350" dirty="0"/>
          </a:p>
        </p:txBody>
      </p:sp>
      <p:sp>
        <p:nvSpPr>
          <p:cNvPr id="18" name="Shape 16"/>
          <p:cNvSpPr/>
          <p:nvPr/>
        </p:nvSpPr>
        <p:spPr>
          <a:xfrm>
            <a:off x="6989922" y="2190750"/>
            <a:ext cx="1963579" cy="403860"/>
          </a:xfrm>
          <a:prstGeom prst="rect">
            <a:avLst/>
          </a:prstGeom>
          <a:solidFill>
            <a:srgbClr val="2D1F1F"/>
          </a:solidFill>
          <a:ln/>
        </p:spPr>
      </p:sp>
      <p:sp>
        <p:nvSpPr>
          <p:cNvPr id="19" name="Text 17"/>
          <p:cNvSpPr/>
          <p:nvPr/>
        </p:nvSpPr>
        <p:spPr>
          <a:xfrm>
            <a:off x="7123272" y="2286000"/>
            <a:ext cx="1773079"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F87171"/>
                </a:solidFill>
                <a:latin typeface="Arial" pitchFamily="34" charset="0"/>
                <a:ea typeface="Arial" pitchFamily="34" charset="-122"/>
                <a:cs typeface="Arial" pitchFamily="34" charset="-120"/>
              </a:rPr>
              <a:t>hiredate</a:t>
            </a:r>
            <a:endParaRPr lang="en-US" sz="1350" dirty="0"/>
          </a:p>
        </p:txBody>
      </p:sp>
      <p:sp>
        <p:nvSpPr>
          <p:cNvPr id="20" name="Shape 18"/>
          <p:cNvSpPr/>
          <p:nvPr/>
        </p:nvSpPr>
        <p:spPr>
          <a:xfrm>
            <a:off x="952500" y="2983230"/>
            <a:ext cx="2915841" cy="9525"/>
          </a:xfrm>
          <a:prstGeom prst="rect">
            <a:avLst/>
          </a:prstGeom>
          <a:solidFill>
            <a:srgbClr val="FFFFFF">
              <a:alpha val="6000"/>
            </a:srgbClr>
          </a:solidFill>
          <a:ln/>
        </p:spPr>
      </p:sp>
      <p:sp>
        <p:nvSpPr>
          <p:cNvPr id="21" name="Text 19"/>
          <p:cNvSpPr/>
          <p:nvPr/>
        </p:nvSpPr>
        <p:spPr>
          <a:xfrm>
            <a:off x="1085850" y="2680335"/>
            <a:ext cx="2736616"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alice johnson</a:t>
            </a:r>
            <a:endParaRPr lang="en-US" sz="1500" dirty="0"/>
          </a:p>
        </p:txBody>
      </p:sp>
      <p:sp>
        <p:nvSpPr>
          <p:cNvPr id="22" name="Shape 20"/>
          <p:cNvSpPr/>
          <p:nvPr/>
        </p:nvSpPr>
        <p:spPr>
          <a:xfrm>
            <a:off x="3868341" y="2983230"/>
            <a:ext cx="1614726" cy="9525"/>
          </a:xfrm>
          <a:prstGeom prst="rect">
            <a:avLst/>
          </a:prstGeom>
          <a:solidFill>
            <a:srgbClr val="FFFFFF">
              <a:alpha val="6000"/>
            </a:srgbClr>
          </a:solidFill>
          <a:ln/>
        </p:spPr>
      </p:sp>
      <p:sp>
        <p:nvSpPr>
          <p:cNvPr id="23" name="Text 21"/>
          <p:cNvSpPr/>
          <p:nvPr/>
        </p:nvSpPr>
        <p:spPr>
          <a:xfrm>
            <a:off x="4001691" y="2680335"/>
            <a:ext cx="1424226"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52000</a:t>
            </a:r>
            <a:endParaRPr lang="en-US" sz="1500" dirty="0"/>
          </a:p>
        </p:txBody>
      </p:sp>
      <p:sp>
        <p:nvSpPr>
          <p:cNvPr id="24" name="Shape 22"/>
          <p:cNvSpPr/>
          <p:nvPr/>
        </p:nvSpPr>
        <p:spPr>
          <a:xfrm>
            <a:off x="5483066" y="2983230"/>
            <a:ext cx="1506855" cy="9525"/>
          </a:xfrm>
          <a:prstGeom prst="rect">
            <a:avLst/>
          </a:prstGeom>
          <a:solidFill>
            <a:srgbClr val="FFFFFF">
              <a:alpha val="6000"/>
            </a:srgbClr>
          </a:solidFill>
          <a:ln/>
        </p:spPr>
      </p:sp>
      <p:sp>
        <p:nvSpPr>
          <p:cNvPr id="25" name="Text 23"/>
          <p:cNvSpPr/>
          <p:nvPr/>
        </p:nvSpPr>
        <p:spPr>
          <a:xfrm>
            <a:off x="5616416" y="2680335"/>
            <a:ext cx="1316355"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mktg</a:t>
            </a:r>
            <a:endParaRPr lang="en-US" sz="1500" dirty="0"/>
          </a:p>
        </p:txBody>
      </p:sp>
      <p:sp>
        <p:nvSpPr>
          <p:cNvPr id="26" name="Shape 24"/>
          <p:cNvSpPr/>
          <p:nvPr/>
        </p:nvSpPr>
        <p:spPr>
          <a:xfrm>
            <a:off x="6989922" y="2983230"/>
            <a:ext cx="1963579" cy="9525"/>
          </a:xfrm>
          <a:prstGeom prst="rect">
            <a:avLst/>
          </a:prstGeom>
          <a:solidFill>
            <a:srgbClr val="FFFFFF">
              <a:alpha val="6000"/>
            </a:srgbClr>
          </a:solidFill>
          <a:ln/>
        </p:spPr>
      </p:sp>
      <p:sp>
        <p:nvSpPr>
          <p:cNvPr id="27" name="Text 25"/>
          <p:cNvSpPr/>
          <p:nvPr/>
        </p:nvSpPr>
        <p:spPr>
          <a:xfrm>
            <a:off x="7123272" y="2680335"/>
            <a:ext cx="1773079"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44941</a:t>
            </a:r>
            <a:endParaRPr lang="en-US" sz="1500" dirty="0"/>
          </a:p>
        </p:txBody>
      </p:sp>
      <p:sp>
        <p:nvSpPr>
          <p:cNvPr id="28" name="Shape 26"/>
          <p:cNvSpPr/>
          <p:nvPr/>
        </p:nvSpPr>
        <p:spPr>
          <a:xfrm>
            <a:off x="952500" y="3383280"/>
            <a:ext cx="2915841" cy="9525"/>
          </a:xfrm>
          <a:prstGeom prst="rect">
            <a:avLst/>
          </a:prstGeom>
          <a:solidFill>
            <a:srgbClr val="FFFFFF">
              <a:alpha val="6000"/>
            </a:srgbClr>
          </a:solidFill>
          <a:ln/>
        </p:spPr>
      </p:sp>
      <p:sp>
        <p:nvSpPr>
          <p:cNvPr id="29" name="Text 27"/>
          <p:cNvSpPr/>
          <p:nvPr/>
        </p:nvSpPr>
        <p:spPr>
          <a:xfrm>
            <a:off x="1085850" y="307657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BOB CHEN</a:t>
            </a:r>
            <a:endParaRPr lang="en-US" sz="1500" dirty="0"/>
          </a:p>
        </p:txBody>
      </p:sp>
      <p:sp>
        <p:nvSpPr>
          <p:cNvPr id="30" name="Shape 28"/>
          <p:cNvSpPr/>
          <p:nvPr/>
        </p:nvSpPr>
        <p:spPr>
          <a:xfrm>
            <a:off x="3868341" y="3383280"/>
            <a:ext cx="1614726" cy="9525"/>
          </a:xfrm>
          <a:prstGeom prst="rect">
            <a:avLst/>
          </a:prstGeom>
          <a:solidFill>
            <a:srgbClr val="FFFFFF">
              <a:alpha val="6000"/>
            </a:srgbClr>
          </a:solidFill>
          <a:ln/>
        </p:spPr>
      </p:sp>
      <p:sp>
        <p:nvSpPr>
          <p:cNvPr id="31" name="Text 29"/>
          <p:cNvSpPr/>
          <p:nvPr/>
        </p:nvSpPr>
        <p:spPr>
          <a:xfrm>
            <a:off x="4001691" y="307657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68500</a:t>
            </a:r>
            <a:endParaRPr lang="en-US" sz="1500" dirty="0"/>
          </a:p>
        </p:txBody>
      </p:sp>
      <p:sp>
        <p:nvSpPr>
          <p:cNvPr id="32" name="Shape 30"/>
          <p:cNvSpPr/>
          <p:nvPr/>
        </p:nvSpPr>
        <p:spPr>
          <a:xfrm>
            <a:off x="5483066" y="3383280"/>
            <a:ext cx="1506855" cy="9525"/>
          </a:xfrm>
          <a:prstGeom prst="rect">
            <a:avLst/>
          </a:prstGeom>
          <a:solidFill>
            <a:srgbClr val="FFFFFF">
              <a:alpha val="6000"/>
            </a:srgbClr>
          </a:solidFill>
          <a:ln/>
        </p:spPr>
      </p:sp>
      <p:sp>
        <p:nvSpPr>
          <p:cNvPr id="33" name="Text 31"/>
          <p:cNvSpPr/>
          <p:nvPr/>
        </p:nvSpPr>
        <p:spPr>
          <a:xfrm>
            <a:off x="5616416" y="307657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Sales</a:t>
            </a:r>
            <a:endParaRPr lang="en-US" sz="1500" dirty="0"/>
          </a:p>
        </p:txBody>
      </p:sp>
      <p:sp>
        <p:nvSpPr>
          <p:cNvPr id="34" name="Shape 32"/>
          <p:cNvSpPr/>
          <p:nvPr/>
        </p:nvSpPr>
        <p:spPr>
          <a:xfrm>
            <a:off x="6989922" y="3383280"/>
            <a:ext cx="1963579" cy="9525"/>
          </a:xfrm>
          <a:prstGeom prst="rect">
            <a:avLst/>
          </a:prstGeom>
          <a:solidFill>
            <a:srgbClr val="FFFFFF">
              <a:alpha val="6000"/>
            </a:srgbClr>
          </a:solidFill>
          <a:ln/>
        </p:spPr>
      </p:sp>
      <p:sp>
        <p:nvSpPr>
          <p:cNvPr id="35" name="Text 33"/>
          <p:cNvSpPr/>
          <p:nvPr/>
        </p:nvSpPr>
        <p:spPr>
          <a:xfrm>
            <a:off x="7123272" y="307657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44277</a:t>
            </a:r>
            <a:endParaRPr lang="en-US" sz="1500" dirty="0"/>
          </a:p>
        </p:txBody>
      </p:sp>
      <p:sp>
        <p:nvSpPr>
          <p:cNvPr id="36" name="Shape 34"/>
          <p:cNvSpPr/>
          <p:nvPr/>
        </p:nvSpPr>
        <p:spPr>
          <a:xfrm>
            <a:off x="952500" y="3783330"/>
            <a:ext cx="2915841" cy="9525"/>
          </a:xfrm>
          <a:prstGeom prst="rect">
            <a:avLst/>
          </a:prstGeom>
          <a:solidFill>
            <a:srgbClr val="FFFFFF">
              <a:alpha val="6000"/>
            </a:srgbClr>
          </a:solidFill>
          <a:ln/>
        </p:spPr>
      </p:sp>
      <p:sp>
        <p:nvSpPr>
          <p:cNvPr id="37" name="Text 35"/>
          <p:cNvSpPr/>
          <p:nvPr/>
        </p:nvSpPr>
        <p:spPr>
          <a:xfrm>
            <a:off x="1085850" y="347662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carol smith</a:t>
            </a:r>
            <a:endParaRPr lang="en-US" sz="1500" dirty="0"/>
          </a:p>
        </p:txBody>
      </p:sp>
      <p:sp>
        <p:nvSpPr>
          <p:cNvPr id="38" name="Shape 36"/>
          <p:cNvSpPr/>
          <p:nvPr/>
        </p:nvSpPr>
        <p:spPr>
          <a:xfrm>
            <a:off x="3868341" y="3783330"/>
            <a:ext cx="1614726" cy="9525"/>
          </a:xfrm>
          <a:prstGeom prst="rect">
            <a:avLst/>
          </a:prstGeom>
          <a:solidFill>
            <a:srgbClr val="FFFFFF">
              <a:alpha val="6000"/>
            </a:srgbClr>
          </a:solidFill>
          <a:ln/>
        </p:spPr>
      </p:sp>
      <p:sp>
        <p:nvSpPr>
          <p:cNvPr id="39" name="Text 37"/>
          <p:cNvSpPr/>
          <p:nvPr/>
        </p:nvSpPr>
        <p:spPr>
          <a:xfrm>
            <a:off x="4001691" y="347662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45200</a:t>
            </a:r>
            <a:endParaRPr lang="en-US" sz="1500" dirty="0"/>
          </a:p>
        </p:txBody>
      </p:sp>
      <p:sp>
        <p:nvSpPr>
          <p:cNvPr id="40" name="Shape 38"/>
          <p:cNvSpPr/>
          <p:nvPr/>
        </p:nvSpPr>
        <p:spPr>
          <a:xfrm>
            <a:off x="5483066" y="3783330"/>
            <a:ext cx="1506855" cy="9525"/>
          </a:xfrm>
          <a:prstGeom prst="rect">
            <a:avLst/>
          </a:prstGeom>
          <a:solidFill>
            <a:srgbClr val="FFFFFF">
              <a:alpha val="6000"/>
            </a:srgbClr>
          </a:solidFill>
          <a:ln/>
        </p:spPr>
      </p:sp>
      <p:sp>
        <p:nvSpPr>
          <p:cNvPr id="41" name="Text 39"/>
          <p:cNvSpPr/>
          <p:nvPr/>
        </p:nvSpPr>
        <p:spPr>
          <a:xfrm>
            <a:off x="5616416" y="347662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hr</a:t>
            </a:r>
            <a:endParaRPr lang="en-US" sz="1500" dirty="0"/>
          </a:p>
        </p:txBody>
      </p:sp>
      <p:sp>
        <p:nvSpPr>
          <p:cNvPr id="42" name="Shape 40"/>
          <p:cNvSpPr/>
          <p:nvPr/>
        </p:nvSpPr>
        <p:spPr>
          <a:xfrm>
            <a:off x="6989922" y="3783330"/>
            <a:ext cx="1963579" cy="9525"/>
          </a:xfrm>
          <a:prstGeom prst="rect">
            <a:avLst/>
          </a:prstGeom>
          <a:solidFill>
            <a:srgbClr val="FFFFFF">
              <a:alpha val="6000"/>
            </a:srgbClr>
          </a:solidFill>
          <a:ln/>
        </p:spPr>
      </p:sp>
      <p:sp>
        <p:nvSpPr>
          <p:cNvPr id="43" name="Text 41"/>
          <p:cNvSpPr/>
          <p:nvPr/>
        </p:nvSpPr>
        <p:spPr>
          <a:xfrm>
            <a:off x="7123272" y="347662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45108</a:t>
            </a:r>
            <a:endParaRPr lang="en-US" sz="1500" dirty="0"/>
          </a:p>
        </p:txBody>
      </p:sp>
      <p:sp>
        <p:nvSpPr>
          <p:cNvPr id="44" name="Shape 42"/>
          <p:cNvSpPr/>
          <p:nvPr/>
        </p:nvSpPr>
        <p:spPr>
          <a:xfrm>
            <a:off x="952500" y="4183380"/>
            <a:ext cx="2915841" cy="9525"/>
          </a:xfrm>
          <a:prstGeom prst="rect">
            <a:avLst/>
          </a:prstGeom>
          <a:solidFill>
            <a:srgbClr val="FFFFFF">
              <a:alpha val="6000"/>
            </a:srgbClr>
          </a:solidFill>
          <a:ln/>
        </p:spPr>
      </p:sp>
      <p:sp>
        <p:nvSpPr>
          <p:cNvPr id="45" name="Text 43"/>
          <p:cNvSpPr/>
          <p:nvPr/>
        </p:nvSpPr>
        <p:spPr>
          <a:xfrm>
            <a:off x="1085850" y="387667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David Park</a:t>
            </a:r>
            <a:endParaRPr lang="en-US" sz="1500" dirty="0"/>
          </a:p>
        </p:txBody>
      </p:sp>
      <p:sp>
        <p:nvSpPr>
          <p:cNvPr id="46" name="Shape 44"/>
          <p:cNvSpPr/>
          <p:nvPr/>
        </p:nvSpPr>
        <p:spPr>
          <a:xfrm>
            <a:off x="3868341" y="4183380"/>
            <a:ext cx="1614726" cy="9525"/>
          </a:xfrm>
          <a:prstGeom prst="rect">
            <a:avLst/>
          </a:prstGeom>
          <a:solidFill>
            <a:srgbClr val="FFFFFF">
              <a:alpha val="6000"/>
            </a:srgbClr>
          </a:solidFill>
          <a:ln/>
        </p:spPr>
      </p:sp>
      <p:sp>
        <p:nvSpPr>
          <p:cNvPr id="47" name="Text 45"/>
          <p:cNvSpPr/>
          <p:nvPr/>
        </p:nvSpPr>
        <p:spPr>
          <a:xfrm>
            <a:off x="4001691" y="387667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71000</a:t>
            </a:r>
            <a:endParaRPr lang="en-US" sz="1500" dirty="0"/>
          </a:p>
        </p:txBody>
      </p:sp>
      <p:sp>
        <p:nvSpPr>
          <p:cNvPr id="48" name="Shape 46"/>
          <p:cNvSpPr/>
          <p:nvPr/>
        </p:nvSpPr>
        <p:spPr>
          <a:xfrm>
            <a:off x="5483066" y="4183380"/>
            <a:ext cx="1506855" cy="9525"/>
          </a:xfrm>
          <a:prstGeom prst="rect">
            <a:avLst/>
          </a:prstGeom>
          <a:solidFill>
            <a:srgbClr val="FFFFFF">
              <a:alpha val="6000"/>
            </a:srgbClr>
          </a:solidFill>
          <a:ln/>
        </p:spPr>
      </p:sp>
      <p:sp>
        <p:nvSpPr>
          <p:cNvPr id="49" name="Text 47"/>
          <p:cNvSpPr/>
          <p:nvPr/>
        </p:nvSpPr>
        <p:spPr>
          <a:xfrm>
            <a:off x="5616416" y="387667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sales</a:t>
            </a:r>
            <a:endParaRPr lang="en-US" sz="1500" dirty="0"/>
          </a:p>
        </p:txBody>
      </p:sp>
      <p:sp>
        <p:nvSpPr>
          <p:cNvPr id="50" name="Shape 48"/>
          <p:cNvSpPr/>
          <p:nvPr/>
        </p:nvSpPr>
        <p:spPr>
          <a:xfrm>
            <a:off x="6989922" y="4183380"/>
            <a:ext cx="1963579" cy="9525"/>
          </a:xfrm>
          <a:prstGeom prst="rect">
            <a:avLst/>
          </a:prstGeom>
          <a:solidFill>
            <a:srgbClr val="FFFFFF">
              <a:alpha val="6000"/>
            </a:srgbClr>
          </a:solidFill>
          <a:ln/>
        </p:spPr>
      </p:sp>
      <p:sp>
        <p:nvSpPr>
          <p:cNvPr id="51" name="Text 49"/>
          <p:cNvSpPr/>
          <p:nvPr/>
        </p:nvSpPr>
        <p:spPr>
          <a:xfrm>
            <a:off x="7123272" y="387667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44148</a:t>
            </a:r>
            <a:endParaRPr lang="en-US" sz="1500" dirty="0"/>
          </a:p>
        </p:txBody>
      </p:sp>
      <p:sp>
        <p:nvSpPr>
          <p:cNvPr id="52" name="Shape 50"/>
          <p:cNvSpPr/>
          <p:nvPr/>
        </p:nvSpPr>
        <p:spPr>
          <a:xfrm>
            <a:off x="952500" y="4583430"/>
            <a:ext cx="2915841" cy="9525"/>
          </a:xfrm>
          <a:prstGeom prst="rect">
            <a:avLst/>
          </a:prstGeom>
          <a:solidFill>
            <a:srgbClr val="FFFFFF">
              <a:alpha val="6000"/>
            </a:srgbClr>
          </a:solidFill>
          <a:ln/>
        </p:spPr>
      </p:sp>
      <p:sp>
        <p:nvSpPr>
          <p:cNvPr id="53" name="Text 51"/>
          <p:cNvSpPr/>
          <p:nvPr/>
        </p:nvSpPr>
        <p:spPr>
          <a:xfrm>
            <a:off x="1085850" y="427672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EMMA DAVIS</a:t>
            </a:r>
            <a:endParaRPr lang="en-US" sz="1500" dirty="0"/>
          </a:p>
        </p:txBody>
      </p:sp>
      <p:sp>
        <p:nvSpPr>
          <p:cNvPr id="54" name="Shape 52"/>
          <p:cNvSpPr/>
          <p:nvPr/>
        </p:nvSpPr>
        <p:spPr>
          <a:xfrm>
            <a:off x="3868341" y="4583430"/>
            <a:ext cx="1614726" cy="9525"/>
          </a:xfrm>
          <a:prstGeom prst="rect">
            <a:avLst/>
          </a:prstGeom>
          <a:solidFill>
            <a:srgbClr val="FFFFFF">
              <a:alpha val="6000"/>
            </a:srgbClr>
          </a:solidFill>
          <a:ln/>
        </p:spPr>
      </p:sp>
      <p:sp>
        <p:nvSpPr>
          <p:cNvPr id="55" name="Text 53"/>
          <p:cNvSpPr/>
          <p:nvPr/>
        </p:nvSpPr>
        <p:spPr>
          <a:xfrm>
            <a:off x="4001691" y="427672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58300</a:t>
            </a:r>
            <a:endParaRPr lang="en-US" sz="1500" dirty="0"/>
          </a:p>
        </p:txBody>
      </p:sp>
      <p:sp>
        <p:nvSpPr>
          <p:cNvPr id="56" name="Shape 54"/>
          <p:cNvSpPr/>
          <p:nvPr/>
        </p:nvSpPr>
        <p:spPr>
          <a:xfrm>
            <a:off x="5483066" y="4583430"/>
            <a:ext cx="1506855" cy="9525"/>
          </a:xfrm>
          <a:prstGeom prst="rect">
            <a:avLst/>
          </a:prstGeom>
          <a:solidFill>
            <a:srgbClr val="FFFFFF">
              <a:alpha val="6000"/>
            </a:srgbClr>
          </a:solidFill>
          <a:ln/>
        </p:spPr>
      </p:sp>
      <p:sp>
        <p:nvSpPr>
          <p:cNvPr id="57" name="Text 55"/>
          <p:cNvSpPr/>
          <p:nvPr/>
        </p:nvSpPr>
        <p:spPr>
          <a:xfrm>
            <a:off x="5616416" y="427672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MKT</a:t>
            </a:r>
            <a:endParaRPr lang="en-US" sz="1500" dirty="0"/>
          </a:p>
        </p:txBody>
      </p:sp>
      <p:sp>
        <p:nvSpPr>
          <p:cNvPr id="58" name="Shape 56"/>
          <p:cNvSpPr/>
          <p:nvPr/>
        </p:nvSpPr>
        <p:spPr>
          <a:xfrm>
            <a:off x="6989922" y="4583430"/>
            <a:ext cx="1963579" cy="9525"/>
          </a:xfrm>
          <a:prstGeom prst="rect">
            <a:avLst/>
          </a:prstGeom>
          <a:solidFill>
            <a:srgbClr val="FFFFFF">
              <a:alpha val="6000"/>
            </a:srgbClr>
          </a:solidFill>
          <a:ln/>
        </p:spPr>
      </p:sp>
      <p:sp>
        <p:nvSpPr>
          <p:cNvPr id="59" name="Text 57"/>
          <p:cNvSpPr/>
          <p:nvPr/>
        </p:nvSpPr>
        <p:spPr>
          <a:xfrm>
            <a:off x="7123272" y="427672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44592</a:t>
            </a:r>
            <a:endParaRPr lang="en-US" sz="1500" dirty="0"/>
          </a:p>
        </p:txBody>
      </p:sp>
      <p:sp>
        <p:nvSpPr>
          <p:cNvPr id="60" name="Shape 58"/>
          <p:cNvSpPr/>
          <p:nvPr/>
        </p:nvSpPr>
        <p:spPr>
          <a:xfrm>
            <a:off x="952500" y="4983480"/>
            <a:ext cx="2915841" cy="9525"/>
          </a:xfrm>
          <a:prstGeom prst="rect">
            <a:avLst/>
          </a:prstGeom>
          <a:solidFill>
            <a:srgbClr val="FFFFFF">
              <a:alpha val="6000"/>
            </a:srgbClr>
          </a:solidFill>
          <a:ln/>
        </p:spPr>
      </p:sp>
      <p:sp>
        <p:nvSpPr>
          <p:cNvPr id="61" name="Text 59"/>
          <p:cNvSpPr/>
          <p:nvPr/>
        </p:nvSpPr>
        <p:spPr>
          <a:xfrm>
            <a:off x="1085850" y="467677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frank lee</a:t>
            </a:r>
            <a:endParaRPr lang="en-US" sz="1500" dirty="0"/>
          </a:p>
        </p:txBody>
      </p:sp>
      <p:sp>
        <p:nvSpPr>
          <p:cNvPr id="62" name="Shape 60"/>
          <p:cNvSpPr/>
          <p:nvPr/>
        </p:nvSpPr>
        <p:spPr>
          <a:xfrm>
            <a:off x="3868341" y="4983480"/>
            <a:ext cx="1614726" cy="9525"/>
          </a:xfrm>
          <a:prstGeom prst="rect">
            <a:avLst/>
          </a:prstGeom>
          <a:solidFill>
            <a:srgbClr val="FFFFFF">
              <a:alpha val="6000"/>
            </a:srgbClr>
          </a:solidFill>
          <a:ln/>
        </p:spPr>
      </p:sp>
      <p:sp>
        <p:nvSpPr>
          <p:cNvPr id="63" name="Text 61"/>
          <p:cNvSpPr/>
          <p:nvPr/>
        </p:nvSpPr>
        <p:spPr>
          <a:xfrm>
            <a:off x="4001691" y="467677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62100</a:t>
            </a:r>
            <a:endParaRPr lang="en-US" sz="1500" dirty="0"/>
          </a:p>
        </p:txBody>
      </p:sp>
      <p:sp>
        <p:nvSpPr>
          <p:cNvPr id="64" name="Shape 62"/>
          <p:cNvSpPr/>
          <p:nvPr/>
        </p:nvSpPr>
        <p:spPr>
          <a:xfrm>
            <a:off x="5483066" y="4983480"/>
            <a:ext cx="1506855" cy="9525"/>
          </a:xfrm>
          <a:prstGeom prst="rect">
            <a:avLst/>
          </a:prstGeom>
          <a:solidFill>
            <a:srgbClr val="FFFFFF">
              <a:alpha val="6000"/>
            </a:srgbClr>
          </a:solidFill>
          <a:ln/>
        </p:spPr>
      </p:sp>
      <p:sp>
        <p:nvSpPr>
          <p:cNvPr id="65" name="Text 63"/>
          <p:cNvSpPr/>
          <p:nvPr/>
        </p:nvSpPr>
        <p:spPr>
          <a:xfrm>
            <a:off x="5616416" y="467677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Sales</a:t>
            </a:r>
            <a:endParaRPr lang="en-US" sz="1500" dirty="0"/>
          </a:p>
        </p:txBody>
      </p:sp>
      <p:sp>
        <p:nvSpPr>
          <p:cNvPr id="66" name="Shape 64"/>
          <p:cNvSpPr/>
          <p:nvPr/>
        </p:nvSpPr>
        <p:spPr>
          <a:xfrm>
            <a:off x="6989922" y="4983480"/>
            <a:ext cx="1963579" cy="9525"/>
          </a:xfrm>
          <a:prstGeom prst="rect">
            <a:avLst/>
          </a:prstGeom>
          <a:solidFill>
            <a:srgbClr val="FFFFFF">
              <a:alpha val="6000"/>
            </a:srgbClr>
          </a:solidFill>
          <a:ln/>
        </p:spPr>
      </p:sp>
      <p:sp>
        <p:nvSpPr>
          <p:cNvPr id="67" name="Text 65"/>
          <p:cNvSpPr/>
          <p:nvPr/>
        </p:nvSpPr>
        <p:spPr>
          <a:xfrm>
            <a:off x="7123272" y="467677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44713</a:t>
            </a:r>
            <a:endParaRPr lang="en-US" sz="1500" dirty="0"/>
          </a:p>
        </p:txBody>
      </p:sp>
      <p:sp>
        <p:nvSpPr>
          <p:cNvPr id="68" name="Shape 66"/>
          <p:cNvSpPr/>
          <p:nvPr/>
        </p:nvSpPr>
        <p:spPr>
          <a:xfrm>
            <a:off x="952500" y="5383530"/>
            <a:ext cx="2915841" cy="9525"/>
          </a:xfrm>
          <a:prstGeom prst="rect">
            <a:avLst/>
          </a:prstGeom>
          <a:solidFill>
            <a:srgbClr val="FFFFFF">
              <a:alpha val="6000"/>
            </a:srgbClr>
          </a:solidFill>
          <a:ln/>
        </p:spPr>
      </p:sp>
      <p:sp>
        <p:nvSpPr>
          <p:cNvPr id="69" name="Text 67"/>
          <p:cNvSpPr/>
          <p:nvPr/>
        </p:nvSpPr>
        <p:spPr>
          <a:xfrm>
            <a:off x="1085850" y="507682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Grace Kim</a:t>
            </a:r>
            <a:endParaRPr lang="en-US" sz="1500" dirty="0"/>
          </a:p>
        </p:txBody>
      </p:sp>
      <p:sp>
        <p:nvSpPr>
          <p:cNvPr id="70" name="Shape 68"/>
          <p:cNvSpPr/>
          <p:nvPr/>
        </p:nvSpPr>
        <p:spPr>
          <a:xfrm>
            <a:off x="3868341" y="5383530"/>
            <a:ext cx="1614726" cy="9525"/>
          </a:xfrm>
          <a:prstGeom prst="rect">
            <a:avLst/>
          </a:prstGeom>
          <a:solidFill>
            <a:srgbClr val="FFFFFF">
              <a:alpha val="6000"/>
            </a:srgbClr>
          </a:solidFill>
          <a:ln/>
        </p:spPr>
      </p:sp>
      <p:sp>
        <p:nvSpPr>
          <p:cNvPr id="71" name="Text 69"/>
          <p:cNvSpPr/>
          <p:nvPr/>
        </p:nvSpPr>
        <p:spPr>
          <a:xfrm>
            <a:off x="4001691" y="507682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49800</a:t>
            </a:r>
            <a:endParaRPr lang="en-US" sz="1500" dirty="0"/>
          </a:p>
        </p:txBody>
      </p:sp>
      <p:sp>
        <p:nvSpPr>
          <p:cNvPr id="72" name="Shape 70"/>
          <p:cNvSpPr/>
          <p:nvPr/>
        </p:nvSpPr>
        <p:spPr>
          <a:xfrm>
            <a:off x="5483066" y="5383530"/>
            <a:ext cx="1506855" cy="9525"/>
          </a:xfrm>
          <a:prstGeom prst="rect">
            <a:avLst/>
          </a:prstGeom>
          <a:solidFill>
            <a:srgbClr val="FFFFFF">
              <a:alpha val="6000"/>
            </a:srgbClr>
          </a:solidFill>
          <a:ln/>
        </p:spPr>
      </p:sp>
      <p:sp>
        <p:nvSpPr>
          <p:cNvPr id="73" name="Text 71"/>
          <p:cNvSpPr/>
          <p:nvPr/>
        </p:nvSpPr>
        <p:spPr>
          <a:xfrm>
            <a:off x="5616416" y="507682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hr</a:t>
            </a:r>
            <a:endParaRPr lang="en-US" sz="1500" dirty="0"/>
          </a:p>
        </p:txBody>
      </p:sp>
      <p:sp>
        <p:nvSpPr>
          <p:cNvPr id="74" name="Shape 72"/>
          <p:cNvSpPr/>
          <p:nvPr/>
        </p:nvSpPr>
        <p:spPr>
          <a:xfrm>
            <a:off x="6989922" y="5383530"/>
            <a:ext cx="1963579" cy="9525"/>
          </a:xfrm>
          <a:prstGeom prst="rect">
            <a:avLst/>
          </a:prstGeom>
          <a:solidFill>
            <a:srgbClr val="FFFFFF">
              <a:alpha val="6000"/>
            </a:srgbClr>
          </a:solidFill>
          <a:ln/>
        </p:spPr>
      </p:sp>
      <p:sp>
        <p:nvSpPr>
          <p:cNvPr id="75" name="Text 73"/>
          <p:cNvSpPr/>
          <p:nvPr/>
        </p:nvSpPr>
        <p:spPr>
          <a:xfrm>
            <a:off x="7123272" y="507682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45200</a:t>
            </a:r>
            <a:endParaRPr lang="en-US" sz="1500" dirty="0"/>
          </a:p>
        </p:txBody>
      </p:sp>
      <p:sp>
        <p:nvSpPr>
          <p:cNvPr id="76" name="Shape 74"/>
          <p:cNvSpPr/>
          <p:nvPr/>
        </p:nvSpPr>
        <p:spPr>
          <a:xfrm>
            <a:off x="952500" y="5783580"/>
            <a:ext cx="2915841" cy="9525"/>
          </a:xfrm>
          <a:prstGeom prst="rect">
            <a:avLst/>
          </a:prstGeom>
          <a:solidFill>
            <a:srgbClr val="FFFFFF">
              <a:alpha val="6000"/>
            </a:srgbClr>
          </a:solidFill>
          <a:ln/>
        </p:spPr>
      </p:sp>
      <p:sp>
        <p:nvSpPr>
          <p:cNvPr id="77" name="Text 75"/>
          <p:cNvSpPr/>
          <p:nvPr/>
        </p:nvSpPr>
        <p:spPr>
          <a:xfrm>
            <a:off x="1085850" y="5476875"/>
            <a:ext cx="273661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henry wu</a:t>
            </a:r>
            <a:endParaRPr lang="en-US" sz="1500" dirty="0"/>
          </a:p>
        </p:txBody>
      </p:sp>
      <p:sp>
        <p:nvSpPr>
          <p:cNvPr id="78" name="Shape 76"/>
          <p:cNvSpPr/>
          <p:nvPr/>
        </p:nvSpPr>
        <p:spPr>
          <a:xfrm>
            <a:off x="3868341" y="5783580"/>
            <a:ext cx="1614726" cy="9525"/>
          </a:xfrm>
          <a:prstGeom prst="rect">
            <a:avLst/>
          </a:prstGeom>
          <a:solidFill>
            <a:srgbClr val="FFFFFF">
              <a:alpha val="6000"/>
            </a:srgbClr>
          </a:solidFill>
          <a:ln/>
        </p:spPr>
      </p:sp>
      <p:sp>
        <p:nvSpPr>
          <p:cNvPr id="79" name="Text 77"/>
          <p:cNvSpPr/>
          <p:nvPr/>
        </p:nvSpPr>
        <p:spPr>
          <a:xfrm>
            <a:off x="4001691" y="5476875"/>
            <a:ext cx="1424226"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55400</a:t>
            </a:r>
            <a:endParaRPr lang="en-US" sz="1500" dirty="0"/>
          </a:p>
        </p:txBody>
      </p:sp>
      <p:sp>
        <p:nvSpPr>
          <p:cNvPr id="80" name="Shape 78"/>
          <p:cNvSpPr/>
          <p:nvPr/>
        </p:nvSpPr>
        <p:spPr>
          <a:xfrm>
            <a:off x="5483066" y="5783580"/>
            <a:ext cx="1506855" cy="9525"/>
          </a:xfrm>
          <a:prstGeom prst="rect">
            <a:avLst/>
          </a:prstGeom>
          <a:solidFill>
            <a:srgbClr val="FFFFFF">
              <a:alpha val="6000"/>
            </a:srgbClr>
          </a:solidFill>
          <a:ln/>
        </p:spPr>
      </p:sp>
      <p:sp>
        <p:nvSpPr>
          <p:cNvPr id="81" name="Text 79"/>
          <p:cNvSpPr/>
          <p:nvPr/>
        </p:nvSpPr>
        <p:spPr>
          <a:xfrm>
            <a:off x="5616416" y="5476875"/>
            <a:ext cx="1316355"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mktg</a:t>
            </a:r>
            <a:endParaRPr lang="en-US" sz="1500" dirty="0"/>
          </a:p>
        </p:txBody>
      </p:sp>
      <p:sp>
        <p:nvSpPr>
          <p:cNvPr id="82" name="Shape 80"/>
          <p:cNvSpPr/>
          <p:nvPr/>
        </p:nvSpPr>
        <p:spPr>
          <a:xfrm>
            <a:off x="6989922" y="5783580"/>
            <a:ext cx="1963579" cy="9525"/>
          </a:xfrm>
          <a:prstGeom prst="rect">
            <a:avLst/>
          </a:prstGeom>
          <a:solidFill>
            <a:srgbClr val="FFFFFF">
              <a:alpha val="6000"/>
            </a:srgbClr>
          </a:solidFill>
          <a:ln/>
        </p:spPr>
      </p:sp>
      <p:sp>
        <p:nvSpPr>
          <p:cNvPr id="83" name="Text 81"/>
          <p:cNvSpPr/>
          <p:nvPr/>
        </p:nvSpPr>
        <p:spPr>
          <a:xfrm>
            <a:off x="7123272" y="5476875"/>
            <a:ext cx="1773079"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B0A0A0"/>
                </a:solidFill>
                <a:latin typeface="Arial" pitchFamily="34" charset="0"/>
                <a:ea typeface="Arial" pitchFamily="34" charset="-122"/>
                <a:cs typeface="Arial" pitchFamily="34" charset="-120"/>
              </a:rPr>
              <a:t>44856</a:t>
            </a:r>
            <a:endParaRPr lang="en-US" sz="1500" dirty="0"/>
          </a:p>
        </p:txBody>
      </p:sp>
      <p:sp>
        <p:nvSpPr>
          <p:cNvPr id="84" name="Text 82"/>
          <p:cNvSpPr/>
          <p:nvPr/>
        </p:nvSpPr>
        <p:spPr>
          <a:xfrm>
            <a:off x="952500" y="6023610"/>
            <a:ext cx="8241030" cy="251460"/>
          </a:xfrm>
          <a:prstGeom prst="rect">
            <a:avLst/>
          </a:prstGeom>
          <a:noFill/>
          <a:ln/>
        </p:spPr>
        <p:txBody>
          <a:bodyPr wrap="square" lIns="25400" tIns="25400" rIns="25400" bIns="25400" rtlCol="0" anchor="t">
            <a:normAutofit/>
          </a:bodyPr>
          <a:lstStyle/>
          <a:p>
            <a:pPr algn="l" indent="0" marL="0">
              <a:buNone/>
            </a:pPr>
            <a:r>
              <a:rPr lang="en-US" sz="1425" dirty="0">
                <a:solidFill>
                  <a:srgbClr val="7D8590"/>
                </a:solidFill>
                <a:latin typeface="Arial" pitchFamily="34" charset="0"/>
                <a:ea typeface="Arial" pitchFamily="34" charset="-122"/>
                <a:cs typeface="Arial" pitchFamily="34" charset="-120"/>
              </a:rPr>
              <a:t>Inconsistent case · Raw date serials · No currency · No borders</a:t>
            </a:r>
            <a:endParaRPr lang="en-US" sz="1425" dirty="0"/>
          </a:p>
        </p:txBody>
      </p:sp>
      <p:sp>
        <p:nvSpPr>
          <p:cNvPr id="85" name="Text 83"/>
          <p:cNvSpPr/>
          <p:nvPr/>
        </p:nvSpPr>
        <p:spPr>
          <a:xfrm>
            <a:off x="9334500" y="1718310"/>
            <a:ext cx="8241030" cy="320040"/>
          </a:xfrm>
          <a:prstGeom prst="rect">
            <a:avLst/>
          </a:prstGeom>
          <a:noFill/>
          <a:ln/>
        </p:spPr>
        <p:txBody>
          <a:bodyPr wrap="square" lIns="25400" tIns="25400" rIns="25400" bIns="25400" rtlCol="0" anchor="t">
            <a:normAutofit/>
          </a:bodyPr>
          <a:lstStyle/>
          <a:p>
            <a:pPr algn="l" indent="0" marL="0">
              <a:buNone/>
            </a:pPr>
            <a:r>
              <a:rPr lang="en-US" sz="1650" b="1" spc="83" kern="0" dirty="0">
                <a:solidFill>
                  <a:srgbClr val="34D399"/>
                </a:solidFill>
                <a:latin typeface="Arial" pitchFamily="34" charset="0"/>
                <a:ea typeface="Arial" pitchFamily="34" charset="-122"/>
                <a:cs typeface="Arial" pitchFamily="34" charset="-120"/>
              </a:rPr>
              <a:t>✓ AFTER</a:t>
            </a:r>
            <a:endParaRPr lang="en-US" sz="1650" dirty="0"/>
          </a:p>
        </p:txBody>
      </p:sp>
      <p:sp>
        <p:nvSpPr>
          <p:cNvPr id="86" name="Shape 84"/>
          <p:cNvSpPr/>
          <p:nvPr/>
        </p:nvSpPr>
        <p:spPr>
          <a:xfrm>
            <a:off x="9334500" y="2190750"/>
            <a:ext cx="2214801" cy="403860"/>
          </a:xfrm>
          <a:prstGeom prst="rect">
            <a:avLst/>
          </a:prstGeom>
          <a:solidFill>
            <a:srgbClr val="1F2D25"/>
          </a:solidFill>
          <a:ln/>
        </p:spPr>
      </p:sp>
      <p:sp>
        <p:nvSpPr>
          <p:cNvPr id="87" name="Text 85"/>
          <p:cNvSpPr/>
          <p:nvPr/>
        </p:nvSpPr>
        <p:spPr>
          <a:xfrm>
            <a:off x="9467850" y="2286000"/>
            <a:ext cx="2024301"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34D399"/>
                </a:solidFill>
                <a:latin typeface="Arial" pitchFamily="34" charset="0"/>
                <a:ea typeface="Arial" pitchFamily="34" charset="-122"/>
                <a:cs typeface="Arial" pitchFamily="34" charset="-120"/>
              </a:rPr>
              <a:t>Employee Name</a:t>
            </a:r>
            <a:endParaRPr lang="en-US" sz="1350" dirty="0"/>
          </a:p>
        </p:txBody>
      </p:sp>
      <p:sp>
        <p:nvSpPr>
          <p:cNvPr id="88" name="Shape 86"/>
          <p:cNvSpPr/>
          <p:nvPr/>
        </p:nvSpPr>
        <p:spPr>
          <a:xfrm>
            <a:off x="11549301" y="2190750"/>
            <a:ext cx="1363147" cy="403860"/>
          </a:xfrm>
          <a:prstGeom prst="rect">
            <a:avLst/>
          </a:prstGeom>
          <a:solidFill>
            <a:srgbClr val="1F2D25"/>
          </a:solidFill>
          <a:ln/>
        </p:spPr>
      </p:sp>
      <p:sp>
        <p:nvSpPr>
          <p:cNvPr id="89" name="Text 87"/>
          <p:cNvSpPr/>
          <p:nvPr/>
        </p:nvSpPr>
        <p:spPr>
          <a:xfrm>
            <a:off x="11682651" y="2286000"/>
            <a:ext cx="1172647"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34D399"/>
                </a:solidFill>
                <a:latin typeface="Arial" pitchFamily="34" charset="0"/>
                <a:ea typeface="Arial" pitchFamily="34" charset="-122"/>
                <a:cs typeface="Arial" pitchFamily="34" charset="-120"/>
              </a:rPr>
              <a:t>Salary</a:t>
            </a:r>
            <a:endParaRPr lang="en-US" sz="1350" dirty="0"/>
          </a:p>
        </p:txBody>
      </p:sp>
      <p:sp>
        <p:nvSpPr>
          <p:cNvPr id="90" name="Shape 88"/>
          <p:cNvSpPr/>
          <p:nvPr/>
        </p:nvSpPr>
        <p:spPr>
          <a:xfrm>
            <a:off x="12912448" y="2190750"/>
            <a:ext cx="2514362" cy="403860"/>
          </a:xfrm>
          <a:prstGeom prst="rect">
            <a:avLst/>
          </a:prstGeom>
          <a:solidFill>
            <a:srgbClr val="1F2D25"/>
          </a:solidFill>
          <a:ln/>
        </p:spPr>
      </p:sp>
      <p:sp>
        <p:nvSpPr>
          <p:cNvPr id="91" name="Text 89"/>
          <p:cNvSpPr/>
          <p:nvPr/>
        </p:nvSpPr>
        <p:spPr>
          <a:xfrm>
            <a:off x="13045798" y="2286000"/>
            <a:ext cx="2323862"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34D399"/>
                </a:solidFill>
                <a:latin typeface="Arial" pitchFamily="34" charset="0"/>
                <a:ea typeface="Arial" pitchFamily="34" charset="-122"/>
                <a:cs typeface="Arial" pitchFamily="34" charset="-120"/>
              </a:rPr>
              <a:t>Department</a:t>
            </a:r>
            <a:endParaRPr lang="en-US" sz="1350" dirty="0"/>
          </a:p>
        </p:txBody>
      </p:sp>
      <p:sp>
        <p:nvSpPr>
          <p:cNvPr id="92" name="Shape 90"/>
          <p:cNvSpPr/>
          <p:nvPr/>
        </p:nvSpPr>
        <p:spPr>
          <a:xfrm>
            <a:off x="15426810" y="2190750"/>
            <a:ext cx="1908691" cy="403860"/>
          </a:xfrm>
          <a:prstGeom prst="rect">
            <a:avLst/>
          </a:prstGeom>
          <a:solidFill>
            <a:srgbClr val="1F2D25"/>
          </a:solidFill>
          <a:ln/>
        </p:spPr>
      </p:sp>
      <p:sp>
        <p:nvSpPr>
          <p:cNvPr id="93" name="Text 91"/>
          <p:cNvSpPr/>
          <p:nvPr/>
        </p:nvSpPr>
        <p:spPr>
          <a:xfrm>
            <a:off x="15560160" y="2286000"/>
            <a:ext cx="1718191" cy="251460"/>
          </a:xfrm>
          <a:prstGeom prst="rect">
            <a:avLst/>
          </a:prstGeom>
          <a:noFill/>
          <a:ln/>
        </p:spPr>
        <p:txBody>
          <a:bodyPr wrap="square" lIns="25400" tIns="25400" rIns="25400" bIns="25400" rtlCol="0" anchor="ctr">
            <a:normAutofit/>
          </a:bodyPr>
          <a:lstStyle/>
          <a:p>
            <a:pPr algn="l" indent="0" marL="0">
              <a:buNone/>
            </a:pPr>
            <a:r>
              <a:rPr lang="en-US" sz="1350" b="1" dirty="0">
                <a:solidFill>
                  <a:srgbClr val="34D399"/>
                </a:solidFill>
                <a:latin typeface="Arial" pitchFamily="34" charset="0"/>
                <a:ea typeface="Arial" pitchFamily="34" charset="-122"/>
                <a:cs typeface="Arial" pitchFamily="34" charset="-120"/>
              </a:rPr>
              <a:t>Hire Date</a:t>
            </a:r>
            <a:endParaRPr lang="en-US" sz="1350" dirty="0"/>
          </a:p>
        </p:txBody>
      </p:sp>
      <p:sp>
        <p:nvSpPr>
          <p:cNvPr id="94" name="Shape 92"/>
          <p:cNvSpPr/>
          <p:nvPr/>
        </p:nvSpPr>
        <p:spPr>
          <a:xfrm>
            <a:off x="9334500" y="2594610"/>
            <a:ext cx="2214801" cy="396240"/>
          </a:xfrm>
          <a:prstGeom prst="rect">
            <a:avLst/>
          </a:prstGeom>
          <a:solidFill>
            <a:srgbClr val="34D399">
              <a:alpha val="4000"/>
            </a:srgbClr>
          </a:solidFill>
          <a:ln/>
        </p:spPr>
      </p:sp>
      <p:sp>
        <p:nvSpPr>
          <p:cNvPr id="95" name="Shape 93"/>
          <p:cNvSpPr/>
          <p:nvPr/>
        </p:nvSpPr>
        <p:spPr>
          <a:xfrm>
            <a:off x="9334500" y="2983230"/>
            <a:ext cx="2214801" cy="9525"/>
          </a:xfrm>
          <a:prstGeom prst="rect">
            <a:avLst/>
          </a:prstGeom>
          <a:solidFill>
            <a:srgbClr val="FFFFFF">
              <a:alpha val="6000"/>
            </a:srgbClr>
          </a:solidFill>
          <a:ln/>
        </p:spPr>
      </p:sp>
      <p:sp>
        <p:nvSpPr>
          <p:cNvPr id="96" name="Text 94"/>
          <p:cNvSpPr/>
          <p:nvPr/>
        </p:nvSpPr>
        <p:spPr>
          <a:xfrm>
            <a:off x="9467850" y="2680335"/>
            <a:ext cx="2024301"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Alice Johnson</a:t>
            </a:r>
            <a:endParaRPr lang="en-US" sz="1500" dirty="0"/>
          </a:p>
        </p:txBody>
      </p:sp>
      <p:sp>
        <p:nvSpPr>
          <p:cNvPr id="97" name="Shape 95"/>
          <p:cNvSpPr/>
          <p:nvPr/>
        </p:nvSpPr>
        <p:spPr>
          <a:xfrm>
            <a:off x="11549301" y="2594610"/>
            <a:ext cx="1363147" cy="396240"/>
          </a:xfrm>
          <a:prstGeom prst="rect">
            <a:avLst/>
          </a:prstGeom>
          <a:solidFill>
            <a:srgbClr val="34D399">
              <a:alpha val="4000"/>
            </a:srgbClr>
          </a:solidFill>
          <a:ln/>
        </p:spPr>
      </p:sp>
      <p:sp>
        <p:nvSpPr>
          <p:cNvPr id="98" name="Shape 96"/>
          <p:cNvSpPr/>
          <p:nvPr/>
        </p:nvSpPr>
        <p:spPr>
          <a:xfrm>
            <a:off x="11549301" y="2983230"/>
            <a:ext cx="1363147" cy="9525"/>
          </a:xfrm>
          <a:prstGeom prst="rect">
            <a:avLst/>
          </a:prstGeom>
          <a:solidFill>
            <a:srgbClr val="FFFFFF">
              <a:alpha val="6000"/>
            </a:srgbClr>
          </a:solidFill>
          <a:ln/>
        </p:spPr>
      </p:sp>
      <p:sp>
        <p:nvSpPr>
          <p:cNvPr id="99" name="Text 97"/>
          <p:cNvSpPr/>
          <p:nvPr/>
        </p:nvSpPr>
        <p:spPr>
          <a:xfrm>
            <a:off x="11606451" y="2680335"/>
            <a:ext cx="1172647" cy="25527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$52,000</a:t>
            </a:r>
            <a:endParaRPr lang="en-US" sz="1500" dirty="0"/>
          </a:p>
        </p:txBody>
      </p:sp>
      <p:sp>
        <p:nvSpPr>
          <p:cNvPr id="100" name="Shape 98"/>
          <p:cNvSpPr/>
          <p:nvPr/>
        </p:nvSpPr>
        <p:spPr>
          <a:xfrm>
            <a:off x="12912448" y="2594610"/>
            <a:ext cx="2514362" cy="396240"/>
          </a:xfrm>
          <a:prstGeom prst="rect">
            <a:avLst/>
          </a:prstGeom>
          <a:solidFill>
            <a:srgbClr val="34D399">
              <a:alpha val="4000"/>
            </a:srgbClr>
          </a:solidFill>
          <a:ln/>
        </p:spPr>
      </p:sp>
      <p:sp>
        <p:nvSpPr>
          <p:cNvPr id="101" name="Shape 99"/>
          <p:cNvSpPr/>
          <p:nvPr/>
        </p:nvSpPr>
        <p:spPr>
          <a:xfrm>
            <a:off x="12912448" y="2983230"/>
            <a:ext cx="2514362" cy="9525"/>
          </a:xfrm>
          <a:prstGeom prst="rect">
            <a:avLst/>
          </a:prstGeom>
          <a:solidFill>
            <a:srgbClr val="FFFFFF">
              <a:alpha val="6000"/>
            </a:srgbClr>
          </a:solidFill>
          <a:ln/>
        </p:spPr>
      </p:sp>
      <p:sp>
        <p:nvSpPr>
          <p:cNvPr id="102" name="Text 100"/>
          <p:cNvSpPr/>
          <p:nvPr/>
        </p:nvSpPr>
        <p:spPr>
          <a:xfrm>
            <a:off x="13045798" y="2680335"/>
            <a:ext cx="2323862"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Marketing</a:t>
            </a:r>
            <a:endParaRPr lang="en-US" sz="1500" dirty="0"/>
          </a:p>
        </p:txBody>
      </p:sp>
      <p:sp>
        <p:nvSpPr>
          <p:cNvPr id="103" name="Shape 101"/>
          <p:cNvSpPr/>
          <p:nvPr/>
        </p:nvSpPr>
        <p:spPr>
          <a:xfrm>
            <a:off x="15426810" y="2594610"/>
            <a:ext cx="1908691" cy="396240"/>
          </a:xfrm>
          <a:prstGeom prst="rect">
            <a:avLst/>
          </a:prstGeom>
          <a:solidFill>
            <a:srgbClr val="34D399">
              <a:alpha val="4000"/>
            </a:srgbClr>
          </a:solidFill>
          <a:ln/>
        </p:spPr>
      </p:sp>
      <p:sp>
        <p:nvSpPr>
          <p:cNvPr id="104" name="Shape 102"/>
          <p:cNvSpPr/>
          <p:nvPr/>
        </p:nvSpPr>
        <p:spPr>
          <a:xfrm>
            <a:off x="15426810" y="2983230"/>
            <a:ext cx="1908691" cy="9525"/>
          </a:xfrm>
          <a:prstGeom prst="rect">
            <a:avLst/>
          </a:prstGeom>
          <a:solidFill>
            <a:srgbClr val="FFFFFF">
              <a:alpha val="6000"/>
            </a:srgbClr>
          </a:solidFill>
          <a:ln/>
        </p:spPr>
      </p:sp>
      <p:sp>
        <p:nvSpPr>
          <p:cNvPr id="105" name="Text 103"/>
          <p:cNvSpPr/>
          <p:nvPr/>
        </p:nvSpPr>
        <p:spPr>
          <a:xfrm>
            <a:off x="15560160" y="2680335"/>
            <a:ext cx="1718191" cy="25527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Jan 15, 2022</a:t>
            </a:r>
            <a:endParaRPr lang="en-US" sz="1500" dirty="0"/>
          </a:p>
        </p:txBody>
      </p:sp>
      <p:sp>
        <p:nvSpPr>
          <p:cNvPr id="106" name="Shape 104"/>
          <p:cNvSpPr/>
          <p:nvPr/>
        </p:nvSpPr>
        <p:spPr>
          <a:xfrm>
            <a:off x="9334500" y="3383280"/>
            <a:ext cx="2214801" cy="9525"/>
          </a:xfrm>
          <a:prstGeom prst="rect">
            <a:avLst/>
          </a:prstGeom>
          <a:solidFill>
            <a:srgbClr val="FFFFFF">
              <a:alpha val="6000"/>
            </a:srgbClr>
          </a:solidFill>
          <a:ln/>
        </p:spPr>
      </p:sp>
      <p:sp>
        <p:nvSpPr>
          <p:cNvPr id="107" name="Text 105"/>
          <p:cNvSpPr/>
          <p:nvPr/>
        </p:nvSpPr>
        <p:spPr>
          <a:xfrm>
            <a:off x="9467850" y="307657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Bob Chen</a:t>
            </a:r>
            <a:endParaRPr lang="en-US" sz="1500" dirty="0"/>
          </a:p>
        </p:txBody>
      </p:sp>
      <p:sp>
        <p:nvSpPr>
          <p:cNvPr id="108" name="Shape 106"/>
          <p:cNvSpPr/>
          <p:nvPr/>
        </p:nvSpPr>
        <p:spPr>
          <a:xfrm>
            <a:off x="11549301" y="3383280"/>
            <a:ext cx="1363147" cy="9525"/>
          </a:xfrm>
          <a:prstGeom prst="rect">
            <a:avLst/>
          </a:prstGeom>
          <a:solidFill>
            <a:srgbClr val="FFFFFF">
              <a:alpha val="6000"/>
            </a:srgbClr>
          </a:solidFill>
          <a:ln/>
        </p:spPr>
      </p:sp>
      <p:sp>
        <p:nvSpPr>
          <p:cNvPr id="109" name="Text 107"/>
          <p:cNvSpPr/>
          <p:nvPr/>
        </p:nvSpPr>
        <p:spPr>
          <a:xfrm>
            <a:off x="11606451" y="307657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$68,500</a:t>
            </a:r>
            <a:endParaRPr lang="en-US" sz="1500" dirty="0"/>
          </a:p>
        </p:txBody>
      </p:sp>
      <p:sp>
        <p:nvSpPr>
          <p:cNvPr id="110" name="Shape 108"/>
          <p:cNvSpPr/>
          <p:nvPr/>
        </p:nvSpPr>
        <p:spPr>
          <a:xfrm>
            <a:off x="12912448" y="3383280"/>
            <a:ext cx="2514362" cy="9525"/>
          </a:xfrm>
          <a:prstGeom prst="rect">
            <a:avLst/>
          </a:prstGeom>
          <a:solidFill>
            <a:srgbClr val="FFFFFF">
              <a:alpha val="6000"/>
            </a:srgbClr>
          </a:solidFill>
          <a:ln/>
        </p:spPr>
      </p:sp>
      <p:sp>
        <p:nvSpPr>
          <p:cNvPr id="111" name="Text 109"/>
          <p:cNvSpPr/>
          <p:nvPr/>
        </p:nvSpPr>
        <p:spPr>
          <a:xfrm>
            <a:off x="13045798" y="307657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Sales</a:t>
            </a:r>
            <a:endParaRPr lang="en-US" sz="1500" dirty="0"/>
          </a:p>
        </p:txBody>
      </p:sp>
      <p:sp>
        <p:nvSpPr>
          <p:cNvPr id="112" name="Shape 110"/>
          <p:cNvSpPr/>
          <p:nvPr/>
        </p:nvSpPr>
        <p:spPr>
          <a:xfrm>
            <a:off x="15426810" y="3383280"/>
            <a:ext cx="1908691" cy="9525"/>
          </a:xfrm>
          <a:prstGeom prst="rect">
            <a:avLst/>
          </a:prstGeom>
          <a:solidFill>
            <a:srgbClr val="FFFFFF">
              <a:alpha val="6000"/>
            </a:srgbClr>
          </a:solidFill>
          <a:ln/>
        </p:spPr>
      </p:sp>
      <p:sp>
        <p:nvSpPr>
          <p:cNvPr id="113" name="Text 111"/>
          <p:cNvSpPr/>
          <p:nvPr/>
        </p:nvSpPr>
        <p:spPr>
          <a:xfrm>
            <a:off x="15560160" y="307657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Mar 22, 2021</a:t>
            </a:r>
            <a:endParaRPr lang="en-US" sz="1500" dirty="0"/>
          </a:p>
        </p:txBody>
      </p:sp>
      <p:sp>
        <p:nvSpPr>
          <p:cNvPr id="114" name="Shape 112"/>
          <p:cNvSpPr/>
          <p:nvPr/>
        </p:nvSpPr>
        <p:spPr>
          <a:xfrm>
            <a:off x="9334500" y="3390900"/>
            <a:ext cx="2214801" cy="400050"/>
          </a:xfrm>
          <a:prstGeom prst="rect">
            <a:avLst/>
          </a:prstGeom>
          <a:solidFill>
            <a:srgbClr val="34D399">
              <a:alpha val="4000"/>
            </a:srgbClr>
          </a:solidFill>
          <a:ln/>
        </p:spPr>
      </p:sp>
      <p:sp>
        <p:nvSpPr>
          <p:cNvPr id="115" name="Shape 113"/>
          <p:cNvSpPr/>
          <p:nvPr/>
        </p:nvSpPr>
        <p:spPr>
          <a:xfrm>
            <a:off x="9334500" y="3783330"/>
            <a:ext cx="2214801" cy="9525"/>
          </a:xfrm>
          <a:prstGeom prst="rect">
            <a:avLst/>
          </a:prstGeom>
          <a:solidFill>
            <a:srgbClr val="FFFFFF">
              <a:alpha val="6000"/>
            </a:srgbClr>
          </a:solidFill>
          <a:ln/>
        </p:spPr>
      </p:sp>
      <p:sp>
        <p:nvSpPr>
          <p:cNvPr id="116" name="Text 114"/>
          <p:cNvSpPr/>
          <p:nvPr/>
        </p:nvSpPr>
        <p:spPr>
          <a:xfrm>
            <a:off x="9467850" y="347662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Carol Smith</a:t>
            </a:r>
            <a:endParaRPr lang="en-US" sz="1500" dirty="0"/>
          </a:p>
        </p:txBody>
      </p:sp>
      <p:sp>
        <p:nvSpPr>
          <p:cNvPr id="117" name="Shape 115"/>
          <p:cNvSpPr/>
          <p:nvPr/>
        </p:nvSpPr>
        <p:spPr>
          <a:xfrm>
            <a:off x="11549301" y="3390900"/>
            <a:ext cx="1363147" cy="400050"/>
          </a:xfrm>
          <a:prstGeom prst="rect">
            <a:avLst/>
          </a:prstGeom>
          <a:solidFill>
            <a:srgbClr val="34D399">
              <a:alpha val="4000"/>
            </a:srgbClr>
          </a:solidFill>
          <a:ln/>
        </p:spPr>
      </p:sp>
      <p:sp>
        <p:nvSpPr>
          <p:cNvPr id="118" name="Shape 116"/>
          <p:cNvSpPr/>
          <p:nvPr/>
        </p:nvSpPr>
        <p:spPr>
          <a:xfrm>
            <a:off x="11549301" y="3783330"/>
            <a:ext cx="1363147" cy="9525"/>
          </a:xfrm>
          <a:prstGeom prst="rect">
            <a:avLst/>
          </a:prstGeom>
          <a:solidFill>
            <a:srgbClr val="FFFFFF">
              <a:alpha val="6000"/>
            </a:srgbClr>
          </a:solidFill>
          <a:ln/>
        </p:spPr>
      </p:sp>
      <p:sp>
        <p:nvSpPr>
          <p:cNvPr id="119" name="Text 117"/>
          <p:cNvSpPr/>
          <p:nvPr/>
        </p:nvSpPr>
        <p:spPr>
          <a:xfrm>
            <a:off x="11606451" y="347662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$45,200</a:t>
            </a:r>
            <a:endParaRPr lang="en-US" sz="1500" dirty="0"/>
          </a:p>
        </p:txBody>
      </p:sp>
      <p:sp>
        <p:nvSpPr>
          <p:cNvPr id="120" name="Shape 118"/>
          <p:cNvSpPr/>
          <p:nvPr/>
        </p:nvSpPr>
        <p:spPr>
          <a:xfrm>
            <a:off x="12912448" y="3390900"/>
            <a:ext cx="2514362" cy="400050"/>
          </a:xfrm>
          <a:prstGeom prst="rect">
            <a:avLst/>
          </a:prstGeom>
          <a:solidFill>
            <a:srgbClr val="34D399">
              <a:alpha val="4000"/>
            </a:srgbClr>
          </a:solidFill>
          <a:ln/>
        </p:spPr>
      </p:sp>
      <p:sp>
        <p:nvSpPr>
          <p:cNvPr id="121" name="Shape 119"/>
          <p:cNvSpPr/>
          <p:nvPr/>
        </p:nvSpPr>
        <p:spPr>
          <a:xfrm>
            <a:off x="12912448" y="3783330"/>
            <a:ext cx="2514362" cy="9525"/>
          </a:xfrm>
          <a:prstGeom prst="rect">
            <a:avLst/>
          </a:prstGeom>
          <a:solidFill>
            <a:srgbClr val="FFFFFF">
              <a:alpha val="6000"/>
            </a:srgbClr>
          </a:solidFill>
          <a:ln/>
        </p:spPr>
      </p:sp>
      <p:sp>
        <p:nvSpPr>
          <p:cNvPr id="122" name="Text 120"/>
          <p:cNvSpPr/>
          <p:nvPr/>
        </p:nvSpPr>
        <p:spPr>
          <a:xfrm>
            <a:off x="13045798" y="347662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Human Resources</a:t>
            </a:r>
            <a:endParaRPr lang="en-US" sz="1500" dirty="0"/>
          </a:p>
        </p:txBody>
      </p:sp>
      <p:sp>
        <p:nvSpPr>
          <p:cNvPr id="123" name="Shape 121"/>
          <p:cNvSpPr/>
          <p:nvPr/>
        </p:nvSpPr>
        <p:spPr>
          <a:xfrm>
            <a:off x="15426810" y="3390900"/>
            <a:ext cx="1908691" cy="400050"/>
          </a:xfrm>
          <a:prstGeom prst="rect">
            <a:avLst/>
          </a:prstGeom>
          <a:solidFill>
            <a:srgbClr val="34D399">
              <a:alpha val="4000"/>
            </a:srgbClr>
          </a:solidFill>
          <a:ln/>
        </p:spPr>
      </p:sp>
      <p:sp>
        <p:nvSpPr>
          <p:cNvPr id="124" name="Shape 122"/>
          <p:cNvSpPr/>
          <p:nvPr/>
        </p:nvSpPr>
        <p:spPr>
          <a:xfrm>
            <a:off x="15426810" y="3783330"/>
            <a:ext cx="1908691" cy="9525"/>
          </a:xfrm>
          <a:prstGeom prst="rect">
            <a:avLst/>
          </a:prstGeom>
          <a:solidFill>
            <a:srgbClr val="FFFFFF">
              <a:alpha val="6000"/>
            </a:srgbClr>
          </a:solidFill>
          <a:ln/>
        </p:spPr>
      </p:sp>
      <p:sp>
        <p:nvSpPr>
          <p:cNvPr id="125" name="Text 123"/>
          <p:cNvSpPr/>
          <p:nvPr/>
        </p:nvSpPr>
        <p:spPr>
          <a:xfrm>
            <a:off x="15560160" y="347662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Jul 1, 2023</a:t>
            </a:r>
            <a:endParaRPr lang="en-US" sz="1500" dirty="0"/>
          </a:p>
        </p:txBody>
      </p:sp>
      <p:sp>
        <p:nvSpPr>
          <p:cNvPr id="126" name="Shape 124"/>
          <p:cNvSpPr/>
          <p:nvPr/>
        </p:nvSpPr>
        <p:spPr>
          <a:xfrm>
            <a:off x="9334500" y="4183380"/>
            <a:ext cx="2214801" cy="9525"/>
          </a:xfrm>
          <a:prstGeom prst="rect">
            <a:avLst/>
          </a:prstGeom>
          <a:solidFill>
            <a:srgbClr val="FFFFFF">
              <a:alpha val="6000"/>
            </a:srgbClr>
          </a:solidFill>
          <a:ln/>
        </p:spPr>
      </p:sp>
      <p:sp>
        <p:nvSpPr>
          <p:cNvPr id="127" name="Text 125"/>
          <p:cNvSpPr/>
          <p:nvPr/>
        </p:nvSpPr>
        <p:spPr>
          <a:xfrm>
            <a:off x="9467850" y="387667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David Park</a:t>
            </a:r>
            <a:endParaRPr lang="en-US" sz="1500" dirty="0"/>
          </a:p>
        </p:txBody>
      </p:sp>
      <p:sp>
        <p:nvSpPr>
          <p:cNvPr id="128" name="Shape 126"/>
          <p:cNvSpPr/>
          <p:nvPr/>
        </p:nvSpPr>
        <p:spPr>
          <a:xfrm>
            <a:off x="11549301" y="4183380"/>
            <a:ext cx="1363147" cy="9525"/>
          </a:xfrm>
          <a:prstGeom prst="rect">
            <a:avLst/>
          </a:prstGeom>
          <a:solidFill>
            <a:srgbClr val="FFFFFF">
              <a:alpha val="6000"/>
            </a:srgbClr>
          </a:solidFill>
          <a:ln/>
        </p:spPr>
      </p:sp>
      <p:sp>
        <p:nvSpPr>
          <p:cNvPr id="129" name="Text 127"/>
          <p:cNvSpPr/>
          <p:nvPr/>
        </p:nvSpPr>
        <p:spPr>
          <a:xfrm>
            <a:off x="11606451" y="387667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$71,000</a:t>
            </a:r>
            <a:endParaRPr lang="en-US" sz="1500" dirty="0"/>
          </a:p>
        </p:txBody>
      </p:sp>
      <p:sp>
        <p:nvSpPr>
          <p:cNvPr id="130" name="Shape 128"/>
          <p:cNvSpPr/>
          <p:nvPr/>
        </p:nvSpPr>
        <p:spPr>
          <a:xfrm>
            <a:off x="12912448" y="4183380"/>
            <a:ext cx="2514362" cy="9525"/>
          </a:xfrm>
          <a:prstGeom prst="rect">
            <a:avLst/>
          </a:prstGeom>
          <a:solidFill>
            <a:srgbClr val="FFFFFF">
              <a:alpha val="6000"/>
            </a:srgbClr>
          </a:solidFill>
          <a:ln/>
        </p:spPr>
      </p:sp>
      <p:sp>
        <p:nvSpPr>
          <p:cNvPr id="131" name="Text 129"/>
          <p:cNvSpPr/>
          <p:nvPr/>
        </p:nvSpPr>
        <p:spPr>
          <a:xfrm>
            <a:off x="13045798" y="387667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Sales</a:t>
            </a:r>
            <a:endParaRPr lang="en-US" sz="1500" dirty="0"/>
          </a:p>
        </p:txBody>
      </p:sp>
      <p:sp>
        <p:nvSpPr>
          <p:cNvPr id="132" name="Shape 130"/>
          <p:cNvSpPr/>
          <p:nvPr/>
        </p:nvSpPr>
        <p:spPr>
          <a:xfrm>
            <a:off x="15426810" y="4183380"/>
            <a:ext cx="1908691" cy="9525"/>
          </a:xfrm>
          <a:prstGeom prst="rect">
            <a:avLst/>
          </a:prstGeom>
          <a:solidFill>
            <a:srgbClr val="FFFFFF">
              <a:alpha val="6000"/>
            </a:srgbClr>
          </a:solidFill>
          <a:ln/>
        </p:spPr>
      </p:sp>
      <p:sp>
        <p:nvSpPr>
          <p:cNvPr id="133" name="Text 131"/>
          <p:cNvSpPr/>
          <p:nvPr/>
        </p:nvSpPr>
        <p:spPr>
          <a:xfrm>
            <a:off x="15560160" y="387667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Nov 14, 2020</a:t>
            </a:r>
            <a:endParaRPr lang="en-US" sz="1500" dirty="0"/>
          </a:p>
        </p:txBody>
      </p:sp>
      <p:sp>
        <p:nvSpPr>
          <p:cNvPr id="134" name="Shape 132"/>
          <p:cNvSpPr/>
          <p:nvPr/>
        </p:nvSpPr>
        <p:spPr>
          <a:xfrm>
            <a:off x="9334500" y="4191000"/>
            <a:ext cx="2214801" cy="400050"/>
          </a:xfrm>
          <a:prstGeom prst="rect">
            <a:avLst/>
          </a:prstGeom>
          <a:solidFill>
            <a:srgbClr val="34D399">
              <a:alpha val="4000"/>
            </a:srgbClr>
          </a:solidFill>
          <a:ln/>
        </p:spPr>
      </p:sp>
      <p:sp>
        <p:nvSpPr>
          <p:cNvPr id="135" name="Shape 133"/>
          <p:cNvSpPr/>
          <p:nvPr/>
        </p:nvSpPr>
        <p:spPr>
          <a:xfrm>
            <a:off x="9334500" y="4583430"/>
            <a:ext cx="2214801" cy="9525"/>
          </a:xfrm>
          <a:prstGeom prst="rect">
            <a:avLst/>
          </a:prstGeom>
          <a:solidFill>
            <a:srgbClr val="FFFFFF">
              <a:alpha val="6000"/>
            </a:srgbClr>
          </a:solidFill>
          <a:ln/>
        </p:spPr>
      </p:sp>
      <p:sp>
        <p:nvSpPr>
          <p:cNvPr id="136" name="Text 134"/>
          <p:cNvSpPr/>
          <p:nvPr/>
        </p:nvSpPr>
        <p:spPr>
          <a:xfrm>
            <a:off x="9467850" y="427672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Emma Davis</a:t>
            </a:r>
            <a:endParaRPr lang="en-US" sz="1500" dirty="0"/>
          </a:p>
        </p:txBody>
      </p:sp>
      <p:sp>
        <p:nvSpPr>
          <p:cNvPr id="137" name="Shape 135"/>
          <p:cNvSpPr/>
          <p:nvPr/>
        </p:nvSpPr>
        <p:spPr>
          <a:xfrm>
            <a:off x="11549301" y="4191000"/>
            <a:ext cx="1363147" cy="400050"/>
          </a:xfrm>
          <a:prstGeom prst="rect">
            <a:avLst/>
          </a:prstGeom>
          <a:solidFill>
            <a:srgbClr val="34D399">
              <a:alpha val="4000"/>
            </a:srgbClr>
          </a:solidFill>
          <a:ln/>
        </p:spPr>
      </p:sp>
      <p:sp>
        <p:nvSpPr>
          <p:cNvPr id="138" name="Shape 136"/>
          <p:cNvSpPr/>
          <p:nvPr/>
        </p:nvSpPr>
        <p:spPr>
          <a:xfrm>
            <a:off x="11549301" y="4583430"/>
            <a:ext cx="1363147" cy="9525"/>
          </a:xfrm>
          <a:prstGeom prst="rect">
            <a:avLst/>
          </a:prstGeom>
          <a:solidFill>
            <a:srgbClr val="FFFFFF">
              <a:alpha val="6000"/>
            </a:srgbClr>
          </a:solidFill>
          <a:ln/>
        </p:spPr>
      </p:sp>
      <p:sp>
        <p:nvSpPr>
          <p:cNvPr id="139" name="Text 137"/>
          <p:cNvSpPr/>
          <p:nvPr/>
        </p:nvSpPr>
        <p:spPr>
          <a:xfrm>
            <a:off x="11606451" y="427672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$58,300</a:t>
            </a:r>
            <a:endParaRPr lang="en-US" sz="1500" dirty="0"/>
          </a:p>
        </p:txBody>
      </p:sp>
      <p:sp>
        <p:nvSpPr>
          <p:cNvPr id="140" name="Shape 138"/>
          <p:cNvSpPr/>
          <p:nvPr/>
        </p:nvSpPr>
        <p:spPr>
          <a:xfrm>
            <a:off x="12912448" y="4191000"/>
            <a:ext cx="2514362" cy="400050"/>
          </a:xfrm>
          <a:prstGeom prst="rect">
            <a:avLst/>
          </a:prstGeom>
          <a:solidFill>
            <a:srgbClr val="34D399">
              <a:alpha val="4000"/>
            </a:srgbClr>
          </a:solidFill>
          <a:ln/>
        </p:spPr>
      </p:sp>
      <p:sp>
        <p:nvSpPr>
          <p:cNvPr id="141" name="Shape 139"/>
          <p:cNvSpPr/>
          <p:nvPr/>
        </p:nvSpPr>
        <p:spPr>
          <a:xfrm>
            <a:off x="12912448" y="4583430"/>
            <a:ext cx="2514362" cy="9525"/>
          </a:xfrm>
          <a:prstGeom prst="rect">
            <a:avLst/>
          </a:prstGeom>
          <a:solidFill>
            <a:srgbClr val="FFFFFF">
              <a:alpha val="6000"/>
            </a:srgbClr>
          </a:solidFill>
          <a:ln/>
        </p:spPr>
      </p:sp>
      <p:sp>
        <p:nvSpPr>
          <p:cNvPr id="142" name="Text 140"/>
          <p:cNvSpPr/>
          <p:nvPr/>
        </p:nvSpPr>
        <p:spPr>
          <a:xfrm>
            <a:off x="13045798" y="427672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Marketing</a:t>
            </a:r>
            <a:endParaRPr lang="en-US" sz="1500" dirty="0"/>
          </a:p>
        </p:txBody>
      </p:sp>
      <p:sp>
        <p:nvSpPr>
          <p:cNvPr id="143" name="Shape 141"/>
          <p:cNvSpPr/>
          <p:nvPr/>
        </p:nvSpPr>
        <p:spPr>
          <a:xfrm>
            <a:off x="15426810" y="4191000"/>
            <a:ext cx="1908691" cy="400050"/>
          </a:xfrm>
          <a:prstGeom prst="rect">
            <a:avLst/>
          </a:prstGeom>
          <a:solidFill>
            <a:srgbClr val="34D399">
              <a:alpha val="4000"/>
            </a:srgbClr>
          </a:solidFill>
          <a:ln/>
        </p:spPr>
      </p:sp>
      <p:sp>
        <p:nvSpPr>
          <p:cNvPr id="144" name="Shape 142"/>
          <p:cNvSpPr/>
          <p:nvPr/>
        </p:nvSpPr>
        <p:spPr>
          <a:xfrm>
            <a:off x="15426810" y="4583430"/>
            <a:ext cx="1908691" cy="9525"/>
          </a:xfrm>
          <a:prstGeom prst="rect">
            <a:avLst/>
          </a:prstGeom>
          <a:solidFill>
            <a:srgbClr val="FFFFFF">
              <a:alpha val="6000"/>
            </a:srgbClr>
          </a:solidFill>
          <a:ln/>
        </p:spPr>
      </p:sp>
      <p:sp>
        <p:nvSpPr>
          <p:cNvPr id="145" name="Text 143"/>
          <p:cNvSpPr/>
          <p:nvPr/>
        </p:nvSpPr>
        <p:spPr>
          <a:xfrm>
            <a:off x="15560160" y="427672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Feb 28, 2022</a:t>
            </a:r>
            <a:endParaRPr lang="en-US" sz="1500" dirty="0"/>
          </a:p>
        </p:txBody>
      </p:sp>
      <p:sp>
        <p:nvSpPr>
          <p:cNvPr id="146" name="Shape 144"/>
          <p:cNvSpPr/>
          <p:nvPr/>
        </p:nvSpPr>
        <p:spPr>
          <a:xfrm>
            <a:off x="9334500" y="4983480"/>
            <a:ext cx="2214801" cy="9525"/>
          </a:xfrm>
          <a:prstGeom prst="rect">
            <a:avLst/>
          </a:prstGeom>
          <a:solidFill>
            <a:srgbClr val="FFFFFF">
              <a:alpha val="6000"/>
            </a:srgbClr>
          </a:solidFill>
          <a:ln/>
        </p:spPr>
      </p:sp>
      <p:sp>
        <p:nvSpPr>
          <p:cNvPr id="147" name="Text 145"/>
          <p:cNvSpPr/>
          <p:nvPr/>
        </p:nvSpPr>
        <p:spPr>
          <a:xfrm>
            <a:off x="9467850" y="467677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Frank Lee</a:t>
            </a:r>
            <a:endParaRPr lang="en-US" sz="1500" dirty="0"/>
          </a:p>
        </p:txBody>
      </p:sp>
      <p:sp>
        <p:nvSpPr>
          <p:cNvPr id="148" name="Shape 146"/>
          <p:cNvSpPr/>
          <p:nvPr/>
        </p:nvSpPr>
        <p:spPr>
          <a:xfrm>
            <a:off x="11549301" y="4983480"/>
            <a:ext cx="1363147" cy="9525"/>
          </a:xfrm>
          <a:prstGeom prst="rect">
            <a:avLst/>
          </a:prstGeom>
          <a:solidFill>
            <a:srgbClr val="FFFFFF">
              <a:alpha val="6000"/>
            </a:srgbClr>
          </a:solidFill>
          <a:ln/>
        </p:spPr>
      </p:sp>
      <p:sp>
        <p:nvSpPr>
          <p:cNvPr id="149" name="Text 147"/>
          <p:cNvSpPr/>
          <p:nvPr/>
        </p:nvSpPr>
        <p:spPr>
          <a:xfrm>
            <a:off x="11606451" y="467677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$62,100</a:t>
            </a:r>
            <a:endParaRPr lang="en-US" sz="1500" dirty="0"/>
          </a:p>
        </p:txBody>
      </p:sp>
      <p:sp>
        <p:nvSpPr>
          <p:cNvPr id="150" name="Shape 148"/>
          <p:cNvSpPr/>
          <p:nvPr/>
        </p:nvSpPr>
        <p:spPr>
          <a:xfrm>
            <a:off x="12912448" y="4983480"/>
            <a:ext cx="2514362" cy="9525"/>
          </a:xfrm>
          <a:prstGeom prst="rect">
            <a:avLst/>
          </a:prstGeom>
          <a:solidFill>
            <a:srgbClr val="FFFFFF">
              <a:alpha val="6000"/>
            </a:srgbClr>
          </a:solidFill>
          <a:ln/>
        </p:spPr>
      </p:sp>
      <p:sp>
        <p:nvSpPr>
          <p:cNvPr id="151" name="Text 149"/>
          <p:cNvSpPr/>
          <p:nvPr/>
        </p:nvSpPr>
        <p:spPr>
          <a:xfrm>
            <a:off x="13045798" y="467677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Sales</a:t>
            </a:r>
            <a:endParaRPr lang="en-US" sz="1500" dirty="0"/>
          </a:p>
        </p:txBody>
      </p:sp>
      <p:sp>
        <p:nvSpPr>
          <p:cNvPr id="152" name="Shape 150"/>
          <p:cNvSpPr/>
          <p:nvPr/>
        </p:nvSpPr>
        <p:spPr>
          <a:xfrm>
            <a:off x="15426810" y="4983480"/>
            <a:ext cx="1908691" cy="9525"/>
          </a:xfrm>
          <a:prstGeom prst="rect">
            <a:avLst/>
          </a:prstGeom>
          <a:solidFill>
            <a:srgbClr val="FFFFFF">
              <a:alpha val="6000"/>
            </a:srgbClr>
          </a:solidFill>
          <a:ln/>
        </p:spPr>
      </p:sp>
      <p:sp>
        <p:nvSpPr>
          <p:cNvPr id="153" name="Text 151"/>
          <p:cNvSpPr/>
          <p:nvPr/>
        </p:nvSpPr>
        <p:spPr>
          <a:xfrm>
            <a:off x="15560160" y="467677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Jul 7, 2022</a:t>
            </a:r>
            <a:endParaRPr lang="en-US" sz="1500" dirty="0"/>
          </a:p>
        </p:txBody>
      </p:sp>
      <p:sp>
        <p:nvSpPr>
          <p:cNvPr id="154" name="Shape 152"/>
          <p:cNvSpPr/>
          <p:nvPr/>
        </p:nvSpPr>
        <p:spPr>
          <a:xfrm>
            <a:off x="9334500" y="4991100"/>
            <a:ext cx="2214801" cy="400050"/>
          </a:xfrm>
          <a:prstGeom prst="rect">
            <a:avLst/>
          </a:prstGeom>
          <a:solidFill>
            <a:srgbClr val="34D399">
              <a:alpha val="4000"/>
            </a:srgbClr>
          </a:solidFill>
          <a:ln/>
        </p:spPr>
      </p:sp>
      <p:sp>
        <p:nvSpPr>
          <p:cNvPr id="155" name="Shape 153"/>
          <p:cNvSpPr/>
          <p:nvPr/>
        </p:nvSpPr>
        <p:spPr>
          <a:xfrm>
            <a:off x="9334500" y="5383530"/>
            <a:ext cx="2214801" cy="9525"/>
          </a:xfrm>
          <a:prstGeom prst="rect">
            <a:avLst/>
          </a:prstGeom>
          <a:solidFill>
            <a:srgbClr val="FFFFFF">
              <a:alpha val="6000"/>
            </a:srgbClr>
          </a:solidFill>
          <a:ln/>
        </p:spPr>
      </p:sp>
      <p:sp>
        <p:nvSpPr>
          <p:cNvPr id="156" name="Text 154"/>
          <p:cNvSpPr/>
          <p:nvPr/>
        </p:nvSpPr>
        <p:spPr>
          <a:xfrm>
            <a:off x="9467850" y="507682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Grace Kim</a:t>
            </a:r>
            <a:endParaRPr lang="en-US" sz="1500" dirty="0"/>
          </a:p>
        </p:txBody>
      </p:sp>
      <p:sp>
        <p:nvSpPr>
          <p:cNvPr id="157" name="Shape 155"/>
          <p:cNvSpPr/>
          <p:nvPr/>
        </p:nvSpPr>
        <p:spPr>
          <a:xfrm>
            <a:off x="11549301" y="4991100"/>
            <a:ext cx="1363147" cy="400050"/>
          </a:xfrm>
          <a:prstGeom prst="rect">
            <a:avLst/>
          </a:prstGeom>
          <a:solidFill>
            <a:srgbClr val="34D399">
              <a:alpha val="4000"/>
            </a:srgbClr>
          </a:solidFill>
          <a:ln/>
        </p:spPr>
      </p:sp>
      <p:sp>
        <p:nvSpPr>
          <p:cNvPr id="158" name="Shape 156"/>
          <p:cNvSpPr/>
          <p:nvPr/>
        </p:nvSpPr>
        <p:spPr>
          <a:xfrm>
            <a:off x="11549301" y="5383530"/>
            <a:ext cx="1363147" cy="9525"/>
          </a:xfrm>
          <a:prstGeom prst="rect">
            <a:avLst/>
          </a:prstGeom>
          <a:solidFill>
            <a:srgbClr val="FFFFFF">
              <a:alpha val="6000"/>
            </a:srgbClr>
          </a:solidFill>
          <a:ln/>
        </p:spPr>
      </p:sp>
      <p:sp>
        <p:nvSpPr>
          <p:cNvPr id="159" name="Text 157"/>
          <p:cNvSpPr/>
          <p:nvPr/>
        </p:nvSpPr>
        <p:spPr>
          <a:xfrm>
            <a:off x="11606451" y="507682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$49,800</a:t>
            </a:r>
            <a:endParaRPr lang="en-US" sz="1500" dirty="0"/>
          </a:p>
        </p:txBody>
      </p:sp>
      <p:sp>
        <p:nvSpPr>
          <p:cNvPr id="160" name="Shape 158"/>
          <p:cNvSpPr/>
          <p:nvPr/>
        </p:nvSpPr>
        <p:spPr>
          <a:xfrm>
            <a:off x="12912448" y="4991100"/>
            <a:ext cx="2514362" cy="400050"/>
          </a:xfrm>
          <a:prstGeom prst="rect">
            <a:avLst/>
          </a:prstGeom>
          <a:solidFill>
            <a:srgbClr val="34D399">
              <a:alpha val="4000"/>
            </a:srgbClr>
          </a:solidFill>
          <a:ln/>
        </p:spPr>
      </p:sp>
      <p:sp>
        <p:nvSpPr>
          <p:cNvPr id="161" name="Shape 159"/>
          <p:cNvSpPr/>
          <p:nvPr/>
        </p:nvSpPr>
        <p:spPr>
          <a:xfrm>
            <a:off x="12912448" y="5383530"/>
            <a:ext cx="2514362" cy="9525"/>
          </a:xfrm>
          <a:prstGeom prst="rect">
            <a:avLst/>
          </a:prstGeom>
          <a:solidFill>
            <a:srgbClr val="FFFFFF">
              <a:alpha val="6000"/>
            </a:srgbClr>
          </a:solidFill>
          <a:ln/>
        </p:spPr>
      </p:sp>
      <p:sp>
        <p:nvSpPr>
          <p:cNvPr id="162" name="Text 160"/>
          <p:cNvSpPr/>
          <p:nvPr/>
        </p:nvSpPr>
        <p:spPr>
          <a:xfrm>
            <a:off x="13045798" y="507682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Human Resources</a:t>
            </a:r>
            <a:endParaRPr lang="en-US" sz="1500" dirty="0"/>
          </a:p>
        </p:txBody>
      </p:sp>
      <p:sp>
        <p:nvSpPr>
          <p:cNvPr id="163" name="Shape 161"/>
          <p:cNvSpPr/>
          <p:nvPr/>
        </p:nvSpPr>
        <p:spPr>
          <a:xfrm>
            <a:off x="15426810" y="4991100"/>
            <a:ext cx="1908691" cy="400050"/>
          </a:xfrm>
          <a:prstGeom prst="rect">
            <a:avLst/>
          </a:prstGeom>
          <a:solidFill>
            <a:srgbClr val="34D399">
              <a:alpha val="4000"/>
            </a:srgbClr>
          </a:solidFill>
          <a:ln/>
        </p:spPr>
      </p:sp>
      <p:sp>
        <p:nvSpPr>
          <p:cNvPr id="164" name="Shape 162"/>
          <p:cNvSpPr/>
          <p:nvPr/>
        </p:nvSpPr>
        <p:spPr>
          <a:xfrm>
            <a:off x="15426810" y="5383530"/>
            <a:ext cx="1908691" cy="9525"/>
          </a:xfrm>
          <a:prstGeom prst="rect">
            <a:avLst/>
          </a:prstGeom>
          <a:solidFill>
            <a:srgbClr val="FFFFFF">
              <a:alpha val="6000"/>
            </a:srgbClr>
          </a:solidFill>
          <a:ln/>
        </p:spPr>
      </p:sp>
      <p:sp>
        <p:nvSpPr>
          <p:cNvPr id="165" name="Text 163"/>
          <p:cNvSpPr/>
          <p:nvPr/>
        </p:nvSpPr>
        <p:spPr>
          <a:xfrm>
            <a:off x="15560160" y="507682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Oct 1, 2023</a:t>
            </a:r>
            <a:endParaRPr lang="en-US" sz="1500" dirty="0"/>
          </a:p>
        </p:txBody>
      </p:sp>
      <p:sp>
        <p:nvSpPr>
          <p:cNvPr id="166" name="Shape 164"/>
          <p:cNvSpPr/>
          <p:nvPr/>
        </p:nvSpPr>
        <p:spPr>
          <a:xfrm>
            <a:off x="9334500" y="5783580"/>
            <a:ext cx="2214801" cy="9525"/>
          </a:xfrm>
          <a:prstGeom prst="rect">
            <a:avLst/>
          </a:prstGeom>
          <a:solidFill>
            <a:srgbClr val="FFFFFF">
              <a:alpha val="6000"/>
            </a:srgbClr>
          </a:solidFill>
          <a:ln/>
        </p:spPr>
      </p:sp>
      <p:sp>
        <p:nvSpPr>
          <p:cNvPr id="167" name="Text 165"/>
          <p:cNvSpPr/>
          <p:nvPr/>
        </p:nvSpPr>
        <p:spPr>
          <a:xfrm>
            <a:off x="9467850" y="5476875"/>
            <a:ext cx="202430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Henry Wu</a:t>
            </a:r>
            <a:endParaRPr lang="en-US" sz="1500" dirty="0"/>
          </a:p>
        </p:txBody>
      </p:sp>
      <p:sp>
        <p:nvSpPr>
          <p:cNvPr id="168" name="Shape 166"/>
          <p:cNvSpPr/>
          <p:nvPr/>
        </p:nvSpPr>
        <p:spPr>
          <a:xfrm>
            <a:off x="11549301" y="5783580"/>
            <a:ext cx="1363147" cy="9525"/>
          </a:xfrm>
          <a:prstGeom prst="rect">
            <a:avLst/>
          </a:prstGeom>
          <a:solidFill>
            <a:srgbClr val="FFFFFF">
              <a:alpha val="6000"/>
            </a:srgbClr>
          </a:solidFill>
          <a:ln/>
        </p:spPr>
      </p:sp>
      <p:sp>
        <p:nvSpPr>
          <p:cNvPr id="169" name="Text 167"/>
          <p:cNvSpPr/>
          <p:nvPr/>
        </p:nvSpPr>
        <p:spPr>
          <a:xfrm>
            <a:off x="11606451" y="5476875"/>
            <a:ext cx="1172647" cy="259080"/>
          </a:xfrm>
          <a:prstGeom prst="rect">
            <a:avLst/>
          </a:prstGeom>
          <a:noFill/>
          <a:ln/>
        </p:spPr>
        <p:txBody>
          <a:bodyPr wrap="square" lIns="25400" tIns="25400" rIns="25400" bIns="25400" rtlCol="0" anchor="ctr">
            <a:normAutofit/>
          </a:bodyPr>
          <a:lstStyle/>
          <a:p>
            <a:pPr algn="r" indent="0" marL="0">
              <a:buNone/>
            </a:pPr>
            <a:r>
              <a:rPr lang="en-US" sz="1500" dirty="0">
                <a:solidFill>
                  <a:srgbClr val="34D399"/>
                </a:solidFill>
                <a:latin typeface="monospace" pitchFamily="34" charset="0"/>
                <a:ea typeface="monospace" pitchFamily="34" charset="-122"/>
                <a:cs typeface="monospace" pitchFamily="34" charset="-120"/>
              </a:rPr>
              <a:t>$55,400</a:t>
            </a:r>
            <a:endParaRPr lang="en-US" sz="1500" dirty="0"/>
          </a:p>
        </p:txBody>
      </p:sp>
      <p:sp>
        <p:nvSpPr>
          <p:cNvPr id="170" name="Shape 168"/>
          <p:cNvSpPr/>
          <p:nvPr/>
        </p:nvSpPr>
        <p:spPr>
          <a:xfrm>
            <a:off x="12912448" y="5783580"/>
            <a:ext cx="2514362" cy="9525"/>
          </a:xfrm>
          <a:prstGeom prst="rect">
            <a:avLst/>
          </a:prstGeom>
          <a:solidFill>
            <a:srgbClr val="FFFFFF">
              <a:alpha val="6000"/>
            </a:srgbClr>
          </a:solidFill>
          <a:ln/>
        </p:spPr>
      </p:sp>
      <p:sp>
        <p:nvSpPr>
          <p:cNvPr id="171" name="Text 169"/>
          <p:cNvSpPr/>
          <p:nvPr/>
        </p:nvSpPr>
        <p:spPr>
          <a:xfrm>
            <a:off x="13045798" y="5476875"/>
            <a:ext cx="2323862"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Marketing</a:t>
            </a:r>
            <a:endParaRPr lang="en-US" sz="1500" dirty="0"/>
          </a:p>
        </p:txBody>
      </p:sp>
      <p:sp>
        <p:nvSpPr>
          <p:cNvPr id="172" name="Shape 170"/>
          <p:cNvSpPr/>
          <p:nvPr/>
        </p:nvSpPr>
        <p:spPr>
          <a:xfrm>
            <a:off x="15426810" y="5783580"/>
            <a:ext cx="1908691" cy="9525"/>
          </a:xfrm>
          <a:prstGeom prst="rect">
            <a:avLst/>
          </a:prstGeom>
          <a:solidFill>
            <a:srgbClr val="FFFFFF">
              <a:alpha val="6000"/>
            </a:srgbClr>
          </a:solidFill>
          <a:ln/>
        </p:spPr>
      </p:sp>
      <p:sp>
        <p:nvSpPr>
          <p:cNvPr id="173" name="Text 171"/>
          <p:cNvSpPr/>
          <p:nvPr/>
        </p:nvSpPr>
        <p:spPr>
          <a:xfrm>
            <a:off x="15560160" y="5476875"/>
            <a:ext cx="1718191" cy="259080"/>
          </a:xfrm>
          <a:prstGeom prst="rect">
            <a:avLst/>
          </a:prstGeom>
          <a:noFill/>
          <a:ln/>
        </p:spPr>
        <p:txBody>
          <a:bodyPr wrap="square" lIns="25400" tIns="25400" rIns="25400" bIns="25400" rtlCol="0" anchor="ctr">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Mar 22, 2023</a:t>
            </a:r>
            <a:endParaRPr lang="en-US" sz="1500" dirty="0"/>
          </a:p>
        </p:txBody>
      </p:sp>
      <p:sp>
        <p:nvSpPr>
          <p:cNvPr id="174" name="Text 172"/>
          <p:cNvSpPr/>
          <p:nvPr/>
        </p:nvSpPr>
        <p:spPr>
          <a:xfrm>
            <a:off x="9334500" y="6023610"/>
            <a:ext cx="8241030" cy="251460"/>
          </a:xfrm>
          <a:prstGeom prst="rect">
            <a:avLst/>
          </a:prstGeom>
          <a:noFill/>
          <a:ln/>
        </p:spPr>
        <p:txBody>
          <a:bodyPr wrap="square" lIns="25400" tIns="25400" rIns="25400" bIns="25400" rtlCol="0" anchor="t">
            <a:normAutofit/>
          </a:bodyPr>
          <a:lstStyle/>
          <a:p>
            <a:pPr algn="l" indent="0" marL="0">
              <a:buNone/>
            </a:pPr>
            <a:r>
              <a:rPr lang="en-US" sz="1425" dirty="0">
                <a:solidFill>
                  <a:srgbClr val="7D8590"/>
                </a:solidFill>
                <a:latin typeface="Arial" pitchFamily="34" charset="0"/>
                <a:ea typeface="Arial" pitchFamily="34" charset="-122"/>
                <a:cs typeface="Arial" pitchFamily="34" charset="-120"/>
              </a:rPr>
              <a:t>Consistent names · Currency format · Readable dates · Clean table</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2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solidFill>
          <a:ln/>
        </p:spPr>
      </p:sp>
      <p:sp>
        <p:nvSpPr>
          <p:cNvPr id="5" name="Shape 3"/>
          <p:cNvSpPr/>
          <p:nvPr/>
        </p:nvSpPr>
        <p:spPr>
          <a:xfrm>
            <a:off x="15868650" y="400050"/>
            <a:ext cx="247650" cy="38100"/>
          </a:xfrm>
          <a:prstGeom prst="roundRect">
            <a:avLst>
              <a:gd name="adj" fmla="val 50000"/>
            </a:avLst>
          </a:prstGeom>
          <a:solidFill>
            <a:srgbClr val="1C2430"/>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Essential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Formatting Shortcuts</a:t>
            </a:r>
            <a:endParaRPr lang="en-US" sz="4200" dirty="0"/>
          </a:p>
        </p:txBody>
      </p:sp>
      <p:sp>
        <p:nvSpPr>
          <p:cNvPr id="11" name="Shape 9"/>
          <p:cNvSpPr/>
          <p:nvPr/>
        </p:nvSpPr>
        <p:spPr>
          <a:xfrm>
            <a:off x="952500" y="4288155"/>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2" name="Shape 10"/>
          <p:cNvSpPr/>
          <p:nvPr/>
        </p:nvSpPr>
        <p:spPr>
          <a:xfrm>
            <a:off x="952500" y="4646295"/>
            <a:ext cx="784979" cy="22860"/>
          </a:xfrm>
          <a:prstGeom prst="rect">
            <a:avLst/>
          </a:prstGeom>
          <a:solidFill>
            <a:srgbClr val="000000">
              <a:alpha val="50000"/>
            </a:srgbClr>
          </a:solidFill>
          <a:ln/>
        </p:spPr>
      </p:sp>
      <p:sp>
        <p:nvSpPr>
          <p:cNvPr id="13" name="Shape 11"/>
          <p:cNvSpPr/>
          <p:nvPr/>
        </p:nvSpPr>
        <p:spPr>
          <a:xfrm>
            <a:off x="952500" y="4288155"/>
            <a:ext cx="784979" cy="9525"/>
          </a:xfrm>
          <a:prstGeom prst="rect">
            <a:avLst/>
          </a:prstGeom>
          <a:solidFill>
            <a:srgbClr val="FFFFFF">
              <a:alpha val="18000"/>
            </a:srgbClr>
          </a:solidFill>
          <a:ln/>
        </p:spPr>
      </p:sp>
      <p:sp>
        <p:nvSpPr>
          <p:cNvPr id="14" name="Shape 12"/>
          <p:cNvSpPr/>
          <p:nvPr/>
        </p:nvSpPr>
        <p:spPr>
          <a:xfrm>
            <a:off x="952500" y="4288155"/>
            <a:ext cx="9525" cy="381000"/>
          </a:xfrm>
          <a:prstGeom prst="rect">
            <a:avLst/>
          </a:prstGeom>
          <a:solidFill>
            <a:srgbClr val="FFFFFF">
              <a:alpha val="18000"/>
            </a:srgbClr>
          </a:solidFill>
          <a:ln/>
        </p:spPr>
      </p:sp>
      <p:sp>
        <p:nvSpPr>
          <p:cNvPr id="15" name="Shape 13"/>
          <p:cNvSpPr/>
          <p:nvPr/>
        </p:nvSpPr>
        <p:spPr>
          <a:xfrm>
            <a:off x="1729859" y="4288155"/>
            <a:ext cx="9525" cy="381000"/>
          </a:xfrm>
          <a:prstGeom prst="rect">
            <a:avLst/>
          </a:prstGeom>
          <a:solidFill>
            <a:srgbClr val="FFFFFF">
              <a:alpha val="18000"/>
            </a:srgbClr>
          </a:solidFill>
          <a:ln/>
        </p:spPr>
      </p:sp>
      <p:sp>
        <p:nvSpPr>
          <p:cNvPr id="16" name="Text 14"/>
          <p:cNvSpPr/>
          <p:nvPr/>
        </p:nvSpPr>
        <p:spPr>
          <a:xfrm>
            <a:off x="1055370" y="4352925"/>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17" name="Text 15"/>
          <p:cNvSpPr/>
          <p:nvPr/>
        </p:nvSpPr>
        <p:spPr>
          <a:xfrm>
            <a:off x="1870829" y="4356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18" name="Shape 16"/>
          <p:cNvSpPr/>
          <p:nvPr/>
        </p:nvSpPr>
        <p:spPr>
          <a:xfrm>
            <a:off x="2126575" y="4288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9" name="Shape 17"/>
          <p:cNvSpPr/>
          <p:nvPr/>
        </p:nvSpPr>
        <p:spPr>
          <a:xfrm>
            <a:off x="2126575" y="4646295"/>
            <a:ext cx="407789" cy="22860"/>
          </a:xfrm>
          <a:prstGeom prst="rect">
            <a:avLst/>
          </a:prstGeom>
          <a:solidFill>
            <a:srgbClr val="000000">
              <a:alpha val="50000"/>
            </a:srgbClr>
          </a:solidFill>
          <a:ln/>
        </p:spPr>
      </p:sp>
      <p:sp>
        <p:nvSpPr>
          <p:cNvPr id="20" name="Shape 18"/>
          <p:cNvSpPr/>
          <p:nvPr/>
        </p:nvSpPr>
        <p:spPr>
          <a:xfrm>
            <a:off x="2126575" y="4288155"/>
            <a:ext cx="407789" cy="9525"/>
          </a:xfrm>
          <a:prstGeom prst="rect">
            <a:avLst/>
          </a:prstGeom>
          <a:solidFill>
            <a:srgbClr val="FFFFFF">
              <a:alpha val="18000"/>
            </a:srgbClr>
          </a:solidFill>
          <a:ln/>
        </p:spPr>
      </p:sp>
      <p:sp>
        <p:nvSpPr>
          <p:cNvPr id="21" name="Shape 19"/>
          <p:cNvSpPr/>
          <p:nvPr/>
        </p:nvSpPr>
        <p:spPr>
          <a:xfrm>
            <a:off x="2126575" y="4288155"/>
            <a:ext cx="9525" cy="381000"/>
          </a:xfrm>
          <a:prstGeom prst="rect">
            <a:avLst/>
          </a:prstGeom>
          <a:solidFill>
            <a:srgbClr val="FFFFFF">
              <a:alpha val="18000"/>
            </a:srgbClr>
          </a:solidFill>
          <a:ln/>
        </p:spPr>
      </p:sp>
      <p:sp>
        <p:nvSpPr>
          <p:cNvPr id="22" name="Shape 20"/>
          <p:cNvSpPr/>
          <p:nvPr/>
        </p:nvSpPr>
        <p:spPr>
          <a:xfrm>
            <a:off x="2526744" y="4288155"/>
            <a:ext cx="9525" cy="381000"/>
          </a:xfrm>
          <a:prstGeom prst="rect">
            <a:avLst/>
          </a:prstGeom>
          <a:solidFill>
            <a:srgbClr val="FFFFFF">
              <a:alpha val="18000"/>
            </a:srgbClr>
          </a:solidFill>
          <a:ln/>
        </p:spPr>
      </p:sp>
      <p:sp>
        <p:nvSpPr>
          <p:cNvPr id="23" name="Text 21"/>
          <p:cNvSpPr/>
          <p:nvPr/>
        </p:nvSpPr>
        <p:spPr>
          <a:xfrm>
            <a:off x="2229445" y="4352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B</a:t>
            </a:r>
            <a:endParaRPr lang="en-US" sz="1650" dirty="0"/>
          </a:p>
        </p:txBody>
      </p:sp>
      <p:sp>
        <p:nvSpPr>
          <p:cNvPr id="24" name="Text 22"/>
          <p:cNvSpPr/>
          <p:nvPr/>
        </p:nvSpPr>
        <p:spPr>
          <a:xfrm>
            <a:off x="2667714" y="4318635"/>
            <a:ext cx="21717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Bold</a:t>
            </a:r>
            <a:endParaRPr lang="en-US" sz="1950" dirty="0"/>
          </a:p>
        </p:txBody>
      </p:sp>
      <p:sp>
        <p:nvSpPr>
          <p:cNvPr id="25" name="Text 23"/>
          <p:cNvSpPr/>
          <p:nvPr/>
        </p:nvSpPr>
        <p:spPr>
          <a:xfrm>
            <a:off x="4896564" y="4360545"/>
            <a:ext cx="2222302"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Make headers stand out</a:t>
            </a:r>
            <a:endParaRPr lang="en-US" sz="1575" dirty="0"/>
          </a:p>
        </p:txBody>
      </p:sp>
      <p:sp>
        <p:nvSpPr>
          <p:cNvPr id="26" name="Shape 24"/>
          <p:cNvSpPr/>
          <p:nvPr/>
        </p:nvSpPr>
        <p:spPr>
          <a:xfrm>
            <a:off x="952500" y="4669155"/>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27" name="Shape 25"/>
          <p:cNvSpPr/>
          <p:nvPr/>
        </p:nvSpPr>
        <p:spPr>
          <a:xfrm>
            <a:off x="952500" y="5027295"/>
            <a:ext cx="784979" cy="22860"/>
          </a:xfrm>
          <a:prstGeom prst="rect">
            <a:avLst/>
          </a:prstGeom>
          <a:solidFill>
            <a:srgbClr val="000000">
              <a:alpha val="50000"/>
            </a:srgbClr>
          </a:solidFill>
          <a:ln/>
        </p:spPr>
      </p:sp>
      <p:sp>
        <p:nvSpPr>
          <p:cNvPr id="28" name="Shape 26"/>
          <p:cNvSpPr/>
          <p:nvPr/>
        </p:nvSpPr>
        <p:spPr>
          <a:xfrm>
            <a:off x="952500" y="4669155"/>
            <a:ext cx="784979" cy="9525"/>
          </a:xfrm>
          <a:prstGeom prst="rect">
            <a:avLst/>
          </a:prstGeom>
          <a:solidFill>
            <a:srgbClr val="FFFFFF">
              <a:alpha val="18000"/>
            </a:srgbClr>
          </a:solidFill>
          <a:ln/>
        </p:spPr>
      </p:sp>
      <p:sp>
        <p:nvSpPr>
          <p:cNvPr id="29" name="Shape 27"/>
          <p:cNvSpPr/>
          <p:nvPr/>
        </p:nvSpPr>
        <p:spPr>
          <a:xfrm>
            <a:off x="952500" y="4669155"/>
            <a:ext cx="9525" cy="381000"/>
          </a:xfrm>
          <a:prstGeom prst="rect">
            <a:avLst/>
          </a:prstGeom>
          <a:solidFill>
            <a:srgbClr val="FFFFFF">
              <a:alpha val="18000"/>
            </a:srgbClr>
          </a:solidFill>
          <a:ln/>
        </p:spPr>
      </p:sp>
      <p:sp>
        <p:nvSpPr>
          <p:cNvPr id="30" name="Shape 28"/>
          <p:cNvSpPr/>
          <p:nvPr/>
        </p:nvSpPr>
        <p:spPr>
          <a:xfrm>
            <a:off x="1729859" y="4669155"/>
            <a:ext cx="9525" cy="381000"/>
          </a:xfrm>
          <a:prstGeom prst="rect">
            <a:avLst/>
          </a:prstGeom>
          <a:solidFill>
            <a:srgbClr val="FFFFFF">
              <a:alpha val="18000"/>
            </a:srgbClr>
          </a:solidFill>
          <a:ln/>
        </p:spPr>
      </p:sp>
      <p:sp>
        <p:nvSpPr>
          <p:cNvPr id="31" name="Text 29"/>
          <p:cNvSpPr/>
          <p:nvPr/>
        </p:nvSpPr>
        <p:spPr>
          <a:xfrm>
            <a:off x="1055370" y="4733925"/>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32" name="Text 30"/>
          <p:cNvSpPr/>
          <p:nvPr/>
        </p:nvSpPr>
        <p:spPr>
          <a:xfrm>
            <a:off x="1870829" y="4737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33" name="Shape 31"/>
          <p:cNvSpPr/>
          <p:nvPr/>
        </p:nvSpPr>
        <p:spPr>
          <a:xfrm>
            <a:off x="2126575" y="4669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34" name="Shape 32"/>
          <p:cNvSpPr/>
          <p:nvPr/>
        </p:nvSpPr>
        <p:spPr>
          <a:xfrm>
            <a:off x="2126575" y="5027295"/>
            <a:ext cx="407789" cy="22860"/>
          </a:xfrm>
          <a:prstGeom prst="rect">
            <a:avLst/>
          </a:prstGeom>
          <a:solidFill>
            <a:srgbClr val="000000">
              <a:alpha val="50000"/>
            </a:srgbClr>
          </a:solidFill>
          <a:ln/>
        </p:spPr>
      </p:sp>
      <p:sp>
        <p:nvSpPr>
          <p:cNvPr id="35" name="Shape 33"/>
          <p:cNvSpPr/>
          <p:nvPr/>
        </p:nvSpPr>
        <p:spPr>
          <a:xfrm>
            <a:off x="2126575" y="4669155"/>
            <a:ext cx="407789" cy="9525"/>
          </a:xfrm>
          <a:prstGeom prst="rect">
            <a:avLst/>
          </a:prstGeom>
          <a:solidFill>
            <a:srgbClr val="FFFFFF">
              <a:alpha val="18000"/>
            </a:srgbClr>
          </a:solidFill>
          <a:ln/>
        </p:spPr>
      </p:sp>
      <p:sp>
        <p:nvSpPr>
          <p:cNvPr id="36" name="Shape 34"/>
          <p:cNvSpPr/>
          <p:nvPr/>
        </p:nvSpPr>
        <p:spPr>
          <a:xfrm>
            <a:off x="2126575" y="4669155"/>
            <a:ext cx="9525" cy="381000"/>
          </a:xfrm>
          <a:prstGeom prst="rect">
            <a:avLst/>
          </a:prstGeom>
          <a:solidFill>
            <a:srgbClr val="FFFFFF">
              <a:alpha val="18000"/>
            </a:srgbClr>
          </a:solidFill>
          <a:ln/>
        </p:spPr>
      </p:sp>
      <p:sp>
        <p:nvSpPr>
          <p:cNvPr id="37" name="Shape 35"/>
          <p:cNvSpPr/>
          <p:nvPr/>
        </p:nvSpPr>
        <p:spPr>
          <a:xfrm>
            <a:off x="2526744" y="4669155"/>
            <a:ext cx="9525" cy="381000"/>
          </a:xfrm>
          <a:prstGeom prst="rect">
            <a:avLst/>
          </a:prstGeom>
          <a:solidFill>
            <a:srgbClr val="FFFFFF">
              <a:alpha val="18000"/>
            </a:srgbClr>
          </a:solidFill>
          <a:ln/>
        </p:spPr>
      </p:sp>
      <p:sp>
        <p:nvSpPr>
          <p:cNvPr id="38" name="Text 36"/>
          <p:cNvSpPr/>
          <p:nvPr/>
        </p:nvSpPr>
        <p:spPr>
          <a:xfrm>
            <a:off x="2229445" y="4733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1</a:t>
            </a:r>
            <a:endParaRPr lang="en-US" sz="1650" dirty="0"/>
          </a:p>
        </p:txBody>
      </p:sp>
      <p:sp>
        <p:nvSpPr>
          <p:cNvPr id="39" name="Text 37"/>
          <p:cNvSpPr/>
          <p:nvPr/>
        </p:nvSpPr>
        <p:spPr>
          <a:xfrm>
            <a:off x="2667714" y="4699635"/>
            <a:ext cx="2383512"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Format Cells dialog</a:t>
            </a:r>
            <a:endParaRPr lang="en-US" sz="1950" dirty="0"/>
          </a:p>
        </p:txBody>
      </p:sp>
      <p:sp>
        <p:nvSpPr>
          <p:cNvPr id="40" name="Text 38"/>
          <p:cNvSpPr/>
          <p:nvPr/>
        </p:nvSpPr>
        <p:spPr>
          <a:xfrm>
            <a:off x="5108377" y="4741545"/>
            <a:ext cx="5622663"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One shortcut for everything — number, alignment, borders, fill</a:t>
            </a:r>
            <a:endParaRPr lang="en-US" sz="1575" dirty="0"/>
          </a:p>
        </p:txBody>
      </p:sp>
      <p:sp>
        <p:nvSpPr>
          <p:cNvPr id="41" name="Shape 39"/>
          <p:cNvSpPr/>
          <p:nvPr/>
        </p:nvSpPr>
        <p:spPr>
          <a:xfrm>
            <a:off x="952500" y="5050155"/>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42" name="Shape 40"/>
          <p:cNvSpPr/>
          <p:nvPr/>
        </p:nvSpPr>
        <p:spPr>
          <a:xfrm>
            <a:off x="952500" y="5408295"/>
            <a:ext cx="784979" cy="22860"/>
          </a:xfrm>
          <a:prstGeom prst="rect">
            <a:avLst/>
          </a:prstGeom>
          <a:solidFill>
            <a:srgbClr val="000000">
              <a:alpha val="50000"/>
            </a:srgbClr>
          </a:solidFill>
          <a:ln/>
        </p:spPr>
      </p:sp>
      <p:sp>
        <p:nvSpPr>
          <p:cNvPr id="43" name="Shape 41"/>
          <p:cNvSpPr/>
          <p:nvPr/>
        </p:nvSpPr>
        <p:spPr>
          <a:xfrm>
            <a:off x="952500" y="5050155"/>
            <a:ext cx="784979" cy="9525"/>
          </a:xfrm>
          <a:prstGeom prst="rect">
            <a:avLst/>
          </a:prstGeom>
          <a:solidFill>
            <a:srgbClr val="FFFFFF">
              <a:alpha val="18000"/>
            </a:srgbClr>
          </a:solidFill>
          <a:ln/>
        </p:spPr>
      </p:sp>
      <p:sp>
        <p:nvSpPr>
          <p:cNvPr id="44" name="Shape 42"/>
          <p:cNvSpPr/>
          <p:nvPr/>
        </p:nvSpPr>
        <p:spPr>
          <a:xfrm>
            <a:off x="952500" y="5050155"/>
            <a:ext cx="9525" cy="381000"/>
          </a:xfrm>
          <a:prstGeom prst="rect">
            <a:avLst/>
          </a:prstGeom>
          <a:solidFill>
            <a:srgbClr val="FFFFFF">
              <a:alpha val="18000"/>
            </a:srgbClr>
          </a:solidFill>
          <a:ln/>
        </p:spPr>
      </p:sp>
      <p:sp>
        <p:nvSpPr>
          <p:cNvPr id="45" name="Shape 43"/>
          <p:cNvSpPr/>
          <p:nvPr/>
        </p:nvSpPr>
        <p:spPr>
          <a:xfrm>
            <a:off x="1729859" y="5050155"/>
            <a:ext cx="9525" cy="381000"/>
          </a:xfrm>
          <a:prstGeom prst="rect">
            <a:avLst/>
          </a:prstGeom>
          <a:solidFill>
            <a:srgbClr val="FFFFFF">
              <a:alpha val="18000"/>
            </a:srgbClr>
          </a:solidFill>
          <a:ln/>
        </p:spPr>
      </p:sp>
      <p:sp>
        <p:nvSpPr>
          <p:cNvPr id="46" name="Text 44"/>
          <p:cNvSpPr/>
          <p:nvPr/>
        </p:nvSpPr>
        <p:spPr>
          <a:xfrm>
            <a:off x="1055370" y="5114925"/>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47" name="Text 45"/>
          <p:cNvSpPr/>
          <p:nvPr/>
        </p:nvSpPr>
        <p:spPr>
          <a:xfrm>
            <a:off x="1870829" y="5118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48" name="Shape 46"/>
          <p:cNvSpPr/>
          <p:nvPr/>
        </p:nvSpPr>
        <p:spPr>
          <a:xfrm>
            <a:off x="2126575" y="5050155"/>
            <a:ext cx="91070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49" name="Shape 47"/>
          <p:cNvSpPr/>
          <p:nvPr/>
        </p:nvSpPr>
        <p:spPr>
          <a:xfrm>
            <a:off x="2126575" y="5408295"/>
            <a:ext cx="910709" cy="22860"/>
          </a:xfrm>
          <a:prstGeom prst="rect">
            <a:avLst/>
          </a:prstGeom>
          <a:solidFill>
            <a:srgbClr val="000000">
              <a:alpha val="50000"/>
            </a:srgbClr>
          </a:solidFill>
          <a:ln/>
        </p:spPr>
      </p:sp>
      <p:sp>
        <p:nvSpPr>
          <p:cNvPr id="50" name="Shape 48"/>
          <p:cNvSpPr/>
          <p:nvPr/>
        </p:nvSpPr>
        <p:spPr>
          <a:xfrm>
            <a:off x="2126575" y="5050155"/>
            <a:ext cx="910709" cy="9525"/>
          </a:xfrm>
          <a:prstGeom prst="rect">
            <a:avLst/>
          </a:prstGeom>
          <a:solidFill>
            <a:srgbClr val="FFFFFF">
              <a:alpha val="18000"/>
            </a:srgbClr>
          </a:solidFill>
          <a:ln/>
        </p:spPr>
      </p:sp>
      <p:sp>
        <p:nvSpPr>
          <p:cNvPr id="51" name="Shape 49"/>
          <p:cNvSpPr/>
          <p:nvPr/>
        </p:nvSpPr>
        <p:spPr>
          <a:xfrm>
            <a:off x="2126575" y="5050155"/>
            <a:ext cx="9525" cy="381000"/>
          </a:xfrm>
          <a:prstGeom prst="rect">
            <a:avLst/>
          </a:prstGeom>
          <a:solidFill>
            <a:srgbClr val="FFFFFF">
              <a:alpha val="18000"/>
            </a:srgbClr>
          </a:solidFill>
          <a:ln/>
        </p:spPr>
      </p:sp>
      <p:sp>
        <p:nvSpPr>
          <p:cNvPr id="52" name="Shape 50"/>
          <p:cNvSpPr/>
          <p:nvPr/>
        </p:nvSpPr>
        <p:spPr>
          <a:xfrm>
            <a:off x="3029664" y="5050155"/>
            <a:ext cx="9525" cy="381000"/>
          </a:xfrm>
          <a:prstGeom prst="rect">
            <a:avLst/>
          </a:prstGeom>
          <a:solidFill>
            <a:srgbClr val="FFFFFF">
              <a:alpha val="18000"/>
            </a:srgbClr>
          </a:solidFill>
          <a:ln/>
        </p:spPr>
      </p:sp>
      <p:sp>
        <p:nvSpPr>
          <p:cNvPr id="53" name="Text 51"/>
          <p:cNvSpPr/>
          <p:nvPr/>
        </p:nvSpPr>
        <p:spPr>
          <a:xfrm>
            <a:off x="2229445" y="5114925"/>
            <a:ext cx="70496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Shift</a:t>
            </a:r>
            <a:endParaRPr lang="en-US" sz="1650" dirty="0"/>
          </a:p>
        </p:txBody>
      </p:sp>
      <p:sp>
        <p:nvSpPr>
          <p:cNvPr id="54" name="Text 52"/>
          <p:cNvSpPr/>
          <p:nvPr/>
        </p:nvSpPr>
        <p:spPr>
          <a:xfrm>
            <a:off x="3170634" y="5118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55" name="Shape 53"/>
          <p:cNvSpPr/>
          <p:nvPr/>
        </p:nvSpPr>
        <p:spPr>
          <a:xfrm>
            <a:off x="3426381" y="5050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56" name="Shape 54"/>
          <p:cNvSpPr/>
          <p:nvPr/>
        </p:nvSpPr>
        <p:spPr>
          <a:xfrm>
            <a:off x="3426381" y="5408295"/>
            <a:ext cx="407789" cy="22860"/>
          </a:xfrm>
          <a:prstGeom prst="rect">
            <a:avLst/>
          </a:prstGeom>
          <a:solidFill>
            <a:srgbClr val="000000">
              <a:alpha val="50000"/>
            </a:srgbClr>
          </a:solidFill>
          <a:ln/>
        </p:spPr>
      </p:sp>
      <p:sp>
        <p:nvSpPr>
          <p:cNvPr id="57" name="Shape 55"/>
          <p:cNvSpPr/>
          <p:nvPr/>
        </p:nvSpPr>
        <p:spPr>
          <a:xfrm>
            <a:off x="3426381" y="5050155"/>
            <a:ext cx="407789" cy="9525"/>
          </a:xfrm>
          <a:prstGeom prst="rect">
            <a:avLst/>
          </a:prstGeom>
          <a:solidFill>
            <a:srgbClr val="FFFFFF">
              <a:alpha val="18000"/>
            </a:srgbClr>
          </a:solidFill>
          <a:ln/>
        </p:spPr>
      </p:sp>
      <p:sp>
        <p:nvSpPr>
          <p:cNvPr id="58" name="Shape 56"/>
          <p:cNvSpPr/>
          <p:nvPr/>
        </p:nvSpPr>
        <p:spPr>
          <a:xfrm>
            <a:off x="3426381" y="5050155"/>
            <a:ext cx="9525" cy="381000"/>
          </a:xfrm>
          <a:prstGeom prst="rect">
            <a:avLst/>
          </a:prstGeom>
          <a:solidFill>
            <a:srgbClr val="FFFFFF">
              <a:alpha val="18000"/>
            </a:srgbClr>
          </a:solidFill>
          <a:ln/>
        </p:spPr>
      </p:sp>
      <p:sp>
        <p:nvSpPr>
          <p:cNvPr id="59" name="Shape 57"/>
          <p:cNvSpPr/>
          <p:nvPr/>
        </p:nvSpPr>
        <p:spPr>
          <a:xfrm>
            <a:off x="3826550" y="5050155"/>
            <a:ext cx="9525" cy="381000"/>
          </a:xfrm>
          <a:prstGeom prst="rect">
            <a:avLst/>
          </a:prstGeom>
          <a:solidFill>
            <a:srgbClr val="FFFFFF">
              <a:alpha val="18000"/>
            </a:srgbClr>
          </a:solidFill>
          <a:ln/>
        </p:spPr>
      </p:sp>
      <p:sp>
        <p:nvSpPr>
          <p:cNvPr id="60" name="Text 58"/>
          <p:cNvSpPr/>
          <p:nvPr/>
        </p:nvSpPr>
        <p:spPr>
          <a:xfrm>
            <a:off x="3529251" y="5114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a:t>
            </a:r>
            <a:endParaRPr lang="en-US" sz="1650" dirty="0"/>
          </a:p>
        </p:txBody>
      </p:sp>
      <p:sp>
        <p:nvSpPr>
          <p:cNvPr id="61" name="Text 59"/>
          <p:cNvSpPr/>
          <p:nvPr/>
        </p:nvSpPr>
        <p:spPr>
          <a:xfrm>
            <a:off x="3967520" y="5080635"/>
            <a:ext cx="21717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Currency format</a:t>
            </a:r>
            <a:endParaRPr lang="en-US" sz="1950" dirty="0"/>
          </a:p>
        </p:txBody>
      </p:sp>
      <p:sp>
        <p:nvSpPr>
          <p:cNvPr id="62" name="Text 60"/>
          <p:cNvSpPr/>
          <p:nvPr/>
        </p:nvSpPr>
        <p:spPr>
          <a:xfrm>
            <a:off x="6196370" y="5122545"/>
            <a:ext cx="1077397"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$52,000.00</a:t>
            </a:r>
            <a:endParaRPr lang="en-US" sz="1575" dirty="0"/>
          </a:p>
        </p:txBody>
      </p:sp>
      <p:sp>
        <p:nvSpPr>
          <p:cNvPr id="63" name="Shape 61"/>
          <p:cNvSpPr/>
          <p:nvPr/>
        </p:nvSpPr>
        <p:spPr>
          <a:xfrm>
            <a:off x="952500" y="5431155"/>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64" name="Shape 62"/>
          <p:cNvSpPr/>
          <p:nvPr/>
        </p:nvSpPr>
        <p:spPr>
          <a:xfrm>
            <a:off x="952500" y="5789295"/>
            <a:ext cx="784979" cy="22860"/>
          </a:xfrm>
          <a:prstGeom prst="rect">
            <a:avLst/>
          </a:prstGeom>
          <a:solidFill>
            <a:srgbClr val="000000">
              <a:alpha val="50000"/>
            </a:srgbClr>
          </a:solidFill>
          <a:ln/>
        </p:spPr>
      </p:sp>
      <p:sp>
        <p:nvSpPr>
          <p:cNvPr id="65" name="Shape 63"/>
          <p:cNvSpPr/>
          <p:nvPr/>
        </p:nvSpPr>
        <p:spPr>
          <a:xfrm>
            <a:off x="952500" y="5431155"/>
            <a:ext cx="784979" cy="9525"/>
          </a:xfrm>
          <a:prstGeom prst="rect">
            <a:avLst/>
          </a:prstGeom>
          <a:solidFill>
            <a:srgbClr val="FFFFFF">
              <a:alpha val="18000"/>
            </a:srgbClr>
          </a:solidFill>
          <a:ln/>
        </p:spPr>
      </p:sp>
      <p:sp>
        <p:nvSpPr>
          <p:cNvPr id="66" name="Shape 64"/>
          <p:cNvSpPr/>
          <p:nvPr/>
        </p:nvSpPr>
        <p:spPr>
          <a:xfrm>
            <a:off x="952500" y="5431155"/>
            <a:ext cx="9525" cy="381000"/>
          </a:xfrm>
          <a:prstGeom prst="rect">
            <a:avLst/>
          </a:prstGeom>
          <a:solidFill>
            <a:srgbClr val="FFFFFF">
              <a:alpha val="18000"/>
            </a:srgbClr>
          </a:solidFill>
          <a:ln/>
        </p:spPr>
      </p:sp>
      <p:sp>
        <p:nvSpPr>
          <p:cNvPr id="67" name="Shape 65"/>
          <p:cNvSpPr/>
          <p:nvPr/>
        </p:nvSpPr>
        <p:spPr>
          <a:xfrm>
            <a:off x="1729859" y="5431155"/>
            <a:ext cx="9525" cy="381000"/>
          </a:xfrm>
          <a:prstGeom prst="rect">
            <a:avLst/>
          </a:prstGeom>
          <a:solidFill>
            <a:srgbClr val="FFFFFF">
              <a:alpha val="18000"/>
            </a:srgbClr>
          </a:solidFill>
          <a:ln/>
        </p:spPr>
      </p:sp>
      <p:sp>
        <p:nvSpPr>
          <p:cNvPr id="68" name="Text 66"/>
          <p:cNvSpPr/>
          <p:nvPr/>
        </p:nvSpPr>
        <p:spPr>
          <a:xfrm>
            <a:off x="1055370" y="5495925"/>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69" name="Text 67"/>
          <p:cNvSpPr/>
          <p:nvPr/>
        </p:nvSpPr>
        <p:spPr>
          <a:xfrm>
            <a:off x="1870829" y="5499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70" name="Shape 68"/>
          <p:cNvSpPr/>
          <p:nvPr/>
        </p:nvSpPr>
        <p:spPr>
          <a:xfrm>
            <a:off x="2126575" y="5431155"/>
            <a:ext cx="91070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71" name="Shape 69"/>
          <p:cNvSpPr/>
          <p:nvPr/>
        </p:nvSpPr>
        <p:spPr>
          <a:xfrm>
            <a:off x="2126575" y="5789295"/>
            <a:ext cx="910709" cy="22860"/>
          </a:xfrm>
          <a:prstGeom prst="rect">
            <a:avLst/>
          </a:prstGeom>
          <a:solidFill>
            <a:srgbClr val="000000">
              <a:alpha val="50000"/>
            </a:srgbClr>
          </a:solidFill>
          <a:ln/>
        </p:spPr>
      </p:sp>
      <p:sp>
        <p:nvSpPr>
          <p:cNvPr id="72" name="Shape 70"/>
          <p:cNvSpPr/>
          <p:nvPr/>
        </p:nvSpPr>
        <p:spPr>
          <a:xfrm>
            <a:off x="2126575" y="5431155"/>
            <a:ext cx="910709" cy="9525"/>
          </a:xfrm>
          <a:prstGeom prst="rect">
            <a:avLst/>
          </a:prstGeom>
          <a:solidFill>
            <a:srgbClr val="FFFFFF">
              <a:alpha val="18000"/>
            </a:srgbClr>
          </a:solidFill>
          <a:ln/>
        </p:spPr>
      </p:sp>
      <p:sp>
        <p:nvSpPr>
          <p:cNvPr id="73" name="Shape 71"/>
          <p:cNvSpPr/>
          <p:nvPr/>
        </p:nvSpPr>
        <p:spPr>
          <a:xfrm>
            <a:off x="2126575" y="5431155"/>
            <a:ext cx="9525" cy="381000"/>
          </a:xfrm>
          <a:prstGeom prst="rect">
            <a:avLst/>
          </a:prstGeom>
          <a:solidFill>
            <a:srgbClr val="FFFFFF">
              <a:alpha val="18000"/>
            </a:srgbClr>
          </a:solidFill>
          <a:ln/>
        </p:spPr>
      </p:sp>
      <p:sp>
        <p:nvSpPr>
          <p:cNvPr id="74" name="Shape 72"/>
          <p:cNvSpPr/>
          <p:nvPr/>
        </p:nvSpPr>
        <p:spPr>
          <a:xfrm>
            <a:off x="3029664" y="5431155"/>
            <a:ext cx="9525" cy="381000"/>
          </a:xfrm>
          <a:prstGeom prst="rect">
            <a:avLst/>
          </a:prstGeom>
          <a:solidFill>
            <a:srgbClr val="FFFFFF">
              <a:alpha val="18000"/>
            </a:srgbClr>
          </a:solidFill>
          <a:ln/>
        </p:spPr>
      </p:sp>
      <p:sp>
        <p:nvSpPr>
          <p:cNvPr id="75" name="Text 73"/>
          <p:cNvSpPr/>
          <p:nvPr/>
        </p:nvSpPr>
        <p:spPr>
          <a:xfrm>
            <a:off x="2229445" y="5495925"/>
            <a:ext cx="70496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Shift</a:t>
            </a:r>
            <a:endParaRPr lang="en-US" sz="1650" dirty="0"/>
          </a:p>
        </p:txBody>
      </p:sp>
      <p:sp>
        <p:nvSpPr>
          <p:cNvPr id="76" name="Text 74"/>
          <p:cNvSpPr/>
          <p:nvPr/>
        </p:nvSpPr>
        <p:spPr>
          <a:xfrm>
            <a:off x="3170634" y="5499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77" name="Shape 75"/>
          <p:cNvSpPr/>
          <p:nvPr/>
        </p:nvSpPr>
        <p:spPr>
          <a:xfrm>
            <a:off x="3426381" y="5431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78" name="Shape 76"/>
          <p:cNvSpPr/>
          <p:nvPr/>
        </p:nvSpPr>
        <p:spPr>
          <a:xfrm>
            <a:off x="3426381" y="5789295"/>
            <a:ext cx="407789" cy="22860"/>
          </a:xfrm>
          <a:prstGeom prst="rect">
            <a:avLst/>
          </a:prstGeom>
          <a:solidFill>
            <a:srgbClr val="000000">
              <a:alpha val="50000"/>
            </a:srgbClr>
          </a:solidFill>
          <a:ln/>
        </p:spPr>
      </p:sp>
      <p:sp>
        <p:nvSpPr>
          <p:cNvPr id="79" name="Shape 77"/>
          <p:cNvSpPr/>
          <p:nvPr/>
        </p:nvSpPr>
        <p:spPr>
          <a:xfrm>
            <a:off x="3426381" y="5431155"/>
            <a:ext cx="407789" cy="9525"/>
          </a:xfrm>
          <a:prstGeom prst="rect">
            <a:avLst/>
          </a:prstGeom>
          <a:solidFill>
            <a:srgbClr val="FFFFFF">
              <a:alpha val="18000"/>
            </a:srgbClr>
          </a:solidFill>
          <a:ln/>
        </p:spPr>
      </p:sp>
      <p:sp>
        <p:nvSpPr>
          <p:cNvPr id="80" name="Shape 78"/>
          <p:cNvSpPr/>
          <p:nvPr/>
        </p:nvSpPr>
        <p:spPr>
          <a:xfrm>
            <a:off x="3426381" y="5431155"/>
            <a:ext cx="9525" cy="381000"/>
          </a:xfrm>
          <a:prstGeom prst="rect">
            <a:avLst/>
          </a:prstGeom>
          <a:solidFill>
            <a:srgbClr val="FFFFFF">
              <a:alpha val="18000"/>
            </a:srgbClr>
          </a:solidFill>
          <a:ln/>
        </p:spPr>
      </p:sp>
      <p:sp>
        <p:nvSpPr>
          <p:cNvPr id="81" name="Shape 79"/>
          <p:cNvSpPr/>
          <p:nvPr/>
        </p:nvSpPr>
        <p:spPr>
          <a:xfrm>
            <a:off x="3826550" y="5431155"/>
            <a:ext cx="9525" cy="381000"/>
          </a:xfrm>
          <a:prstGeom prst="rect">
            <a:avLst/>
          </a:prstGeom>
          <a:solidFill>
            <a:srgbClr val="FFFFFF">
              <a:alpha val="18000"/>
            </a:srgbClr>
          </a:solidFill>
          <a:ln/>
        </p:spPr>
      </p:sp>
      <p:sp>
        <p:nvSpPr>
          <p:cNvPr id="82" name="Text 80"/>
          <p:cNvSpPr/>
          <p:nvPr/>
        </p:nvSpPr>
        <p:spPr>
          <a:xfrm>
            <a:off x="3529251" y="5495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a:t>
            </a:r>
            <a:endParaRPr lang="en-US" sz="1650" dirty="0"/>
          </a:p>
        </p:txBody>
      </p:sp>
      <p:sp>
        <p:nvSpPr>
          <p:cNvPr id="83" name="Text 81"/>
          <p:cNvSpPr/>
          <p:nvPr/>
        </p:nvSpPr>
        <p:spPr>
          <a:xfrm>
            <a:off x="3967520" y="5461635"/>
            <a:ext cx="2350532"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Percentage format</a:t>
            </a:r>
            <a:endParaRPr lang="en-US" sz="1950" dirty="0"/>
          </a:p>
        </p:txBody>
      </p:sp>
      <p:sp>
        <p:nvSpPr>
          <p:cNvPr id="84" name="Text 82"/>
          <p:cNvSpPr/>
          <p:nvPr/>
        </p:nvSpPr>
        <p:spPr>
          <a:xfrm>
            <a:off x="6375202" y="5503545"/>
            <a:ext cx="1177052"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0.52 → 52%</a:t>
            </a:r>
            <a:endParaRPr lang="en-US" sz="1575" dirty="0"/>
          </a:p>
        </p:txBody>
      </p:sp>
      <p:sp>
        <p:nvSpPr>
          <p:cNvPr id="85" name="Shape 83"/>
          <p:cNvSpPr/>
          <p:nvPr/>
        </p:nvSpPr>
        <p:spPr>
          <a:xfrm>
            <a:off x="952500" y="5812155"/>
            <a:ext cx="65924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86" name="Shape 84"/>
          <p:cNvSpPr/>
          <p:nvPr/>
        </p:nvSpPr>
        <p:spPr>
          <a:xfrm>
            <a:off x="952500" y="6170295"/>
            <a:ext cx="659249" cy="22860"/>
          </a:xfrm>
          <a:prstGeom prst="rect">
            <a:avLst/>
          </a:prstGeom>
          <a:solidFill>
            <a:srgbClr val="000000">
              <a:alpha val="50000"/>
            </a:srgbClr>
          </a:solidFill>
          <a:ln/>
        </p:spPr>
      </p:sp>
      <p:sp>
        <p:nvSpPr>
          <p:cNvPr id="87" name="Shape 85"/>
          <p:cNvSpPr/>
          <p:nvPr/>
        </p:nvSpPr>
        <p:spPr>
          <a:xfrm>
            <a:off x="952500" y="5812155"/>
            <a:ext cx="659249" cy="9525"/>
          </a:xfrm>
          <a:prstGeom prst="rect">
            <a:avLst/>
          </a:prstGeom>
          <a:solidFill>
            <a:srgbClr val="FFFFFF">
              <a:alpha val="18000"/>
            </a:srgbClr>
          </a:solidFill>
          <a:ln/>
        </p:spPr>
      </p:sp>
      <p:sp>
        <p:nvSpPr>
          <p:cNvPr id="88" name="Shape 86"/>
          <p:cNvSpPr/>
          <p:nvPr/>
        </p:nvSpPr>
        <p:spPr>
          <a:xfrm>
            <a:off x="952500" y="5812155"/>
            <a:ext cx="9525" cy="381000"/>
          </a:xfrm>
          <a:prstGeom prst="rect">
            <a:avLst/>
          </a:prstGeom>
          <a:solidFill>
            <a:srgbClr val="FFFFFF">
              <a:alpha val="18000"/>
            </a:srgbClr>
          </a:solidFill>
          <a:ln/>
        </p:spPr>
      </p:sp>
      <p:sp>
        <p:nvSpPr>
          <p:cNvPr id="89" name="Shape 87"/>
          <p:cNvSpPr/>
          <p:nvPr/>
        </p:nvSpPr>
        <p:spPr>
          <a:xfrm>
            <a:off x="1604129" y="5812155"/>
            <a:ext cx="9525" cy="381000"/>
          </a:xfrm>
          <a:prstGeom prst="rect">
            <a:avLst/>
          </a:prstGeom>
          <a:solidFill>
            <a:srgbClr val="FFFFFF">
              <a:alpha val="18000"/>
            </a:srgbClr>
          </a:solidFill>
          <a:ln/>
        </p:spPr>
      </p:sp>
      <p:sp>
        <p:nvSpPr>
          <p:cNvPr id="90" name="Text 88"/>
          <p:cNvSpPr/>
          <p:nvPr/>
        </p:nvSpPr>
        <p:spPr>
          <a:xfrm>
            <a:off x="1055370" y="5876925"/>
            <a:ext cx="45350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Alt</a:t>
            </a:r>
            <a:endParaRPr lang="en-US" sz="1650" dirty="0"/>
          </a:p>
        </p:txBody>
      </p:sp>
      <p:sp>
        <p:nvSpPr>
          <p:cNvPr id="91" name="Text 89"/>
          <p:cNvSpPr/>
          <p:nvPr/>
        </p:nvSpPr>
        <p:spPr>
          <a:xfrm>
            <a:off x="1745099" y="5880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92" name="Shape 90"/>
          <p:cNvSpPr/>
          <p:nvPr/>
        </p:nvSpPr>
        <p:spPr>
          <a:xfrm>
            <a:off x="2000845" y="5812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93" name="Shape 91"/>
          <p:cNvSpPr/>
          <p:nvPr/>
        </p:nvSpPr>
        <p:spPr>
          <a:xfrm>
            <a:off x="2000845" y="6170295"/>
            <a:ext cx="407789" cy="22860"/>
          </a:xfrm>
          <a:prstGeom prst="rect">
            <a:avLst/>
          </a:prstGeom>
          <a:solidFill>
            <a:srgbClr val="000000">
              <a:alpha val="50000"/>
            </a:srgbClr>
          </a:solidFill>
          <a:ln/>
        </p:spPr>
      </p:sp>
      <p:sp>
        <p:nvSpPr>
          <p:cNvPr id="94" name="Shape 92"/>
          <p:cNvSpPr/>
          <p:nvPr/>
        </p:nvSpPr>
        <p:spPr>
          <a:xfrm>
            <a:off x="2000845" y="5812155"/>
            <a:ext cx="407789" cy="9525"/>
          </a:xfrm>
          <a:prstGeom prst="rect">
            <a:avLst/>
          </a:prstGeom>
          <a:solidFill>
            <a:srgbClr val="FFFFFF">
              <a:alpha val="18000"/>
            </a:srgbClr>
          </a:solidFill>
          <a:ln/>
        </p:spPr>
      </p:sp>
      <p:sp>
        <p:nvSpPr>
          <p:cNvPr id="95" name="Shape 93"/>
          <p:cNvSpPr/>
          <p:nvPr/>
        </p:nvSpPr>
        <p:spPr>
          <a:xfrm>
            <a:off x="2000845" y="5812155"/>
            <a:ext cx="9525" cy="381000"/>
          </a:xfrm>
          <a:prstGeom prst="rect">
            <a:avLst/>
          </a:prstGeom>
          <a:solidFill>
            <a:srgbClr val="FFFFFF">
              <a:alpha val="18000"/>
            </a:srgbClr>
          </a:solidFill>
          <a:ln/>
        </p:spPr>
      </p:sp>
      <p:sp>
        <p:nvSpPr>
          <p:cNvPr id="96" name="Shape 94"/>
          <p:cNvSpPr/>
          <p:nvPr/>
        </p:nvSpPr>
        <p:spPr>
          <a:xfrm>
            <a:off x="2401014" y="5812155"/>
            <a:ext cx="9525" cy="381000"/>
          </a:xfrm>
          <a:prstGeom prst="rect">
            <a:avLst/>
          </a:prstGeom>
          <a:solidFill>
            <a:srgbClr val="FFFFFF">
              <a:alpha val="18000"/>
            </a:srgbClr>
          </a:solidFill>
          <a:ln/>
        </p:spPr>
      </p:sp>
      <p:sp>
        <p:nvSpPr>
          <p:cNvPr id="97" name="Text 95"/>
          <p:cNvSpPr/>
          <p:nvPr/>
        </p:nvSpPr>
        <p:spPr>
          <a:xfrm>
            <a:off x="2103715" y="5876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H</a:t>
            </a:r>
            <a:endParaRPr lang="en-US" sz="1650" dirty="0"/>
          </a:p>
        </p:txBody>
      </p:sp>
      <p:sp>
        <p:nvSpPr>
          <p:cNvPr id="98" name="Text 96"/>
          <p:cNvSpPr/>
          <p:nvPr/>
        </p:nvSpPr>
        <p:spPr>
          <a:xfrm>
            <a:off x="2541984" y="5880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99" name="Shape 97"/>
          <p:cNvSpPr/>
          <p:nvPr/>
        </p:nvSpPr>
        <p:spPr>
          <a:xfrm>
            <a:off x="2797731" y="5812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00" name="Shape 98"/>
          <p:cNvSpPr/>
          <p:nvPr/>
        </p:nvSpPr>
        <p:spPr>
          <a:xfrm>
            <a:off x="2797731" y="6170295"/>
            <a:ext cx="407789" cy="22860"/>
          </a:xfrm>
          <a:prstGeom prst="rect">
            <a:avLst/>
          </a:prstGeom>
          <a:solidFill>
            <a:srgbClr val="000000">
              <a:alpha val="50000"/>
            </a:srgbClr>
          </a:solidFill>
          <a:ln/>
        </p:spPr>
      </p:sp>
      <p:sp>
        <p:nvSpPr>
          <p:cNvPr id="101" name="Shape 99"/>
          <p:cNvSpPr/>
          <p:nvPr/>
        </p:nvSpPr>
        <p:spPr>
          <a:xfrm>
            <a:off x="2797731" y="5812155"/>
            <a:ext cx="407789" cy="9525"/>
          </a:xfrm>
          <a:prstGeom prst="rect">
            <a:avLst/>
          </a:prstGeom>
          <a:solidFill>
            <a:srgbClr val="FFFFFF">
              <a:alpha val="18000"/>
            </a:srgbClr>
          </a:solidFill>
          <a:ln/>
        </p:spPr>
      </p:sp>
      <p:sp>
        <p:nvSpPr>
          <p:cNvPr id="102" name="Shape 100"/>
          <p:cNvSpPr/>
          <p:nvPr/>
        </p:nvSpPr>
        <p:spPr>
          <a:xfrm>
            <a:off x="2797731" y="5812155"/>
            <a:ext cx="9525" cy="381000"/>
          </a:xfrm>
          <a:prstGeom prst="rect">
            <a:avLst/>
          </a:prstGeom>
          <a:solidFill>
            <a:srgbClr val="FFFFFF">
              <a:alpha val="18000"/>
            </a:srgbClr>
          </a:solidFill>
          <a:ln/>
        </p:spPr>
      </p:sp>
      <p:sp>
        <p:nvSpPr>
          <p:cNvPr id="103" name="Shape 101"/>
          <p:cNvSpPr/>
          <p:nvPr/>
        </p:nvSpPr>
        <p:spPr>
          <a:xfrm>
            <a:off x="3197900" y="5812155"/>
            <a:ext cx="9525" cy="381000"/>
          </a:xfrm>
          <a:prstGeom prst="rect">
            <a:avLst/>
          </a:prstGeom>
          <a:solidFill>
            <a:srgbClr val="FFFFFF">
              <a:alpha val="18000"/>
            </a:srgbClr>
          </a:solidFill>
          <a:ln/>
        </p:spPr>
      </p:sp>
      <p:sp>
        <p:nvSpPr>
          <p:cNvPr id="104" name="Text 102"/>
          <p:cNvSpPr/>
          <p:nvPr/>
        </p:nvSpPr>
        <p:spPr>
          <a:xfrm>
            <a:off x="2900601" y="5876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B</a:t>
            </a:r>
            <a:endParaRPr lang="en-US" sz="1650" dirty="0"/>
          </a:p>
        </p:txBody>
      </p:sp>
      <p:sp>
        <p:nvSpPr>
          <p:cNvPr id="105" name="Text 103"/>
          <p:cNvSpPr/>
          <p:nvPr/>
        </p:nvSpPr>
        <p:spPr>
          <a:xfrm>
            <a:off x="3338870" y="5842635"/>
            <a:ext cx="21717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Borders menu</a:t>
            </a:r>
            <a:endParaRPr lang="en-US" sz="1950" dirty="0"/>
          </a:p>
        </p:txBody>
      </p:sp>
      <p:sp>
        <p:nvSpPr>
          <p:cNvPr id="106" name="Text 104"/>
          <p:cNvSpPr/>
          <p:nvPr/>
        </p:nvSpPr>
        <p:spPr>
          <a:xfrm>
            <a:off x="5567720" y="5884545"/>
            <a:ext cx="3103876"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Add borders via Ribbon sequence</a:t>
            </a:r>
            <a:endParaRPr lang="en-US" sz="1575" dirty="0"/>
          </a:p>
        </p:txBody>
      </p:sp>
      <p:sp>
        <p:nvSpPr>
          <p:cNvPr id="107" name="Shape 105"/>
          <p:cNvSpPr/>
          <p:nvPr/>
        </p:nvSpPr>
        <p:spPr>
          <a:xfrm>
            <a:off x="952500" y="6193155"/>
            <a:ext cx="78497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08" name="Shape 106"/>
          <p:cNvSpPr/>
          <p:nvPr/>
        </p:nvSpPr>
        <p:spPr>
          <a:xfrm>
            <a:off x="952500" y="6551295"/>
            <a:ext cx="784979" cy="22860"/>
          </a:xfrm>
          <a:prstGeom prst="rect">
            <a:avLst/>
          </a:prstGeom>
          <a:solidFill>
            <a:srgbClr val="000000">
              <a:alpha val="50000"/>
            </a:srgbClr>
          </a:solidFill>
          <a:ln/>
        </p:spPr>
      </p:sp>
      <p:sp>
        <p:nvSpPr>
          <p:cNvPr id="109" name="Shape 107"/>
          <p:cNvSpPr/>
          <p:nvPr/>
        </p:nvSpPr>
        <p:spPr>
          <a:xfrm>
            <a:off x="952500" y="6193155"/>
            <a:ext cx="784979" cy="9525"/>
          </a:xfrm>
          <a:prstGeom prst="rect">
            <a:avLst/>
          </a:prstGeom>
          <a:solidFill>
            <a:srgbClr val="FFFFFF">
              <a:alpha val="18000"/>
            </a:srgbClr>
          </a:solidFill>
          <a:ln/>
        </p:spPr>
      </p:sp>
      <p:sp>
        <p:nvSpPr>
          <p:cNvPr id="110" name="Shape 108"/>
          <p:cNvSpPr/>
          <p:nvPr/>
        </p:nvSpPr>
        <p:spPr>
          <a:xfrm>
            <a:off x="952500" y="6193155"/>
            <a:ext cx="9525" cy="381000"/>
          </a:xfrm>
          <a:prstGeom prst="rect">
            <a:avLst/>
          </a:prstGeom>
          <a:solidFill>
            <a:srgbClr val="FFFFFF">
              <a:alpha val="18000"/>
            </a:srgbClr>
          </a:solidFill>
          <a:ln/>
        </p:spPr>
      </p:sp>
      <p:sp>
        <p:nvSpPr>
          <p:cNvPr id="111" name="Shape 109"/>
          <p:cNvSpPr/>
          <p:nvPr/>
        </p:nvSpPr>
        <p:spPr>
          <a:xfrm>
            <a:off x="1729859" y="6193155"/>
            <a:ext cx="9525" cy="381000"/>
          </a:xfrm>
          <a:prstGeom prst="rect">
            <a:avLst/>
          </a:prstGeom>
          <a:solidFill>
            <a:srgbClr val="FFFFFF">
              <a:alpha val="18000"/>
            </a:srgbClr>
          </a:solidFill>
          <a:ln/>
        </p:spPr>
      </p:sp>
      <p:sp>
        <p:nvSpPr>
          <p:cNvPr id="112" name="Text 110"/>
          <p:cNvSpPr/>
          <p:nvPr/>
        </p:nvSpPr>
        <p:spPr>
          <a:xfrm>
            <a:off x="1055370" y="6257925"/>
            <a:ext cx="57923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Ctrl</a:t>
            </a:r>
            <a:endParaRPr lang="en-US" sz="1650" dirty="0"/>
          </a:p>
        </p:txBody>
      </p:sp>
      <p:sp>
        <p:nvSpPr>
          <p:cNvPr id="113" name="Text 111"/>
          <p:cNvSpPr/>
          <p:nvPr/>
        </p:nvSpPr>
        <p:spPr>
          <a:xfrm>
            <a:off x="1870829" y="6261735"/>
            <a:ext cx="19859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7D8590"/>
                </a:solidFill>
                <a:latin typeface="Arial" pitchFamily="34" charset="0"/>
                <a:ea typeface="Arial" pitchFamily="34" charset="-122"/>
                <a:cs typeface="Arial" pitchFamily="34" charset="-120"/>
              </a:rPr>
              <a:t>+</a:t>
            </a:r>
            <a:endParaRPr lang="en-US" sz="1650" dirty="0"/>
          </a:p>
        </p:txBody>
      </p:sp>
      <p:sp>
        <p:nvSpPr>
          <p:cNvPr id="114" name="Shape 112"/>
          <p:cNvSpPr/>
          <p:nvPr/>
        </p:nvSpPr>
        <p:spPr>
          <a:xfrm>
            <a:off x="2126575" y="6193155"/>
            <a:ext cx="40778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15" name="Shape 113"/>
          <p:cNvSpPr/>
          <p:nvPr/>
        </p:nvSpPr>
        <p:spPr>
          <a:xfrm>
            <a:off x="2126575" y="6551295"/>
            <a:ext cx="407789" cy="22860"/>
          </a:xfrm>
          <a:prstGeom prst="rect">
            <a:avLst/>
          </a:prstGeom>
          <a:solidFill>
            <a:srgbClr val="000000">
              <a:alpha val="50000"/>
            </a:srgbClr>
          </a:solidFill>
          <a:ln/>
        </p:spPr>
      </p:sp>
      <p:sp>
        <p:nvSpPr>
          <p:cNvPr id="116" name="Shape 114"/>
          <p:cNvSpPr/>
          <p:nvPr/>
        </p:nvSpPr>
        <p:spPr>
          <a:xfrm>
            <a:off x="2126575" y="6193155"/>
            <a:ext cx="407789" cy="9525"/>
          </a:xfrm>
          <a:prstGeom prst="rect">
            <a:avLst/>
          </a:prstGeom>
          <a:solidFill>
            <a:srgbClr val="FFFFFF">
              <a:alpha val="18000"/>
            </a:srgbClr>
          </a:solidFill>
          <a:ln/>
        </p:spPr>
      </p:sp>
      <p:sp>
        <p:nvSpPr>
          <p:cNvPr id="117" name="Shape 115"/>
          <p:cNvSpPr/>
          <p:nvPr/>
        </p:nvSpPr>
        <p:spPr>
          <a:xfrm>
            <a:off x="2126575" y="6193155"/>
            <a:ext cx="9525" cy="381000"/>
          </a:xfrm>
          <a:prstGeom prst="rect">
            <a:avLst/>
          </a:prstGeom>
          <a:solidFill>
            <a:srgbClr val="FFFFFF">
              <a:alpha val="18000"/>
            </a:srgbClr>
          </a:solidFill>
          <a:ln/>
        </p:spPr>
      </p:sp>
      <p:sp>
        <p:nvSpPr>
          <p:cNvPr id="118" name="Shape 116"/>
          <p:cNvSpPr/>
          <p:nvPr/>
        </p:nvSpPr>
        <p:spPr>
          <a:xfrm>
            <a:off x="2526744" y="6193155"/>
            <a:ext cx="9525" cy="381000"/>
          </a:xfrm>
          <a:prstGeom prst="rect">
            <a:avLst/>
          </a:prstGeom>
          <a:solidFill>
            <a:srgbClr val="FFFFFF">
              <a:alpha val="18000"/>
            </a:srgbClr>
          </a:solidFill>
          <a:ln/>
        </p:spPr>
      </p:sp>
      <p:sp>
        <p:nvSpPr>
          <p:cNvPr id="119" name="Text 117"/>
          <p:cNvSpPr/>
          <p:nvPr/>
        </p:nvSpPr>
        <p:spPr>
          <a:xfrm>
            <a:off x="2229445" y="6257925"/>
            <a:ext cx="20204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T</a:t>
            </a:r>
            <a:endParaRPr lang="en-US" sz="1650" dirty="0"/>
          </a:p>
        </p:txBody>
      </p:sp>
      <p:sp>
        <p:nvSpPr>
          <p:cNvPr id="120" name="Text 118"/>
          <p:cNvSpPr/>
          <p:nvPr/>
        </p:nvSpPr>
        <p:spPr>
          <a:xfrm>
            <a:off x="2667714" y="6223635"/>
            <a:ext cx="21717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Create Table</a:t>
            </a:r>
            <a:endParaRPr lang="en-US" sz="1950" dirty="0"/>
          </a:p>
        </p:txBody>
      </p:sp>
      <p:sp>
        <p:nvSpPr>
          <p:cNvPr id="121" name="Text 119"/>
          <p:cNvSpPr/>
          <p:nvPr/>
        </p:nvSpPr>
        <p:spPr>
          <a:xfrm>
            <a:off x="4896564" y="6265545"/>
            <a:ext cx="2685448"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Instant formatting + auto-filter</a:t>
            </a:r>
            <a:endParaRPr lang="en-US" sz="1575" dirty="0"/>
          </a:p>
        </p:txBody>
      </p:sp>
      <p:sp>
        <p:nvSpPr>
          <p:cNvPr id="122" name="Shape 120"/>
          <p:cNvSpPr/>
          <p:nvPr/>
        </p:nvSpPr>
        <p:spPr>
          <a:xfrm>
            <a:off x="952500" y="6574155"/>
            <a:ext cx="533519" cy="381000"/>
          </a:xfrm>
          <a:prstGeom prst="roundRect">
            <a:avLst>
              <a:gd name="adj" fmla="val 20000"/>
            </a:avLst>
          </a:prstGeom>
          <a:solidFill>
            <a:srgbClr val="1C2430"/>
          </a:solidFill>
          <a:ln/>
          <a:effectLst>
            <a:outerShdw sx="100000" sy="100000" kx="0" ky="0" algn="bl" rotWithShape="0" blurRad="38100" dist="19050" dir="5400000">
              <a:srgbClr val="000000">
                <a:alpha val="40000"/>
              </a:srgbClr>
            </a:outerShdw>
          </a:effectLst>
        </p:spPr>
      </p:sp>
      <p:sp>
        <p:nvSpPr>
          <p:cNvPr id="123" name="Shape 121"/>
          <p:cNvSpPr/>
          <p:nvPr/>
        </p:nvSpPr>
        <p:spPr>
          <a:xfrm>
            <a:off x="952500" y="6932295"/>
            <a:ext cx="533519" cy="22860"/>
          </a:xfrm>
          <a:prstGeom prst="rect">
            <a:avLst/>
          </a:prstGeom>
          <a:solidFill>
            <a:srgbClr val="000000">
              <a:alpha val="50000"/>
            </a:srgbClr>
          </a:solidFill>
          <a:ln/>
        </p:spPr>
      </p:sp>
      <p:sp>
        <p:nvSpPr>
          <p:cNvPr id="124" name="Shape 122"/>
          <p:cNvSpPr/>
          <p:nvPr/>
        </p:nvSpPr>
        <p:spPr>
          <a:xfrm>
            <a:off x="952500" y="6574155"/>
            <a:ext cx="533519" cy="9525"/>
          </a:xfrm>
          <a:prstGeom prst="rect">
            <a:avLst/>
          </a:prstGeom>
          <a:solidFill>
            <a:srgbClr val="FFFFFF">
              <a:alpha val="18000"/>
            </a:srgbClr>
          </a:solidFill>
          <a:ln/>
        </p:spPr>
      </p:sp>
      <p:sp>
        <p:nvSpPr>
          <p:cNvPr id="125" name="Shape 123"/>
          <p:cNvSpPr/>
          <p:nvPr/>
        </p:nvSpPr>
        <p:spPr>
          <a:xfrm>
            <a:off x="952500" y="6574155"/>
            <a:ext cx="9525" cy="381000"/>
          </a:xfrm>
          <a:prstGeom prst="rect">
            <a:avLst/>
          </a:prstGeom>
          <a:solidFill>
            <a:srgbClr val="FFFFFF">
              <a:alpha val="18000"/>
            </a:srgbClr>
          </a:solidFill>
          <a:ln/>
        </p:spPr>
      </p:sp>
      <p:sp>
        <p:nvSpPr>
          <p:cNvPr id="126" name="Shape 124"/>
          <p:cNvSpPr/>
          <p:nvPr/>
        </p:nvSpPr>
        <p:spPr>
          <a:xfrm>
            <a:off x="1478399" y="6574155"/>
            <a:ext cx="9525" cy="381000"/>
          </a:xfrm>
          <a:prstGeom prst="rect">
            <a:avLst/>
          </a:prstGeom>
          <a:solidFill>
            <a:srgbClr val="FFFFFF">
              <a:alpha val="18000"/>
            </a:srgbClr>
          </a:solidFill>
          <a:ln/>
        </p:spPr>
      </p:sp>
      <p:sp>
        <p:nvSpPr>
          <p:cNvPr id="127" name="Text 125"/>
          <p:cNvSpPr/>
          <p:nvPr/>
        </p:nvSpPr>
        <p:spPr>
          <a:xfrm>
            <a:off x="1055370" y="6638925"/>
            <a:ext cx="327779" cy="274320"/>
          </a:xfrm>
          <a:prstGeom prst="rect">
            <a:avLst/>
          </a:prstGeom>
          <a:noFill/>
          <a:ln/>
        </p:spPr>
        <p:txBody>
          <a:bodyPr wrap="square" lIns="25400" tIns="25400" rIns="25400" bIns="25400" rtlCol="0" anchor="ctr">
            <a:normAutofit/>
          </a:bodyPr>
          <a:lstStyle/>
          <a:p>
            <a:pPr algn="ctr" indent="0" marL="0">
              <a:buNone/>
            </a:pPr>
            <a:r>
              <a:rPr lang="en-US" sz="1650" b="1" dirty="0">
                <a:solidFill>
                  <a:srgbClr val="F0F6FC"/>
                </a:solidFill>
                <a:latin typeface="Courier New" pitchFamily="34" charset="0"/>
                <a:ea typeface="Courier New" pitchFamily="34" charset="-122"/>
                <a:cs typeface="Courier New" pitchFamily="34" charset="-120"/>
              </a:rPr>
              <a:t>F4</a:t>
            </a:r>
            <a:endParaRPr lang="en-US" sz="1650" dirty="0"/>
          </a:p>
        </p:txBody>
      </p:sp>
      <p:sp>
        <p:nvSpPr>
          <p:cNvPr id="128" name="Text 126"/>
          <p:cNvSpPr/>
          <p:nvPr/>
        </p:nvSpPr>
        <p:spPr>
          <a:xfrm>
            <a:off x="1619369" y="6604635"/>
            <a:ext cx="2366486"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Lock cell reference</a:t>
            </a:r>
            <a:endParaRPr lang="en-US" sz="1950" dirty="0"/>
          </a:p>
        </p:txBody>
      </p:sp>
      <p:sp>
        <p:nvSpPr>
          <p:cNvPr id="129" name="Text 127"/>
          <p:cNvSpPr/>
          <p:nvPr/>
        </p:nvSpPr>
        <p:spPr>
          <a:xfrm>
            <a:off x="4043005" y="6646545"/>
            <a:ext cx="3172551" cy="274320"/>
          </a:xfrm>
          <a:prstGeom prst="rect">
            <a:avLst/>
          </a:prstGeom>
          <a:noFill/>
          <a:ln/>
        </p:spPr>
        <p:txBody>
          <a:bodyPr wrap="square" lIns="25400" tIns="25400" rIns="25400" bIns="25400" rtlCol="0" anchor="t">
            <a:normAutofit/>
          </a:bodyPr>
          <a:lstStyle/>
          <a:p>
            <a:pPr algn="l" indent="0" marL="0">
              <a:buNone/>
            </a:pPr>
            <a:r>
              <a:rPr lang="en-US" sz="1575" dirty="0">
                <a:solidFill>
                  <a:srgbClr val="7D8590"/>
                </a:solidFill>
                <a:latin typeface="Arial" pitchFamily="34" charset="0"/>
                <a:ea typeface="Arial" pitchFamily="34" charset="-122"/>
                <a:cs typeface="Arial" pitchFamily="34" charset="-120"/>
              </a:rPr>
              <a:t>Toggles $A$1 → A$1 → $A1 → A1</a:t>
            </a:r>
            <a:endParaRPr lang="en-US" sz="15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2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solidFill>
          <a:ln/>
        </p:spPr>
      </p:sp>
      <p:sp>
        <p:nvSpPr>
          <p:cNvPr id="5" name="Shape 3"/>
          <p:cNvSpPr/>
          <p:nvPr/>
        </p:nvSpPr>
        <p:spPr>
          <a:xfrm>
            <a:off x="15868650" y="400050"/>
            <a:ext cx="247650" cy="38100"/>
          </a:xfrm>
          <a:prstGeom prst="roundRect">
            <a:avLst>
              <a:gd name="adj" fmla="val 50000"/>
            </a:avLst>
          </a:prstGeom>
          <a:solidFill>
            <a:srgbClr val="1C2430"/>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Number &amp; Date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Formats</a:t>
            </a:r>
            <a:endParaRPr lang="en-US" sz="4200" dirty="0"/>
          </a:p>
        </p:txBody>
      </p:sp>
      <p:sp>
        <p:nvSpPr>
          <p:cNvPr id="11" name="Text 9"/>
          <p:cNvSpPr/>
          <p:nvPr/>
        </p:nvSpPr>
        <p:spPr>
          <a:xfrm>
            <a:off x="952500" y="1718310"/>
            <a:ext cx="824103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2DD4BF"/>
                </a:solidFill>
                <a:latin typeface="Arial" pitchFamily="34" charset="0"/>
                <a:ea typeface="Arial" pitchFamily="34" charset="-122"/>
                <a:cs typeface="Arial" pitchFamily="34" charset="-120"/>
              </a:rPr>
              <a:t>SAME NUMBER, DIFFERENT FORMAT</a:t>
            </a:r>
            <a:endParaRPr lang="en-US" sz="1275" dirty="0"/>
          </a:p>
        </p:txBody>
      </p:sp>
      <p:sp>
        <p:nvSpPr>
          <p:cNvPr id="12" name="Shape 10"/>
          <p:cNvSpPr/>
          <p:nvPr/>
        </p:nvSpPr>
        <p:spPr>
          <a:xfrm>
            <a:off x="952500" y="1962150"/>
            <a:ext cx="4776311" cy="499110"/>
          </a:xfrm>
          <a:prstGeom prst="rect">
            <a:avLst/>
          </a:prstGeom>
          <a:solidFill>
            <a:srgbClr val="2DD4BF"/>
          </a:solidFill>
          <a:ln/>
        </p:spPr>
      </p:sp>
      <p:sp>
        <p:nvSpPr>
          <p:cNvPr id="13" name="Text 11"/>
          <p:cNvSpPr/>
          <p:nvPr/>
        </p:nvSpPr>
        <p:spPr>
          <a:xfrm>
            <a:off x="1123950" y="2085975"/>
            <a:ext cx="4576701"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Format Code</a:t>
            </a:r>
            <a:endParaRPr lang="en-US" sz="1575" dirty="0"/>
          </a:p>
        </p:txBody>
      </p:sp>
      <p:sp>
        <p:nvSpPr>
          <p:cNvPr id="14" name="Shape 12"/>
          <p:cNvSpPr/>
          <p:nvPr/>
        </p:nvSpPr>
        <p:spPr>
          <a:xfrm>
            <a:off x="5728811" y="1962150"/>
            <a:ext cx="3224689" cy="499110"/>
          </a:xfrm>
          <a:prstGeom prst="rect">
            <a:avLst/>
          </a:prstGeom>
          <a:solidFill>
            <a:srgbClr val="2DD4BF"/>
          </a:solidFill>
          <a:ln/>
        </p:spPr>
      </p:sp>
      <p:sp>
        <p:nvSpPr>
          <p:cNvPr id="15" name="Text 13"/>
          <p:cNvSpPr/>
          <p:nvPr/>
        </p:nvSpPr>
        <p:spPr>
          <a:xfrm>
            <a:off x="5900261" y="2085975"/>
            <a:ext cx="2978530"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Displays As</a:t>
            </a:r>
            <a:endParaRPr lang="en-US" sz="1575" dirty="0"/>
          </a:p>
        </p:txBody>
      </p:sp>
      <p:sp>
        <p:nvSpPr>
          <p:cNvPr id="16" name="Shape 14"/>
          <p:cNvSpPr/>
          <p:nvPr/>
        </p:nvSpPr>
        <p:spPr>
          <a:xfrm>
            <a:off x="952500" y="2461260"/>
            <a:ext cx="4776311" cy="464820"/>
          </a:xfrm>
          <a:prstGeom prst="rect">
            <a:avLst/>
          </a:prstGeom>
          <a:solidFill>
            <a:srgbClr val="FFFFFF">
              <a:alpha val="2000"/>
            </a:srgbClr>
          </a:solidFill>
          <a:ln/>
        </p:spPr>
      </p:sp>
      <p:sp>
        <p:nvSpPr>
          <p:cNvPr id="17" name="Shape 15"/>
          <p:cNvSpPr/>
          <p:nvPr/>
        </p:nvSpPr>
        <p:spPr>
          <a:xfrm>
            <a:off x="952500" y="2918460"/>
            <a:ext cx="4776311" cy="9525"/>
          </a:xfrm>
          <a:prstGeom prst="rect">
            <a:avLst/>
          </a:prstGeom>
          <a:solidFill>
            <a:srgbClr val="FFFFFF">
              <a:alpha val="8000"/>
            </a:srgbClr>
          </a:solidFill>
          <a:ln/>
        </p:spPr>
      </p:sp>
      <p:sp>
        <p:nvSpPr>
          <p:cNvPr id="18" name="Text 16"/>
          <p:cNvSpPr/>
          <p:nvPr/>
        </p:nvSpPr>
        <p:spPr>
          <a:xfrm>
            <a:off x="1123950" y="2566035"/>
            <a:ext cx="4576701"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General</a:t>
            </a:r>
            <a:endParaRPr lang="en-US" sz="1725" dirty="0"/>
          </a:p>
        </p:txBody>
      </p:sp>
      <p:sp>
        <p:nvSpPr>
          <p:cNvPr id="19" name="Shape 17"/>
          <p:cNvSpPr/>
          <p:nvPr/>
        </p:nvSpPr>
        <p:spPr>
          <a:xfrm>
            <a:off x="5728811" y="2461260"/>
            <a:ext cx="3224689" cy="464820"/>
          </a:xfrm>
          <a:prstGeom prst="rect">
            <a:avLst/>
          </a:prstGeom>
          <a:solidFill>
            <a:srgbClr val="FFFFFF">
              <a:alpha val="2000"/>
            </a:srgbClr>
          </a:solidFill>
          <a:ln/>
        </p:spPr>
      </p:sp>
      <p:sp>
        <p:nvSpPr>
          <p:cNvPr id="20" name="Shape 18"/>
          <p:cNvSpPr/>
          <p:nvPr/>
        </p:nvSpPr>
        <p:spPr>
          <a:xfrm>
            <a:off x="5728811" y="2918460"/>
            <a:ext cx="3224689" cy="9525"/>
          </a:xfrm>
          <a:prstGeom prst="rect">
            <a:avLst/>
          </a:prstGeom>
          <a:solidFill>
            <a:srgbClr val="FFFFFF">
              <a:alpha val="8000"/>
            </a:srgbClr>
          </a:solidFill>
          <a:ln/>
        </p:spPr>
      </p:sp>
      <p:sp>
        <p:nvSpPr>
          <p:cNvPr id="21" name="Text 19"/>
          <p:cNvSpPr/>
          <p:nvPr/>
        </p:nvSpPr>
        <p:spPr>
          <a:xfrm>
            <a:off x="5900261" y="2566035"/>
            <a:ext cx="2978530"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52000</a:t>
            </a:r>
            <a:endParaRPr lang="en-US" sz="1725" dirty="0"/>
          </a:p>
        </p:txBody>
      </p:sp>
      <p:sp>
        <p:nvSpPr>
          <p:cNvPr id="22" name="Shape 20"/>
          <p:cNvSpPr/>
          <p:nvPr/>
        </p:nvSpPr>
        <p:spPr>
          <a:xfrm>
            <a:off x="952500" y="3387090"/>
            <a:ext cx="4776311" cy="9525"/>
          </a:xfrm>
          <a:prstGeom prst="rect">
            <a:avLst/>
          </a:prstGeom>
          <a:solidFill>
            <a:srgbClr val="FFFFFF">
              <a:alpha val="8000"/>
            </a:srgbClr>
          </a:solidFill>
          <a:ln/>
        </p:spPr>
      </p:sp>
      <p:sp>
        <p:nvSpPr>
          <p:cNvPr id="23" name="Text 21"/>
          <p:cNvSpPr/>
          <p:nvPr/>
        </p:nvSpPr>
        <p:spPr>
          <a:xfrm>
            <a:off x="1123950" y="3030855"/>
            <a:ext cx="457670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#,##0</a:t>
            </a:r>
            <a:endParaRPr lang="en-US" sz="1725" dirty="0"/>
          </a:p>
        </p:txBody>
      </p:sp>
      <p:sp>
        <p:nvSpPr>
          <p:cNvPr id="24" name="Shape 22"/>
          <p:cNvSpPr/>
          <p:nvPr/>
        </p:nvSpPr>
        <p:spPr>
          <a:xfrm>
            <a:off x="5728811" y="3387090"/>
            <a:ext cx="3224689" cy="9525"/>
          </a:xfrm>
          <a:prstGeom prst="rect">
            <a:avLst/>
          </a:prstGeom>
          <a:solidFill>
            <a:srgbClr val="FFFFFF">
              <a:alpha val="8000"/>
            </a:srgbClr>
          </a:solidFill>
          <a:ln/>
        </p:spPr>
      </p:sp>
      <p:sp>
        <p:nvSpPr>
          <p:cNvPr id="25" name="Text 23"/>
          <p:cNvSpPr/>
          <p:nvPr/>
        </p:nvSpPr>
        <p:spPr>
          <a:xfrm>
            <a:off x="5900261" y="3030855"/>
            <a:ext cx="29785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52,000</a:t>
            </a:r>
            <a:endParaRPr lang="en-US" sz="1725" dirty="0"/>
          </a:p>
        </p:txBody>
      </p:sp>
      <p:sp>
        <p:nvSpPr>
          <p:cNvPr id="26" name="Shape 24"/>
          <p:cNvSpPr/>
          <p:nvPr/>
        </p:nvSpPr>
        <p:spPr>
          <a:xfrm>
            <a:off x="952500" y="3394710"/>
            <a:ext cx="4776311" cy="468630"/>
          </a:xfrm>
          <a:prstGeom prst="rect">
            <a:avLst/>
          </a:prstGeom>
          <a:solidFill>
            <a:srgbClr val="FFFFFF">
              <a:alpha val="2000"/>
            </a:srgbClr>
          </a:solidFill>
          <a:ln/>
        </p:spPr>
      </p:sp>
      <p:sp>
        <p:nvSpPr>
          <p:cNvPr id="27" name="Shape 25"/>
          <p:cNvSpPr/>
          <p:nvPr/>
        </p:nvSpPr>
        <p:spPr>
          <a:xfrm>
            <a:off x="952500" y="3855720"/>
            <a:ext cx="4776311" cy="9525"/>
          </a:xfrm>
          <a:prstGeom prst="rect">
            <a:avLst/>
          </a:prstGeom>
          <a:solidFill>
            <a:srgbClr val="FFFFFF">
              <a:alpha val="8000"/>
            </a:srgbClr>
          </a:solidFill>
          <a:ln/>
        </p:spPr>
      </p:sp>
      <p:sp>
        <p:nvSpPr>
          <p:cNvPr id="28" name="Text 26"/>
          <p:cNvSpPr/>
          <p:nvPr/>
        </p:nvSpPr>
        <p:spPr>
          <a:xfrm>
            <a:off x="1123950" y="3499485"/>
            <a:ext cx="457670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[$$-en-US]#,##0.00</a:t>
            </a:r>
            <a:endParaRPr lang="en-US" sz="1725" dirty="0"/>
          </a:p>
        </p:txBody>
      </p:sp>
      <p:sp>
        <p:nvSpPr>
          <p:cNvPr id="29" name="Shape 27"/>
          <p:cNvSpPr/>
          <p:nvPr/>
        </p:nvSpPr>
        <p:spPr>
          <a:xfrm>
            <a:off x="5728811" y="3394710"/>
            <a:ext cx="3224689" cy="468630"/>
          </a:xfrm>
          <a:prstGeom prst="rect">
            <a:avLst/>
          </a:prstGeom>
          <a:solidFill>
            <a:srgbClr val="FFFFFF">
              <a:alpha val="2000"/>
            </a:srgbClr>
          </a:solidFill>
          <a:ln/>
        </p:spPr>
      </p:sp>
      <p:sp>
        <p:nvSpPr>
          <p:cNvPr id="30" name="Shape 28"/>
          <p:cNvSpPr/>
          <p:nvPr/>
        </p:nvSpPr>
        <p:spPr>
          <a:xfrm>
            <a:off x="5728811" y="3855720"/>
            <a:ext cx="3224689" cy="9525"/>
          </a:xfrm>
          <a:prstGeom prst="rect">
            <a:avLst/>
          </a:prstGeom>
          <a:solidFill>
            <a:srgbClr val="FFFFFF">
              <a:alpha val="8000"/>
            </a:srgbClr>
          </a:solidFill>
          <a:ln/>
        </p:spPr>
      </p:sp>
      <p:sp>
        <p:nvSpPr>
          <p:cNvPr id="31" name="Text 29"/>
          <p:cNvSpPr/>
          <p:nvPr/>
        </p:nvSpPr>
        <p:spPr>
          <a:xfrm>
            <a:off x="5900261" y="3499485"/>
            <a:ext cx="29785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$52,000.00</a:t>
            </a:r>
            <a:endParaRPr lang="en-US" sz="1725" dirty="0"/>
          </a:p>
        </p:txBody>
      </p:sp>
      <p:sp>
        <p:nvSpPr>
          <p:cNvPr id="32" name="Shape 30"/>
          <p:cNvSpPr/>
          <p:nvPr/>
        </p:nvSpPr>
        <p:spPr>
          <a:xfrm>
            <a:off x="952500" y="4324350"/>
            <a:ext cx="4776311" cy="9525"/>
          </a:xfrm>
          <a:prstGeom prst="rect">
            <a:avLst/>
          </a:prstGeom>
          <a:solidFill>
            <a:srgbClr val="FFFFFF">
              <a:alpha val="8000"/>
            </a:srgbClr>
          </a:solidFill>
          <a:ln/>
        </p:spPr>
      </p:sp>
      <p:sp>
        <p:nvSpPr>
          <p:cNvPr id="33" name="Text 31"/>
          <p:cNvSpPr/>
          <p:nvPr/>
        </p:nvSpPr>
        <p:spPr>
          <a:xfrm>
            <a:off x="1123950" y="3968115"/>
            <a:ext cx="457670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0.00%</a:t>
            </a:r>
            <a:endParaRPr lang="en-US" sz="1725" dirty="0"/>
          </a:p>
        </p:txBody>
      </p:sp>
      <p:sp>
        <p:nvSpPr>
          <p:cNvPr id="34" name="Shape 32"/>
          <p:cNvSpPr/>
          <p:nvPr/>
        </p:nvSpPr>
        <p:spPr>
          <a:xfrm>
            <a:off x="5728811" y="4324350"/>
            <a:ext cx="3224689" cy="9525"/>
          </a:xfrm>
          <a:prstGeom prst="rect">
            <a:avLst/>
          </a:prstGeom>
          <a:solidFill>
            <a:srgbClr val="FFFFFF">
              <a:alpha val="8000"/>
            </a:srgbClr>
          </a:solidFill>
          <a:ln/>
        </p:spPr>
      </p:sp>
      <p:sp>
        <p:nvSpPr>
          <p:cNvPr id="35" name="Text 33"/>
          <p:cNvSpPr/>
          <p:nvPr/>
        </p:nvSpPr>
        <p:spPr>
          <a:xfrm>
            <a:off x="5900261" y="3968115"/>
            <a:ext cx="29785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5200000.00%</a:t>
            </a:r>
            <a:endParaRPr lang="en-US" sz="1725" dirty="0"/>
          </a:p>
        </p:txBody>
      </p:sp>
      <p:sp>
        <p:nvSpPr>
          <p:cNvPr id="36" name="Shape 34"/>
          <p:cNvSpPr/>
          <p:nvPr/>
        </p:nvSpPr>
        <p:spPr>
          <a:xfrm>
            <a:off x="952500" y="4331970"/>
            <a:ext cx="4776311" cy="468630"/>
          </a:xfrm>
          <a:prstGeom prst="rect">
            <a:avLst/>
          </a:prstGeom>
          <a:solidFill>
            <a:srgbClr val="FFFFFF">
              <a:alpha val="2000"/>
            </a:srgbClr>
          </a:solidFill>
          <a:ln/>
        </p:spPr>
      </p:sp>
      <p:sp>
        <p:nvSpPr>
          <p:cNvPr id="37" name="Shape 35"/>
          <p:cNvSpPr/>
          <p:nvPr/>
        </p:nvSpPr>
        <p:spPr>
          <a:xfrm>
            <a:off x="952500" y="4792980"/>
            <a:ext cx="4776311" cy="9525"/>
          </a:xfrm>
          <a:prstGeom prst="rect">
            <a:avLst/>
          </a:prstGeom>
          <a:solidFill>
            <a:srgbClr val="FFFFFF">
              <a:alpha val="8000"/>
            </a:srgbClr>
          </a:solidFill>
          <a:ln/>
        </p:spPr>
      </p:sp>
      <p:sp>
        <p:nvSpPr>
          <p:cNvPr id="38" name="Text 36"/>
          <p:cNvSpPr/>
          <p:nvPr/>
        </p:nvSpPr>
        <p:spPr>
          <a:xfrm>
            <a:off x="1123950" y="4436745"/>
            <a:ext cx="457670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0.00E+00</a:t>
            </a:r>
            <a:endParaRPr lang="en-US" sz="1725" dirty="0"/>
          </a:p>
        </p:txBody>
      </p:sp>
      <p:sp>
        <p:nvSpPr>
          <p:cNvPr id="39" name="Shape 37"/>
          <p:cNvSpPr/>
          <p:nvPr/>
        </p:nvSpPr>
        <p:spPr>
          <a:xfrm>
            <a:off x="5728811" y="4331970"/>
            <a:ext cx="3224689" cy="468630"/>
          </a:xfrm>
          <a:prstGeom prst="rect">
            <a:avLst/>
          </a:prstGeom>
          <a:solidFill>
            <a:srgbClr val="FFFFFF">
              <a:alpha val="2000"/>
            </a:srgbClr>
          </a:solidFill>
          <a:ln/>
        </p:spPr>
      </p:sp>
      <p:sp>
        <p:nvSpPr>
          <p:cNvPr id="40" name="Shape 38"/>
          <p:cNvSpPr/>
          <p:nvPr/>
        </p:nvSpPr>
        <p:spPr>
          <a:xfrm>
            <a:off x="5728811" y="4792980"/>
            <a:ext cx="3224689" cy="9525"/>
          </a:xfrm>
          <a:prstGeom prst="rect">
            <a:avLst/>
          </a:prstGeom>
          <a:solidFill>
            <a:srgbClr val="FFFFFF">
              <a:alpha val="8000"/>
            </a:srgbClr>
          </a:solidFill>
          <a:ln/>
        </p:spPr>
      </p:sp>
      <p:sp>
        <p:nvSpPr>
          <p:cNvPr id="41" name="Text 39"/>
          <p:cNvSpPr/>
          <p:nvPr/>
        </p:nvSpPr>
        <p:spPr>
          <a:xfrm>
            <a:off x="5900261" y="4436745"/>
            <a:ext cx="29785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5.20E+04</a:t>
            </a:r>
            <a:endParaRPr lang="en-US" sz="1725" dirty="0"/>
          </a:p>
        </p:txBody>
      </p:sp>
      <p:sp>
        <p:nvSpPr>
          <p:cNvPr id="42" name="Text 40"/>
          <p:cNvSpPr/>
          <p:nvPr/>
        </p:nvSpPr>
        <p:spPr>
          <a:xfrm>
            <a:off x="9334500" y="1718310"/>
            <a:ext cx="824103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2DD4BF"/>
                </a:solidFill>
                <a:latin typeface="Arial" pitchFamily="34" charset="0"/>
                <a:ea typeface="Arial" pitchFamily="34" charset="-122"/>
                <a:cs typeface="Arial" pitchFamily="34" charset="-120"/>
              </a:rPr>
              <a:t>DATES ARE STORED AS NUMBERS</a:t>
            </a:r>
            <a:endParaRPr lang="en-US" sz="1275" dirty="0"/>
          </a:p>
        </p:txBody>
      </p:sp>
      <p:sp>
        <p:nvSpPr>
          <p:cNvPr id="43" name="Shape 41"/>
          <p:cNvSpPr/>
          <p:nvPr/>
        </p:nvSpPr>
        <p:spPr>
          <a:xfrm>
            <a:off x="9334500" y="1962150"/>
            <a:ext cx="3520916" cy="499110"/>
          </a:xfrm>
          <a:prstGeom prst="rect">
            <a:avLst/>
          </a:prstGeom>
          <a:solidFill>
            <a:srgbClr val="2DD4BF"/>
          </a:solidFill>
          <a:ln/>
        </p:spPr>
      </p:sp>
      <p:sp>
        <p:nvSpPr>
          <p:cNvPr id="44" name="Text 42"/>
          <p:cNvSpPr/>
          <p:nvPr/>
        </p:nvSpPr>
        <p:spPr>
          <a:xfrm>
            <a:off x="9505950" y="2085975"/>
            <a:ext cx="3283644"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Format Code</a:t>
            </a:r>
            <a:endParaRPr lang="en-US" sz="1575" dirty="0"/>
          </a:p>
        </p:txBody>
      </p:sp>
      <p:sp>
        <p:nvSpPr>
          <p:cNvPr id="45" name="Shape 43"/>
          <p:cNvSpPr/>
          <p:nvPr/>
        </p:nvSpPr>
        <p:spPr>
          <a:xfrm>
            <a:off x="12855416" y="1962150"/>
            <a:ext cx="4480084" cy="499110"/>
          </a:xfrm>
          <a:prstGeom prst="rect">
            <a:avLst/>
          </a:prstGeom>
          <a:solidFill>
            <a:srgbClr val="2DD4BF"/>
          </a:solidFill>
          <a:ln/>
        </p:spPr>
      </p:sp>
      <p:sp>
        <p:nvSpPr>
          <p:cNvPr id="46" name="Text 44"/>
          <p:cNvSpPr/>
          <p:nvPr/>
        </p:nvSpPr>
        <p:spPr>
          <a:xfrm>
            <a:off x="13026866" y="2085975"/>
            <a:ext cx="4271586"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Displays As</a:t>
            </a:r>
            <a:endParaRPr lang="en-US" sz="1575" dirty="0"/>
          </a:p>
        </p:txBody>
      </p:sp>
      <p:sp>
        <p:nvSpPr>
          <p:cNvPr id="47" name="Shape 45"/>
          <p:cNvSpPr/>
          <p:nvPr/>
        </p:nvSpPr>
        <p:spPr>
          <a:xfrm>
            <a:off x="9334500" y="2461260"/>
            <a:ext cx="3520916" cy="464820"/>
          </a:xfrm>
          <a:prstGeom prst="rect">
            <a:avLst/>
          </a:prstGeom>
          <a:solidFill>
            <a:srgbClr val="FFFFFF">
              <a:alpha val="2000"/>
            </a:srgbClr>
          </a:solidFill>
          <a:ln/>
        </p:spPr>
      </p:sp>
      <p:sp>
        <p:nvSpPr>
          <p:cNvPr id="48" name="Shape 46"/>
          <p:cNvSpPr/>
          <p:nvPr/>
        </p:nvSpPr>
        <p:spPr>
          <a:xfrm>
            <a:off x="9334500" y="2918460"/>
            <a:ext cx="3520916" cy="9525"/>
          </a:xfrm>
          <a:prstGeom prst="rect">
            <a:avLst/>
          </a:prstGeom>
          <a:solidFill>
            <a:srgbClr val="FFFFFF">
              <a:alpha val="8000"/>
            </a:srgbClr>
          </a:solidFill>
          <a:ln/>
        </p:spPr>
      </p:sp>
      <p:sp>
        <p:nvSpPr>
          <p:cNvPr id="49" name="Text 47"/>
          <p:cNvSpPr/>
          <p:nvPr/>
        </p:nvSpPr>
        <p:spPr>
          <a:xfrm>
            <a:off x="9505950" y="2566035"/>
            <a:ext cx="3283644"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General</a:t>
            </a:r>
            <a:endParaRPr lang="en-US" sz="1725" dirty="0"/>
          </a:p>
        </p:txBody>
      </p:sp>
      <p:sp>
        <p:nvSpPr>
          <p:cNvPr id="50" name="Shape 48"/>
          <p:cNvSpPr/>
          <p:nvPr/>
        </p:nvSpPr>
        <p:spPr>
          <a:xfrm>
            <a:off x="12855416" y="2461260"/>
            <a:ext cx="4480084" cy="464820"/>
          </a:xfrm>
          <a:prstGeom prst="rect">
            <a:avLst/>
          </a:prstGeom>
          <a:solidFill>
            <a:srgbClr val="FFFFFF">
              <a:alpha val="2000"/>
            </a:srgbClr>
          </a:solidFill>
          <a:ln/>
        </p:spPr>
      </p:sp>
      <p:sp>
        <p:nvSpPr>
          <p:cNvPr id="51" name="Shape 49"/>
          <p:cNvSpPr/>
          <p:nvPr/>
        </p:nvSpPr>
        <p:spPr>
          <a:xfrm>
            <a:off x="12855416" y="2918460"/>
            <a:ext cx="4480084" cy="9525"/>
          </a:xfrm>
          <a:prstGeom prst="rect">
            <a:avLst/>
          </a:prstGeom>
          <a:solidFill>
            <a:srgbClr val="FFFFFF">
              <a:alpha val="8000"/>
            </a:srgbClr>
          </a:solidFill>
          <a:ln/>
        </p:spPr>
      </p:sp>
      <p:sp>
        <p:nvSpPr>
          <p:cNvPr id="52" name="Text 50"/>
          <p:cNvSpPr/>
          <p:nvPr/>
        </p:nvSpPr>
        <p:spPr>
          <a:xfrm>
            <a:off x="13026866" y="2566035"/>
            <a:ext cx="4271586"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44941</a:t>
            </a:r>
            <a:endParaRPr lang="en-US" sz="1725" dirty="0"/>
          </a:p>
        </p:txBody>
      </p:sp>
      <p:sp>
        <p:nvSpPr>
          <p:cNvPr id="53" name="Shape 51"/>
          <p:cNvSpPr/>
          <p:nvPr/>
        </p:nvSpPr>
        <p:spPr>
          <a:xfrm>
            <a:off x="9334500" y="3387090"/>
            <a:ext cx="3520916" cy="9525"/>
          </a:xfrm>
          <a:prstGeom prst="rect">
            <a:avLst/>
          </a:prstGeom>
          <a:solidFill>
            <a:srgbClr val="FFFFFF">
              <a:alpha val="8000"/>
            </a:srgbClr>
          </a:solidFill>
          <a:ln/>
        </p:spPr>
      </p:sp>
      <p:sp>
        <p:nvSpPr>
          <p:cNvPr id="54" name="Text 52"/>
          <p:cNvSpPr/>
          <p:nvPr/>
        </p:nvSpPr>
        <p:spPr>
          <a:xfrm>
            <a:off x="9505950" y="3030855"/>
            <a:ext cx="328364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MM/DD/YYYY</a:t>
            </a:r>
            <a:endParaRPr lang="en-US" sz="1725" dirty="0"/>
          </a:p>
        </p:txBody>
      </p:sp>
      <p:sp>
        <p:nvSpPr>
          <p:cNvPr id="55" name="Shape 53"/>
          <p:cNvSpPr/>
          <p:nvPr/>
        </p:nvSpPr>
        <p:spPr>
          <a:xfrm>
            <a:off x="12855416" y="3387090"/>
            <a:ext cx="4480084" cy="9525"/>
          </a:xfrm>
          <a:prstGeom prst="rect">
            <a:avLst/>
          </a:prstGeom>
          <a:solidFill>
            <a:srgbClr val="FFFFFF">
              <a:alpha val="8000"/>
            </a:srgbClr>
          </a:solidFill>
          <a:ln/>
        </p:spPr>
      </p:sp>
      <p:sp>
        <p:nvSpPr>
          <p:cNvPr id="56" name="Text 54"/>
          <p:cNvSpPr/>
          <p:nvPr/>
        </p:nvSpPr>
        <p:spPr>
          <a:xfrm>
            <a:off x="13026866" y="3030855"/>
            <a:ext cx="427158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01/15/2023</a:t>
            </a:r>
            <a:endParaRPr lang="en-US" sz="1725" dirty="0"/>
          </a:p>
        </p:txBody>
      </p:sp>
      <p:sp>
        <p:nvSpPr>
          <p:cNvPr id="57" name="Shape 55"/>
          <p:cNvSpPr/>
          <p:nvPr/>
        </p:nvSpPr>
        <p:spPr>
          <a:xfrm>
            <a:off x="9334500" y="3394710"/>
            <a:ext cx="3520916" cy="468630"/>
          </a:xfrm>
          <a:prstGeom prst="rect">
            <a:avLst/>
          </a:prstGeom>
          <a:solidFill>
            <a:srgbClr val="FFFFFF">
              <a:alpha val="2000"/>
            </a:srgbClr>
          </a:solidFill>
          <a:ln/>
        </p:spPr>
      </p:sp>
      <p:sp>
        <p:nvSpPr>
          <p:cNvPr id="58" name="Shape 56"/>
          <p:cNvSpPr/>
          <p:nvPr/>
        </p:nvSpPr>
        <p:spPr>
          <a:xfrm>
            <a:off x="9334500" y="3855720"/>
            <a:ext cx="3520916" cy="9525"/>
          </a:xfrm>
          <a:prstGeom prst="rect">
            <a:avLst/>
          </a:prstGeom>
          <a:solidFill>
            <a:srgbClr val="FFFFFF">
              <a:alpha val="8000"/>
            </a:srgbClr>
          </a:solidFill>
          <a:ln/>
        </p:spPr>
      </p:sp>
      <p:sp>
        <p:nvSpPr>
          <p:cNvPr id="59" name="Text 57"/>
          <p:cNvSpPr/>
          <p:nvPr/>
        </p:nvSpPr>
        <p:spPr>
          <a:xfrm>
            <a:off x="9505950" y="3499485"/>
            <a:ext cx="328364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MMM DD, YYYY</a:t>
            </a:r>
            <a:endParaRPr lang="en-US" sz="1725" dirty="0"/>
          </a:p>
        </p:txBody>
      </p:sp>
      <p:sp>
        <p:nvSpPr>
          <p:cNvPr id="60" name="Shape 58"/>
          <p:cNvSpPr/>
          <p:nvPr/>
        </p:nvSpPr>
        <p:spPr>
          <a:xfrm>
            <a:off x="12855416" y="3394710"/>
            <a:ext cx="4480084" cy="468630"/>
          </a:xfrm>
          <a:prstGeom prst="rect">
            <a:avLst/>
          </a:prstGeom>
          <a:solidFill>
            <a:srgbClr val="FFFFFF">
              <a:alpha val="2000"/>
            </a:srgbClr>
          </a:solidFill>
          <a:ln/>
        </p:spPr>
      </p:sp>
      <p:sp>
        <p:nvSpPr>
          <p:cNvPr id="61" name="Shape 59"/>
          <p:cNvSpPr/>
          <p:nvPr/>
        </p:nvSpPr>
        <p:spPr>
          <a:xfrm>
            <a:off x="12855416" y="3855720"/>
            <a:ext cx="4480084" cy="9525"/>
          </a:xfrm>
          <a:prstGeom prst="rect">
            <a:avLst/>
          </a:prstGeom>
          <a:solidFill>
            <a:srgbClr val="FFFFFF">
              <a:alpha val="8000"/>
            </a:srgbClr>
          </a:solidFill>
          <a:ln/>
        </p:spPr>
      </p:sp>
      <p:sp>
        <p:nvSpPr>
          <p:cNvPr id="62" name="Text 60"/>
          <p:cNvSpPr/>
          <p:nvPr/>
        </p:nvSpPr>
        <p:spPr>
          <a:xfrm>
            <a:off x="13026866" y="3499485"/>
            <a:ext cx="427158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15, 2023</a:t>
            </a:r>
            <a:endParaRPr lang="en-US" sz="1725" dirty="0"/>
          </a:p>
        </p:txBody>
      </p:sp>
      <p:sp>
        <p:nvSpPr>
          <p:cNvPr id="63" name="Shape 61"/>
          <p:cNvSpPr/>
          <p:nvPr/>
        </p:nvSpPr>
        <p:spPr>
          <a:xfrm>
            <a:off x="9334500" y="4324350"/>
            <a:ext cx="3520916" cy="9525"/>
          </a:xfrm>
          <a:prstGeom prst="rect">
            <a:avLst/>
          </a:prstGeom>
          <a:solidFill>
            <a:srgbClr val="FFFFFF">
              <a:alpha val="8000"/>
            </a:srgbClr>
          </a:solidFill>
          <a:ln/>
        </p:spPr>
      </p:sp>
      <p:sp>
        <p:nvSpPr>
          <p:cNvPr id="64" name="Text 62"/>
          <p:cNvSpPr/>
          <p:nvPr/>
        </p:nvSpPr>
        <p:spPr>
          <a:xfrm>
            <a:off x="9505950" y="3968115"/>
            <a:ext cx="328364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DDDD, MMMM D</a:t>
            </a:r>
            <a:endParaRPr lang="en-US" sz="1725" dirty="0"/>
          </a:p>
        </p:txBody>
      </p:sp>
      <p:sp>
        <p:nvSpPr>
          <p:cNvPr id="65" name="Shape 63"/>
          <p:cNvSpPr/>
          <p:nvPr/>
        </p:nvSpPr>
        <p:spPr>
          <a:xfrm>
            <a:off x="12855416" y="4324350"/>
            <a:ext cx="4480084" cy="9525"/>
          </a:xfrm>
          <a:prstGeom prst="rect">
            <a:avLst/>
          </a:prstGeom>
          <a:solidFill>
            <a:srgbClr val="FFFFFF">
              <a:alpha val="8000"/>
            </a:srgbClr>
          </a:solidFill>
          <a:ln/>
        </p:spPr>
      </p:sp>
      <p:sp>
        <p:nvSpPr>
          <p:cNvPr id="66" name="Text 64"/>
          <p:cNvSpPr/>
          <p:nvPr/>
        </p:nvSpPr>
        <p:spPr>
          <a:xfrm>
            <a:off x="13026866" y="3968115"/>
            <a:ext cx="427158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Sunday, January 15</a:t>
            </a:r>
            <a:endParaRPr lang="en-US" sz="1725" dirty="0"/>
          </a:p>
        </p:txBody>
      </p:sp>
      <p:sp>
        <p:nvSpPr>
          <p:cNvPr id="67" name="Shape 65"/>
          <p:cNvSpPr/>
          <p:nvPr/>
        </p:nvSpPr>
        <p:spPr>
          <a:xfrm>
            <a:off x="9334500" y="4331970"/>
            <a:ext cx="3520916" cy="468630"/>
          </a:xfrm>
          <a:prstGeom prst="rect">
            <a:avLst/>
          </a:prstGeom>
          <a:solidFill>
            <a:srgbClr val="FFFFFF">
              <a:alpha val="2000"/>
            </a:srgbClr>
          </a:solidFill>
          <a:ln/>
        </p:spPr>
      </p:sp>
      <p:sp>
        <p:nvSpPr>
          <p:cNvPr id="68" name="Shape 66"/>
          <p:cNvSpPr/>
          <p:nvPr/>
        </p:nvSpPr>
        <p:spPr>
          <a:xfrm>
            <a:off x="9334500" y="4792980"/>
            <a:ext cx="3520916" cy="9525"/>
          </a:xfrm>
          <a:prstGeom prst="rect">
            <a:avLst/>
          </a:prstGeom>
          <a:solidFill>
            <a:srgbClr val="FFFFFF">
              <a:alpha val="8000"/>
            </a:srgbClr>
          </a:solidFill>
          <a:ln/>
        </p:spPr>
      </p:sp>
      <p:sp>
        <p:nvSpPr>
          <p:cNvPr id="69" name="Text 67"/>
          <p:cNvSpPr/>
          <p:nvPr/>
        </p:nvSpPr>
        <p:spPr>
          <a:xfrm>
            <a:off x="9505950" y="4436745"/>
            <a:ext cx="328364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2D3EE"/>
                </a:solidFill>
                <a:latin typeface="monospace" pitchFamily="34" charset="0"/>
                <a:ea typeface="monospace" pitchFamily="34" charset="-122"/>
                <a:cs typeface="monospace" pitchFamily="34" charset="-120"/>
              </a:rPr>
              <a:t>YYYY-MM-DD</a:t>
            </a:r>
            <a:endParaRPr lang="en-US" sz="1725" dirty="0"/>
          </a:p>
        </p:txBody>
      </p:sp>
      <p:sp>
        <p:nvSpPr>
          <p:cNvPr id="70" name="Shape 68"/>
          <p:cNvSpPr/>
          <p:nvPr/>
        </p:nvSpPr>
        <p:spPr>
          <a:xfrm>
            <a:off x="12855416" y="4331970"/>
            <a:ext cx="4480084" cy="468630"/>
          </a:xfrm>
          <a:prstGeom prst="rect">
            <a:avLst/>
          </a:prstGeom>
          <a:solidFill>
            <a:srgbClr val="FFFFFF">
              <a:alpha val="2000"/>
            </a:srgbClr>
          </a:solidFill>
          <a:ln/>
        </p:spPr>
      </p:sp>
      <p:sp>
        <p:nvSpPr>
          <p:cNvPr id="71" name="Shape 69"/>
          <p:cNvSpPr/>
          <p:nvPr/>
        </p:nvSpPr>
        <p:spPr>
          <a:xfrm>
            <a:off x="12855416" y="4792980"/>
            <a:ext cx="4480084" cy="9525"/>
          </a:xfrm>
          <a:prstGeom prst="rect">
            <a:avLst/>
          </a:prstGeom>
          <a:solidFill>
            <a:srgbClr val="FFFFFF">
              <a:alpha val="8000"/>
            </a:srgbClr>
          </a:solidFill>
          <a:ln/>
        </p:spPr>
      </p:sp>
      <p:sp>
        <p:nvSpPr>
          <p:cNvPr id="72" name="Text 70"/>
          <p:cNvSpPr/>
          <p:nvPr/>
        </p:nvSpPr>
        <p:spPr>
          <a:xfrm>
            <a:off x="13026866" y="4436745"/>
            <a:ext cx="427158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2023-01-15</a:t>
            </a:r>
            <a:endParaRPr lang="en-US" sz="1725" dirty="0"/>
          </a:p>
        </p:txBody>
      </p:sp>
      <p:sp>
        <p:nvSpPr>
          <p:cNvPr id="73" name="Shape 71"/>
          <p:cNvSpPr/>
          <p:nvPr/>
        </p:nvSpPr>
        <p:spPr>
          <a:xfrm>
            <a:off x="952500" y="8117205"/>
            <a:ext cx="16383000" cy="1407795"/>
          </a:xfrm>
          <a:prstGeom prst="roundRect">
            <a:avLst>
              <a:gd name="adj" fmla="val 8119"/>
            </a:avLst>
          </a:prstGeom>
          <a:solidFill>
            <a:srgbClr val="FBBF24">
              <a:alpha val="5000"/>
            </a:srgbClr>
          </a:solidFill>
          <a:ln w="7620">
            <a:solidFill>
              <a:srgbClr val="FBBF24">
                <a:alpha val="30000"/>
              </a:srgbClr>
            </a:solidFill>
            <a:prstDash val="solid"/>
          </a:ln>
        </p:spPr>
      </p:sp>
      <p:sp>
        <p:nvSpPr>
          <p:cNvPr id="74" name="Text 72"/>
          <p:cNvSpPr/>
          <p:nvPr/>
        </p:nvSpPr>
        <p:spPr>
          <a:xfrm>
            <a:off x="1303020" y="8429625"/>
            <a:ext cx="1615241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BBF24"/>
                </a:solidFill>
                <a:latin typeface="Arial" pitchFamily="34" charset="0"/>
                <a:ea typeface="Arial" pitchFamily="34" charset="-122"/>
                <a:cs typeface="Arial" pitchFamily="34" charset="-120"/>
              </a:rPr>
              <a:t>Key insight: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Formatting only changes how data </a:t>
            </a:r>
            <a:pPr algn="l" indent="0" marL="0">
              <a:lnSpc>
                <a:spcPct val="155000"/>
              </a:lnSpc>
              <a:buNone/>
            </a:pPr>
            <a:r>
              <a:rPr lang="en-US" sz="1950" i="1" dirty="0">
                <a:solidFill>
                  <a:srgbClr val="F0F6FC"/>
                </a:solidFill>
                <a:latin typeface="Arial" pitchFamily="34" charset="0"/>
                <a:ea typeface="Arial" pitchFamily="34" charset="-122"/>
                <a:cs typeface="Arial" pitchFamily="34" charset="-120"/>
              </a:rPr>
              <a:t>looks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 the underlying value is always preserved. $52,000 and 52000 are identical to Excel's calculation engine.</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55175"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02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Format the Employee Dataset</a:t>
            </a:r>
            <a:endParaRPr lang="en-US" sz="3900" dirty="0"/>
          </a:p>
        </p:txBody>
      </p:sp>
      <p:sp>
        <p:nvSpPr>
          <p:cNvPr id="8" name="Text 6"/>
          <p:cNvSpPr/>
          <p:nvPr/>
        </p:nvSpPr>
        <p:spPr>
          <a:xfrm>
            <a:off x="1493520" y="2672715"/>
            <a:ext cx="15759989" cy="2716530"/>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Open the shared file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Module2_Data.xlsx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and format it to match the target screenshot: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Apply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Bold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 the header row and change fill to dark green.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Format the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Salary column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as Currency ($) with 0 decimal places.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Format the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Hire Date column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as </a:t>
            </a:r>
            <a:pPr algn="l" indent="0" marL="0">
              <a:lnSpc>
                <a:spcPct val="165000"/>
              </a:lnSpc>
              <a:buNone/>
            </a:pPr>
            <a:r>
              <a:rPr lang="en-US" sz="2100" i="1" dirty="0">
                <a:solidFill>
                  <a:srgbClr val="AEC8C2"/>
                </a:solidFill>
                <a:latin typeface="Arial" pitchFamily="34" charset="0"/>
                <a:ea typeface="Arial" pitchFamily="34" charset="-122"/>
                <a:cs typeface="Arial" pitchFamily="34" charset="-120"/>
              </a:rPr>
              <a:t>MMM DD, YYYY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(e.g. Jan 15, 2022).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4.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Add a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border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around the entire table (All Borders).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Convert the range to an official Excel Table (Ctrl+T) and apply a table style.</a:t>
            </a:r>
            <a:endParaRPr lang="en-US" sz="2100" dirty="0"/>
          </a:p>
        </p:txBody>
      </p:sp>
      <p:sp>
        <p:nvSpPr>
          <p:cNvPr id="9" name="Shape 7"/>
          <p:cNvSpPr/>
          <p:nvPr/>
        </p:nvSpPr>
        <p:spPr>
          <a:xfrm>
            <a:off x="1493520" y="5617845"/>
            <a:ext cx="1513403"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711190"/>
            <a:ext cx="1155263"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7 minutes</a:t>
            </a:r>
            <a:endParaRPr lang="en-US" sz="1500" dirty="0"/>
          </a:p>
        </p:txBody>
      </p:sp>
      <p:sp>
        <p:nvSpPr>
          <p:cNvPr id="11" name="Shape 9"/>
          <p:cNvSpPr/>
          <p:nvPr/>
        </p:nvSpPr>
        <p:spPr>
          <a:xfrm>
            <a:off x="3159323" y="5617845"/>
            <a:ext cx="1558409"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76493" y="5711190"/>
            <a:ext cx="1200269"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Beginner</a:t>
            </a:r>
            <a:endParaRPr lang="en-US" sz="1500" dirty="0"/>
          </a:p>
        </p:txBody>
      </p:sp>
      <p:sp>
        <p:nvSpPr>
          <p:cNvPr id="13" name="Shape 11"/>
          <p:cNvSpPr/>
          <p:nvPr/>
        </p:nvSpPr>
        <p:spPr>
          <a:xfrm>
            <a:off x="4870133" y="5617845"/>
            <a:ext cx="2047399" cy="438150"/>
          </a:xfrm>
          <a:prstGeom prst="roundRect">
            <a:avLst>
              <a:gd name="adj" fmla="val 17391"/>
            </a:avLst>
          </a:prstGeom>
          <a:solidFill>
            <a:srgbClr val="A78BFA">
              <a:alpha val="12000"/>
            </a:srgbClr>
          </a:solidFill>
          <a:ln w="7620">
            <a:solidFill>
              <a:srgbClr val="A78BFA">
                <a:alpha val="28000"/>
              </a:srgbClr>
            </a:solidFill>
            <a:prstDash val="solid"/>
          </a:ln>
        </p:spPr>
      </p:sp>
      <p:sp>
        <p:nvSpPr>
          <p:cNvPr id="14" name="Text 12"/>
          <p:cNvSpPr/>
          <p:nvPr/>
        </p:nvSpPr>
        <p:spPr>
          <a:xfrm>
            <a:off x="5087303" y="5711190"/>
            <a:ext cx="1689259"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A78BFA"/>
                </a:solidFill>
                <a:latin typeface="Arial" pitchFamily="34" charset="0"/>
                <a:ea typeface="Arial" pitchFamily="34" charset="-122"/>
                <a:cs typeface="Arial" pitchFamily="34" charset="-120"/>
              </a:rPr>
              <a:t>✦ Bonus available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641956" y="8382000"/>
            <a:ext cx="2150745"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03</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3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Basic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Functions</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SUM · AVERAGE · MIN · MAX</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25 minutes</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3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Anatomy of a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Formula</a:t>
            </a:r>
            <a:endParaRPr lang="en-US" sz="4200" dirty="0"/>
          </a:p>
        </p:txBody>
      </p:sp>
      <p:sp>
        <p:nvSpPr>
          <p:cNvPr id="11" name="Text 9"/>
          <p:cNvSpPr/>
          <p:nvPr/>
        </p:nvSpPr>
        <p:spPr>
          <a:xfrm>
            <a:off x="706755" y="3437096"/>
            <a:ext cx="16874490" cy="777240"/>
          </a:xfrm>
          <a:prstGeom prst="rect">
            <a:avLst/>
          </a:prstGeom>
          <a:noFill/>
          <a:ln/>
        </p:spPr>
        <p:txBody>
          <a:bodyPr wrap="square" lIns="25400" tIns="25400" rIns="25400" bIns="25400" rtlCol="0" anchor="t">
            <a:normAutofit/>
          </a:bodyPr>
          <a:lstStyle/>
          <a:p>
            <a:pPr algn="ctr" indent="0" marL="0">
              <a:buNone/>
            </a:pPr>
            <a:r>
              <a:rPr lang="en-US" sz="5100" b="1" spc="150" kern="0" dirty="0">
                <a:solidFill>
                  <a:srgbClr val="7D8590"/>
                </a:solidFill>
                <a:latin typeface="Courier New" pitchFamily="34" charset="0"/>
                <a:ea typeface="Courier New" pitchFamily="34" charset="-122"/>
                <a:cs typeface="Courier New" pitchFamily="34" charset="-120"/>
              </a:rPr>
              <a:t>=</a:t>
            </a:r>
            <a:pPr algn="ctr" indent="0" marL="0">
              <a:buNone/>
            </a:pPr>
            <a:r>
              <a:rPr lang="en-US" sz="5100" b="1" spc="150" kern="0" dirty="0">
                <a:solidFill>
                  <a:srgbClr val="2DD4BF"/>
                </a:solidFill>
                <a:latin typeface="Courier New" pitchFamily="34" charset="0"/>
                <a:ea typeface="Courier New" pitchFamily="34" charset="-122"/>
                <a:cs typeface="Courier New" pitchFamily="34" charset="-120"/>
              </a:rPr>
              <a:t>SUM</a:t>
            </a:r>
            <a:pPr algn="ctr" indent="0" marL="0">
              <a:buNone/>
            </a:pPr>
            <a:r>
              <a:rPr lang="en-US" sz="5100" b="1" spc="150" kern="0" dirty="0">
                <a:solidFill>
                  <a:srgbClr val="7D8590"/>
                </a:solidFill>
                <a:latin typeface="Courier New" pitchFamily="34" charset="0"/>
                <a:ea typeface="Courier New" pitchFamily="34" charset="-122"/>
                <a:cs typeface="Courier New" pitchFamily="34" charset="-120"/>
              </a:rPr>
              <a:t>(</a:t>
            </a:r>
            <a:pPr algn="ctr" indent="0" marL="0">
              <a:buNone/>
            </a:pPr>
            <a:r>
              <a:rPr lang="en-US" sz="5100" b="1" spc="150" kern="0" dirty="0">
                <a:solidFill>
                  <a:srgbClr val="FBBF24"/>
                </a:solidFill>
                <a:latin typeface="Courier New" pitchFamily="34" charset="0"/>
                <a:ea typeface="Courier New" pitchFamily="34" charset="-122"/>
                <a:cs typeface="Courier New" pitchFamily="34" charset="-120"/>
              </a:rPr>
              <a:t>B2</a:t>
            </a:r>
            <a:pPr algn="ctr" indent="0" marL="0">
              <a:buNone/>
            </a:pPr>
            <a:r>
              <a:rPr lang="en-US" sz="5100" b="1" spc="150" kern="0" dirty="0">
                <a:solidFill>
                  <a:srgbClr val="7D8590"/>
                </a:solidFill>
                <a:latin typeface="Courier New" pitchFamily="34" charset="0"/>
                <a:ea typeface="Courier New" pitchFamily="34" charset="-122"/>
                <a:cs typeface="Courier New" pitchFamily="34" charset="-120"/>
              </a:rPr>
              <a:t>:</a:t>
            </a:r>
            <a:pPr algn="ctr" indent="0" marL="0">
              <a:buNone/>
            </a:pPr>
            <a:r>
              <a:rPr lang="en-US" sz="5100" b="1" spc="150" kern="0" dirty="0">
                <a:solidFill>
                  <a:srgbClr val="FBBF24"/>
                </a:solidFill>
                <a:latin typeface="Courier New" pitchFamily="34" charset="0"/>
                <a:ea typeface="Courier New" pitchFamily="34" charset="-122"/>
                <a:cs typeface="Courier New" pitchFamily="34" charset="-120"/>
              </a:rPr>
              <a:t>B11</a:t>
            </a:r>
            <a:pPr algn="ctr" indent="0" marL="0">
              <a:buNone/>
            </a:pPr>
            <a:r>
              <a:rPr lang="en-US" sz="5100" b="1" spc="150" kern="0" dirty="0">
                <a:solidFill>
                  <a:srgbClr val="7D8590"/>
                </a:solidFill>
                <a:latin typeface="Courier New" pitchFamily="34" charset="0"/>
                <a:ea typeface="Courier New" pitchFamily="34" charset="-122"/>
                <a:cs typeface="Courier New" pitchFamily="34" charset="-120"/>
              </a:rPr>
              <a:t>)</a:t>
            </a:r>
            <a:endParaRPr lang="en-US" sz="5100" dirty="0"/>
          </a:p>
        </p:txBody>
      </p:sp>
      <p:sp>
        <p:nvSpPr>
          <p:cNvPr id="12" name="Shape 10"/>
          <p:cNvSpPr/>
          <p:nvPr/>
        </p:nvSpPr>
        <p:spPr>
          <a:xfrm>
            <a:off x="952500" y="4557236"/>
            <a:ext cx="3952875" cy="1882140"/>
          </a:xfrm>
          <a:prstGeom prst="roundRect">
            <a:avLst>
              <a:gd name="adj" fmla="val 6073"/>
            </a:avLst>
          </a:prstGeom>
          <a:solidFill>
            <a:srgbClr val="161B22"/>
          </a:solidFill>
          <a:ln w="7620">
            <a:solidFill>
              <a:srgbClr val="FFFFFF">
                <a:alpha val="8000"/>
              </a:srgbClr>
            </a:solidFill>
            <a:prstDash val="solid"/>
          </a:ln>
        </p:spPr>
      </p:sp>
      <p:sp>
        <p:nvSpPr>
          <p:cNvPr id="13" name="Shape 11"/>
          <p:cNvSpPr/>
          <p:nvPr/>
        </p:nvSpPr>
        <p:spPr>
          <a:xfrm>
            <a:off x="2914650" y="4989672"/>
            <a:ext cx="28575" cy="381000"/>
          </a:xfrm>
          <a:prstGeom prst="roundRect">
            <a:avLst>
              <a:gd name="adj" fmla="val 50000"/>
            </a:avLst>
          </a:prstGeom>
          <a:solidFill>
            <a:srgbClr val="7D8590"/>
          </a:solidFill>
          <a:ln/>
        </p:spPr>
      </p:sp>
      <p:sp>
        <p:nvSpPr>
          <p:cNvPr id="14" name="Text 12"/>
          <p:cNvSpPr/>
          <p:nvPr/>
        </p:nvSpPr>
        <p:spPr>
          <a:xfrm>
            <a:off x="1254243" y="5446872"/>
            <a:ext cx="3349390"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7D8590"/>
                </a:solidFill>
                <a:latin typeface="Arial" pitchFamily="34" charset="0"/>
                <a:ea typeface="Arial" pitchFamily="34" charset="-122"/>
                <a:cs typeface="Arial" pitchFamily="34" charset="-120"/>
              </a:rPr>
              <a:t>= sign</a:t>
            </a:r>
            <a:endParaRPr lang="en-US" sz="1500" dirty="0"/>
          </a:p>
        </p:txBody>
      </p:sp>
      <p:sp>
        <p:nvSpPr>
          <p:cNvPr id="15" name="Text 13"/>
          <p:cNvSpPr/>
          <p:nvPr/>
        </p:nvSpPr>
        <p:spPr>
          <a:xfrm>
            <a:off x="1254243" y="5766911"/>
            <a:ext cx="3349390" cy="27813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7D8590"/>
                </a:solidFill>
                <a:latin typeface="Arial" pitchFamily="34" charset="0"/>
                <a:ea typeface="Arial" pitchFamily="34" charset="-122"/>
                <a:cs typeface="Arial" pitchFamily="34" charset="-120"/>
              </a:rPr>
              <a:t>Tells Excel this is a formula, not text</a:t>
            </a:r>
            <a:endParaRPr lang="en-US" sz="1350" dirty="0"/>
          </a:p>
        </p:txBody>
      </p:sp>
      <p:sp>
        <p:nvSpPr>
          <p:cNvPr id="16" name="Shape 14"/>
          <p:cNvSpPr/>
          <p:nvPr/>
        </p:nvSpPr>
        <p:spPr>
          <a:xfrm>
            <a:off x="5095875" y="4557236"/>
            <a:ext cx="3952875" cy="1882140"/>
          </a:xfrm>
          <a:prstGeom prst="roundRect">
            <a:avLst>
              <a:gd name="adj" fmla="val 6073"/>
            </a:avLst>
          </a:prstGeom>
          <a:solidFill>
            <a:srgbClr val="161B22"/>
          </a:solidFill>
          <a:ln w="7620">
            <a:solidFill>
              <a:srgbClr val="FFFFFF">
                <a:alpha val="8000"/>
              </a:srgbClr>
            </a:solidFill>
            <a:prstDash val="solid"/>
          </a:ln>
        </p:spPr>
      </p:sp>
      <p:sp>
        <p:nvSpPr>
          <p:cNvPr id="17" name="Shape 15"/>
          <p:cNvSpPr/>
          <p:nvPr/>
        </p:nvSpPr>
        <p:spPr>
          <a:xfrm>
            <a:off x="7058025" y="4869656"/>
            <a:ext cx="28575" cy="381000"/>
          </a:xfrm>
          <a:prstGeom prst="roundRect">
            <a:avLst>
              <a:gd name="adj" fmla="val 50000"/>
            </a:avLst>
          </a:prstGeom>
          <a:solidFill>
            <a:srgbClr val="2DD4BF"/>
          </a:solidFill>
          <a:ln/>
        </p:spPr>
      </p:sp>
      <p:sp>
        <p:nvSpPr>
          <p:cNvPr id="18" name="Text 16"/>
          <p:cNvSpPr/>
          <p:nvPr/>
        </p:nvSpPr>
        <p:spPr>
          <a:xfrm>
            <a:off x="5397617" y="5326856"/>
            <a:ext cx="3349390"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Function Name</a:t>
            </a:r>
            <a:endParaRPr lang="en-US" sz="1500" dirty="0"/>
          </a:p>
        </p:txBody>
      </p:sp>
      <p:sp>
        <p:nvSpPr>
          <p:cNvPr id="19" name="Text 17"/>
          <p:cNvSpPr/>
          <p:nvPr/>
        </p:nvSpPr>
        <p:spPr>
          <a:xfrm>
            <a:off x="5397617" y="5646897"/>
            <a:ext cx="334939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7D8590"/>
                </a:solidFill>
                <a:latin typeface="Arial" pitchFamily="34" charset="0"/>
                <a:ea typeface="Arial" pitchFamily="34" charset="-122"/>
                <a:cs typeface="Arial" pitchFamily="34" charset="-120"/>
              </a:rPr>
              <a:t>The operation to perform (SUM, AVERAGE, etc.)</a:t>
            </a:r>
            <a:endParaRPr lang="en-US" sz="1350" dirty="0"/>
          </a:p>
        </p:txBody>
      </p:sp>
      <p:sp>
        <p:nvSpPr>
          <p:cNvPr id="20" name="Shape 18"/>
          <p:cNvSpPr/>
          <p:nvPr/>
        </p:nvSpPr>
        <p:spPr>
          <a:xfrm>
            <a:off x="9239250" y="4557236"/>
            <a:ext cx="3952875" cy="1882140"/>
          </a:xfrm>
          <a:prstGeom prst="roundRect">
            <a:avLst>
              <a:gd name="adj" fmla="val 6073"/>
            </a:avLst>
          </a:prstGeom>
          <a:solidFill>
            <a:srgbClr val="161B22"/>
          </a:solidFill>
          <a:ln w="7620">
            <a:solidFill>
              <a:srgbClr val="FFFFFF">
                <a:alpha val="8000"/>
              </a:srgbClr>
            </a:solidFill>
            <a:prstDash val="solid"/>
          </a:ln>
        </p:spPr>
      </p:sp>
      <p:sp>
        <p:nvSpPr>
          <p:cNvPr id="21" name="Shape 19"/>
          <p:cNvSpPr/>
          <p:nvPr/>
        </p:nvSpPr>
        <p:spPr>
          <a:xfrm>
            <a:off x="11201400" y="4989672"/>
            <a:ext cx="28575" cy="381000"/>
          </a:xfrm>
          <a:prstGeom prst="roundRect">
            <a:avLst>
              <a:gd name="adj" fmla="val 50000"/>
            </a:avLst>
          </a:prstGeom>
          <a:solidFill>
            <a:srgbClr val="FBBF24"/>
          </a:solidFill>
          <a:ln/>
        </p:spPr>
      </p:sp>
      <p:sp>
        <p:nvSpPr>
          <p:cNvPr id="22" name="Text 20"/>
          <p:cNvSpPr/>
          <p:nvPr/>
        </p:nvSpPr>
        <p:spPr>
          <a:xfrm>
            <a:off x="9540992" y="5446872"/>
            <a:ext cx="3349390"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FBBF24"/>
                </a:solidFill>
                <a:latin typeface="Arial" pitchFamily="34" charset="0"/>
                <a:ea typeface="Arial" pitchFamily="34" charset="-122"/>
                <a:cs typeface="Arial" pitchFamily="34" charset="-120"/>
              </a:rPr>
              <a:t>Cell Range</a:t>
            </a:r>
            <a:endParaRPr lang="en-US" sz="1500" dirty="0"/>
          </a:p>
        </p:txBody>
      </p:sp>
      <p:sp>
        <p:nvSpPr>
          <p:cNvPr id="23" name="Text 21"/>
          <p:cNvSpPr/>
          <p:nvPr/>
        </p:nvSpPr>
        <p:spPr>
          <a:xfrm>
            <a:off x="9540992" y="5766911"/>
            <a:ext cx="3349390" cy="27813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7D8590"/>
                </a:solidFill>
                <a:latin typeface="Arial" pitchFamily="34" charset="0"/>
                <a:ea typeface="Arial" pitchFamily="34" charset="-122"/>
                <a:cs typeface="Arial" pitchFamily="34" charset="-120"/>
              </a:rPr>
              <a:t>B2:B11 means "cells B2 through B11"</a:t>
            </a:r>
            <a:endParaRPr lang="en-US" sz="1350" dirty="0"/>
          </a:p>
        </p:txBody>
      </p:sp>
      <p:sp>
        <p:nvSpPr>
          <p:cNvPr id="24" name="Shape 22"/>
          <p:cNvSpPr/>
          <p:nvPr/>
        </p:nvSpPr>
        <p:spPr>
          <a:xfrm>
            <a:off x="13382625" y="4557236"/>
            <a:ext cx="3952875" cy="1882140"/>
          </a:xfrm>
          <a:prstGeom prst="roundRect">
            <a:avLst>
              <a:gd name="adj" fmla="val 6073"/>
            </a:avLst>
          </a:prstGeom>
          <a:solidFill>
            <a:srgbClr val="161B22"/>
          </a:solidFill>
          <a:ln w="7620">
            <a:solidFill>
              <a:srgbClr val="FFFFFF">
                <a:alpha val="8000"/>
              </a:srgbClr>
            </a:solidFill>
            <a:prstDash val="solid"/>
          </a:ln>
        </p:spPr>
      </p:sp>
      <p:sp>
        <p:nvSpPr>
          <p:cNvPr id="25" name="Shape 23"/>
          <p:cNvSpPr/>
          <p:nvPr/>
        </p:nvSpPr>
        <p:spPr>
          <a:xfrm>
            <a:off x="15344775" y="4869656"/>
            <a:ext cx="28575" cy="381000"/>
          </a:xfrm>
          <a:prstGeom prst="roundRect">
            <a:avLst>
              <a:gd name="adj" fmla="val 50000"/>
            </a:avLst>
          </a:prstGeom>
          <a:solidFill>
            <a:srgbClr val="7D8590"/>
          </a:solidFill>
          <a:ln/>
        </p:spPr>
      </p:sp>
      <p:sp>
        <p:nvSpPr>
          <p:cNvPr id="26" name="Text 24"/>
          <p:cNvSpPr/>
          <p:nvPr/>
        </p:nvSpPr>
        <p:spPr>
          <a:xfrm>
            <a:off x="13684368" y="5326856"/>
            <a:ext cx="3349390"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7D8590"/>
                </a:solidFill>
                <a:latin typeface="Arial" pitchFamily="34" charset="0"/>
                <a:ea typeface="Arial" pitchFamily="34" charset="-122"/>
                <a:cs typeface="Arial" pitchFamily="34" charset="-120"/>
              </a:rPr>
              <a:t>Parentheses</a:t>
            </a:r>
            <a:endParaRPr lang="en-US" sz="1500" dirty="0"/>
          </a:p>
        </p:txBody>
      </p:sp>
      <p:sp>
        <p:nvSpPr>
          <p:cNvPr id="27" name="Text 25"/>
          <p:cNvSpPr/>
          <p:nvPr/>
        </p:nvSpPr>
        <p:spPr>
          <a:xfrm>
            <a:off x="13684368" y="5646897"/>
            <a:ext cx="334939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7D8590"/>
                </a:solidFill>
                <a:latin typeface="Arial" pitchFamily="34" charset="0"/>
                <a:ea typeface="Arial" pitchFamily="34" charset="-122"/>
                <a:cs typeface="Arial" pitchFamily="34" charset="-120"/>
              </a:rPr>
              <a:t>Wrap the arguments — always required after a function name</a:t>
            </a:r>
            <a:endParaRPr lang="en-US" sz="1350" dirty="0"/>
          </a:p>
        </p:txBody>
      </p:sp>
      <p:sp>
        <p:nvSpPr>
          <p:cNvPr id="28" name="Shape 26"/>
          <p:cNvSpPr/>
          <p:nvPr/>
        </p:nvSpPr>
        <p:spPr>
          <a:xfrm>
            <a:off x="952500" y="6820376"/>
            <a:ext cx="16383000" cy="1023938"/>
          </a:xfrm>
          <a:prstGeom prst="roundRect">
            <a:avLst>
              <a:gd name="adj" fmla="val 11163"/>
            </a:avLst>
          </a:prstGeom>
          <a:solidFill>
            <a:srgbClr val="2DD4BF">
              <a:alpha val="5000"/>
            </a:srgbClr>
          </a:solidFill>
          <a:ln w="7620">
            <a:solidFill>
              <a:srgbClr val="2DD4BF">
                <a:alpha val="30000"/>
              </a:srgbClr>
            </a:solidFill>
            <a:prstDash val="solid"/>
          </a:ln>
        </p:spPr>
      </p:sp>
      <p:sp>
        <p:nvSpPr>
          <p:cNvPr id="29" name="Text 27"/>
          <p:cNvSpPr/>
          <p:nvPr/>
        </p:nvSpPr>
        <p:spPr>
          <a:xfrm>
            <a:off x="1303020" y="7132797"/>
            <a:ext cx="16152419" cy="437198"/>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Pro tip: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Type </a:t>
            </a:r>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=SUM(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and Excel will show you a tooltip with all the arguments it expects. Press Tab to autocomplete function names.</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3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SUM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&amp; </a:t>
            </a:r>
            <a:pPr algn="l" indent="0" marL="0">
              <a:lnSpc>
                <a:spcPct val="115000"/>
              </a:lnSpc>
              <a:buNone/>
            </a:pPr>
            <a:r>
              <a:rPr lang="en-US" sz="4200" b="1" dirty="0">
                <a:solidFill>
                  <a:srgbClr val="22D3EE"/>
                </a:solidFill>
                <a:latin typeface="Arial" pitchFamily="34" charset="0"/>
                <a:ea typeface="Arial" pitchFamily="34" charset="-122"/>
                <a:cs typeface="Arial" pitchFamily="34" charset="-120"/>
              </a:rPr>
              <a:t>AVERAGE</a:t>
            </a:r>
            <a:endParaRPr lang="en-US" sz="4200" dirty="0"/>
          </a:p>
        </p:txBody>
      </p:sp>
      <p:sp>
        <p:nvSpPr>
          <p:cNvPr id="11" name="Shape 9"/>
          <p:cNvSpPr/>
          <p:nvPr/>
        </p:nvSpPr>
        <p:spPr>
          <a:xfrm>
            <a:off x="952500" y="1680210"/>
            <a:ext cx="4698087" cy="499110"/>
          </a:xfrm>
          <a:prstGeom prst="rect">
            <a:avLst/>
          </a:prstGeom>
          <a:solidFill>
            <a:srgbClr val="2DD4BF"/>
          </a:solidFill>
          <a:ln/>
        </p:spPr>
      </p:sp>
      <p:sp>
        <p:nvSpPr>
          <p:cNvPr id="12" name="Text 10"/>
          <p:cNvSpPr/>
          <p:nvPr/>
        </p:nvSpPr>
        <p:spPr>
          <a:xfrm>
            <a:off x="1123950" y="1804035"/>
            <a:ext cx="4496130"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Employee</a:t>
            </a:r>
            <a:endParaRPr lang="en-US" sz="1575" dirty="0"/>
          </a:p>
        </p:txBody>
      </p:sp>
      <p:sp>
        <p:nvSpPr>
          <p:cNvPr id="13" name="Shape 11"/>
          <p:cNvSpPr/>
          <p:nvPr/>
        </p:nvSpPr>
        <p:spPr>
          <a:xfrm>
            <a:off x="5650587" y="1680210"/>
            <a:ext cx="3264813" cy="499110"/>
          </a:xfrm>
          <a:prstGeom prst="rect">
            <a:avLst/>
          </a:prstGeom>
          <a:solidFill>
            <a:srgbClr val="2DD4BF"/>
          </a:solidFill>
          <a:ln/>
        </p:spPr>
      </p:sp>
      <p:sp>
        <p:nvSpPr>
          <p:cNvPr id="14" name="Text 12"/>
          <p:cNvSpPr/>
          <p:nvPr/>
        </p:nvSpPr>
        <p:spPr>
          <a:xfrm>
            <a:off x="5724093" y="1804035"/>
            <a:ext cx="3019857"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15" name="Shape 13"/>
          <p:cNvSpPr/>
          <p:nvPr/>
        </p:nvSpPr>
        <p:spPr>
          <a:xfrm>
            <a:off x="952500" y="2179320"/>
            <a:ext cx="4698087" cy="464820"/>
          </a:xfrm>
          <a:prstGeom prst="rect">
            <a:avLst/>
          </a:prstGeom>
          <a:solidFill>
            <a:srgbClr val="FFFFFF">
              <a:alpha val="2000"/>
            </a:srgbClr>
          </a:solidFill>
          <a:ln/>
        </p:spPr>
      </p:sp>
      <p:sp>
        <p:nvSpPr>
          <p:cNvPr id="16" name="Shape 14"/>
          <p:cNvSpPr/>
          <p:nvPr/>
        </p:nvSpPr>
        <p:spPr>
          <a:xfrm>
            <a:off x="952500" y="2636520"/>
            <a:ext cx="4698087" cy="9525"/>
          </a:xfrm>
          <a:prstGeom prst="rect">
            <a:avLst/>
          </a:prstGeom>
          <a:solidFill>
            <a:srgbClr val="FFFFFF">
              <a:alpha val="8000"/>
            </a:srgbClr>
          </a:solidFill>
          <a:ln/>
        </p:spPr>
      </p:sp>
      <p:sp>
        <p:nvSpPr>
          <p:cNvPr id="17" name="Text 15"/>
          <p:cNvSpPr/>
          <p:nvPr/>
        </p:nvSpPr>
        <p:spPr>
          <a:xfrm>
            <a:off x="1123950" y="2284095"/>
            <a:ext cx="4496130"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Alice Johnson</a:t>
            </a:r>
            <a:endParaRPr lang="en-US" sz="1725" dirty="0"/>
          </a:p>
        </p:txBody>
      </p:sp>
      <p:sp>
        <p:nvSpPr>
          <p:cNvPr id="18" name="Shape 16"/>
          <p:cNvSpPr/>
          <p:nvPr/>
        </p:nvSpPr>
        <p:spPr>
          <a:xfrm>
            <a:off x="5650587" y="2179320"/>
            <a:ext cx="3264813" cy="464820"/>
          </a:xfrm>
          <a:prstGeom prst="rect">
            <a:avLst/>
          </a:prstGeom>
          <a:solidFill>
            <a:srgbClr val="FFFFFF">
              <a:alpha val="2000"/>
            </a:srgbClr>
          </a:solidFill>
          <a:ln/>
        </p:spPr>
      </p:sp>
      <p:sp>
        <p:nvSpPr>
          <p:cNvPr id="19" name="Shape 17"/>
          <p:cNvSpPr/>
          <p:nvPr/>
        </p:nvSpPr>
        <p:spPr>
          <a:xfrm>
            <a:off x="5650587" y="2636520"/>
            <a:ext cx="3264813" cy="9525"/>
          </a:xfrm>
          <a:prstGeom prst="rect">
            <a:avLst/>
          </a:prstGeom>
          <a:solidFill>
            <a:srgbClr val="FFFFFF">
              <a:alpha val="8000"/>
            </a:srgbClr>
          </a:solidFill>
          <a:ln/>
        </p:spPr>
      </p:sp>
      <p:sp>
        <p:nvSpPr>
          <p:cNvPr id="20" name="Text 18"/>
          <p:cNvSpPr/>
          <p:nvPr/>
        </p:nvSpPr>
        <p:spPr>
          <a:xfrm>
            <a:off x="5724093" y="2284095"/>
            <a:ext cx="3019857"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$52,000</a:t>
            </a:r>
            <a:endParaRPr lang="en-US" sz="1725" dirty="0"/>
          </a:p>
        </p:txBody>
      </p:sp>
      <p:sp>
        <p:nvSpPr>
          <p:cNvPr id="21" name="Shape 19"/>
          <p:cNvSpPr/>
          <p:nvPr/>
        </p:nvSpPr>
        <p:spPr>
          <a:xfrm>
            <a:off x="952500" y="3105150"/>
            <a:ext cx="4698087" cy="9525"/>
          </a:xfrm>
          <a:prstGeom prst="rect">
            <a:avLst/>
          </a:prstGeom>
          <a:solidFill>
            <a:srgbClr val="FFFFFF">
              <a:alpha val="8000"/>
            </a:srgbClr>
          </a:solidFill>
          <a:ln/>
        </p:spPr>
      </p:sp>
      <p:sp>
        <p:nvSpPr>
          <p:cNvPr id="22" name="Text 20"/>
          <p:cNvSpPr/>
          <p:nvPr/>
        </p:nvSpPr>
        <p:spPr>
          <a:xfrm>
            <a:off x="1123950" y="274891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23" name="Shape 21"/>
          <p:cNvSpPr/>
          <p:nvPr/>
        </p:nvSpPr>
        <p:spPr>
          <a:xfrm>
            <a:off x="5650587" y="3105150"/>
            <a:ext cx="3264813" cy="9525"/>
          </a:xfrm>
          <a:prstGeom prst="rect">
            <a:avLst/>
          </a:prstGeom>
          <a:solidFill>
            <a:srgbClr val="FFFFFF">
              <a:alpha val="8000"/>
            </a:srgbClr>
          </a:solidFill>
          <a:ln/>
        </p:spPr>
      </p:sp>
      <p:sp>
        <p:nvSpPr>
          <p:cNvPr id="24" name="Text 22"/>
          <p:cNvSpPr/>
          <p:nvPr/>
        </p:nvSpPr>
        <p:spPr>
          <a:xfrm>
            <a:off x="5724093" y="274891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25" name="Shape 23"/>
          <p:cNvSpPr/>
          <p:nvPr/>
        </p:nvSpPr>
        <p:spPr>
          <a:xfrm>
            <a:off x="952500" y="3112770"/>
            <a:ext cx="4698087" cy="468630"/>
          </a:xfrm>
          <a:prstGeom prst="rect">
            <a:avLst/>
          </a:prstGeom>
          <a:solidFill>
            <a:srgbClr val="FFFFFF">
              <a:alpha val="2000"/>
            </a:srgbClr>
          </a:solidFill>
          <a:ln/>
        </p:spPr>
      </p:sp>
      <p:sp>
        <p:nvSpPr>
          <p:cNvPr id="26" name="Shape 24"/>
          <p:cNvSpPr/>
          <p:nvPr/>
        </p:nvSpPr>
        <p:spPr>
          <a:xfrm>
            <a:off x="952500" y="3573780"/>
            <a:ext cx="4698087" cy="9525"/>
          </a:xfrm>
          <a:prstGeom prst="rect">
            <a:avLst/>
          </a:prstGeom>
          <a:solidFill>
            <a:srgbClr val="FFFFFF">
              <a:alpha val="8000"/>
            </a:srgbClr>
          </a:solidFill>
          <a:ln/>
        </p:spPr>
      </p:sp>
      <p:sp>
        <p:nvSpPr>
          <p:cNvPr id="27" name="Text 25"/>
          <p:cNvSpPr/>
          <p:nvPr/>
        </p:nvSpPr>
        <p:spPr>
          <a:xfrm>
            <a:off x="1123950" y="321754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Carol Smith</a:t>
            </a:r>
            <a:endParaRPr lang="en-US" sz="1725" dirty="0"/>
          </a:p>
        </p:txBody>
      </p:sp>
      <p:sp>
        <p:nvSpPr>
          <p:cNvPr id="28" name="Shape 26"/>
          <p:cNvSpPr/>
          <p:nvPr/>
        </p:nvSpPr>
        <p:spPr>
          <a:xfrm>
            <a:off x="5650587" y="3112770"/>
            <a:ext cx="3264813" cy="468630"/>
          </a:xfrm>
          <a:prstGeom prst="rect">
            <a:avLst/>
          </a:prstGeom>
          <a:solidFill>
            <a:srgbClr val="FFFFFF">
              <a:alpha val="2000"/>
            </a:srgbClr>
          </a:solidFill>
          <a:ln/>
        </p:spPr>
      </p:sp>
      <p:sp>
        <p:nvSpPr>
          <p:cNvPr id="29" name="Shape 27"/>
          <p:cNvSpPr/>
          <p:nvPr/>
        </p:nvSpPr>
        <p:spPr>
          <a:xfrm>
            <a:off x="5650587" y="3573780"/>
            <a:ext cx="3264813" cy="9525"/>
          </a:xfrm>
          <a:prstGeom prst="rect">
            <a:avLst/>
          </a:prstGeom>
          <a:solidFill>
            <a:srgbClr val="FFFFFF">
              <a:alpha val="8000"/>
            </a:srgbClr>
          </a:solidFill>
          <a:ln/>
        </p:spPr>
      </p:sp>
      <p:sp>
        <p:nvSpPr>
          <p:cNvPr id="30" name="Text 28"/>
          <p:cNvSpPr/>
          <p:nvPr/>
        </p:nvSpPr>
        <p:spPr>
          <a:xfrm>
            <a:off x="5724093" y="321754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31" name="Shape 29"/>
          <p:cNvSpPr/>
          <p:nvPr/>
        </p:nvSpPr>
        <p:spPr>
          <a:xfrm>
            <a:off x="952500" y="4042410"/>
            <a:ext cx="4698087" cy="9525"/>
          </a:xfrm>
          <a:prstGeom prst="rect">
            <a:avLst/>
          </a:prstGeom>
          <a:solidFill>
            <a:srgbClr val="FFFFFF">
              <a:alpha val="8000"/>
            </a:srgbClr>
          </a:solidFill>
          <a:ln/>
        </p:spPr>
      </p:sp>
      <p:sp>
        <p:nvSpPr>
          <p:cNvPr id="32" name="Text 30"/>
          <p:cNvSpPr/>
          <p:nvPr/>
        </p:nvSpPr>
        <p:spPr>
          <a:xfrm>
            <a:off x="1123950" y="368617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33" name="Shape 31"/>
          <p:cNvSpPr/>
          <p:nvPr/>
        </p:nvSpPr>
        <p:spPr>
          <a:xfrm>
            <a:off x="5650587" y="4042410"/>
            <a:ext cx="3264813" cy="9525"/>
          </a:xfrm>
          <a:prstGeom prst="rect">
            <a:avLst/>
          </a:prstGeom>
          <a:solidFill>
            <a:srgbClr val="FFFFFF">
              <a:alpha val="8000"/>
            </a:srgbClr>
          </a:solidFill>
          <a:ln/>
        </p:spPr>
      </p:sp>
      <p:sp>
        <p:nvSpPr>
          <p:cNvPr id="34" name="Text 32"/>
          <p:cNvSpPr/>
          <p:nvPr/>
        </p:nvSpPr>
        <p:spPr>
          <a:xfrm>
            <a:off x="5724093" y="368617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$71,000</a:t>
            </a:r>
            <a:endParaRPr lang="en-US" sz="1725" dirty="0"/>
          </a:p>
        </p:txBody>
      </p:sp>
      <p:sp>
        <p:nvSpPr>
          <p:cNvPr id="35" name="Shape 33"/>
          <p:cNvSpPr/>
          <p:nvPr/>
        </p:nvSpPr>
        <p:spPr>
          <a:xfrm>
            <a:off x="952500" y="4050030"/>
            <a:ext cx="4698087" cy="468630"/>
          </a:xfrm>
          <a:prstGeom prst="rect">
            <a:avLst/>
          </a:prstGeom>
          <a:solidFill>
            <a:srgbClr val="FFFFFF">
              <a:alpha val="2000"/>
            </a:srgbClr>
          </a:solidFill>
          <a:ln/>
        </p:spPr>
      </p:sp>
      <p:sp>
        <p:nvSpPr>
          <p:cNvPr id="36" name="Shape 34"/>
          <p:cNvSpPr/>
          <p:nvPr/>
        </p:nvSpPr>
        <p:spPr>
          <a:xfrm>
            <a:off x="952500" y="4511040"/>
            <a:ext cx="4698087" cy="9525"/>
          </a:xfrm>
          <a:prstGeom prst="rect">
            <a:avLst/>
          </a:prstGeom>
          <a:solidFill>
            <a:srgbClr val="FFFFFF">
              <a:alpha val="8000"/>
            </a:srgbClr>
          </a:solidFill>
          <a:ln/>
        </p:spPr>
      </p:sp>
      <p:sp>
        <p:nvSpPr>
          <p:cNvPr id="37" name="Text 35"/>
          <p:cNvSpPr/>
          <p:nvPr/>
        </p:nvSpPr>
        <p:spPr>
          <a:xfrm>
            <a:off x="1123950" y="415480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Emma Davis</a:t>
            </a:r>
            <a:endParaRPr lang="en-US" sz="1725" dirty="0"/>
          </a:p>
        </p:txBody>
      </p:sp>
      <p:sp>
        <p:nvSpPr>
          <p:cNvPr id="38" name="Shape 36"/>
          <p:cNvSpPr/>
          <p:nvPr/>
        </p:nvSpPr>
        <p:spPr>
          <a:xfrm>
            <a:off x="5650587" y="4050030"/>
            <a:ext cx="3264813" cy="468630"/>
          </a:xfrm>
          <a:prstGeom prst="rect">
            <a:avLst/>
          </a:prstGeom>
          <a:solidFill>
            <a:srgbClr val="FFFFFF">
              <a:alpha val="2000"/>
            </a:srgbClr>
          </a:solidFill>
          <a:ln/>
        </p:spPr>
      </p:sp>
      <p:sp>
        <p:nvSpPr>
          <p:cNvPr id="39" name="Shape 37"/>
          <p:cNvSpPr/>
          <p:nvPr/>
        </p:nvSpPr>
        <p:spPr>
          <a:xfrm>
            <a:off x="5650587" y="4511040"/>
            <a:ext cx="3264813" cy="9525"/>
          </a:xfrm>
          <a:prstGeom prst="rect">
            <a:avLst/>
          </a:prstGeom>
          <a:solidFill>
            <a:srgbClr val="FFFFFF">
              <a:alpha val="8000"/>
            </a:srgbClr>
          </a:solidFill>
          <a:ln/>
        </p:spPr>
      </p:sp>
      <p:sp>
        <p:nvSpPr>
          <p:cNvPr id="40" name="Text 38"/>
          <p:cNvSpPr/>
          <p:nvPr/>
        </p:nvSpPr>
        <p:spPr>
          <a:xfrm>
            <a:off x="5724093" y="415480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$58,300</a:t>
            </a:r>
            <a:endParaRPr lang="en-US" sz="1725" dirty="0"/>
          </a:p>
        </p:txBody>
      </p:sp>
      <p:sp>
        <p:nvSpPr>
          <p:cNvPr id="41" name="Shape 39"/>
          <p:cNvSpPr/>
          <p:nvPr/>
        </p:nvSpPr>
        <p:spPr>
          <a:xfrm>
            <a:off x="952500" y="4979670"/>
            <a:ext cx="4698087" cy="9525"/>
          </a:xfrm>
          <a:prstGeom prst="rect">
            <a:avLst/>
          </a:prstGeom>
          <a:solidFill>
            <a:srgbClr val="FFFFFF">
              <a:alpha val="8000"/>
            </a:srgbClr>
          </a:solidFill>
          <a:ln/>
        </p:spPr>
      </p:sp>
      <p:sp>
        <p:nvSpPr>
          <p:cNvPr id="42" name="Text 40"/>
          <p:cNvSpPr/>
          <p:nvPr/>
        </p:nvSpPr>
        <p:spPr>
          <a:xfrm>
            <a:off x="1123950" y="462343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43" name="Shape 41"/>
          <p:cNvSpPr/>
          <p:nvPr/>
        </p:nvSpPr>
        <p:spPr>
          <a:xfrm>
            <a:off x="5650587" y="4979670"/>
            <a:ext cx="3264813" cy="9525"/>
          </a:xfrm>
          <a:prstGeom prst="rect">
            <a:avLst/>
          </a:prstGeom>
          <a:solidFill>
            <a:srgbClr val="FFFFFF">
              <a:alpha val="8000"/>
            </a:srgbClr>
          </a:solidFill>
          <a:ln/>
        </p:spPr>
      </p:sp>
      <p:sp>
        <p:nvSpPr>
          <p:cNvPr id="44" name="Text 42"/>
          <p:cNvSpPr/>
          <p:nvPr/>
        </p:nvSpPr>
        <p:spPr>
          <a:xfrm>
            <a:off x="5724093" y="462343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45" name="Shape 43"/>
          <p:cNvSpPr/>
          <p:nvPr/>
        </p:nvSpPr>
        <p:spPr>
          <a:xfrm>
            <a:off x="952500" y="4987290"/>
            <a:ext cx="4698087" cy="468630"/>
          </a:xfrm>
          <a:prstGeom prst="rect">
            <a:avLst/>
          </a:prstGeom>
          <a:solidFill>
            <a:srgbClr val="FFFFFF">
              <a:alpha val="2000"/>
            </a:srgbClr>
          </a:solidFill>
          <a:ln/>
        </p:spPr>
      </p:sp>
      <p:sp>
        <p:nvSpPr>
          <p:cNvPr id="46" name="Shape 44"/>
          <p:cNvSpPr/>
          <p:nvPr/>
        </p:nvSpPr>
        <p:spPr>
          <a:xfrm>
            <a:off x="952500" y="5448300"/>
            <a:ext cx="4698087" cy="9525"/>
          </a:xfrm>
          <a:prstGeom prst="rect">
            <a:avLst/>
          </a:prstGeom>
          <a:solidFill>
            <a:srgbClr val="FFFFFF">
              <a:alpha val="8000"/>
            </a:srgbClr>
          </a:solidFill>
          <a:ln/>
        </p:spPr>
      </p:sp>
      <p:sp>
        <p:nvSpPr>
          <p:cNvPr id="47" name="Text 45"/>
          <p:cNvSpPr/>
          <p:nvPr/>
        </p:nvSpPr>
        <p:spPr>
          <a:xfrm>
            <a:off x="1123950" y="509206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Grace Kim</a:t>
            </a:r>
            <a:endParaRPr lang="en-US" sz="1725" dirty="0"/>
          </a:p>
        </p:txBody>
      </p:sp>
      <p:sp>
        <p:nvSpPr>
          <p:cNvPr id="48" name="Shape 46"/>
          <p:cNvSpPr/>
          <p:nvPr/>
        </p:nvSpPr>
        <p:spPr>
          <a:xfrm>
            <a:off x="5650587" y="4987290"/>
            <a:ext cx="3264813" cy="468630"/>
          </a:xfrm>
          <a:prstGeom prst="rect">
            <a:avLst/>
          </a:prstGeom>
          <a:solidFill>
            <a:srgbClr val="FFFFFF">
              <a:alpha val="2000"/>
            </a:srgbClr>
          </a:solidFill>
          <a:ln/>
        </p:spPr>
      </p:sp>
      <p:sp>
        <p:nvSpPr>
          <p:cNvPr id="49" name="Shape 47"/>
          <p:cNvSpPr/>
          <p:nvPr/>
        </p:nvSpPr>
        <p:spPr>
          <a:xfrm>
            <a:off x="5650587" y="5448300"/>
            <a:ext cx="3264813" cy="9525"/>
          </a:xfrm>
          <a:prstGeom prst="rect">
            <a:avLst/>
          </a:prstGeom>
          <a:solidFill>
            <a:srgbClr val="FFFFFF">
              <a:alpha val="8000"/>
            </a:srgbClr>
          </a:solidFill>
          <a:ln/>
        </p:spPr>
      </p:sp>
      <p:sp>
        <p:nvSpPr>
          <p:cNvPr id="50" name="Text 48"/>
          <p:cNvSpPr/>
          <p:nvPr/>
        </p:nvSpPr>
        <p:spPr>
          <a:xfrm>
            <a:off x="5724093" y="509206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$49,800</a:t>
            </a:r>
            <a:endParaRPr lang="en-US" sz="1725" dirty="0"/>
          </a:p>
        </p:txBody>
      </p:sp>
      <p:sp>
        <p:nvSpPr>
          <p:cNvPr id="51" name="Shape 49"/>
          <p:cNvSpPr/>
          <p:nvPr/>
        </p:nvSpPr>
        <p:spPr>
          <a:xfrm>
            <a:off x="952500" y="5916930"/>
            <a:ext cx="4698087" cy="9525"/>
          </a:xfrm>
          <a:prstGeom prst="rect">
            <a:avLst/>
          </a:prstGeom>
          <a:solidFill>
            <a:srgbClr val="FFFFFF">
              <a:alpha val="8000"/>
            </a:srgbClr>
          </a:solidFill>
          <a:ln/>
        </p:spPr>
      </p:sp>
      <p:sp>
        <p:nvSpPr>
          <p:cNvPr id="52" name="Text 50"/>
          <p:cNvSpPr/>
          <p:nvPr/>
        </p:nvSpPr>
        <p:spPr>
          <a:xfrm>
            <a:off x="1123950" y="5560695"/>
            <a:ext cx="449613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Henry Wu</a:t>
            </a:r>
            <a:endParaRPr lang="en-US" sz="1725" dirty="0"/>
          </a:p>
        </p:txBody>
      </p:sp>
      <p:sp>
        <p:nvSpPr>
          <p:cNvPr id="53" name="Shape 51"/>
          <p:cNvSpPr/>
          <p:nvPr/>
        </p:nvSpPr>
        <p:spPr>
          <a:xfrm>
            <a:off x="5650587" y="5916930"/>
            <a:ext cx="3264813" cy="9525"/>
          </a:xfrm>
          <a:prstGeom prst="rect">
            <a:avLst/>
          </a:prstGeom>
          <a:solidFill>
            <a:srgbClr val="FFFFFF">
              <a:alpha val="8000"/>
            </a:srgbClr>
          </a:solidFill>
          <a:ln/>
        </p:spPr>
      </p:sp>
      <p:sp>
        <p:nvSpPr>
          <p:cNvPr id="54" name="Text 52"/>
          <p:cNvSpPr/>
          <p:nvPr/>
        </p:nvSpPr>
        <p:spPr>
          <a:xfrm>
            <a:off x="5724093" y="5560695"/>
            <a:ext cx="301985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$55,400</a:t>
            </a:r>
            <a:endParaRPr lang="en-US" sz="1725" dirty="0"/>
          </a:p>
        </p:txBody>
      </p:sp>
      <p:sp>
        <p:nvSpPr>
          <p:cNvPr id="55" name="Shape 53"/>
          <p:cNvSpPr/>
          <p:nvPr/>
        </p:nvSpPr>
        <p:spPr>
          <a:xfrm>
            <a:off x="9372600" y="1680210"/>
            <a:ext cx="7962900" cy="2034540"/>
          </a:xfrm>
          <a:prstGeom prst="roundRect">
            <a:avLst>
              <a:gd name="adj" fmla="val 5618"/>
            </a:avLst>
          </a:prstGeom>
          <a:solidFill>
            <a:srgbClr val="161B22"/>
          </a:solidFill>
          <a:ln w="7620">
            <a:solidFill>
              <a:srgbClr val="FFFFFF">
                <a:alpha val="8000"/>
              </a:srgbClr>
            </a:solidFill>
            <a:prstDash val="solid"/>
          </a:ln>
        </p:spPr>
      </p:sp>
      <p:sp>
        <p:nvSpPr>
          <p:cNvPr id="56" name="Text 54"/>
          <p:cNvSpPr/>
          <p:nvPr/>
        </p:nvSpPr>
        <p:spPr>
          <a:xfrm>
            <a:off x="9723120" y="1992630"/>
            <a:ext cx="747971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=SUM(B2:B9)</a:t>
            </a:r>
            <a:endParaRPr lang="en-US" sz="1650" dirty="0"/>
          </a:p>
        </p:txBody>
      </p:sp>
      <p:sp>
        <p:nvSpPr>
          <p:cNvPr id="57" name="Text 55"/>
          <p:cNvSpPr/>
          <p:nvPr/>
        </p:nvSpPr>
        <p:spPr>
          <a:xfrm>
            <a:off x="9723120" y="2350770"/>
            <a:ext cx="7479716"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DD4BF"/>
                </a:solidFill>
                <a:latin typeface="Arial" pitchFamily="34" charset="0"/>
                <a:ea typeface="Arial" pitchFamily="34" charset="-122"/>
                <a:cs typeface="Arial" pitchFamily="34" charset="-120"/>
              </a:rPr>
              <a:t>$462,300</a:t>
            </a:r>
            <a:endParaRPr lang="en-US" sz="4500" dirty="0"/>
          </a:p>
        </p:txBody>
      </p:sp>
      <p:sp>
        <p:nvSpPr>
          <p:cNvPr id="58" name="Text 56"/>
          <p:cNvSpPr/>
          <p:nvPr/>
        </p:nvSpPr>
        <p:spPr>
          <a:xfrm>
            <a:off x="9723120" y="3112770"/>
            <a:ext cx="7479716"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Total Payroll</a:t>
            </a:r>
            <a:endParaRPr lang="en-US" sz="1800" dirty="0"/>
          </a:p>
        </p:txBody>
      </p:sp>
      <p:sp>
        <p:nvSpPr>
          <p:cNvPr id="59" name="Shape 57"/>
          <p:cNvSpPr/>
          <p:nvPr/>
        </p:nvSpPr>
        <p:spPr>
          <a:xfrm>
            <a:off x="9372600" y="3943350"/>
            <a:ext cx="7962900" cy="2034540"/>
          </a:xfrm>
          <a:prstGeom prst="roundRect">
            <a:avLst>
              <a:gd name="adj" fmla="val 5618"/>
            </a:avLst>
          </a:prstGeom>
          <a:solidFill>
            <a:srgbClr val="161B22"/>
          </a:solidFill>
          <a:ln w="7620">
            <a:solidFill>
              <a:srgbClr val="22D3EE">
                <a:alpha val="30000"/>
              </a:srgbClr>
            </a:solidFill>
            <a:prstDash val="solid"/>
          </a:ln>
        </p:spPr>
      </p:sp>
      <p:sp>
        <p:nvSpPr>
          <p:cNvPr id="60" name="Text 58"/>
          <p:cNvSpPr/>
          <p:nvPr/>
        </p:nvSpPr>
        <p:spPr>
          <a:xfrm>
            <a:off x="9723120" y="4255770"/>
            <a:ext cx="747971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=AVERAGE(B2:B9)</a:t>
            </a:r>
            <a:endParaRPr lang="en-US" sz="1650" dirty="0"/>
          </a:p>
        </p:txBody>
      </p:sp>
      <p:sp>
        <p:nvSpPr>
          <p:cNvPr id="61" name="Text 59"/>
          <p:cNvSpPr/>
          <p:nvPr/>
        </p:nvSpPr>
        <p:spPr>
          <a:xfrm>
            <a:off x="9723120" y="4613910"/>
            <a:ext cx="7479716"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2D3EE"/>
                </a:solidFill>
                <a:latin typeface="Arial" pitchFamily="34" charset="0"/>
                <a:ea typeface="Arial" pitchFamily="34" charset="-122"/>
                <a:cs typeface="Arial" pitchFamily="34" charset="-120"/>
              </a:rPr>
              <a:t>$57,788</a:t>
            </a:r>
            <a:endParaRPr lang="en-US" sz="4500" dirty="0"/>
          </a:p>
        </p:txBody>
      </p:sp>
      <p:sp>
        <p:nvSpPr>
          <p:cNvPr id="62" name="Text 60"/>
          <p:cNvSpPr/>
          <p:nvPr/>
        </p:nvSpPr>
        <p:spPr>
          <a:xfrm>
            <a:off x="9723120" y="5375910"/>
            <a:ext cx="7479716"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Average Salary</a:t>
            </a:r>
            <a:endParaRPr lang="en-US" sz="1800" dirty="0"/>
          </a:p>
        </p:txBody>
      </p:sp>
      <p:sp>
        <p:nvSpPr>
          <p:cNvPr id="63" name="Shape 61"/>
          <p:cNvSpPr/>
          <p:nvPr/>
        </p:nvSpPr>
        <p:spPr>
          <a:xfrm>
            <a:off x="9372600" y="6206490"/>
            <a:ext cx="7962900" cy="640080"/>
          </a:xfrm>
          <a:prstGeom prst="roundRect">
            <a:avLst>
              <a:gd name="adj" fmla="val 17857"/>
            </a:avLst>
          </a:prstGeom>
          <a:solidFill>
            <a:srgbClr val="161B22"/>
          </a:solidFill>
          <a:ln w="7620">
            <a:solidFill>
              <a:srgbClr val="FFFFFF">
                <a:alpha val="8000"/>
              </a:srgbClr>
            </a:solidFill>
            <a:prstDash val="solid"/>
          </a:ln>
        </p:spPr>
      </p:sp>
      <p:sp>
        <p:nvSpPr>
          <p:cNvPr id="64" name="Text 62"/>
          <p:cNvSpPr/>
          <p:nvPr/>
        </p:nvSpPr>
        <p:spPr>
          <a:xfrm>
            <a:off x="9646920" y="6404610"/>
            <a:ext cx="7636688" cy="281940"/>
          </a:xfrm>
          <a:prstGeom prst="rect">
            <a:avLst/>
          </a:prstGeom>
          <a:noFill/>
          <a:ln/>
        </p:spPr>
        <p:txBody>
          <a:bodyPr wrap="square" lIns="25400" tIns="25400" rIns="25400" bIns="25400" rtlCol="0" anchor="t">
            <a:normAutofit/>
          </a:bodyPr>
          <a:lstStyle/>
          <a:p>
            <a:pPr algn="l" indent="0" marL="0">
              <a:buNone/>
            </a:pPr>
            <a:r>
              <a:rPr lang="en-US" sz="1500" dirty="0">
                <a:solidFill>
                  <a:srgbClr val="7D8590"/>
                </a:solidFill>
                <a:latin typeface="Arial" pitchFamily="34" charset="0"/>
                <a:ea typeface="Arial" pitchFamily="34" charset="-122"/>
                <a:cs typeface="Arial" pitchFamily="34" charset="-120"/>
              </a:rPr>
              <a:t>Both formulas use the </a:t>
            </a:r>
            <a:pPr algn="l" indent="0" marL="0">
              <a:buNone/>
            </a:pPr>
            <a:r>
              <a:rPr lang="en-US" sz="1500" b="1" dirty="0">
                <a:solidFill>
                  <a:srgbClr val="F0F6FC"/>
                </a:solidFill>
                <a:latin typeface="Arial" pitchFamily="34" charset="0"/>
                <a:ea typeface="Arial" pitchFamily="34" charset="-122"/>
                <a:cs typeface="Arial" pitchFamily="34" charset="-120"/>
              </a:rPr>
              <a:t>same range</a:t>
            </a:r>
            <a:pPr algn="l" indent="0" marL="0">
              <a:buNone/>
            </a:pPr>
            <a:r>
              <a:rPr lang="en-US" sz="1500" dirty="0">
                <a:solidFill>
                  <a:srgbClr val="7D8590"/>
                </a:solidFill>
                <a:latin typeface="Arial" pitchFamily="34" charset="0"/>
                <a:ea typeface="Arial" pitchFamily="34" charset="-122"/>
                <a:cs typeface="Arial" pitchFamily="34" charset="-120"/>
              </a:rPr>
              <a:t>. The function name changes the question.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3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MIN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&amp; </a:t>
            </a:r>
            <a:pPr algn="l" indent="0" marL="0">
              <a:lnSpc>
                <a:spcPct val="115000"/>
              </a:lnSpc>
              <a:buNone/>
            </a:pPr>
            <a:r>
              <a:rPr lang="en-US" sz="4200" b="1" dirty="0">
                <a:solidFill>
                  <a:srgbClr val="22D3EE"/>
                </a:solidFill>
                <a:latin typeface="Arial" pitchFamily="34" charset="0"/>
                <a:ea typeface="Arial" pitchFamily="34" charset="-122"/>
                <a:cs typeface="Arial" pitchFamily="34" charset="-120"/>
              </a:rPr>
              <a:t>MAX</a:t>
            </a:r>
            <a:endParaRPr lang="en-US" sz="4200" dirty="0"/>
          </a:p>
        </p:txBody>
      </p:sp>
      <p:sp>
        <p:nvSpPr>
          <p:cNvPr id="11" name="Shape 9"/>
          <p:cNvSpPr/>
          <p:nvPr/>
        </p:nvSpPr>
        <p:spPr>
          <a:xfrm>
            <a:off x="952500" y="1680210"/>
            <a:ext cx="3759041" cy="499110"/>
          </a:xfrm>
          <a:prstGeom prst="rect">
            <a:avLst/>
          </a:prstGeom>
          <a:solidFill>
            <a:srgbClr val="2DD4BF"/>
          </a:solidFill>
          <a:ln/>
        </p:spPr>
      </p:sp>
      <p:sp>
        <p:nvSpPr>
          <p:cNvPr id="12" name="Text 10"/>
          <p:cNvSpPr/>
          <p:nvPr/>
        </p:nvSpPr>
        <p:spPr>
          <a:xfrm>
            <a:off x="1123950" y="1804035"/>
            <a:ext cx="352891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Employee</a:t>
            </a:r>
            <a:endParaRPr lang="en-US" sz="1575" dirty="0"/>
          </a:p>
        </p:txBody>
      </p:sp>
      <p:sp>
        <p:nvSpPr>
          <p:cNvPr id="13" name="Shape 11"/>
          <p:cNvSpPr/>
          <p:nvPr/>
        </p:nvSpPr>
        <p:spPr>
          <a:xfrm>
            <a:off x="4711541" y="1680210"/>
            <a:ext cx="4203859" cy="499110"/>
          </a:xfrm>
          <a:prstGeom prst="rect">
            <a:avLst/>
          </a:prstGeom>
          <a:solidFill>
            <a:srgbClr val="2DD4BF"/>
          </a:solidFill>
          <a:ln/>
        </p:spPr>
      </p:sp>
      <p:sp>
        <p:nvSpPr>
          <p:cNvPr id="14" name="Text 12"/>
          <p:cNvSpPr/>
          <p:nvPr/>
        </p:nvSpPr>
        <p:spPr>
          <a:xfrm>
            <a:off x="4756875" y="1804035"/>
            <a:ext cx="3987075"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15" name="Shape 13"/>
          <p:cNvSpPr/>
          <p:nvPr/>
        </p:nvSpPr>
        <p:spPr>
          <a:xfrm>
            <a:off x="952500" y="2179320"/>
            <a:ext cx="3759041" cy="464820"/>
          </a:xfrm>
          <a:prstGeom prst="rect">
            <a:avLst/>
          </a:prstGeom>
          <a:solidFill>
            <a:srgbClr val="FFFFFF">
              <a:alpha val="2000"/>
            </a:srgbClr>
          </a:solidFill>
          <a:ln/>
        </p:spPr>
      </p:sp>
      <p:sp>
        <p:nvSpPr>
          <p:cNvPr id="16" name="Shape 14"/>
          <p:cNvSpPr/>
          <p:nvPr/>
        </p:nvSpPr>
        <p:spPr>
          <a:xfrm>
            <a:off x="952500" y="2636520"/>
            <a:ext cx="3759041" cy="9525"/>
          </a:xfrm>
          <a:prstGeom prst="rect">
            <a:avLst/>
          </a:prstGeom>
          <a:solidFill>
            <a:srgbClr val="FFFFFF">
              <a:alpha val="8000"/>
            </a:srgbClr>
          </a:solidFill>
          <a:ln/>
        </p:spPr>
      </p:sp>
      <p:sp>
        <p:nvSpPr>
          <p:cNvPr id="17" name="Text 15"/>
          <p:cNvSpPr/>
          <p:nvPr/>
        </p:nvSpPr>
        <p:spPr>
          <a:xfrm>
            <a:off x="1123950" y="2284095"/>
            <a:ext cx="352891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Carol Smith</a:t>
            </a:r>
            <a:endParaRPr lang="en-US" sz="1725" dirty="0"/>
          </a:p>
        </p:txBody>
      </p:sp>
      <p:sp>
        <p:nvSpPr>
          <p:cNvPr id="18" name="Shape 16"/>
          <p:cNvSpPr/>
          <p:nvPr/>
        </p:nvSpPr>
        <p:spPr>
          <a:xfrm>
            <a:off x="4711541" y="2179320"/>
            <a:ext cx="4203859" cy="464820"/>
          </a:xfrm>
          <a:prstGeom prst="rect">
            <a:avLst/>
          </a:prstGeom>
          <a:solidFill>
            <a:srgbClr val="FFFFFF">
              <a:alpha val="2000"/>
            </a:srgbClr>
          </a:solidFill>
          <a:ln/>
        </p:spPr>
      </p:sp>
      <p:sp>
        <p:nvSpPr>
          <p:cNvPr id="19" name="Shape 17"/>
          <p:cNvSpPr/>
          <p:nvPr/>
        </p:nvSpPr>
        <p:spPr>
          <a:xfrm>
            <a:off x="4711541" y="2636520"/>
            <a:ext cx="4203859" cy="9525"/>
          </a:xfrm>
          <a:prstGeom prst="rect">
            <a:avLst/>
          </a:prstGeom>
          <a:solidFill>
            <a:srgbClr val="FFFFFF">
              <a:alpha val="8000"/>
            </a:srgbClr>
          </a:solidFill>
          <a:ln/>
        </p:spPr>
      </p:sp>
      <p:sp>
        <p:nvSpPr>
          <p:cNvPr id="20" name="Text 18"/>
          <p:cNvSpPr/>
          <p:nvPr/>
        </p:nvSpPr>
        <p:spPr>
          <a:xfrm>
            <a:off x="4756875" y="2284095"/>
            <a:ext cx="3987075"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87171"/>
                </a:solidFill>
                <a:latin typeface="monospace" pitchFamily="34" charset="0"/>
                <a:ea typeface="monospace" pitchFamily="34" charset="-122"/>
                <a:cs typeface="monospace" pitchFamily="34" charset="-120"/>
              </a:rPr>
              <a:t>$45,200 ← MIN</a:t>
            </a:r>
            <a:endParaRPr lang="en-US" sz="1725" dirty="0"/>
          </a:p>
        </p:txBody>
      </p:sp>
      <p:sp>
        <p:nvSpPr>
          <p:cNvPr id="21" name="Shape 19"/>
          <p:cNvSpPr/>
          <p:nvPr/>
        </p:nvSpPr>
        <p:spPr>
          <a:xfrm>
            <a:off x="952500" y="3105150"/>
            <a:ext cx="3759041" cy="9525"/>
          </a:xfrm>
          <a:prstGeom prst="rect">
            <a:avLst/>
          </a:prstGeom>
          <a:solidFill>
            <a:srgbClr val="FFFFFF">
              <a:alpha val="8000"/>
            </a:srgbClr>
          </a:solidFill>
          <a:ln/>
        </p:spPr>
      </p:sp>
      <p:sp>
        <p:nvSpPr>
          <p:cNvPr id="22" name="Text 20"/>
          <p:cNvSpPr/>
          <p:nvPr/>
        </p:nvSpPr>
        <p:spPr>
          <a:xfrm>
            <a:off x="1123950" y="274891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Grace Kim</a:t>
            </a:r>
            <a:endParaRPr lang="en-US" sz="1725" dirty="0"/>
          </a:p>
        </p:txBody>
      </p:sp>
      <p:sp>
        <p:nvSpPr>
          <p:cNvPr id="23" name="Shape 21"/>
          <p:cNvSpPr/>
          <p:nvPr/>
        </p:nvSpPr>
        <p:spPr>
          <a:xfrm>
            <a:off x="4711541" y="3105150"/>
            <a:ext cx="4203859" cy="9525"/>
          </a:xfrm>
          <a:prstGeom prst="rect">
            <a:avLst/>
          </a:prstGeom>
          <a:solidFill>
            <a:srgbClr val="FFFFFF">
              <a:alpha val="8000"/>
            </a:srgbClr>
          </a:solidFill>
          <a:ln/>
        </p:spPr>
      </p:sp>
      <p:sp>
        <p:nvSpPr>
          <p:cNvPr id="24" name="Text 22"/>
          <p:cNvSpPr/>
          <p:nvPr/>
        </p:nvSpPr>
        <p:spPr>
          <a:xfrm>
            <a:off x="4756875" y="274891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$49,800</a:t>
            </a:r>
            <a:endParaRPr lang="en-US" sz="1725" dirty="0"/>
          </a:p>
        </p:txBody>
      </p:sp>
      <p:sp>
        <p:nvSpPr>
          <p:cNvPr id="25" name="Shape 23"/>
          <p:cNvSpPr/>
          <p:nvPr/>
        </p:nvSpPr>
        <p:spPr>
          <a:xfrm>
            <a:off x="952500" y="3112770"/>
            <a:ext cx="3759041" cy="468630"/>
          </a:xfrm>
          <a:prstGeom prst="rect">
            <a:avLst/>
          </a:prstGeom>
          <a:solidFill>
            <a:srgbClr val="FFFFFF">
              <a:alpha val="2000"/>
            </a:srgbClr>
          </a:solidFill>
          <a:ln/>
        </p:spPr>
      </p:sp>
      <p:sp>
        <p:nvSpPr>
          <p:cNvPr id="26" name="Shape 24"/>
          <p:cNvSpPr/>
          <p:nvPr/>
        </p:nvSpPr>
        <p:spPr>
          <a:xfrm>
            <a:off x="952500" y="3573780"/>
            <a:ext cx="3759041" cy="9525"/>
          </a:xfrm>
          <a:prstGeom prst="rect">
            <a:avLst/>
          </a:prstGeom>
          <a:solidFill>
            <a:srgbClr val="FFFFFF">
              <a:alpha val="8000"/>
            </a:srgbClr>
          </a:solidFill>
          <a:ln/>
        </p:spPr>
      </p:sp>
      <p:sp>
        <p:nvSpPr>
          <p:cNvPr id="27" name="Text 25"/>
          <p:cNvSpPr/>
          <p:nvPr/>
        </p:nvSpPr>
        <p:spPr>
          <a:xfrm>
            <a:off x="1123950" y="321754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Alice Johnson</a:t>
            </a:r>
            <a:endParaRPr lang="en-US" sz="1725" dirty="0"/>
          </a:p>
        </p:txBody>
      </p:sp>
      <p:sp>
        <p:nvSpPr>
          <p:cNvPr id="28" name="Shape 26"/>
          <p:cNvSpPr/>
          <p:nvPr/>
        </p:nvSpPr>
        <p:spPr>
          <a:xfrm>
            <a:off x="4711541" y="3112770"/>
            <a:ext cx="4203859" cy="468630"/>
          </a:xfrm>
          <a:prstGeom prst="rect">
            <a:avLst/>
          </a:prstGeom>
          <a:solidFill>
            <a:srgbClr val="FFFFFF">
              <a:alpha val="2000"/>
            </a:srgbClr>
          </a:solidFill>
          <a:ln/>
        </p:spPr>
      </p:sp>
      <p:sp>
        <p:nvSpPr>
          <p:cNvPr id="29" name="Shape 27"/>
          <p:cNvSpPr/>
          <p:nvPr/>
        </p:nvSpPr>
        <p:spPr>
          <a:xfrm>
            <a:off x="4711541" y="3573780"/>
            <a:ext cx="4203859" cy="9525"/>
          </a:xfrm>
          <a:prstGeom prst="rect">
            <a:avLst/>
          </a:prstGeom>
          <a:solidFill>
            <a:srgbClr val="FFFFFF">
              <a:alpha val="8000"/>
            </a:srgbClr>
          </a:solidFill>
          <a:ln/>
        </p:spPr>
      </p:sp>
      <p:sp>
        <p:nvSpPr>
          <p:cNvPr id="30" name="Text 28"/>
          <p:cNvSpPr/>
          <p:nvPr/>
        </p:nvSpPr>
        <p:spPr>
          <a:xfrm>
            <a:off x="4756875" y="321754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$52,000</a:t>
            </a:r>
            <a:endParaRPr lang="en-US" sz="1725" dirty="0"/>
          </a:p>
        </p:txBody>
      </p:sp>
      <p:sp>
        <p:nvSpPr>
          <p:cNvPr id="31" name="Shape 29"/>
          <p:cNvSpPr/>
          <p:nvPr/>
        </p:nvSpPr>
        <p:spPr>
          <a:xfrm>
            <a:off x="952500" y="4042410"/>
            <a:ext cx="3759041" cy="9525"/>
          </a:xfrm>
          <a:prstGeom prst="rect">
            <a:avLst/>
          </a:prstGeom>
          <a:solidFill>
            <a:srgbClr val="FFFFFF">
              <a:alpha val="8000"/>
            </a:srgbClr>
          </a:solidFill>
          <a:ln/>
        </p:spPr>
      </p:sp>
      <p:sp>
        <p:nvSpPr>
          <p:cNvPr id="32" name="Text 30"/>
          <p:cNvSpPr/>
          <p:nvPr/>
        </p:nvSpPr>
        <p:spPr>
          <a:xfrm>
            <a:off x="1123950" y="368617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Henry Wu</a:t>
            </a:r>
            <a:endParaRPr lang="en-US" sz="1725" dirty="0"/>
          </a:p>
        </p:txBody>
      </p:sp>
      <p:sp>
        <p:nvSpPr>
          <p:cNvPr id="33" name="Shape 31"/>
          <p:cNvSpPr/>
          <p:nvPr/>
        </p:nvSpPr>
        <p:spPr>
          <a:xfrm>
            <a:off x="4711541" y="4042410"/>
            <a:ext cx="4203859" cy="9525"/>
          </a:xfrm>
          <a:prstGeom prst="rect">
            <a:avLst/>
          </a:prstGeom>
          <a:solidFill>
            <a:srgbClr val="FFFFFF">
              <a:alpha val="8000"/>
            </a:srgbClr>
          </a:solidFill>
          <a:ln/>
        </p:spPr>
      </p:sp>
      <p:sp>
        <p:nvSpPr>
          <p:cNvPr id="34" name="Text 32"/>
          <p:cNvSpPr/>
          <p:nvPr/>
        </p:nvSpPr>
        <p:spPr>
          <a:xfrm>
            <a:off x="4756875" y="368617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$55,400</a:t>
            </a:r>
            <a:endParaRPr lang="en-US" sz="1725" dirty="0"/>
          </a:p>
        </p:txBody>
      </p:sp>
      <p:sp>
        <p:nvSpPr>
          <p:cNvPr id="35" name="Shape 33"/>
          <p:cNvSpPr/>
          <p:nvPr/>
        </p:nvSpPr>
        <p:spPr>
          <a:xfrm>
            <a:off x="952500" y="4050030"/>
            <a:ext cx="3759041" cy="468630"/>
          </a:xfrm>
          <a:prstGeom prst="rect">
            <a:avLst/>
          </a:prstGeom>
          <a:solidFill>
            <a:srgbClr val="FFFFFF">
              <a:alpha val="2000"/>
            </a:srgbClr>
          </a:solidFill>
          <a:ln/>
        </p:spPr>
      </p:sp>
      <p:sp>
        <p:nvSpPr>
          <p:cNvPr id="36" name="Shape 34"/>
          <p:cNvSpPr/>
          <p:nvPr/>
        </p:nvSpPr>
        <p:spPr>
          <a:xfrm>
            <a:off x="952500" y="4511040"/>
            <a:ext cx="3759041" cy="9525"/>
          </a:xfrm>
          <a:prstGeom prst="rect">
            <a:avLst/>
          </a:prstGeom>
          <a:solidFill>
            <a:srgbClr val="FFFFFF">
              <a:alpha val="8000"/>
            </a:srgbClr>
          </a:solidFill>
          <a:ln/>
        </p:spPr>
      </p:sp>
      <p:sp>
        <p:nvSpPr>
          <p:cNvPr id="37" name="Text 35"/>
          <p:cNvSpPr/>
          <p:nvPr/>
        </p:nvSpPr>
        <p:spPr>
          <a:xfrm>
            <a:off x="1123950" y="415480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Emma Davis</a:t>
            </a:r>
            <a:endParaRPr lang="en-US" sz="1725" dirty="0"/>
          </a:p>
        </p:txBody>
      </p:sp>
      <p:sp>
        <p:nvSpPr>
          <p:cNvPr id="38" name="Shape 36"/>
          <p:cNvSpPr/>
          <p:nvPr/>
        </p:nvSpPr>
        <p:spPr>
          <a:xfrm>
            <a:off x="4711541" y="4050030"/>
            <a:ext cx="4203859" cy="468630"/>
          </a:xfrm>
          <a:prstGeom prst="rect">
            <a:avLst/>
          </a:prstGeom>
          <a:solidFill>
            <a:srgbClr val="FFFFFF">
              <a:alpha val="2000"/>
            </a:srgbClr>
          </a:solidFill>
          <a:ln/>
        </p:spPr>
      </p:sp>
      <p:sp>
        <p:nvSpPr>
          <p:cNvPr id="39" name="Shape 37"/>
          <p:cNvSpPr/>
          <p:nvPr/>
        </p:nvSpPr>
        <p:spPr>
          <a:xfrm>
            <a:off x="4711541" y="4511040"/>
            <a:ext cx="4203859" cy="9525"/>
          </a:xfrm>
          <a:prstGeom prst="rect">
            <a:avLst/>
          </a:prstGeom>
          <a:solidFill>
            <a:srgbClr val="FFFFFF">
              <a:alpha val="8000"/>
            </a:srgbClr>
          </a:solidFill>
          <a:ln/>
        </p:spPr>
      </p:sp>
      <p:sp>
        <p:nvSpPr>
          <p:cNvPr id="40" name="Text 38"/>
          <p:cNvSpPr/>
          <p:nvPr/>
        </p:nvSpPr>
        <p:spPr>
          <a:xfrm>
            <a:off x="4756875" y="415480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$58,300</a:t>
            </a:r>
            <a:endParaRPr lang="en-US" sz="1725" dirty="0"/>
          </a:p>
        </p:txBody>
      </p:sp>
      <p:sp>
        <p:nvSpPr>
          <p:cNvPr id="41" name="Shape 39"/>
          <p:cNvSpPr/>
          <p:nvPr/>
        </p:nvSpPr>
        <p:spPr>
          <a:xfrm>
            <a:off x="952500" y="4979670"/>
            <a:ext cx="3759041" cy="9525"/>
          </a:xfrm>
          <a:prstGeom prst="rect">
            <a:avLst/>
          </a:prstGeom>
          <a:solidFill>
            <a:srgbClr val="FFFFFF">
              <a:alpha val="8000"/>
            </a:srgbClr>
          </a:solidFill>
          <a:ln/>
        </p:spPr>
      </p:sp>
      <p:sp>
        <p:nvSpPr>
          <p:cNvPr id="42" name="Text 40"/>
          <p:cNvSpPr/>
          <p:nvPr/>
        </p:nvSpPr>
        <p:spPr>
          <a:xfrm>
            <a:off x="1123950" y="462343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43" name="Shape 41"/>
          <p:cNvSpPr/>
          <p:nvPr/>
        </p:nvSpPr>
        <p:spPr>
          <a:xfrm>
            <a:off x="4711541" y="4979670"/>
            <a:ext cx="4203859" cy="9525"/>
          </a:xfrm>
          <a:prstGeom prst="rect">
            <a:avLst/>
          </a:prstGeom>
          <a:solidFill>
            <a:srgbClr val="FFFFFF">
              <a:alpha val="8000"/>
            </a:srgbClr>
          </a:solidFill>
          <a:ln/>
        </p:spPr>
      </p:sp>
      <p:sp>
        <p:nvSpPr>
          <p:cNvPr id="44" name="Text 42"/>
          <p:cNvSpPr/>
          <p:nvPr/>
        </p:nvSpPr>
        <p:spPr>
          <a:xfrm>
            <a:off x="4756875" y="462343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45" name="Shape 43"/>
          <p:cNvSpPr/>
          <p:nvPr/>
        </p:nvSpPr>
        <p:spPr>
          <a:xfrm>
            <a:off x="952500" y="4987290"/>
            <a:ext cx="3759041" cy="468630"/>
          </a:xfrm>
          <a:prstGeom prst="rect">
            <a:avLst/>
          </a:prstGeom>
          <a:solidFill>
            <a:srgbClr val="FFFFFF">
              <a:alpha val="2000"/>
            </a:srgbClr>
          </a:solidFill>
          <a:ln/>
        </p:spPr>
      </p:sp>
      <p:sp>
        <p:nvSpPr>
          <p:cNvPr id="46" name="Shape 44"/>
          <p:cNvSpPr/>
          <p:nvPr/>
        </p:nvSpPr>
        <p:spPr>
          <a:xfrm>
            <a:off x="952500" y="5448300"/>
            <a:ext cx="3759041" cy="9525"/>
          </a:xfrm>
          <a:prstGeom prst="rect">
            <a:avLst/>
          </a:prstGeom>
          <a:solidFill>
            <a:srgbClr val="FFFFFF">
              <a:alpha val="8000"/>
            </a:srgbClr>
          </a:solidFill>
          <a:ln/>
        </p:spPr>
      </p:sp>
      <p:sp>
        <p:nvSpPr>
          <p:cNvPr id="47" name="Text 45"/>
          <p:cNvSpPr/>
          <p:nvPr/>
        </p:nvSpPr>
        <p:spPr>
          <a:xfrm>
            <a:off x="1123950" y="509206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48" name="Shape 46"/>
          <p:cNvSpPr/>
          <p:nvPr/>
        </p:nvSpPr>
        <p:spPr>
          <a:xfrm>
            <a:off x="4711541" y="4987290"/>
            <a:ext cx="4203859" cy="468630"/>
          </a:xfrm>
          <a:prstGeom prst="rect">
            <a:avLst/>
          </a:prstGeom>
          <a:solidFill>
            <a:srgbClr val="FFFFFF">
              <a:alpha val="2000"/>
            </a:srgbClr>
          </a:solidFill>
          <a:ln/>
        </p:spPr>
      </p:sp>
      <p:sp>
        <p:nvSpPr>
          <p:cNvPr id="49" name="Shape 47"/>
          <p:cNvSpPr/>
          <p:nvPr/>
        </p:nvSpPr>
        <p:spPr>
          <a:xfrm>
            <a:off x="4711541" y="5448300"/>
            <a:ext cx="4203859" cy="9525"/>
          </a:xfrm>
          <a:prstGeom prst="rect">
            <a:avLst/>
          </a:prstGeom>
          <a:solidFill>
            <a:srgbClr val="FFFFFF">
              <a:alpha val="8000"/>
            </a:srgbClr>
          </a:solidFill>
          <a:ln/>
        </p:spPr>
      </p:sp>
      <p:sp>
        <p:nvSpPr>
          <p:cNvPr id="50" name="Text 48"/>
          <p:cNvSpPr/>
          <p:nvPr/>
        </p:nvSpPr>
        <p:spPr>
          <a:xfrm>
            <a:off x="4756875" y="509206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51" name="Shape 49"/>
          <p:cNvSpPr/>
          <p:nvPr/>
        </p:nvSpPr>
        <p:spPr>
          <a:xfrm>
            <a:off x="952500" y="5916930"/>
            <a:ext cx="3759041" cy="9525"/>
          </a:xfrm>
          <a:prstGeom prst="rect">
            <a:avLst/>
          </a:prstGeom>
          <a:solidFill>
            <a:srgbClr val="FFFFFF">
              <a:alpha val="8000"/>
            </a:srgbClr>
          </a:solidFill>
          <a:ln/>
        </p:spPr>
      </p:sp>
      <p:sp>
        <p:nvSpPr>
          <p:cNvPr id="52" name="Text 50"/>
          <p:cNvSpPr/>
          <p:nvPr/>
        </p:nvSpPr>
        <p:spPr>
          <a:xfrm>
            <a:off x="1123950" y="5560695"/>
            <a:ext cx="35289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53" name="Shape 51"/>
          <p:cNvSpPr/>
          <p:nvPr/>
        </p:nvSpPr>
        <p:spPr>
          <a:xfrm>
            <a:off x="4711541" y="5916930"/>
            <a:ext cx="4203859" cy="9525"/>
          </a:xfrm>
          <a:prstGeom prst="rect">
            <a:avLst/>
          </a:prstGeom>
          <a:solidFill>
            <a:srgbClr val="FFFFFF">
              <a:alpha val="8000"/>
            </a:srgbClr>
          </a:solidFill>
          <a:ln/>
        </p:spPr>
      </p:sp>
      <p:sp>
        <p:nvSpPr>
          <p:cNvPr id="54" name="Text 52"/>
          <p:cNvSpPr/>
          <p:nvPr/>
        </p:nvSpPr>
        <p:spPr>
          <a:xfrm>
            <a:off x="4756875" y="5560695"/>
            <a:ext cx="39870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34D399"/>
                </a:solidFill>
                <a:latin typeface="monospace" pitchFamily="34" charset="0"/>
                <a:ea typeface="monospace" pitchFamily="34" charset="-122"/>
                <a:cs typeface="monospace" pitchFamily="34" charset="-120"/>
              </a:rPr>
              <a:t>$71,000 ← MAX</a:t>
            </a:r>
            <a:endParaRPr lang="en-US" sz="1725" dirty="0"/>
          </a:p>
        </p:txBody>
      </p:sp>
      <p:sp>
        <p:nvSpPr>
          <p:cNvPr id="55" name="Shape 53"/>
          <p:cNvSpPr/>
          <p:nvPr/>
        </p:nvSpPr>
        <p:spPr>
          <a:xfrm>
            <a:off x="9372600" y="1680210"/>
            <a:ext cx="7962900" cy="2034540"/>
          </a:xfrm>
          <a:prstGeom prst="roundRect">
            <a:avLst>
              <a:gd name="adj" fmla="val 5618"/>
            </a:avLst>
          </a:prstGeom>
          <a:solidFill>
            <a:srgbClr val="161B22"/>
          </a:solidFill>
          <a:ln w="7620">
            <a:solidFill>
              <a:srgbClr val="F87171">
                <a:alpha val="30000"/>
              </a:srgbClr>
            </a:solidFill>
            <a:prstDash val="solid"/>
          </a:ln>
        </p:spPr>
      </p:sp>
      <p:sp>
        <p:nvSpPr>
          <p:cNvPr id="56" name="Text 54"/>
          <p:cNvSpPr/>
          <p:nvPr/>
        </p:nvSpPr>
        <p:spPr>
          <a:xfrm>
            <a:off x="9723120" y="1992630"/>
            <a:ext cx="747971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F87171"/>
                </a:solidFill>
                <a:latin typeface="monospace" pitchFamily="34" charset="0"/>
                <a:ea typeface="monospace" pitchFamily="34" charset="-122"/>
                <a:cs typeface="monospace" pitchFamily="34" charset="-120"/>
              </a:rPr>
              <a:t>=MIN(B2:B9)</a:t>
            </a:r>
            <a:endParaRPr lang="en-US" sz="1650" dirty="0"/>
          </a:p>
        </p:txBody>
      </p:sp>
      <p:sp>
        <p:nvSpPr>
          <p:cNvPr id="57" name="Text 55"/>
          <p:cNvSpPr/>
          <p:nvPr/>
        </p:nvSpPr>
        <p:spPr>
          <a:xfrm>
            <a:off x="9723120" y="2350770"/>
            <a:ext cx="7479716"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F87171"/>
                </a:solidFill>
                <a:latin typeface="Arial" pitchFamily="34" charset="0"/>
                <a:ea typeface="Arial" pitchFamily="34" charset="-122"/>
                <a:cs typeface="Arial" pitchFamily="34" charset="-120"/>
              </a:rPr>
              <a:t>$45,200</a:t>
            </a:r>
            <a:endParaRPr lang="en-US" sz="4500" dirty="0"/>
          </a:p>
        </p:txBody>
      </p:sp>
      <p:sp>
        <p:nvSpPr>
          <p:cNvPr id="58" name="Text 56"/>
          <p:cNvSpPr/>
          <p:nvPr/>
        </p:nvSpPr>
        <p:spPr>
          <a:xfrm>
            <a:off x="9723120" y="3112770"/>
            <a:ext cx="7479716"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Lowest Salary</a:t>
            </a:r>
            <a:endParaRPr lang="en-US" sz="1800" dirty="0"/>
          </a:p>
        </p:txBody>
      </p:sp>
      <p:sp>
        <p:nvSpPr>
          <p:cNvPr id="59" name="Shape 57"/>
          <p:cNvSpPr/>
          <p:nvPr/>
        </p:nvSpPr>
        <p:spPr>
          <a:xfrm>
            <a:off x="9372600" y="3943350"/>
            <a:ext cx="7962900" cy="2034540"/>
          </a:xfrm>
          <a:prstGeom prst="roundRect">
            <a:avLst>
              <a:gd name="adj" fmla="val 5618"/>
            </a:avLst>
          </a:prstGeom>
          <a:solidFill>
            <a:srgbClr val="161B22"/>
          </a:solidFill>
          <a:ln w="7620">
            <a:solidFill>
              <a:srgbClr val="34D399">
                <a:alpha val="30000"/>
              </a:srgbClr>
            </a:solidFill>
            <a:prstDash val="solid"/>
          </a:ln>
        </p:spPr>
      </p:sp>
      <p:sp>
        <p:nvSpPr>
          <p:cNvPr id="60" name="Text 58"/>
          <p:cNvSpPr/>
          <p:nvPr/>
        </p:nvSpPr>
        <p:spPr>
          <a:xfrm>
            <a:off x="9723120" y="4255770"/>
            <a:ext cx="7479716" cy="281940"/>
          </a:xfrm>
          <a:prstGeom prst="rect">
            <a:avLst/>
          </a:prstGeom>
          <a:noFill/>
          <a:ln/>
        </p:spPr>
        <p:txBody>
          <a:bodyPr wrap="square" lIns="25400" tIns="25400" rIns="25400" bIns="25400" rtlCol="0" anchor="t">
            <a:normAutofit/>
          </a:bodyPr>
          <a:lstStyle/>
          <a:p>
            <a:pPr algn="l" indent="0" marL="0">
              <a:buNone/>
            </a:pPr>
            <a:r>
              <a:rPr lang="en-US" sz="1650" dirty="0">
                <a:solidFill>
                  <a:srgbClr val="34D399"/>
                </a:solidFill>
                <a:latin typeface="monospace" pitchFamily="34" charset="0"/>
                <a:ea typeface="monospace" pitchFamily="34" charset="-122"/>
                <a:cs typeface="monospace" pitchFamily="34" charset="-120"/>
              </a:rPr>
              <a:t>=MAX(B2:B9)</a:t>
            </a:r>
            <a:endParaRPr lang="en-US" sz="1650" dirty="0"/>
          </a:p>
        </p:txBody>
      </p:sp>
      <p:sp>
        <p:nvSpPr>
          <p:cNvPr id="61" name="Text 59"/>
          <p:cNvSpPr/>
          <p:nvPr/>
        </p:nvSpPr>
        <p:spPr>
          <a:xfrm>
            <a:off x="9723120" y="4613910"/>
            <a:ext cx="7479716"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34D399"/>
                </a:solidFill>
                <a:latin typeface="Arial" pitchFamily="34" charset="0"/>
                <a:ea typeface="Arial" pitchFamily="34" charset="-122"/>
                <a:cs typeface="Arial" pitchFamily="34" charset="-120"/>
              </a:rPr>
              <a:t>$71,000</a:t>
            </a:r>
            <a:endParaRPr lang="en-US" sz="4500" dirty="0"/>
          </a:p>
        </p:txBody>
      </p:sp>
      <p:sp>
        <p:nvSpPr>
          <p:cNvPr id="62" name="Text 60"/>
          <p:cNvSpPr/>
          <p:nvPr/>
        </p:nvSpPr>
        <p:spPr>
          <a:xfrm>
            <a:off x="9723120" y="5375910"/>
            <a:ext cx="7479716"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Highest Salary</a:t>
            </a:r>
            <a:endParaRPr lang="en-US" sz="1800" dirty="0"/>
          </a:p>
        </p:txBody>
      </p:sp>
      <p:sp>
        <p:nvSpPr>
          <p:cNvPr id="63" name="Shape 61"/>
          <p:cNvSpPr/>
          <p:nvPr/>
        </p:nvSpPr>
        <p:spPr>
          <a:xfrm>
            <a:off x="9372600" y="6206490"/>
            <a:ext cx="7962900" cy="1120140"/>
          </a:xfrm>
          <a:prstGeom prst="roundRect">
            <a:avLst>
              <a:gd name="adj" fmla="val 10204"/>
            </a:avLst>
          </a:prstGeom>
          <a:solidFill>
            <a:srgbClr val="2DD4BF">
              <a:alpha val="5000"/>
            </a:srgbClr>
          </a:solidFill>
          <a:ln w="7620">
            <a:solidFill>
              <a:srgbClr val="2DD4BF">
                <a:alpha val="30000"/>
              </a:srgbClr>
            </a:solidFill>
            <a:prstDash val="solid"/>
          </a:ln>
        </p:spPr>
      </p:sp>
      <p:sp>
        <p:nvSpPr>
          <p:cNvPr id="64" name="Text 62"/>
          <p:cNvSpPr/>
          <p:nvPr/>
        </p:nvSpPr>
        <p:spPr>
          <a:xfrm>
            <a:off x="9723120" y="6518910"/>
            <a:ext cx="7479716" cy="533400"/>
          </a:xfrm>
          <a:prstGeom prst="rect">
            <a:avLst/>
          </a:prstGeom>
          <a:noFill/>
          <a:ln/>
        </p:spPr>
        <p:txBody>
          <a:bodyPr wrap="square" lIns="25400" tIns="25400" rIns="25400" bIns="25400" rtlCol="0" anchor="t">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Salary range: </a:t>
            </a:r>
            <a:pPr algn="l" indent="0" marL="0">
              <a:buNone/>
            </a:pPr>
            <a:r>
              <a:rPr lang="en-US" sz="1575" b="1" dirty="0">
                <a:solidFill>
                  <a:srgbClr val="2DD4BF"/>
                </a:solidFill>
                <a:latin typeface="Arial" pitchFamily="34" charset="0"/>
                <a:ea typeface="Arial" pitchFamily="34" charset="-122"/>
                <a:cs typeface="Arial" pitchFamily="34" charset="-120"/>
              </a:rPr>
              <a:t>$25,800 </a:t>
            </a:r>
            <a:pPr algn="l" indent="0" marL="0">
              <a:buNone/>
            </a:pPr>
            <a:r>
              <a:rPr lang="en-US" sz="1575" dirty="0">
                <a:solidFill>
                  <a:srgbClr val="7D8590"/>
                </a:solidFill>
                <a:latin typeface="Arial" pitchFamily="34" charset="0"/>
                <a:ea typeface="Arial" pitchFamily="34" charset="-122"/>
                <a:cs typeface="Arial" pitchFamily="34" charset="-120"/>
              </a:rPr>
              <a:t>= MAX − MIN</a:t>
            </a:r>
            <a:endParaRPr lang="en-US" sz="15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3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solidFill>
          <a:ln/>
        </p:spPr>
      </p:sp>
      <p:sp>
        <p:nvSpPr>
          <p:cNvPr id="6" name="Shape 4"/>
          <p:cNvSpPr/>
          <p:nvPr/>
        </p:nvSpPr>
        <p:spPr>
          <a:xfrm>
            <a:off x="16173450" y="400050"/>
            <a:ext cx="247650" cy="38100"/>
          </a:xfrm>
          <a:prstGeom prst="roundRect">
            <a:avLst>
              <a:gd name="adj" fmla="val 50000"/>
            </a:avLst>
          </a:prstGeom>
          <a:solidFill>
            <a:srgbClr val="1C2430"/>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One Column,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Four Insights</a:t>
            </a:r>
            <a:endParaRPr lang="en-US" sz="4200" dirty="0"/>
          </a:p>
        </p:txBody>
      </p:sp>
      <p:sp>
        <p:nvSpPr>
          <p:cNvPr id="11" name="Shape 9"/>
          <p:cNvSpPr/>
          <p:nvPr/>
        </p:nvSpPr>
        <p:spPr>
          <a:xfrm>
            <a:off x="952500" y="1718310"/>
            <a:ext cx="3924300" cy="7806690"/>
          </a:xfrm>
          <a:prstGeom prst="roundRect">
            <a:avLst>
              <a:gd name="adj" fmla="val 2913"/>
            </a:avLst>
          </a:prstGeom>
          <a:solidFill>
            <a:srgbClr val="161B22"/>
          </a:solidFill>
          <a:ln w="7620">
            <a:solidFill>
              <a:srgbClr val="FFFFFF">
                <a:alpha val="8000"/>
              </a:srgbClr>
            </a:solidFill>
            <a:prstDash val="solid"/>
          </a:ln>
        </p:spPr>
      </p:sp>
      <p:sp>
        <p:nvSpPr>
          <p:cNvPr id="12" name="Text 10"/>
          <p:cNvSpPr/>
          <p:nvPr/>
        </p:nvSpPr>
        <p:spPr>
          <a:xfrm>
            <a:off x="1303020" y="2030730"/>
            <a:ext cx="3319958"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=SUM(B2:B9)</a:t>
            </a:r>
            <a:endParaRPr lang="en-US" sz="1650" dirty="0"/>
          </a:p>
        </p:txBody>
      </p:sp>
      <p:sp>
        <p:nvSpPr>
          <p:cNvPr id="13" name="Text 11"/>
          <p:cNvSpPr/>
          <p:nvPr/>
        </p:nvSpPr>
        <p:spPr>
          <a:xfrm>
            <a:off x="1303020" y="2388870"/>
            <a:ext cx="3319958"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DD4BF"/>
                </a:solidFill>
                <a:latin typeface="Arial" pitchFamily="34" charset="0"/>
                <a:ea typeface="Arial" pitchFamily="34" charset="-122"/>
                <a:cs typeface="Arial" pitchFamily="34" charset="-120"/>
              </a:rPr>
              <a:t>$462,300</a:t>
            </a:r>
            <a:endParaRPr lang="en-US" sz="4500" dirty="0"/>
          </a:p>
        </p:txBody>
      </p:sp>
      <p:sp>
        <p:nvSpPr>
          <p:cNvPr id="14" name="Text 12"/>
          <p:cNvSpPr/>
          <p:nvPr/>
        </p:nvSpPr>
        <p:spPr>
          <a:xfrm>
            <a:off x="1303020" y="3150870"/>
            <a:ext cx="3319958"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Total Payroll</a:t>
            </a:r>
            <a:endParaRPr lang="en-US" sz="1800" dirty="0"/>
          </a:p>
        </p:txBody>
      </p:sp>
      <p:sp>
        <p:nvSpPr>
          <p:cNvPr id="15" name="Text 13"/>
          <p:cNvSpPr/>
          <p:nvPr/>
        </p:nvSpPr>
        <p:spPr>
          <a:xfrm>
            <a:off x="1303020" y="3592830"/>
            <a:ext cx="3319958"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7D8590"/>
                </a:solidFill>
                <a:latin typeface="Arial" pitchFamily="34" charset="0"/>
                <a:ea typeface="Arial" pitchFamily="34" charset="-122"/>
                <a:cs typeface="Arial" pitchFamily="34" charset="-120"/>
              </a:rPr>
              <a:t>Adds all values in the range together</a:t>
            </a:r>
            <a:endParaRPr lang="en-US" sz="1425" dirty="0"/>
          </a:p>
        </p:txBody>
      </p:sp>
      <p:sp>
        <p:nvSpPr>
          <p:cNvPr id="16" name="Shape 14"/>
          <p:cNvSpPr/>
          <p:nvPr/>
        </p:nvSpPr>
        <p:spPr>
          <a:xfrm>
            <a:off x="5105400" y="1718310"/>
            <a:ext cx="3924300" cy="7806690"/>
          </a:xfrm>
          <a:prstGeom prst="roundRect">
            <a:avLst>
              <a:gd name="adj" fmla="val 2913"/>
            </a:avLst>
          </a:prstGeom>
          <a:solidFill>
            <a:srgbClr val="161B22"/>
          </a:solidFill>
          <a:ln w="7620">
            <a:solidFill>
              <a:srgbClr val="22D3EE">
                <a:alpha val="30000"/>
              </a:srgbClr>
            </a:solidFill>
            <a:prstDash val="solid"/>
          </a:ln>
        </p:spPr>
      </p:sp>
      <p:sp>
        <p:nvSpPr>
          <p:cNvPr id="17" name="Text 15"/>
          <p:cNvSpPr/>
          <p:nvPr/>
        </p:nvSpPr>
        <p:spPr>
          <a:xfrm>
            <a:off x="5455920" y="2030730"/>
            <a:ext cx="3319958"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=AVERAGE(B2:B9)</a:t>
            </a:r>
            <a:endParaRPr lang="en-US" sz="1650" dirty="0"/>
          </a:p>
        </p:txBody>
      </p:sp>
      <p:sp>
        <p:nvSpPr>
          <p:cNvPr id="18" name="Text 16"/>
          <p:cNvSpPr/>
          <p:nvPr/>
        </p:nvSpPr>
        <p:spPr>
          <a:xfrm>
            <a:off x="5455920" y="2388870"/>
            <a:ext cx="3319958"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2D3EE"/>
                </a:solidFill>
                <a:latin typeface="Arial" pitchFamily="34" charset="0"/>
                <a:ea typeface="Arial" pitchFamily="34" charset="-122"/>
                <a:cs typeface="Arial" pitchFamily="34" charset="-120"/>
              </a:rPr>
              <a:t>$57,788</a:t>
            </a:r>
            <a:endParaRPr lang="en-US" sz="4500" dirty="0"/>
          </a:p>
        </p:txBody>
      </p:sp>
      <p:sp>
        <p:nvSpPr>
          <p:cNvPr id="19" name="Text 17"/>
          <p:cNvSpPr/>
          <p:nvPr/>
        </p:nvSpPr>
        <p:spPr>
          <a:xfrm>
            <a:off x="5455920" y="3150870"/>
            <a:ext cx="3319958"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Mean Salary</a:t>
            </a:r>
            <a:endParaRPr lang="en-US" sz="1800" dirty="0"/>
          </a:p>
        </p:txBody>
      </p:sp>
      <p:sp>
        <p:nvSpPr>
          <p:cNvPr id="20" name="Text 18"/>
          <p:cNvSpPr/>
          <p:nvPr/>
        </p:nvSpPr>
        <p:spPr>
          <a:xfrm>
            <a:off x="5455920" y="3592830"/>
            <a:ext cx="3319958"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7D8590"/>
                </a:solidFill>
                <a:latin typeface="Arial" pitchFamily="34" charset="0"/>
                <a:ea typeface="Arial" pitchFamily="34" charset="-122"/>
                <a:cs typeface="Arial" pitchFamily="34" charset="-120"/>
              </a:rPr>
              <a:t>Total ÷ count of non-empty cells</a:t>
            </a:r>
            <a:endParaRPr lang="en-US" sz="1425" dirty="0"/>
          </a:p>
        </p:txBody>
      </p:sp>
      <p:sp>
        <p:nvSpPr>
          <p:cNvPr id="21" name="Shape 19"/>
          <p:cNvSpPr/>
          <p:nvPr/>
        </p:nvSpPr>
        <p:spPr>
          <a:xfrm>
            <a:off x="9258300" y="1718310"/>
            <a:ext cx="3924300" cy="7806690"/>
          </a:xfrm>
          <a:prstGeom prst="roundRect">
            <a:avLst>
              <a:gd name="adj" fmla="val 2913"/>
            </a:avLst>
          </a:prstGeom>
          <a:solidFill>
            <a:srgbClr val="161B22"/>
          </a:solidFill>
          <a:ln w="7620">
            <a:solidFill>
              <a:srgbClr val="F87171">
                <a:alpha val="30000"/>
              </a:srgbClr>
            </a:solidFill>
            <a:prstDash val="solid"/>
          </a:ln>
        </p:spPr>
      </p:sp>
      <p:sp>
        <p:nvSpPr>
          <p:cNvPr id="22" name="Text 20"/>
          <p:cNvSpPr/>
          <p:nvPr/>
        </p:nvSpPr>
        <p:spPr>
          <a:xfrm>
            <a:off x="9608820" y="2030730"/>
            <a:ext cx="3319958" cy="281940"/>
          </a:xfrm>
          <a:prstGeom prst="rect">
            <a:avLst/>
          </a:prstGeom>
          <a:noFill/>
          <a:ln/>
        </p:spPr>
        <p:txBody>
          <a:bodyPr wrap="square" lIns="25400" tIns="25400" rIns="25400" bIns="25400" rtlCol="0" anchor="t">
            <a:normAutofit/>
          </a:bodyPr>
          <a:lstStyle/>
          <a:p>
            <a:pPr algn="l" indent="0" marL="0">
              <a:buNone/>
            </a:pPr>
            <a:r>
              <a:rPr lang="en-US" sz="1650" dirty="0">
                <a:solidFill>
                  <a:srgbClr val="F87171"/>
                </a:solidFill>
                <a:latin typeface="monospace" pitchFamily="34" charset="0"/>
                <a:ea typeface="monospace" pitchFamily="34" charset="-122"/>
                <a:cs typeface="monospace" pitchFamily="34" charset="-120"/>
              </a:rPr>
              <a:t>=MIN(B2:B9)</a:t>
            </a:r>
            <a:endParaRPr lang="en-US" sz="1650" dirty="0"/>
          </a:p>
        </p:txBody>
      </p:sp>
      <p:sp>
        <p:nvSpPr>
          <p:cNvPr id="23" name="Text 21"/>
          <p:cNvSpPr/>
          <p:nvPr/>
        </p:nvSpPr>
        <p:spPr>
          <a:xfrm>
            <a:off x="9608820" y="2388870"/>
            <a:ext cx="3319958"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F87171"/>
                </a:solidFill>
                <a:latin typeface="Arial" pitchFamily="34" charset="0"/>
                <a:ea typeface="Arial" pitchFamily="34" charset="-122"/>
                <a:cs typeface="Arial" pitchFamily="34" charset="-120"/>
              </a:rPr>
              <a:t>$45,200</a:t>
            </a:r>
            <a:endParaRPr lang="en-US" sz="4500" dirty="0"/>
          </a:p>
        </p:txBody>
      </p:sp>
      <p:sp>
        <p:nvSpPr>
          <p:cNvPr id="24" name="Text 22"/>
          <p:cNvSpPr/>
          <p:nvPr/>
        </p:nvSpPr>
        <p:spPr>
          <a:xfrm>
            <a:off x="9608820" y="3150870"/>
            <a:ext cx="3319958"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Floor Salary</a:t>
            </a:r>
            <a:endParaRPr lang="en-US" sz="1800" dirty="0"/>
          </a:p>
        </p:txBody>
      </p:sp>
      <p:sp>
        <p:nvSpPr>
          <p:cNvPr id="25" name="Text 23"/>
          <p:cNvSpPr/>
          <p:nvPr/>
        </p:nvSpPr>
        <p:spPr>
          <a:xfrm>
            <a:off x="9608820" y="3592830"/>
            <a:ext cx="3319958"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7D8590"/>
                </a:solidFill>
                <a:latin typeface="Arial" pitchFamily="34" charset="0"/>
                <a:ea typeface="Arial" pitchFamily="34" charset="-122"/>
                <a:cs typeface="Arial" pitchFamily="34" charset="-120"/>
              </a:rPr>
              <a:t>Smallest value in the range</a:t>
            </a:r>
            <a:endParaRPr lang="en-US" sz="1425" dirty="0"/>
          </a:p>
        </p:txBody>
      </p:sp>
      <p:sp>
        <p:nvSpPr>
          <p:cNvPr id="26" name="Shape 24"/>
          <p:cNvSpPr/>
          <p:nvPr/>
        </p:nvSpPr>
        <p:spPr>
          <a:xfrm>
            <a:off x="13411200" y="1718310"/>
            <a:ext cx="3924300" cy="7806690"/>
          </a:xfrm>
          <a:prstGeom prst="roundRect">
            <a:avLst>
              <a:gd name="adj" fmla="val 2913"/>
            </a:avLst>
          </a:prstGeom>
          <a:solidFill>
            <a:srgbClr val="161B22"/>
          </a:solidFill>
          <a:ln w="7620">
            <a:solidFill>
              <a:srgbClr val="34D399">
                <a:alpha val="30000"/>
              </a:srgbClr>
            </a:solidFill>
            <a:prstDash val="solid"/>
          </a:ln>
        </p:spPr>
      </p:sp>
      <p:sp>
        <p:nvSpPr>
          <p:cNvPr id="27" name="Text 25"/>
          <p:cNvSpPr/>
          <p:nvPr/>
        </p:nvSpPr>
        <p:spPr>
          <a:xfrm>
            <a:off x="13761720" y="2030730"/>
            <a:ext cx="3319958" cy="281940"/>
          </a:xfrm>
          <a:prstGeom prst="rect">
            <a:avLst/>
          </a:prstGeom>
          <a:noFill/>
          <a:ln/>
        </p:spPr>
        <p:txBody>
          <a:bodyPr wrap="square" lIns="25400" tIns="25400" rIns="25400" bIns="25400" rtlCol="0" anchor="t">
            <a:normAutofit/>
          </a:bodyPr>
          <a:lstStyle/>
          <a:p>
            <a:pPr algn="l" indent="0" marL="0">
              <a:buNone/>
            </a:pPr>
            <a:r>
              <a:rPr lang="en-US" sz="1650" dirty="0">
                <a:solidFill>
                  <a:srgbClr val="34D399"/>
                </a:solidFill>
                <a:latin typeface="monospace" pitchFamily="34" charset="0"/>
                <a:ea typeface="monospace" pitchFamily="34" charset="-122"/>
                <a:cs typeface="monospace" pitchFamily="34" charset="-120"/>
              </a:rPr>
              <a:t>=MAX(B2:B9)</a:t>
            </a:r>
            <a:endParaRPr lang="en-US" sz="1650" dirty="0"/>
          </a:p>
        </p:txBody>
      </p:sp>
      <p:sp>
        <p:nvSpPr>
          <p:cNvPr id="28" name="Text 26"/>
          <p:cNvSpPr/>
          <p:nvPr/>
        </p:nvSpPr>
        <p:spPr>
          <a:xfrm>
            <a:off x="13761720" y="2388870"/>
            <a:ext cx="3319958"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34D399"/>
                </a:solidFill>
                <a:latin typeface="Arial" pitchFamily="34" charset="0"/>
                <a:ea typeface="Arial" pitchFamily="34" charset="-122"/>
                <a:cs typeface="Arial" pitchFamily="34" charset="-120"/>
              </a:rPr>
              <a:t>$71,000</a:t>
            </a:r>
            <a:endParaRPr lang="en-US" sz="4500" dirty="0"/>
          </a:p>
        </p:txBody>
      </p:sp>
      <p:sp>
        <p:nvSpPr>
          <p:cNvPr id="29" name="Text 27"/>
          <p:cNvSpPr/>
          <p:nvPr/>
        </p:nvSpPr>
        <p:spPr>
          <a:xfrm>
            <a:off x="13761720" y="3150870"/>
            <a:ext cx="3319958"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Ceiling Salary</a:t>
            </a:r>
            <a:endParaRPr lang="en-US" sz="1800" dirty="0"/>
          </a:p>
        </p:txBody>
      </p:sp>
      <p:sp>
        <p:nvSpPr>
          <p:cNvPr id="30" name="Text 28"/>
          <p:cNvSpPr/>
          <p:nvPr/>
        </p:nvSpPr>
        <p:spPr>
          <a:xfrm>
            <a:off x="13761720" y="3592830"/>
            <a:ext cx="3319958"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7D8590"/>
                </a:solidFill>
                <a:latin typeface="Arial" pitchFamily="34" charset="0"/>
                <a:ea typeface="Arial" pitchFamily="34" charset="-122"/>
                <a:cs typeface="Arial" pitchFamily="34" charset="-120"/>
              </a:rPr>
              <a:t>Largest value in the range</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5886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03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Calculate Salary Statistics</a:t>
            </a:r>
            <a:endParaRPr lang="en-US" sz="3900" dirty="0"/>
          </a:p>
        </p:txBody>
      </p:sp>
      <p:sp>
        <p:nvSpPr>
          <p:cNvPr id="8" name="Text 6"/>
          <p:cNvSpPr/>
          <p:nvPr/>
        </p:nvSpPr>
        <p:spPr>
          <a:xfrm>
            <a:off x="1493520" y="2672715"/>
            <a:ext cx="15759989" cy="2747010"/>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Using the employee salary data in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Module3_Data.xlsx</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build all four formulas in the summary row beneath the table: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Total payroll → </a:t>
            </a:r>
            <a:pPr algn="l" indent="0" marL="0">
              <a:lnSpc>
                <a:spcPct val="165000"/>
              </a:lnSpc>
              <a:buNone/>
            </a:pPr>
            <a:r>
              <a:rPr lang="en-US" sz="2100" dirty="0">
                <a:solidFill>
                  <a:srgbClr val="22D3EE"/>
                </a:solidFill>
                <a:latin typeface="monospace" pitchFamily="34" charset="0"/>
                <a:ea typeface="monospace" pitchFamily="34" charset="-122"/>
                <a:cs typeface="monospace" pitchFamily="34" charset="-120"/>
              </a:rPr>
              <a:t>=SUM(B2:B9)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Average salary → </a:t>
            </a:r>
            <a:pPr algn="l" indent="0" marL="0">
              <a:lnSpc>
                <a:spcPct val="165000"/>
              </a:lnSpc>
              <a:buNone/>
            </a:pPr>
            <a:r>
              <a:rPr lang="en-US" sz="2100" dirty="0">
                <a:solidFill>
                  <a:srgbClr val="22D3EE"/>
                </a:solidFill>
                <a:latin typeface="monospace" pitchFamily="34" charset="0"/>
                <a:ea typeface="monospace" pitchFamily="34" charset="-122"/>
                <a:cs typeface="monospace" pitchFamily="34" charset="-120"/>
              </a:rPr>
              <a:t>=AVERAGE(B2:B9)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Lowest salary → </a:t>
            </a:r>
            <a:pPr algn="l" indent="0" marL="0">
              <a:lnSpc>
                <a:spcPct val="165000"/>
              </a:lnSpc>
              <a:buNone/>
            </a:pPr>
            <a:r>
              <a:rPr lang="en-US" sz="2100" dirty="0">
                <a:solidFill>
                  <a:srgbClr val="22D3EE"/>
                </a:solidFill>
                <a:latin typeface="monospace" pitchFamily="34" charset="0"/>
                <a:ea typeface="monospace" pitchFamily="34" charset="-122"/>
                <a:cs typeface="monospace" pitchFamily="34" charset="-120"/>
              </a:rPr>
              <a:t>=MIN(B2:B9)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4.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Highest salary → </a:t>
            </a:r>
            <a:pPr algn="l" indent="0" marL="0">
              <a:lnSpc>
                <a:spcPct val="165000"/>
              </a:lnSpc>
              <a:buNone/>
            </a:pPr>
            <a:r>
              <a:rPr lang="en-US" sz="2100" dirty="0">
                <a:solidFill>
                  <a:srgbClr val="22D3EE"/>
                </a:solidFill>
                <a:latin typeface="monospace" pitchFamily="34" charset="0"/>
                <a:ea typeface="monospace" pitchFamily="34" charset="-122"/>
                <a:cs typeface="monospace" pitchFamily="34" charset="-120"/>
              </a:rPr>
              <a:t>=MAX(B2:B9)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What is the total salary for the Sales department only?</a:t>
            </a:r>
            <a:endParaRPr lang="en-US" sz="2100" dirty="0"/>
          </a:p>
        </p:txBody>
      </p:sp>
      <p:sp>
        <p:nvSpPr>
          <p:cNvPr id="9" name="Shape 7"/>
          <p:cNvSpPr/>
          <p:nvPr/>
        </p:nvSpPr>
        <p:spPr>
          <a:xfrm>
            <a:off x="1493520" y="5648325"/>
            <a:ext cx="1513403"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741670"/>
            <a:ext cx="1155263"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7 minutes</a:t>
            </a:r>
            <a:endParaRPr lang="en-US" sz="1500" dirty="0"/>
          </a:p>
        </p:txBody>
      </p:sp>
      <p:sp>
        <p:nvSpPr>
          <p:cNvPr id="11" name="Shape 9"/>
          <p:cNvSpPr/>
          <p:nvPr/>
        </p:nvSpPr>
        <p:spPr>
          <a:xfrm>
            <a:off x="3159323" y="5648325"/>
            <a:ext cx="1558409"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76493" y="5741670"/>
            <a:ext cx="1200269"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Beginner</a:t>
            </a:r>
            <a:endParaRPr lang="en-US" sz="1500" dirty="0"/>
          </a:p>
        </p:txBody>
      </p:sp>
      <p:sp>
        <p:nvSpPr>
          <p:cNvPr id="13" name="Shape 11"/>
          <p:cNvSpPr/>
          <p:nvPr/>
        </p:nvSpPr>
        <p:spPr>
          <a:xfrm>
            <a:off x="4870133" y="5648325"/>
            <a:ext cx="2664023" cy="438150"/>
          </a:xfrm>
          <a:prstGeom prst="roundRect">
            <a:avLst>
              <a:gd name="adj" fmla="val 17391"/>
            </a:avLst>
          </a:prstGeom>
          <a:solidFill>
            <a:srgbClr val="A78BFA">
              <a:alpha val="12000"/>
            </a:srgbClr>
          </a:solidFill>
          <a:ln w="7620">
            <a:solidFill>
              <a:srgbClr val="A78BFA">
                <a:alpha val="28000"/>
              </a:srgbClr>
            </a:solidFill>
            <a:prstDash val="solid"/>
          </a:ln>
        </p:spPr>
      </p:sp>
      <p:sp>
        <p:nvSpPr>
          <p:cNvPr id="14" name="Text 12"/>
          <p:cNvSpPr/>
          <p:nvPr/>
        </p:nvSpPr>
        <p:spPr>
          <a:xfrm>
            <a:off x="5087303" y="5741670"/>
            <a:ext cx="2309604"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A78BFA"/>
                </a:solidFill>
                <a:latin typeface="Arial" pitchFamily="34" charset="0"/>
                <a:ea typeface="Arial" pitchFamily="34" charset="-122"/>
                <a:cs typeface="Arial" pitchFamily="34" charset="-120"/>
              </a:rPr>
              <a:t>✦ Bonus: SUMIF preview</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554445" y="8382000"/>
            <a:ext cx="2238256"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04</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4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Sort, Filter &amp;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Merge</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Finding and combining the data you need</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20 minutes</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4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Sorting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Data</a:t>
            </a:r>
            <a:endParaRPr lang="en-US" sz="4200" dirty="0"/>
          </a:p>
        </p:txBody>
      </p:sp>
      <p:sp>
        <p:nvSpPr>
          <p:cNvPr id="11" name="Text 9"/>
          <p:cNvSpPr/>
          <p:nvPr/>
        </p:nvSpPr>
        <p:spPr>
          <a:xfrm>
            <a:off x="952500" y="1680210"/>
            <a:ext cx="7809357" cy="28194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7D8590"/>
                </a:solidFill>
                <a:latin typeface="Arial" pitchFamily="34" charset="0"/>
                <a:ea typeface="Arial" pitchFamily="34" charset="-122"/>
                <a:cs typeface="Arial" pitchFamily="34" charset="-120"/>
              </a:rPr>
              <a:t>UNSORTED</a:t>
            </a:r>
            <a:endParaRPr lang="en-US" sz="1500" dirty="0"/>
          </a:p>
        </p:txBody>
      </p:sp>
      <p:sp>
        <p:nvSpPr>
          <p:cNvPr id="12" name="Shape 10"/>
          <p:cNvSpPr/>
          <p:nvPr/>
        </p:nvSpPr>
        <p:spPr>
          <a:xfrm>
            <a:off x="952500" y="1962150"/>
            <a:ext cx="3082885" cy="499110"/>
          </a:xfrm>
          <a:prstGeom prst="rect">
            <a:avLst/>
          </a:prstGeom>
          <a:solidFill>
            <a:srgbClr val="2DD4BF"/>
          </a:solidFill>
          <a:ln/>
        </p:spPr>
      </p:sp>
      <p:sp>
        <p:nvSpPr>
          <p:cNvPr id="13" name="Text 11"/>
          <p:cNvSpPr/>
          <p:nvPr/>
        </p:nvSpPr>
        <p:spPr>
          <a:xfrm>
            <a:off x="1123950" y="2085975"/>
            <a:ext cx="283247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Name</a:t>
            </a:r>
            <a:endParaRPr lang="en-US" sz="1575" dirty="0"/>
          </a:p>
        </p:txBody>
      </p:sp>
      <p:sp>
        <p:nvSpPr>
          <p:cNvPr id="14" name="Shape 12"/>
          <p:cNvSpPr/>
          <p:nvPr/>
        </p:nvSpPr>
        <p:spPr>
          <a:xfrm>
            <a:off x="4035385" y="1962150"/>
            <a:ext cx="2356604" cy="499110"/>
          </a:xfrm>
          <a:prstGeom prst="rect">
            <a:avLst/>
          </a:prstGeom>
          <a:solidFill>
            <a:srgbClr val="2DD4BF"/>
          </a:solidFill>
          <a:ln/>
        </p:spPr>
      </p:sp>
      <p:sp>
        <p:nvSpPr>
          <p:cNvPr id="15" name="Text 13"/>
          <p:cNvSpPr/>
          <p:nvPr/>
        </p:nvSpPr>
        <p:spPr>
          <a:xfrm>
            <a:off x="4206835" y="2085975"/>
            <a:ext cx="2089904"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Dept</a:t>
            </a:r>
            <a:endParaRPr lang="en-US" sz="1575" dirty="0"/>
          </a:p>
        </p:txBody>
      </p:sp>
      <p:sp>
        <p:nvSpPr>
          <p:cNvPr id="16" name="Shape 14"/>
          <p:cNvSpPr/>
          <p:nvPr/>
        </p:nvSpPr>
        <p:spPr>
          <a:xfrm>
            <a:off x="6391989" y="1962150"/>
            <a:ext cx="2142411" cy="499110"/>
          </a:xfrm>
          <a:prstGeom prst="rect">
            <a:avLst/>
          </a:prstGeom>
          <a:solidFill>
            <a:srgbClr val="2DD4BF"/>
          </a:solidFill>
          <a:ln/>
        </p:spPr>
      </p:sp>
      <p:sp>
        <p:nvSpPr>
          <p:cNvPr id="17" name="Text 15"/>
          <p:cNvSpPr/>
          <p:nvPr/>
        </p:nvSpPr>
        <p:spPr>
          <a:xfrm>
            <a:off x="6487239" y="2085975"/>
            <a:ext cx="1875711"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18" name="Shape 16"/>
          <p:cNvSpPr/>
          <p:nvPr/>
        </p:nvSpPr>
        <p:spPr>
          <a:xfrm>
            <a:off x="952500" y="2461260"/>
            <a:ext cx="3082885" cy="464820"/>
          </a:xfrm>
          <a:prstGeom prst="rect">
            <a:avLst/>
          </a:prstGeom>
          <a:solidFill>
            <a:srgbClr val="FFFFFF">
              <a:alpha val="2000"/>
            </a:srgbClr>
          </a:solidFill>
          <a:ln/>
        </p:spPr>
      </p:sp>
      <p:sp>
        <p:nvSpPr>
          <p:cNvPr id="19" name="Shape 17"/>
          <p:cNvSpPr/>
          <p:nvPr/>
        </p:nvSpPr>
        <p:spPr>
          <a:xfrm>
            <a:off x="952500" y="2918460"/>
            <a:ext cx="3082885" cy="9525"/>
          </a:xfrm>
          <a:prstGeom prst="rect">
            <a:avLst/>
          </a:prstGeom>
          <a:solidFill>
            <a:srgbClr val="FFFFFF">
              <a:alpha val="8000"/>
            </a:srgbClr>
          </a:solidFill>
          <a:ln/>
        </p:spPr>
      </p:sp>
      <p:sp>
        <p:nvSpPr>
          <p:cNvPr id="20" name="Text 18"/>
          <p:cNvSpPr/>
          <p:nvPr/>
        </p:nvSpPr>
        <p:spPr>
          <a:xfrm>
            <a:off x="1123950" y="2566035"/>
            <a:ext cx="283247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Alice Johnson</a:t>
            </a:r>
            <a:endParaRPr lang="en-US" sz="1725" dirty="0"/>
          </a:p>
        </p:txBody>
      </p:sp>
      <p:sp>
        <p:nvSpPr>
          <p:cNvPr id="21" name="Shape 19"/>
          <p:cNvSpPr/>
          <p:nvPr/>
        </p:nvSpPr>
        <p:spPr>
          <a:xfrm>
            <a:off x="4035385" y="2461260"/>
            <a:ext cx="2356604" cy="464820"/>
          </a:xfrm>
          <a:prstGeom prst="rect">
            <a:avLst/>
          </a:prstGeom>
          <a:solidFill>
            <a:srgbClr val="FFFFFF">
              <a:alpha val="2000"/>
            </a:srgbClr>
          </a:solidFill>
          <a:ln/>
        </p:spPr>
      </p:sp>
      <p:sp>
        <p:nvSpPr>
          <p:cNvPr id="22" name="Shape 20"/>
          <p:cNvSpPr/>
          <p:nvPr/>
        </p:nvSpPr>
        <p:spPr>
          <a:xfrm>
            <a:off x="4035385" y="2918460"/>
            <a:ext cx="2356604" cy="9525"/>
          </a:xfrm>
          <a:prstGeom prst="rect">
            <a:avLst/>
          </a:prstGeom>
          <a:solidFill>
            <a:srgbClr val="FFFFFF">
              <a:alpha val="8000"/>
            </a:srgbClr>
          </a:solidFill>
          <a:ln/>
        </p:spPr>
      </p:sp>
      <p:sp>
        <p:nvSpPr>
          <p:cNvPr id="23" name="Text 21"/>
          <p:cNvSpPr/>
          <p:nvPr/>
        </p:nvSpPr>
        <p:spPr>
          <a:xfrm>
            <a:off x="4206835" y="2566035"/>
            <a:ext cx="2089904"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Marketing</a:t>
            </a:r>
            <a:endParaRPr lang="en-US" sz="1725" dirty="0"/>
          </a:p>
        </p:txBody>
      </p:sp>
      <p:sp>
        <p:nvSpPr>
          <p:cNvPr id="24" name="Shape 22"/>
          <p:cNvSpPr/>
          <p:nvPr/>
        </p:nvSpPr>
        <p:spPr>
          <a:xfrm>
            <a:off x="6391989" y="2461260"/>
            <a:ext cx="2142411" cy="464820"/>
          </a:xfrm>
          <a:prstGeom prst="rect">
            <a:avLst/>
          </a:prstGeom>
          <a:solidFill>
            <a:srgbClr val="FFFFFF">
              <a:alpha val="2000"/>
            </a:srgbClr>
          </a:solidFill>
          <a:ln/>
        </p:spPr>
      </p:sp>
      <p:sp>
        <p:nvSpPr>
          <p:cNvPr id="25" name="Shape 23"/>
          <p:cNvSpPr/>
          <p:nvPr/>
        </p:nvSpPr>
        <p:spPr>
          <a:xfrm>
            <a:off x="6391989" y="2918460"/>
            <a:ext cx="2142411" cy="9525"/>
          </a:xfrm>
          <a:prstGeom prst="rect">
            <a:avLst/>
          </a:prstGeom>
          <a:solidFill>
            <a:srgbClr val="FFFFFF">
              <a:alpha val="8000"/>
            </a:srgbClr>
          </a:solidFill>
          <a:ln/>
        </p:spPr>
      </p:sp>
      <p:sp>
        <p:nvSpPr>
          <p:cNvPr id="26" name="Text 24"/>
          <p:cNvSpPr/>
          <p:nvPr/>
        </p:nvSpPr>
        <p:spPr>
          <a:xfrm>
            <a:off x="6487239" y="2566035"/>
            <a:ext cx="1875711"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$52,000</a:t>
            </a:r>
            <a:endParaRPr lang="en-US" sz="1725" dirty="0"/>
          </a:p>
        </p:txBody>
      </p:sp>
      <p:sp>
        <p:nvSpPr>
          <p:cNvPr id="27" name="Shape 25"/>
          <p:cNvSpPr/>
          <p:nvPr/>
        </p:nvSpPr>
        <p:spPr>
          <a:xfrm>
            <a:off x="952500" y="3387090"/>
            <a:ext cx="3082885" cy="9525"/>
          </a:xfrm>
          <a:prstGeom prst="rect">
            <a:avLst/>
          </a:prstGeom>
          <a:solidFill>
            <a:srgbClr val="FFFFFF">
              <a:alpha val="8000"/>
            </a:srgbClr>
          </a:solidFill>
          <a:ln/>
        </p:spPr>
      </p:sp>
      <p:sp>
        <p:nvSpPr>
          <p:cNvPr id="28" name="Text 26"/>
          <p:cNvSpPr/>
          <p:nvPr/>
        </p:nvSpPr>
        <p:spPr>
          <a:xfrm>
            <a:off x="1123950" y="3030855"/>
            <a:ext cx="283247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29" name="Shape 27"/>
          <p:cNvSpPr/>
          <p:nvPr/>
        </p:nvSpPr>
        <p:spPr>
          <a:xfrm>
            <a:off x="4035385" y="3387090"/>
            <a:ext cx="2356604" cy="9525"/>
          </a:xfrm>
          <a:prstGeom prst="rect">
            <a:avLst/>
          </a:prstGeom>
          <a:solidFill>
            <a:srgbClr val="FFFFFF">
              <a:alpha val="8000"/>
            </a:srgbClr>
          </a:solidFill>
          <a:ln/>
        </p:spPr>
      </p:sp>
      <p:sp>
        <p:nvSpPr>
          <p:cNvPr id="30" name="Text 28"/>
          <p:cNvSpPr/>
          <p:nvPr/>
        </p:nvSpPr>
        <p:spPr>
          <a:xfrm>
            <a:off x="4206835" y="3030855"/>
            <a:ext cx="208990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31" name="Shape 29"/>
          <p:cNvSpPr/>
          <p:nvPr/>
        </p:nvSpPr>
        <p:spPr>
          <a:xfrm>
            <a:off x="6391989" y="3387090"/>
            <a:ext cx="2142411" cy="9525"/>
          </a:xfrm>
          <a:prstGeom prst="rect">
            <a:avLst/>
          </a:prstGeom>
          <a:solidFill>
            <a:srgbClr val="FFFFFF">
              <a:alpha val="8000"/>
            </a:srgbClr>
          </a:solidFill>
          <a:ln/>
        </p:spPr>
      </p:sp>
      <p:sp>
        <p:nvSpPr>
          <p:cNvPr id="32" name="Text 30"/>
          <p:cNvSpPr/>
          <p:nvPr/>
        </p:nvSpPr>
        <p:spPr>
          <a:xfrm>
            <a:off x="6487239" y="3030855"/>
            <a:ext cx="1875711"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33" name="Shape 31"/>
          <p:cNvSpPr/>
          <p:nvPr/>
        </p:nvSpPr>
        <p:spPr>
          <a:xfrm>
            <a:off x="952500" y="3394710"/>
            <a:ext cx="3082885" cy="468630"/>
          </a:xfrm>
          <a:prstGeom prst="rect">
            <a:avLst/>
          </a:prstGeom>
          <a:solidFill>
            <a:srgbClr val="FFFFFF">
              <a:alpha val="2000"/>
            </a:srgbClr>
          </a:solidFill>
          <a:ln/>
        </p:spPr>
      </p:sp>
      <p:sp>
        <p:nvSpPr>
          <p:cNvPr id="34" name="Shape 32"/>
          <p:cNvSpPr/>
          <p:nvPr/>
        </p:nvSpPr>
        <p:spPr>
          <a:xfrm>
            <a:off x="952500" y="3855720"/>
            <a:ext cx="3082885" cy="9525"/>
          </a:xfrm>
          <a:prstGeom prst="rect">
            <a:avLst/>
          </a:prstGeom>
          <a:solidFill>
            <a:srgbClr val="FFFFFF">
              <a:alpha val="8000"/>
            </a:srgbClr>
          </a:solidFill>
          <a:ln/>
        </p:spPr>
      </p:sp>
      <p:sp>
        <p:nvSpPr>
          <p:cNvPr id="35" name="Text 33"/>
          <p:cNvSpPr/>
          <p:nvPr/>
        </p:nvSpPr>
        <p:spPr>
          <a:xfrm>
            <a:off x="1123950" y="3499485"/>
            <a:ext cx="283247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Carol Smith</a:t>
            </a:r>
            <a:endParaRPr lang="en-US" sz="1725" dirty="0"/>
          </a:p>
        </p:txBody>
      </p:sp>
      <p:sp>
        <p:nvSpPr>
          <p:cNvPr id="36" name="Shape 34"/>
          <p:cNvSpPr/>
          <p:nvPr/>
        </p:nvSpPr>
        <p:spPr>
          <a:xfrm>
            <a:off x="4035385" y="3394710"/>
            <a:ext cx="2356604" cy="468630"/>
          </a:xfrm>
          <a:prstGeom prst="rect">
            <a:avLst/>
          </a:prstGeom>
          <a:solidFill>
            <a:srgbClr val="FFFFFF">
              <a:alpha val="2000"/>
            </a:srgbClr>
          </a:solidFill>
          <a:ln/>
        </p:spPr>
      </p:sp>
      <p:sp>
        <p:nvSpPr>
          <p:cNvPr id="37" name="Shape 35"/>
          <p:cNvSpPr/>
          <p:nvPr/>
        </p:nvSpPr>
        <p:spPr>
          <a:xfrm>
            <a:off x="4035385" y="3855720"/>
            <a:ext cx="2356604" cy="9525"/>
          </a:xfrm>
          <a:prstGeom prst="rect">
            <a:avLst/>
          </a:prstGeom>
          <a:solidFill>
            <a:srgbClr val="FFFFFF">
              <a:alpha val="8000"/>
            </a:srgbClr>
          </a:solidFill>
          <a:ln/>
        </p:spPr>
      </p:sp>
      <p:sp>
        <p:nvSpPr>
          <p:cNvPr id="38" name="Text 36"/>
          <p:cNvSpPr/>
          <p:nvPr/>
        </p:nvSpPr>
        <p:spPr>
          <a:xfrm>
            <a:off x="4206835" y="3499485"/>
            <a:ext cx="208990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HR</a:t>
            </a:r>
            <a:endParaRPr lang="en-US" sz="1725" dirty="0"/>
          </a:p>
        </p:txBody>
      </p:sp>
      <p:sp>
        <p:nvSpPr>
          <p:cNvPr id="39" name="Shape 37"/>
          <p:cNvSpPr/>
          <p:nvPr/>
        </p:nvSpPr>
        <p:spPr>
          <a:xfrm>
            <a:off x="6391989" y="3394710"/>
            <a:ext cx="2142411" cy="468630"/>
          </a:xfrm>
          <a:prstGeom prst="rect">
            <a:avLst/>
          </a:prstGeom>
          <a:solidFill>
            <a:srgbClr val="FFFFFF">
              <a:alpha val="2000"/>
            </a:srgbClr>
          </a:solidFill>
          <a:ln/>
        </p:spPr>
      </p:sp>
      <p:sp>
        <p:nvSpPr>
          <p:cNvPr id="40" name="Shape 38"/>
          <p:cNvSpPr/>
          <p:nvPr/>
        </p:nvSpPr>
        <p:spPr>
          <a:xfrm>
            <a:off x="6391989" y="3855720"/>
            <a:ext cx="2142411" cy="9525"/>
          </a:xfrm>
          <a:prstGeom prst="rect">
            <a:avLst/>
          </a:prstGeom>
          <a:solidFill>
            <a:srgbClr val="FFFFFF">
              <a:alpha val="8000"/>
            </a:srgbClr>
          </a:solidFill>
          <a:ln/>
        </p:spPr>
      </p:sp>
      <p:sp>
        <p:nvSpPr>
          <p:cNvPr id="41" name="Text 39"/>
          <p:cNvSpPr/>
          <p:nvPr/>
        </p:nvSpPr>
        <p:spPr>
          <a:xfrm>
            <a:off x="6487239" y="3499485"/>
            <a:ext cx="1875711"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42" name="Shape 40"/>
          <p:cNvSpPr/>
          <p:nvPr/>
        </p:nvSpPr>
        <p:spPr>
          <a:xfrm>
            <a:off x="952500" y="4324350"/>
            <a:ext cx="3082885" cy="9525"/>
          </a:xfrm>
          <a:prstGeom prst="rect">
            <a:avLst/>
          </a:prstGeom>
          <a:solidFill>
            <a:srgbClr val="FFFFFF">
              <a:alpha val="8000"/>
            </a:srgbClr>
          </a:solidFill>
          <a:ln/>
        </p:spPr>
      </p:sp>
      <p:sp>
        <p:nvSpPr>
          <p:cNvPr id="43" name="Text 41"/>
          <p:cNvSpPr/>
          <p:nvPr/>
        </p:nvSpPr>
        <p:spPr>
          <a:xfrm>
            <a:off x="1123950" y="3968115"/>
            <a:ext cx="283247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44" name="Shape 42"/>
          <p:cNvSpPr/>
          <p:nvPr/>
        </p:nvSpPr>
        <p:spPr>
          <a:xfrm>
            <a:off x="4035385" y="4324350"/>
            <a:ext cx="2356604" cy="9525"/>
          </a:xfrm>
          <a:prstGeom prst="rect">
            <a:avLst/>
          </a:prstGeom>
          <a:solidFill>
            <a:srgbClr val="FFFFFF">
              <a:alpha val="8000"/>
            </a:srgbClr>
          </a:solidFill>
          <a:ln/>
        </p:spPr>
      </p:sp>
      <p:sp>
        <p:nvSpPr>
          <p:cNvPr id="45" name="Text 43"/>
          <p:cNvSpPr/>
          <p:nvPr/>
        </p:nvSpPr>
        <p:spPr>
          <a:xfrm>
            <a:off x="4206835" y="3968115"/>
            <a:ext cx="208990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46" name="Shape 44"/>
          <p:cNvSpPr/>
          <p:nvPr/>
        </p:nvSpPr>
        <p:spPr>
          <a:xfrm>
            <a:off x="6391989" y="4324350"/>
            <a:ext cx="2142411" cy="9525"/>
          </a:xfrm>
          <a:prstGeom prst="rect">
            <a:avLst/>
          </a:prstGeom>
          <a:solidFill>
            <a:srgbClr val="FFFFFF">
              <a:alpha val="8000"/>
            </a:srgbClr>
          </a:solidFill>
          <a:ln/>
        </p:spPr>
      </p:sp>
      <p:sp>
        <p:nvSpPr>
          <p:cNvPr id="47" name="Text 45"/>
          <p:cNvSpPr/>
          <p:nvPr/>
        </p:nvSpPr>
        <p:spPr>
          <a:xfrm>
            <a:off x="6487239" y="3968115"/>
            <a:ext cx="1875711"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$71,000</a:t>
            </a:r>
            <a:endParaRPr lang="en-US" sz="1725" dirty="0"/>
          </a:p>
        </p:txBody>
      </p:sp>
      <p:sp>
        <p:nvSpPr>
          <p:cNvPr id="48" name="Shape 46"/>
          <p:cNvSpPr/>
          <p:nvPr/>
        </p:nvSpPr>
        <p:spPr>
          <a:xfrm>
            <a:off x="952500" y="4331970"/>
            <a:ext cx="3082885" cy="468630"/>
          </a:xfrm>
          <a:prstGeom prst="rect">
            <a:avLst/>
          </a:prstGeom>
          <a:solidFill>
            <a:srgbClr val="FFFFFF">
              <a:alpha val="2000"/>
            </a:srgbClr>
          </a:solidFill>
          <a:ln/>
        </p:spPr>
      </p:sp>
      <p:sp>
        <p:nvSpPr>
          <p:cNvPr id="49" name="Shape 47"/>
          <p:cNvSpPr/>
          <p:nvPr/>
        </p:nvSpPr>
        <p:spPr>
          <a:xfrm>
            <a:off x="952500" y="4792980"/>
            <a:ext cx="3082885" cy="9525"/>
          </a:xfrm>
          <a:prstGeom prst="rect">
            <a:avLst/>
          </a:prstGeom>
          <a:solidFill>
            <a:srgbClr val="FFFFFF">
              <a:alpha val="8000"/>
            </a:srgbClr>
          </a:solidFill>
          <a:ln/>
        </p:spPr>
      </p:sp>
      <p:sp>
        <p:nvSpPr>
          <p:cNvPr id="50" name="Text 48"/>
          <p:cNvSpPr/>
          <p:nvPr/>
        </p:nvSpPr>
        <p:spPr>
          <a:xfrm>
            <a:off x="1123950" y="4436745"/>
            <a:ext cx="283247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Emma Davis</a:t>
            </a:r>
            <a:endParaRPr lang="en-US" sz="1725" dirty="0"/>
          </a:p>
        </p:txBody>
      </p:sp>
      <p:sp>
        <p:nvSpPr>
          <p:cNvPr id="51" name="Shape 49"/>
          <p:cNvSpPr/>
          <p:nvPr/>
        </p:nvSpPr>
        <p:spPr>
          <a:xfrm>
            <a:off x="4035385" y="4331970"/>
            <a:ext cx="2356604" cy="468630"/>
          </a:xfrm>
          <a:prstGeom prst="rect">
            <a:avLst/>
          </a:prstGeom>
          <a:solidFill>
            <a:srgbClr val="FFFFFF">
              <a:alpha val="2000"/>
            </a:srgbClr>
          </a:solidFill>
          <a:ln/>
        </p:spPr>
      </p:sp>
      <p:sp>
        <p:nvSpPr>
          <p:cNvPr id="52" name="Shape 50"/>
          <p:cNvSpPr/>
          <p:nvPr/>
        </p:nvSpPr>
        <p:spPr>
          <a:xfrm>
            <a:off x="4035385" y="4792980"/>
            <a:ext cx="2356604" cy="9525"/>
          </a:xfrm>
          <a:prstGeom prst="rect">
            <a:avLst/>
          </a:prstGeom>
          <a:solidFill>
            <a:srgbClr val="FFFFFF">
              <a:alpha val="8000"/>
            </a:srgbClr>
          </a:solidFill>
          <a:ln/>
        </p:spPr>
      </p:sp>
      <p:sp>
        <p:nvSpPr>
          <p:cNvPr id="53" name="Text 51"/>
          <p:cNvSpPr/>
          <p:nvPr/>
        </p:nvSpPr>
        <p:spPr>
          <a:xfrm>
            <a:off x="4206835" y="4436745"/>
            <a:ext cx="208990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Marketing</a:t>
            </a:r>
            <a:endParaRPr lang="en-US" sz="1725" dirty="0"/>
          </a:p>
        </p:txBody>
      </p:sp>
      <p:sp>
        <p:nvSpPr>
          <p:cNvPr id="54" name="Shape 52"/>
          <p:cNvSpPr/>
          <p:nvPr/>
        </p:nvSpPr>
        <p:spPr>
          <a:xfrm>
            <a:off x="6391989" y="4331970"/>
            <a:ext cx="2142411" cy="468630"/>
          </a:xfrm>
          <a:prstGeom prst="rect">
            <a:avLst/>
          </a:prstGeom>
          <a:solidFill>
            <a:srgbClr val="FFFFFF">
              <a:alpha val="2000"/>
            </a:srgbClr>
          </a:solidFill>
          <a:ln/>
        </p:spPr>
      </p:sp>
      <p:sp>
        <p:nvSpPr>
          <p:cNvPr id="55" name="Shape 53"/>
          <p:cNvSpPr/>
          <p:nvPr/>
        </p:nvSpPr>
        <p:spPr>
          <a:xfrm>
            <a:off x="6391989" y="4792980"/>
            <a:ext cx="2142411" cy="9525"/>
          </a:xfrm>
          <a:prstGeom prst="rect">
            <a:avLst/>
          </a:prstGeom>
          <a:solidFill>
            <a:srgbClr val="FFFFFF">
              <a:alpha val="8000"/>
            </a:srgbClr>
          </a:solidFill>
          <a:ln/>
        </p:spPr>
      </p:sp>
      <p:sp>
        <p:nvSpPr>
          <p:cNvPr id="56" name="Text 54"/>
          <p:cNvSpPr/>
          <p:nvPr/>
        </p:nvSpPr>
        <p:spPr>
          <a:xfrm>
            <a:off x="6487239" y="4436745"/>
            <a:ext cx="1875711"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$58,300</a:t>
            </a:r>
            <a:endParaRPr lang="en-US" sz="1725" dirty="0"/>
          </a:p>
        </p:txBody>
      </p:sp>
      <p:sp>
        <p:nvSpPr>
          <p:cNvPr id="57" name="Shape 55"/>
          <p:cNvSpPr/>
          <p:nvPr/>
        </p:nvSpPr>
        <p:spPr>
          <a:xfrm>
            <a:off x="952500" y="5261610"/>
            <a:ext cx="3082885" cy="9525"/>
          </a:xfrm>
          <a:prstGeom prst="rect">
            <a:avLst/>
          </a:prstGeom>
          <a:solidFill>
            <a:srgbClr val="FFFFFF">
              <a:alpha val="8000"/>
            </a:srgbClr>
          </a:solidFill>
          <a:ln/>
        </p:spPr>
      </p:sp>
      <p:sp>
        <p:nvSpPr>
          <p:cNvPr id="58" name="Text 56"/>
          <p:cNvSpPr/>
          <p:nvPr/>
        </p:nvSpPr>
        <p:spPr>
          <a:xfrm>
            <a:off x="1123950" y="4905375"/>
            <a:ext cx="283247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59" name="Shape 57"/>
          <p:cNvSpPr/>
          <p:nvPr/>
        </p:nvSpPr>
        <p:spPr>
          <a:xfrm>
            <a:off x="4035385" y="5261610"/>
            <a:ext cx="2356604" cy="9525"/>
          </a:xfrm>
          <a:prstGeom prst="rect">
            <a:avLst/>
          </a:prstGeom>
          <a:solidFill>
            <a:srgbClr val="FFFFFF">
              <a:alpha val="8000"/>
            </a:srgbClr>
          </a:solidFill>
          <a:ln/>
        </p:spPr>
      </p:sp>
      <p:sp>
        <p:nvSpPr>
          <p:cNvPr id="60" name="Text 58"/>
          <p:cNvSpPr/>
          <p:nvPr/>
        </p:nvSpPr>
        <p:spPr>
          <a:xfrm>
            <a:off x="4206835" y="4905375"/>
            <a:ext cx="208990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61" name="Shape 59"/>
          <p:cNvSpPr/>
          <p:nvPr/>
        </p:nvSpPr>
        <p:spPr>
          <a:xfrm>
            <a:off x="6391989" y="5261610"/>
            <a:ext cx="2142411" cy="9525"/>
          </a:xfrm>
          <a:prstGeom prst="rect">
            <a:avLst/>
          </a:prstGeom>
          <a:solidFill>
            <a:srgbClr val="FFFFFF">
              <a:alpha val="8000"/>
            </a:srgbClr>
          </a:solidFill>
          <a:ln/>
        </p:spPr>
      </p:sp>
      <p:sp>
        <p:nvSpPr>
          <p:cNvPr id="62" name="Text 60"/>
          <p:cNvSpPr/>
          <p:nvPr/>
        </p:nvSpPr>
        <p:spPr>
          <a:xfrm>
            <a:off x="6487239" y="4905375"/>
            <a:ext cx="1875711"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63" name="Text 61"/>
          <p:cNvSpPr/>
          <p:nvPr/>
        </p:nvSpPr>
        <p:spPr>
          <a:xfrm>
            <a:off x="8915400" y="4521518"/>
            <a:ext cx="533400" cy="563880"/>
          </a:xfrm>
          <a:prstGeom prst="rect">
            <a:avLst/>
          </a:prstGeom>
          <a:noFill/>
          <a:ln/>
        </p:spPr>
        <p:txBody>
          <a:bodyPr wrap="square" lIns="25400" tIns="25400" rIns="25400" bIns="25400" rtlCol="0" anchor="t">
            <a:normAutofit/>
          </a:bodyPr>
          <a:lstStyle/>
          <a:p>
            <a:pPr algn="l" indent="0" marL="0">
              <a:buNone/>
            </a:pPr>
            <a:r>
              <a:rPr lang="en-US" sz="3600" dirty="0">
                <a:solidFill>
                  <a:srgbClr val="2DD4BF"/>
                </a:solidFill>
                <a:latin typeface="Arial" pitchFamily="34" charset="0"/>
                <a:ea typeface="Arial" pitchFamily="34" charset="-122"/>
                <a:cs typeface="Arial" pitchFamily="34" charset="-120"/>
              </a:rPr>
              <a:t>→</a:t>
            </a:r>
            <a:endParaRPr lang="en-US" sz="3600" dirty="0"/>
          </a:p>
        </p:txBody>
      </p:sp>
      <p:sp>
        <p:nvSpPr>
          <p:cNvPr id="64" name="Text 62"/>
          <p:cNvSpPr/>
          <p:nvPr/>
        </p:nvSpPr>
        <p:spPr>
          <a:xfrm>
            <a:off x="9753600" y="1680210"/>
            <a:ext cx="7809357" cy="28194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2DD4BF"/>
                </a:solidFill>
                <a:latin typeface="Arial" pitchFamily="34" charset="0"/>
                <a:ea typeface="Arial" pitchFamily="34" charset="-122"/>
                <a:cs typeface="Arial" pitchFamily="34" charset="-120"/>
              </a:rPr>
              <a:t>SORTED: DEPT A–Z, THEN SALARY ↓</a:t>
            </a:r>
            <a:endParaRPr lang="en-US" sz="1500" dirty="0"/>
          </a:p>
        </p:txBody>
      </p:sp>
      <p:sp>
        <p:nvSpPr>
          <p:cNvPr id="65" name="Shape 63"/>
          <p:cNvSpPr/>
          <p:nvPr/>
        </p:nvSpPr>
        <p:spPr>
          <a:xfrm>
            <a:off x="9753600" y="1962150"/>
            <a:ext cx="3079313" cy="499110"/>
          </a:xfrm>
          <a:prstGeom prst="rect">
            <a:avLst/>
          </a:prstGeom>
          <a:solidFill>
            <a:srgbClr val="2DD4BF"/>
          </a:solidFill>
          <a:ln/>
        </p:spPr>
      </p:sp>
      <p:sp>
        <p:nvSpPr>
          <p:cNvPr id="66" name="Text 64"/>
          <p:cNvSpPr/>
          <p:nvPr/>
        </p:nvSpPr>
        <p:spPr>
          <a:xfrm>
            <a:off x="9925050" y="2085975"/>
            <a:ext cx="2828793"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Name</a:t>
            </a:r>
            <a:endParaRPr lang="en-US" sz="1575" dirty="0"/>
          </a:p>
        </p:txBody>
      </p:sp>
      <p:sp>
        <p:nvSpPr>
          <p:cNvPr id="67" name="Shape 65"/>
          <p:cNvSpPr/>
          <p:nvPr/>
        </p:nvSpPr>
        <p:spPr>
          <a:xfrm>
            <a:off x="12832913" y="1962150"/>
            <a:ext cx="2446020" cy="499110"/>
          </a:xfrm>
          <a:prstGeom prst="rect">
            <a:avLst/>
          </a:prstGeom>
          <a:solidFill>
            <a:srgbClr val="2DD4BF"/>
          </a:solidFill>
          <a:ln/>
        </p:spPr>
      </p:sp>
      <p:sp>
        <p:nvSpPr>
          <p:cNvPr id="68" name="Text 66"/>
          <p:cNvSpPr/>
          <p:nvPr/>
        </p:nvSpPr>
        <p:spPr>
          <a:xfrm>
            <a:off x="13004363" y="2085975"/>
            <a:ext cx="2179320"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Dept</a:t>
            </a:r>
            <a:endParaRPr lang="en-US" sz="1575" dirty="0"/>
          </a:p>
        </p:txBody>
      </p:sp>
      <p:sp>
        <p:nvSpPr>
          <p:cNvPr id="69" name="Shape 67"/>
          <p:cNvSpPr/>
          <p:nvPr/>
        </p:nvSpPr>
        <p:spPr>
          <a:xfrm>
            <a:off x="15278934" y="1962150"/>
            <a:ext cx="2056567" cy="499110"/>
          </a:xfrm>
          <a:prstGeom prst="rect">
            <a:avLst/>
          </a:prstGeom>
          <a:solidFill>
            <a:srgbClr val="2DD4BF"/>
          </a:solidFill>
          <a:ln/>
        </p:spPr>
      </p:sp>
      <p:sp>
        <p:nvSpPr>
          <p:cNvPr id="70" name="Text 68"/>
          <p:cNvSpPr/>
          <p:nvPr/>
        </p:nvSpPr>
        <p:spPr>
          <a:xfrm>
            <a:off x="15374184" y="2085975"/>
            <a:ext cx="1789867"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71" name="Shape 69"/>
          <p:cNvSpPr/>
          <p:nvPr/>
        </p:nvSpPr>
        <p:spPr>
          <a:xfrm>
            <a:off x="9753600" y="2461260"/>
            <a:ext cx="3079313" cy="464820"/>
          </a:xfrm>
          <a:prstGeom prst="rect">
            <a:avLst/>
          </a:prstGeom>
          <a:solidFill>
            <a:srgbClr val="A78BFA">
              <a:alpha val="10000"/>
            </a:srgbClr>
          </a:solidFill>
          <a:ln/>
        </p:spPr>
      </p:sp>
      <p:sp>
        <p:nvSpPr>
          <p:cNvPr id="72" name="Shape 70"/>
          <p:cNvSpPr/>
          <p:nvPr/>
        </p:nvSpPr>
        <p:spPr>
          <a:xfrm>
            <a:off x="9753600" y="2918460"/>
            <a:ext cx="3079313" cy="9525"/>
          </a:xfrm>
          <a:prstGeom prst="rect">
            <a:avLst/>
          </a:prstGeom>
          <a:solidFill>
            <a:srgbClr val="FFFFFF">
              <a:alpha val="8000"/>
            </a:srgbClr>
          </a:solidFill>
          <a:ln/>
        </p:spPr>
      </p:sp>
      <p:sp>
        <p:nvSpPr>
          <p:cNvPr id="73" name="Text 71"/>
          <p:cNvSpPr/>
          <p:nvPr/>
        </p:nvSpPr>
        <p:spPr>
          <a:xfrm>
            <a:off x="9925050" y="2566035"/>
            <a:ext cx="2828793"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A78BFA"/>
                </a:solidFill>
                <a:latin typeface="Arial" pitchFamily="34" charset="0"/>
                <a:ea typeface="Arial" pitchFamily="34" charset="-122"/>
                <a:cs typeface="Arial" pitchFamily="34" charset="-120"/>
              </a:rPr>
              <a:t>Carol Smith</a:t>
            </a:r>
            <a:endParaRPr lang="en-US" sz="1725" dirty="0"/>
          </a:p>
        </p:txBody>
      </p:sp>
      <p:sp>
        <p:nvSpPr>
          <p:cNvPr id="74" name="Shape 72"/>
          <p:cNvSpPr/>
          <p:nvPr/>
        </p:nvSpPr>
        <p:spPr>
          <a:xfrm>
            <a:off x="12832913" y="2461260"/>
            <a:ext cx="2446020" cy="464820"/>
          </a:xfrm>
          <a:prstGeom prst="rect">
            <a:avLst/>
          </a:prstGeom>
          <a:solidFill>
            <a:srgbClr val="A78BFA">
              <a:alpha val="10000"/>
            </a:srgbClr>
          </a:solidFill>
          <a:ln/>
        </p:spPr>
      </p:sp>
      <p:sp>
        <p:nvSpPr>
          <p:cNvPr id="75" name="Shape 73"/>
          <p:cNvSpPr/>
          <p:nvPr/>
        </p:nvSpPr>
        <p:spPr>
          <a:xfrm>
            <a:off x="12832913" y="2918460"/>
            <a:ext cx="2446020" cy="9525"/>
          </a:xfrm>
          <a:prstGeom prst="rect">
            <a:avLst/>
          </a:prstGeom>
          <a:solidFill>
            <a:srgbClr val="FFFFFF">
              <a:alpha val="8000"/>
            </a:srgbClr>
          </a:solidFill>
          <a:ln/>
        </p:spPr>
      </p:sp>
      <p:sp>
        <p:nvSpPr>
          <p:cNvPr id="76" name="Text 74"/>
          <p:cNvSpPr/>
          <p:nvPr/>
        </p:nvSpPr>
        <p:spPr>
          <a:xfrm>
            <a:off x="13004363" y="2566035"/>
            <a:ext cx="2179320"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A78BFA"/>
                </a:solidFill>
                <a:latin typeface="Arial" pitchFamily="34" charset="0"/>
                <a:ea typeface="Arial" pitchFamily="34" charset="-122"/>
                <a:cs typeface="Arial" pitchFamily="34" charset="-120"/>
              </a:rPr>
              <a:t>HR</a:t>
            </a:r>
            <a:endParaRPr lang="en-US" sz="1725" dirty="0"/>
          </a:p>
        </p:txBody>
      </p:sp>
      <p:sp>
        <p:nvSpPr>
          <p:cNvPr id="77" name="Shape 75"/>
          <p:cNvSpPr/>
          <p:nvPr/>
        </p:nvSpPr>
        <p:spPr>
          <a:xfrm>
            <a:off x="15278934" y="2461260"/>
            <a:ext cx="2056567" cy="464820"/>
          </a:xfrm>
          <a:prstGeom prst="rect">
            <a:avLst/>
          </a:prstGeom>
          <a:solidFill>
            <a:srgbClr val="A78BFA">
              <a:alpha val="10000"/>
            </a:srgbClr>
          </a:solidFill>
          <a:ln/>
        </p:spPr>
      </p:sp>
      <p:sp>
        <p:nvSpPr>
          <p:cNvPr id="78" name="Shape 76"/>
          <p:cNvSpPr/>
          <p:nvPr/>
        </p:nvSpPr>
        <p:spPr>
          <a:xfrm>
            <a:off x="15278934" y="2918460"/>
            <a:ext cx="2056567" cy="9525"/>
          </a:xfrm>
          <a:prstGeom prst="rect">
            <a:avLst/>
          </a:prstGeom>
          <a:solidFill>
            <a:srgbClr val="FFFFFF">
              <a:alpha val="8000"/>
            </a:srgbClr>
          </a:solidFill>
          <a:ln/>
        </p:spPr>
      </p:sp>
      <p:sp>
        <p:nvSpPr>
          <p:cNvPr id="79" name="Text 77"/>
          <p:cNvSpPr/>
          <p:nvPr/>
        </p:nvSpPr>
        <p:spPr>
          <a:xfrm>
            <a:off x="15374184" y="2566035"/>
            <a:ext cx="1789867"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A78BFA"/>
                </a:solidFill>
                <a:latin typeface="monospace" pitchFamily="34" charset="0"/>
                <a:ea typeface="monospace" pitchFamily="34" charset="-122"/>
                <a:cs typeface="monospace" pitchFamily="34" charset="-120"/>
              </a:rPr>
              <a:t>$45,200</a:t>
            </a:r>
            <a:endParaRPr lang="en-US" sz="1725" dirty="0"/>
          </a:p>
        </p:txBody>
      </p:sp>
      <p:sp>
        <p:nvSpPr>
          <p:cNvPr id="80" name="Shape 78"/>
          <p:cNvSpPr/>
          <p:nvPr/>
        </p:nvSpPr>
        <p:spPr>
          <a:xfrm>
            <a:off x="9753600" y="2926080"/>
            <a:ext cx="3079313" cy="491490"/>
          </a:xfrm>
          <a:prstGeom prst="rect">
            <a:avLst/>
          </a:prstGeom>
          <a:solidFill>
            <a:srgbClr val="2DD4BF">
              <a:alpha val="14000"/>
            </a:srgbClr>
          </a:solidFill>
          <a:ln/>
        </p:spPr>
      </p:sp>
      <p:sp>
        <p:nvSpPr>
          <p:cNvPr id="81" name="Shape 79"/>
          <p:cNvSpPr/>
          <p:nvPr/>
        </p:nvSpPr>
        <p:spPr>
          <a:xfrm>
            <a:off x="9753600" y="3409950"/>
            <a:ext cx="3079313" cy="9525"/>
          </a:xfrm>
          <a:prstGeom prst="rect">
            <a:avLst/>
          </a:prstGeom>
          <a:solidFill>
            <a:srgbClr val="FFFFFF">
              <a:alpha val="8000"/>
            </a:srgbClr>
          </a:solidFill>
          <a:ln/>
        </p:spPr>
      </p:sp>
      <p:sp>
        <p:nvSpPr>
          <p:cNvPr id="82" name="Text 80"/>
          <p:cNvSpPr/>
          <p:nvPr/>
        </p:nvSpPr>
        <p:spPr>
          <a:xfrm>
            <a:off x="9925050" y="3030855"/>
            <a:ext cx="2828793"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Emma Davis</a:t>
            </a:r>
            <a:endParaRPr lang="en-US" sz="1725" dirty="0"/>
          </a:p>
        </p:txBody>
      </p:sp>
      <p:sp>
        <p:nvSpPr>
          <p:cNvPr id="83" name="Shape 81"/>
          <p:cNvSpPr/>
          <p:nvPr/>
        </p:nvSpPr>
        <p:spPr>
          <a:xfrm>
            <a:off x="12832913" y="2926080"/>
            <a:ext cx="2446020" cy="491490"/>
          </a:xfrm>
          <a:prstGeom prst="rect">
            <a:avLst/>
          </a:prstGeom>
          <a:solidFill>
            <a:srgbClr val="2DD4BF">
              <a:alpha val="14000"/>
            </a:srgbClr>
          </a:solidFill>
          <a:ln/>
        </p:spPr>
      </p:sp>
      <p:sp>
        <p:nvSpPr>
          <p:cNvPr id="84" name="Shape 82"/>
          <p:cNvSpPr/>
          <p:nvPr/>
        </p:nvSpPr>
        <p:spPr>
          <a:xfrm>
            <a:off x="12832913" y="3409950"/>
            <a:ext cx="2446020" cy="9525"/>
          </a:xfrm>
          <a:prstGeom prst="rect">
            <a:avLst/>
          </a:prstGeom>
          <a:solidFill>
            <a:srgbClr val="FFFFFF">
              <a:alpha val="8000"/>
            </a:srgbClr>
          </a:solidFill>
          <a:ln/>
        </p:spPr>
      </p:sp>
      <p:sp>
        <p:nvSpPr>
          <p:cNvPr id="85" name="Text 83"/>
          <p:cNvSpPr/>
          <p:nvPr/>
        </p:nvSpPr>
        <p:spPr>
          <a:xfrm>
            <a:off x="13004363" y="3030855"/>
            <a:ext cx="2179320"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86" name="Shape 84"/>
          <p:cNvSpPr/>
          <p:nvPr/>
        </p:nvSpPr>
        <p:spPr>
          <a:xfrm>
            <a:off x="15278934" y="2926080"/>
            <a:ext cx="2056567" cy="491490"/>
          </a:xfrm>
          <a:prstGeom prst="rect">
            <a:avLst/>
          </a:prstGeom>
          <a:solidFill>
            <a:srgbClr val="2DD4BF">
              <a:alpha val="14000"/>
            </a:srgbClr>
          </a:solidFill>
          <a:ln/>
        </p:spPr>
      </p:sp>
      <p:sp>
        <p:nvSpPr>
          <p:cNvPr id="87" name="Shape 85"/>
          <p:cNvSpPr/>
          <p:nvPr/>
        </p:nvSpPr>
        <p:spPr>
          <a:xfrm>
            <a:off x="15278934" y="3409950"/>
            <a:ext cx="2056567" cy="9525"/>
          </a:xfrm>
          <a:prstGeom prst="rect">
            <a:avLst/>
          </a:prstGeom>
          <a:solidFill>
            <a:srgbClr val="FFFFFF">
              <a:alpha val="8000"/>
            </a:srgbClr>
          </a:solidFill>
          <a:ln/>
        </p:spPr>
      </p:sp>
      <p:sp>
        <p:nvSpPr>
          <p:cNvPr id="88" name="Text 86"/>
          <p:cNvSpPr/>
          <p:nvPr/>
        </p:nvSpPr>
        <p:spPr>
          <a:xfrm>
            <a:off x="15374184" y="3030855"/>
            <a:ext cx="1789867"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$58,300</a:t>
            </a:r>
            <a:endParaRPr lang="en-US" sz="1725" dirty="0"/>
          </a:p>
        </p:txBody>
      </p:sp>
      <p:sp>
        <p:nvSpPr>
          <p:cNvPr id="89" name="Shape 87"/>
          <p:cNvSpPr/>
          <p:nvPr/>
        </p:nvSpPr>
        <p:spPr>
          <a:xfrm>
            <a:off x="9753600" y="3417570"/>
            <a:ext cx="3079313" cy="491490"/>
          </a:xfrm>
          <a:prstGeom prst="rect">
            <a:avLst/>
          </a:prstGeom>
          <a:solidFill>
            <a:srgbClr val="2DD4BF">
              <a:alpha val="14000"/>
            </a:srgbClr>
          </a:solidFill>
          <a:ln/>
        </p:spPr>
      </p:sp>
      <p:sp>
        <p:nvSpPr>
          <p:cNvPr id="90" name="Shape 88"/>
          <p:cNvSpPr/>
          <p:nvPr/>
        </p:nvSpPr>
        <p:spPr>
          <a:xfrm>
            <a:off x="9753600" y="3901440"/>
            <a:ext cx="3079313" cy="9525"/>
          </a:xfrm>
          <a:prstGeom prst="rect">
            <a:avLst/>
          </a:prstGeom>
          <a:solidFill>
            <a:srgbClr val="FFFFFF">
              <a:alpha val="8000"/>
            </a:srgbClr>
          </a:solidFill>
          <a:ln/>
        </p:spPr>
      </p:sp>
      <p:sp>
        <p:nvSpPr>
          <p:cNvPr id="91" name="Text 89"/>
          <p:cNvSpPr/>
          <p:nvPr/>
        </p:nvSpPr>
        <p:spPr>
          <a:xfrm>
            <a:off x="9925050" y="3522345"/>
            <a:ext cx="2828793"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Alice Johnson</a:t>
            </a:r>
            <a:endParaRPr lang="en-US" sz="1725" dirty="0"/>
          </a:p>
        </p:txBody>
      </p:sp>
      <p:sp>
        <p:nvSpPr>
          <p:cNvPr id="92" name="Shape 90"/>
          <p:cNvSpPr/>
          <p:nvPr/>
        </p:nvSpPr>
        <p:spPr>
          <a:xfrm>
            <a:off x="12832913" y="3417570"/>
            <a:ext cx="2446020" cy="491490"/>
          </a:xfrm>
          <a:prstGeom prst="rect">
            <a:avLst/>
          </a:prstGeom>
          <a:solidFill>
            <a:srgbClr val="2DD4BF">
              <a:alpha val="14000"/>
            </a:srgbClr>
          </a:solidFill>
          <a:ln/>
        </p:spPr>
      </p:sp>
      <p:sp>
        <p:nvSpPr>
          <p:cNvPr id="93" name="Shape 91"/>
          <p:cNvSpPr/>
          <p:nvPr/>
        </p:nvSpPr>
        <p:spPr>
          <a:xfrm>
            <a:off x="12832913" y="3901440"/>
            <a:ext cx="2446020" cy="9525"/>
          </a:xfrm>
          <a:prstGeom prst="rect">
            <a:avLst/>
          </a:prstGeom>
          <a:solidFill>
            <a:srgbClr val="FFFFFF">
              <a:alpha val="8000"/>
            </a:srgbClr>
          </a:solidFill>
          <a:ln/>
        </p:spPr>
      </p:sp>
      <p:sp>
        <p:nvSpPr>
          <p:cNvPr id="94" name="Text 92"/>
          <p:cNvSpPr/>
          <p:nvPr/>
        </p:nvSpPr>
        <p:spPr>
          <a:xfrm>
            <a:off x="13004363" y="3522345"/>
            <a:ext cx="2179320"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95" name="Shape 93"/>
          <p:cNvSpPr/>
          <p:nvPr/>
        </p:nvSpPr>
        <p:spPr>
          <a:xfrm>
            <a:off x="15278934" y="3417570"/>
            <a:ext cx="2056567" cy="491490"/>
          </a:xfrm>
          <a:prstGeom prst="rect">
            <a:avLst/>
          </a:prstGeom>
          <a:solidFill>
            <a:srgbClr val="2DD4BF">
              <a:alpha val="14000"/>
            </a:srgbClr>
          </a:solidFill>
          <a:ln/>
        </p:spPr>
      </p:sp>
      <p:sp>
        <p:nvSpPr>
          <p:cNvPr id="96" name="Shape 94"/>
          <p:cNvSpPr/>
          <p:nvPr/>
        </p:nvSpPr>
        <p:spPr>
          <a:xfrm>
            <a:off x="15278934" y="3901440"/>
            <a:ext cx="2056567" cy="9525"/>
          </a:xfrm>
          <a:prstGeom prst="rect">
            <a:avLst/>
          </a:prstGeom>
          <a:solidFill>
            <a:srgbClr val="FFFFFF">
              <a:alpha val="8000"/>
            </a:srgbClr>
          </a:solidFill>
          <a:ln/>
        </p:spPr>
      </p:sp>
      <p:sp>
        <p:nvSpPr>
          <p:cNvPr id="97" name="Text 95"/>
          <p:cNvSpPr/>
          <p:nvPr/>
        </p:nvSpPr>
        <p:spPr>
          <a:xfrm>
            <a:off x="15374184" y="3522345"/>
            <a:ext cx="1789867"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$52,000</a:t>
            </a:r>
            <a:endParaRPr lang="en-US" sz="1725" dirty="0"/>
          </a:p>
        </p:txBody>
      </p:sp>
      <p:sp>
        <p:nvSpPr>
          <p:cNvPr id="98" name="Shape 96"/>
          <p:cNvSpPr/>
          <p:nvPr/>
        </p:nvSpPr>
        <p:spPr>
          <a:xfrm>
            <a:off x="9753600" y="3909060"/>
            <a:ext cx="3079313" cy="468630"/>
          </a:xfrm>
          <a:prstGeom prst="rect">
            <a:avLst/>
          </a:prstGeom>
          <a:solidFill>
            <a:srgbClr val="FBBF24">
              <a:alpha val="10000"/>
            </a:srgbClr>
          </a:solidFill>
          <a:ln/>
        </p:spPr>
      </p:sp>
      <p:sp>
        <p:nvSpPr>
          <p:cNvPr id="99" name="Shape 97"/>
          <p:cNvSpPr/>
          <p:nvPr/>
        </p:nvSpPr>
        <p:spPr>
          <a:xfrm>
            <a:off x="9753600" y="4370070"/>
            <a:ext cx="3079313" cy="9525"/>
          </a:xfrm>
          <a:prstGeom prst="rect">
            <a:avLst/>
          </a:prstGeom>
          <a:solidFill>
            <a:srgbClr val="FFFFFF">
              <a:alpha val="8000"/>
            </a:srgbClr>
          </a:solidFill>
          <a:ln/>
        </p:spPr>
      </p:sp>
      <p:sp>
        <p:nvSpPr>
          <p:cNvPr id="100" name="Text 98"/>
          <p:cNvSpPr/>
          <p:nvPr/>
        </p:nvSpPr>
        <p:spPr>
          <a:xfrm>
            <a:off x="9925050" y="4013835"/>
            <a:ext cx="282879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101" name="Shape 99"/>
          <p:cNvSpPr/>
          <p:nvPr/>
        </p:nvSpPr>
        <p:spPr>
          <a:xfrm>
            <a:off x="12832913" y="3909060"/>
            <a:ext cx="2446020" cy="468630"/>
          </a:xfrm>
          <a:prstGeom prst="rect">
            <a:avLst/>
          </a:prstGeom>
          <a:solidFill>
            <a:srgbClr val="FBBF24">
              <a:alpha val="10000"/>
            </a:srgbClr>
          </a:solidFill>
          <a:ln/>
        </p:spPr>
      </p:sp>
      <p:sp>
        <p:nvSpPr>
          <p:cNvPr id="102" name="Shape 100"/>
          <p:cNvSpPr/>
          <p:nvPr/>
        </p:nvSpPr>
        <p:spPr>
          <a:xfrm>
            <a:off x="12832913" y="4370070"/>
            <a:ext cx="2446020" cy="9525"/>
          </a:xfrm>
          <a:prstGeom prst="rect">
            <a:avLst/>
          </a:prstGeom>
          <a:solidFill>
            <a:srgbClr val="FFFFFF">
              <a:alpha val="8000"/>
            </a:srgbClr>
          </a:solidFill>
          <a:ln/>
        </p:spPr>
      </p:sp>
      <p:sp>
        <p:nvSpPr>
          <p:cNvPr id="103" name="Text 101"/>
          <p:cNvSpPr/>
          <p:nvPr/>
        </p:nvSpPr>
        <p:spPr>
          <a:xfrm>
            <a:off x="13004363" y="4013835"/>
            <a:ext cx="217932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104" name="Shape 102"/>
          <p:cNvSpPr/>
          <p:nvPr/>
        </p:nvSpPr>
        <p:spPr>
          <a:xfrm>
            <a:off x="15278934" y="3909060"/>
            <a:ext cx="2056567" cy="468630"/>
          </a:xfrm>
          <a:prstGeom prst="rect">
            <a:avLst/>
          </a:prstGeom>
          <a:solidFill>
            <a:srgbClr val="FBBF24">
              <a:alpha val="10000"/>
            </a:srgbClr>
          </a:solidFill>
          <a:ln/>
        </p:spPr>
      </p:sp>
      <p:sp>
        <p:nvSpPr>
          <p:cNvPr id="105" name="Shape 103"/>
          <p:cNvSpPr/>
          <p:nvPr/>
        </p:nvSpPr>
        <p:spPr>
          <a:xfrm>
            <a:off x="15278934" y="4370070"/>
            <a:ext cx="2056567" cy="9525"/>
          </a:xfrm>
          <a:prstGeom prst="rect">
            <a:avLst/>
          </a:prstGeom>
          <a:solidFill>
            <a:srgbClr val="FFFFFF">
              <a:alpha val="8000"/>
            </a:srgbClr>
          </a:solidFill>
          <a:ln/>
        </p:spPr>
      </p:sp>
      <p:sp>
        <p:nvSpPr>
          <p:cNvPr id="106" name="Text 104"/>
          <p:cNvSpPr/>
          <p:nvPr/>
        </p:nvSpPr>
        <p:spPr>
          <a:xfrm>
            <a:off x="15374184" y="4013835"/>
            <a:ext cx="178986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$71,000</a:t>
            </a:r>
            <a:endParaRPr lang="en-US" sz="1725" dirty="0"/>
          </a:p>
        </p:txBody>
      </p:sp>
      <p:sp>
        <p:nvSpPr>
          <p:cNvPr id="107" name="Shape 105"/>
          <p:cNvSpPr/>
          <p:nvPr/>
        </p:nvSpPr>
        <p:spPr>
          <a:xfrm>
            <a:off x="9753600" y="4377690"/>
            <a:ext cx="3079313" cy="468630"/>
          </a:xfrm>
          <a:prstGeom prst="rect">
            <a:avLst/>
          </a:prstGeom>
          <a:solidFill>
            <a:srgbClr val="FBBF24">
              <a:alpha val="10000"/>
            </a:srgbClr>
          </a:solidFill>
          <a:ln/>
        </p:spPr>
      </p:sp>
      <p:sp>
        <p:nvSpPr>
          <p:cNvPr id="108" name="Shape 106"/>
          <p:cNvSpPr/>
          <p:nvPr/>
        </p:nvSpPr>
        <p:spPr>
          <a:xfrm>
            <a:off x="9753600" y="4838700"/>
            <a:ext cx="3079313" cy="9525"/>
          </a:xfrm>
          <a:prstGeom prst="rect">
            <a:avLst/>
          </a:prstGeom>
          <a:solidFill>
            <a:srgbClr val="FFFFFF">
              <a:alpha val="8000"/>
            </a:srgbClr>
          </a:solidFill>
          <a:ln/>
        </p:spPr>
      </p:sp>
      <p:sp>
        <p:nvSpPr>
          <p:cNvPr id="109" name="Text 107"/>
          <p:cNvSpPr/>
          <p:nvPr/>
        </p:nvSpPr>
        <p:spPr>
          <a:xfrm>
            <a:off x="9925050" y="4482465"/>
            <a:ext cx="282879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110" name="Shape 108"/>
          <p:cNvSpPr/>
          <p:nvPr/>
        </p:nvSpPr>
        <p:spPr>
          <a:xfrm>
            <a:off x="12832913" y="4377690"/>
            <a:ext cx="2446020" cy="468630"/>
          </a:xfrm>
          <a:prstGeom prst="rect">
            <a:avLst/>
          </a:prstGeom>
          <a:solidFill>
            <a:srgbClr val="FBBF24">
              <a:alpha val="10000"/>
            </a:srgbClr>
          </a:solidFill>
          <a:ln/>
        </p:spPr>
      </p:sp>
      <p:sp>
        <p:nvSpPr>
          <p:cNvPr id="111" name="Shape 109"/>
          <p:cNvSpPr/>
          <p:nvPr/>
        </p:nvSpPr>
        <p:spPr>
          <a:xfrm>
            <a:off x="12832913" y="4838700"/>
            <a:ext cx="2446020" cy="9525"/>
          </a:xfrm>
          <a:prstGeom prst="rect">
            <a:avLst/>
          </a:prstGeom>
          <a:solidFill>
            <a:srgbClr val="FFFFFF">
              <a:alpha val="8000"/>
            </a:srgbClr>
          </a:solidFill>
          <a:ln/>
        </p:spPr>
      </p:sp>
      <p:sp>
        <p:nvSpPr>
          <p:cNvPr id="112" name="Text 110"/>
          <p:cNvSpPr/>
          <p:nvPr/>
        </p:nvSpPr>
        <p:spPr>
          <a:xfrm>
            <a:off x="13004363" y="4482465"/>
            <a:ext cx="217932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113" name="Shape 111"/>
          <p:cNvSpPr/>
          <p:nvPr/>
        </p:nvSpPr>
        <p:spPr>
          <a:xfrm>
            <a:off x="15278934" y="4377690"/>
            <a:ext cx="2056567" cy="468630"/>
          </a:xfrm>
          <a:prstGeom prst="rect">
            <a:avLst/>
          </a:prstGeom>
          <a:solidFill>
            <a:srgbClr val="FBBF24">
              <a:alpha val="10000"/>
            </a:srgbClr>
          </a:solidFill>
          <a:ln/>
        </p:spPr>
      </p:sp>
      <p:sp>
        <p:nvSpPr>
          <p:cNvPr id="114" name="Shape 112"/>
          <p:cNvSpPr/>
          <p:nvPr/>
        </p:nvSpPr>
        <p:spPr>
          <a:xfrm>
            <a:off x="15278934" y="4838700"/>
            <a:ext cx="2056567" cy="9525"/>
          </a:xfrm>
          <a:prstGeom prst="rect">
            <a:avLst/>
          </a:prstGeom>
          <a:solidFill>
            <a:srgbClr val="FFFFFF">
              <a:alpha val="8000"/>
            </a:srgbClr>
          </a:solidFill>
          <a:ln/>
        </p:spPr>
      </p:sp>
      <p:sp>
        <p:nvSpPr>
          <p:cNvPr id="115" name="Text 113"/>
          <p:cNvSpPr/>
          <p:nvPr/>
        </p:nvSpPr>
        <p:spPr>
          <a:xfrm>
            <a:off x="15374184" y="4482465"/>
            <a:ext cx="178986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116" name="Shape 114"/>
          <p:cNvSpPr/>
          <p:nvPr/>
        </p:nvSpPr>
        <p:spPr>
          <a:xfrm>
            <a:off x="9753600" y="4846320"/>
            <a:ext cx="3079313" cy="468630"/>
          </a:xfrm>
          <a:prstGeom prst="rect">
            <a:avLst/>
          </a:prstGeom>
          <a:solidFill>
            <a:srgbClr val="FBBF24">
              <a:alpha val="10000"/>
            </a:srgbClr>
          </a:solidFill>
          <a:ln/>
        </p:spPr>
      </p:sp>
      <p:sp>
        <p:nvSpPr>
          <p:cNvPr id="117" name="Shape 115"/>
          <p:cNvSpPr/>
          <p:nvPr/>
        </p:nvSpPr>
        <p:spPr>
          <a:xfrm>
            <a:off x="9753600" y="5307330"/>
            <a:ext cx="3079313" cy="9525"/>
          </a:xfrm>
          <a:prstGeom prst="rect">
            <a:avLst/>
          </a:prstGeom>
          <a:solidFill>
            <a:srgbClr val="FFFFFF">
              <a:alpha val="8000"/>
            </a:srgbClr>
          </a:solidFill>
          <a:ln/>
        </p:spPr>
      </p:sp>
      <p:sp>
        <p:nvSpPr>
          <p:cNvPr id="118" name="Text 116"/>
          <p:cNvSpPr/>
          <p:nvPr/>
        </p:nvSpPr>
        <p:spPr>
          <a:xfrm>
            <a:off x="9925050" y="4951095"/>
            <a:ext cx="282879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119" name="Shape 117"/>
          <p:cNvSpPr/>
          <p:nvPr/>
        </p:nvSpPr>
        <p:spPr>
          <a:xfrm>
            <a:off x="12832913" y="4846320"/>
            <a:ext cx="2446020" cy="468630"/>
          </a:xfrm>
          <a:prstGeom prst="rect">
            <a:avLst/>
          </a:prstGeom>
          <a:solidFill>
            <a:srgbClr val="FBBF24">
              <a:alpha val="10000"/>
            </a:srgbClr>
          </a:solidFill>
          <a:ln/>
        </p:spPr>
      </p:sp>
      <p:sp>
        <p:nvSpPr>
          <p:cNvPr id="120" name="Shape 118"/>
          <p:cNvSpPr/>
          <p:nvPr/>
        </p:nvSpPr>
        <p:spPr>
          <a:xfrm>
            <a:off x="12832913" y="5307330"/>
            <a:ext cx="2446020" cy="9525"/>
          </a:xfrm>
          <a:prstGeom prst="rect">
            <a:avLst/>
          </a:prstGeom>
          <a:solidFill>
            <a:srgbClr val="FFFFFF">
              <a:alpha val="8000"/>
            </a:srgbClr>
          </a:solidFill>
          <a:ln/>
        </p:spPr>
      </p:sp>
      <p:sp>
        <p:nvSpPr>
          <p:cNvPr id="121" name="Text 119"/>
          <p:cNvSpPr/>
          <p:nvPr/>
        </p:nvSpPr>
        <p:spPr>
          <a:xfrm>
            <a:off x="13004363" y="4951095"/>
            <a:ext cx="217932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122" name="Shape 120"/>
          <p:cNvSpPr/>
          <p:nvPr/>
        </p:nvSpPr>
        <p:spPr>
          <a:xfrm>
            <a:off x="15278934" y="4846320"/>
            <a:ext cx="2056567" cy="468630"/>
          </a:xfrm>
          <a:prstGeom prst="rect">
            <a:avLst/>
          </a:prstGeom>
          <a:solidFill>
            <a:srgbClr val="FBBF24">
              <a:alpha val="10000"/>
            </a:srgbClr>
          </a:solidFill>
          <a:ln/>
        </p:spPr>
      </p:sp>
      <p:sp>
        <p:nvSpPr>
          <p:cNvPr id="123" name="Shape 121"/>
          <p:cNvSpPr/>
          <p:nvPr/>
        </p:nvSpPr>
        <p:spPr>
          <a:xfrm>
            <a:off x="15278934" y="5307330"/>
            <a:ext cx="2056567" cy="9525"/>
          </a:xfrm>
          <a:prstGeom prst="rect">
            <a:avLst/>
          </a:prstGeom>
          <a:solidFill>
            <a:srgbClr val="FFFFFF">
              <a:alpha val="8000"/>
            </a:srgbClr>
          </a:solidFill>
          <a:ln/>
        </p:spPr>
      </p:sp>
      <p:sp>
        <p:nvSpPr>
          <p:cNvPr id="124" name="Text 122"/>
          <p:cNvSpPr/>
          <p:nvPr/>
        </p:nvSpPr>
        <p:spPr>
          <a:xfrm>
            <a:off x="15374184" y="4951095"/>
            <a:ext cx="1789867"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125" name="Shape 123"/>
          <p:cNvSpPr/>
          <p:nvPr/>
        </p:nvSpPr>
        <p:spPr>
          <a:xfrm>
            <a:off x="952500" y="8117205"/>
            <a:ext cx="16383000" cy="1407795"/>
          </a:xfrm>
          <a:prstGeom prst="roundRect">
            <a:avLst>
              <a:gd name="adj" fmla="val 8119"/>
            </a:avLst>
          </a:prstGeom>
          <a:solidFill>
            <a:srgbClr val="2DD4BF">
              <a:alpha val="5000"/>
            </a:srgbClr>
          </a:solidFill>
          <a:ln w="7620">
            <a:solidFill>
              <a:srgbClr val="2DD4BF">
                <a:alpha val="30000"/>
              </a:srgbClr>
            </a:solidFill>
            <a:prstDash val="solid"/>
          </a:ln>
        </p:spPr>
      </p:sp>
      <p:sp>
        <p:nvSpPr>
          <p:cNvPr id="126" name="Text 124"/>
          <p:cNvSpPr/>
          <p:nvPr/>
        </p:nvSpPr>
        <p:spPr>
          <a:xfrm>
            <a:off x="1303020" y="8429625"/>
            <a:ext cx="1615241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Data → Sort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opens the multi-level sort dialog. Add levels with the </a:t>
            </a:r>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"Add Level"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button. Level 1 sorts first, then Excel sorts ties within that by Level 2.</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4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Filtering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Data</a:t>
            </a:r>
            <a:endParaRPr lang="en-US" sz="4200" dirty="0"/>
          </a:p>
        </p:txBody>
      </p:sp>
      <p:sp>
        <p:nvSpPr>
          <p:cNvPr id="11" name="Text 9"/>
          <p:cNvSpPr/>
          <p:nvPr/>
        </p:nvSpPr>
        <p:spPr>
          <a:xfrm>
            <a:off x="952500" y="1680210"/>
            <a:ext cx="8241030" cy="510540"/>
          </a:xfrm>
          <a:prstGeom prst="rect">
            <a:avLst/>
          </a:prstGeom>
          <a:noFill/>
          <a:ln/>
        </p:spPr>
        <p:txBody>
          <a:bodyPr wrap="square" lIns="25400" tIns="25400" rIns="25400" bIns="25400" rtlCol="0" anchor="t">
            <a:normAutofit/>
          </a:bodyPr>
          <a:lstStyle/>
          <a:p>
            <a:pPr algn="l" indent="0" marL="0">
              <a:lnSpc>
                <a:spcPct val="160000"/>
              </a:lnSpc>
              <a:buNone/>
            </a:pPr>
            <a:r>
              <a:rPr lang="en-US" sz="2250" dirty="0">
                <a:solidFill>
                  <a:srgbClr val="F0F6FC"/>
                </a:solidFill>
                <a:latin typeface="Arial" pitchFamily="34" charset="0"/>
                <a:ea typeface="Arial" pitchFamily="34" charset="-122"/>
                <a:cs typeface="Arial" pitchFamily="34" charset="-120"/>
              </a:rPr>
              <a:t>Filter narrows your view </a:t>
            </a:r>
            <a:pPr algn="l" indent="0" marL="0">
              <a:lnSpc>
                <a:spcPct val="160000"/>
              </a:lnSpc>
              <a:buNone/>
            </a:pPr>
            <a:r>
              <a:rPr lang="en-US" sz="2250" b="1" dirty="0">
                <a:solidFill>
                  <a:srgbClr val="F0F6FC"/>
                </a:solidFill>
                <a:latin typeface="Arial" pitchFamily="34" charset="0"/>
                <a:ea typeface="Arial" pitchFamily="34" charset="-122"/>
                <a:cs typeface="Arial" pitchFamily="34" charset="-120"/>
              </a:rPr>
              <a:t>without deleting </a:t>
            </a:r>
            <a:pPr algn="l" indent="0" marL="0">
              <a:lnSpc>
                <a:spcPct val="160000"/>
              </a:lnSpc>
              <a:buNone/>
            </a:pPr>
            <a:r>
              <a:rPr lang="en-US" sz="2250" dirty="0">
                <a:solidFill>
                  <a:srgbClr val="F0F6FC"/>
                </a:solidFill>
                <a:latin typeface="Arial" pitchFamily="34" charset="0"/>
                <a:ea typeface="Arial" pitchFamily="34" charset="-122"/>
                <a:cs typeface="Arial" pitchFamily="34" charset="-120"/>
              </a:rPr>
              <a:t>any rows.</a:t>
            </a:r>
            <a:endParaRPr lang="en-US" sz="2250" dirty="0"/>
          </a:p>
        </p:txBody>
      </p:sp>
      <p:sp>
        <p:nvSpPr>
          <p:cNvPr id="12" name="Shape 10"/>
          <p:cNvSpPr/>
          <p:nvPr/>
        </p:nvSpPr>
        <p:spPr>
          <a:xfrm>
            <a:off x="952500" y="2457450"/>
            <a:ext cx="8001000" cy="780098"/>
          </a:xfrm>
          <a:prstGeom prst="roundRect">
            <a:avLst>
              <a:gd name="adj" fmla="val 14652"/>
            </a:avLst>
          </a:prstGeom>
          <a:solidFill>
            <a:srgbClr val="161B22"/>
          </a:solidFill>
          <a:ln w="7620">
            <a:solidFill>
              <a:srgbClr val="FFFFFF">
                <a:alpha val="8000"/>
              </a:srgbClr>
            </a:solidFill>
            <a:prstDash val="solid"/>
          </a:ln>
        </p:spPr>
      </p:sp>
      <p:sp>
        <p:nvSpPr>
          <p:cNvPr id="13" name="Text 11"/>
          <p:cNvSpPr/>
          <p:nvPr/>
        </p:nvSpPr>
        <p:spPr>
          <a:xfrm>
            <a:off x="1226820" y="2676049"/>
            <a:ext cx="245745" cy="381000"/>
          </a:xfrm>
          <a:prstGeom prst="rect">
            <a:avLst/>
          </a:prstGeom>
          <a:noFill/>
          <a:ln/>
        </p:spPr>
        <p:txBody>
          <a:bodyPr wrap="square" lIns="25400" tIns="25400" rIns="25400" bIns="25400" rtlCol="0" anchor="t">
            <a:normAutofit/>
          </a:bodyPr>
          <a:lstStyle/>
          <a:p>
            <a:pPr algn="l" indent="0" marL="0">
              <a:buNone/>
            </a:pPr>
            <a:r>
              <a:rPr lang="en-US" sz="2400" dirty="0">
                <a:solidFill>
                  <a:srgbClr val="F0F6FC"/>
                </a:solidFill>
                <a:latin typeface="Arial" pitchFamily="34" charset="0"/>
                <a:ea typeface="Arial" pitchFamily="34" charset="-122"/>
                <a:cs typeface="Arial" pitchFamily="34" charset="-120"/>
              </a:rPr>
              <a:t>1</a:t>
            </a:r>
            <a:endParaRPr lang="en-US" sz="2400" dirty="0"/>
          </a:p>
        </p:txBody>
      </p:sp>
      <p:sp>
        <p:nvSpPr>
          <p:cNvPr id="14" name="Text 12"/>
          <p:cNvSpPr/>
          <p:nvPr/>
        </p:nvSpPr>
        <p:spPr>
          <a:xfrm>
            <a:off x="1396365" y="2655570"/>
            <a:ext cx="2892209"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Click any cell in your data</a:t>
            </a:r>
            <a:endParaRPr lang="en-US" sz="1950" dirty="0"/>
          </a:p>
        </p:txBody>
      </p:sp>
      <p:sp>
        <p:nvSpPr>
          <p:cNvPr id="15" name="Shape 13"/>
          <p:cNvSpPr/>
          <p:nvPr/>
        </p:nvSpPr>
        <p:spPr>
          <a:xfrm>
            <a:off x="952500" y="3237547"/>
            <a:ext cx="8001000" cy="795338"/>
          </a:xfrm>
          <a:prstGeom prst="roundRect">
            <a:avLst>
              <a:gd name="adj" fmla="val 14371"/>
            </a:avLst>
          </a:prstGeom>
          <a:solidFill>
            <a:srgbClr val="161B22"/>
          </a:solidFill>
          <a:ln w="7620">
            <a:solidFill>
              <a:srgbClr val="FFFFFF">
                <a:alpha val="8000"/>
              </a:srgbClr>
            </a:solidFill>
            <a:prstDash val="solid"/>
          </a:ln>
        </p:spPr>
      </p:sp>
      <p:sp>
        <p:nvSpPr>
          <p:cNvPr id="16" name="Text 14"/>
          <p:cNvSpPr/>
          <p:nvPr/>
        </p:nvSpPr>
        <p:spPr>
          <a:xfrm>
            <a:off x="1226820" y="3463766"/>
            <a:ext cx="245745" cy="381000"/>
          </a:xfrm>
          <a:prstGeom prst="rect">
            <a:avLst/>
          </a:prstGeom>
          <a:noFill/>
          <a:ln/>
        </p:spPr>
        <p:txBody>
          <a:bodyPr wrap="square" lIns="25400" tIns="25400" rIns="25400" bIns="25400" rtlCol="0" anchor="t">
            <a:normAutofit/>
          </a:bodyPr>
          <a:lstStyle/>
          <a:p>
            <a:pPr algn="l" indent="0" marL="0">
              <a:buNone/>
            </a:pPr>
            <a:r>
              <a:rPr lang="en-US" sz="2400" dirty="0">
                <a:solidFill>
                  <a:srgbClr val="F0F6FC"/>
                </a:solidFill>
                <a:latin typeface="Arial" pitchFamily="34" charset="0"/>
                <a:ea typeface="Arial" pitchFamily="34" charset="-122"/>
                <a:cs typeface="Arial" pitchFamily="34" charset="-120"/>
              </a:rPr>
              <a:t>2</a:t>
            </a:r>
            <a:endParaRPr lang="en-US" sz="2400" dirty="0"/>
          </a:p>
        </p:txBody>
      </p:sp>
      <p:sp>
        <p:nvSpPr>
          <p:cNvPr id="17" name="Text 15"/>
          <p:cNvSpPr/>
          <p:nvPr/>
        </p:nvSpPr>
        <p:spPr>
          <a:xfrm>
            <a:off x="1396365" y="3435668"/>
            <a:ext cx="3574547" cy="437198"/>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Data → Filter (or </a:t>
            </a:r>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Ctrl+Shift+L</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a:t>
            </a:r>
            <a:endParaRPr lang="en-US" sz="1950" dirty="0"/>
          </a:p>
        </p:txBody>
      </p:sp>
      <p:sp>
        <p:nvSpPr>
          <p:cNvPr id="18" name="Shape 16"/>
          <p:cNvSpPr/>
          <p:nvPr/>
        </p:nvSpPr>
        <p:spPr>
          <a:xfrm>
            <a:off x="952500" y="4032885"/>
            <a:ext cx="8001000" cy="795338"/>
          </a:xfrm>
          <a:prstGeom prst="roundRect">
            <a:avLst>
              <a:gd name="adj" fmla="val 14371"/>
            </a:avLst>
          </a:prstGeom>
          <a:solidFill>
            <a:srgbClr val="161B22"/>
          </a:solidFill>
          <a:ln w="7620">
            <a:solidFill>
              <a:srgbClr val="FFFFFF">
                <a:alpha val="8000"/>
              </a:srgbClr>
            </a:solidFill>
            <a:prstDash val="solid"/>
          </a:ln>
        </p:spPr>
      </p:sp>
      <p:sp>
        <p:nvSpPr>
          <p:cNvPr id="19" name="Text 17"/>
          <p:cNvSpPr/>
          <p:nvPr/>
        </p:nvSpPr>
        <p:spPr>
          <a:xfrm>
            <a:off x="1226820" y="4259104"/>
            <a:ext cx="245745" cy="381000"/>
          </a:xfrm>
          <a:prstGeom prst="rect">
            <a:avLst/>
          </a:prstGeom>
          <a:noFill/>
          <a:ln/>
        </p:spPr>
        <p:txBody>
          <a:bodyPr wrap="square" lIns="25400" tIns="25400" rIns="25400" bIns="25400" rtlCol="0" anchor="t">
            <a:normAutofit/>
          </a:bodyPr>
          <a:lstStyle/>
          <a:p>
            <a:pPr algn="l" indent="0" marL="0">
              <a:buNone/>
            </a:pPr>
            <a:r>
              <a:rPr lang="en-US" sz="2400" dirty="0">
                <a:solidFill>
                  <a:srgbClr val="F0F6FC"/>
                </a:solidFill>
                <a:latin typeface="Arial" pitchFamily="34" charset="0"/>
                <a:ea typeface="Arial" pitchFamily="34" charset="-122"/>
                <a:cs typeface="Arial" pitchFamily="34" charset="-120"/>
              </a:rPr>
              <a:t>3</a:t>
            </a:r>
            <a:endParaRPr lang="en-US" sz="2400" dirty="0"/>
          </a:p>
        </p:txBody>
      </p:sp>
      <p:sp>
        <p:nvSpPr>
          <p:cNvPr id="20" name="Text 18"/>
          <p:cNvSpPr/>
          <p:nvPr/>
        </p:nvSpPr>
        <p:spPr>
          <a:xfrm>
            <a:off x="1396365" y="4231005"/>
            <a:ext cx="6264532" cy="437198"/>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Click the </a:t>
            </a:r>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 dropdown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on the column you want to filter</a:t>
            </a:r>
            <a:endParaRPr lang="en-US" sz="1950" dirty="0"/>
          </a:p>
        </p:txBody>
      </p:sp>
      <p:sp>
        <p:nvSpPr>
          <p:cNvPr id="21" name="Shape 19"/>
          <p:cNvSpPr/>
          <p:nvPr/>
        </p:nvSpPr>
        <p:spPr>
          <a:xfrm>
            <a:off x="952500" y="4828222"/>
            <a:ext cx="8001000" cy="780098"/>
          </a:xfrm>
          <a:prstGeom prst="roundRect">
            <a:avLst>
              <a:gd name="adj" fmla="val 14652"/>
            </a:avLst>
          </a:prstGeom>
          <a:solidFill>
            <a:srgbClr val="161B22"/>
          </a:solidFill>
          <a:ln w="7620">
            <a:solidFill>
              <a:srgbClr val="FFFFFF">
                <a:alpha val="8000"/>
              </a:srgbClr>
            </a:solidFill>
            <a:prstDash val="solid"/>
          </a:ln>
        </p:spPr>
      </p:sp>
      <p:sp>
        <p:nvSpPr>
          <p:cNvPr id="22" name="Text 20"/>
          <p:cNvSpPr/>
          <p:nvPr/>
        </p:nvSpPr>
        <p:spPr>
          <a:xfrm>
            <a:off x="1226820" y="5046822"/>
            <a:ext cx="245745" cy="381000"/>
          </a:xfrm>
          <a:prstGeom prst="rect">
            <a:avLst/>
          </a:prstGeom>
          <a:noFill/>
          <a:ln/>
        </p:spPr>
        <p:txBody>
          <a:bodyPr wrap="square" lIns="25400" tIns="25400" rIns="25400" bIns="25400" rtlCol="0" anchor="t">
            <a:normAutofit/>
          </a:bodyPr>
          <a:lstStyle/>
          <a:p>
            <a:pPr algn="l" indent="0" marL="0">
              <a:buNone/>
            </a:pPr>
            <a:r>
              <a:rPr lang="en-US" sz="2400" dirty="0">
                <a:solidFill>
                  <a:srgbClr val="F0F6FC"/>
                </a:solidFill>
                <a:latin typeface="Arial" pitchFamily="34" charset="0"/>
                <a:ea typeface="Arial" pitchFamily="34" charset="-122"/>
                <a:cs typeface="Arial" pitchFamily="34" charset="-120"/>
              </a:rPr>
              <a:t>4</a:t>
            </a:r>
            <a:endParaRPr lang="en-US" sz="2400" dirty="0"/>
          </a:p>
        </p:txBody>
      </p:sp>
      <p:sp>
        <p:nvSpPr>
          <p:cNvPr id="23" name="Text 21"/>
          <p:cNvSpPr/>
          <p:nvPr/>
        </p:nvSpPr>
        <p:spPr>
          <a:xfrm>
            <a:off x="1396365" y="5026343"/>
            <a:ext cx="5231338"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Uncheck items to hide rows — check to reveal</a:t>
            </a:r>
            <a:endParaRPr lang="en-US" sz="1950" dirty="0"/>
          </a:p>
        </p:txBody>
      </p:sp>
      <p:sp>
        <p:nvSpPr>
          <p:cNvPr id="24" name="Shape 22"/>
          <p:cNvSpPr/>
          <p:nvPr/>
        </p:nvSpPr>
        <p:spPr>
          <a:xfrm>
            <a:off x="952500" y="5836920"/>
            <a:ext cx="8001000" cy="1407795"/>
          </a:xfrm>
          <a:prstGeom prst="roundRect">
            <a:avLst>
              <a:gd name="adj" fmla="val 8119"/>
            </a:avLst>
          </a:prstGeom>
          <a:solidFill>
            <a:srgbClr val="FBBF24">
              <a:alpha val="5000"/>
            </a:srgbClr>
          </a:solidFill>
          <a:ln w="7620">
            <a:solidFill>
              <a:srgbClr val="FBBF24">
                <a:alpha val="30000"/>
              </a:srgbClr>
            </a:solidFill>
            <a:prstDash val="solid"/>
          </a:ln>
        </p:spPr>
      </p:sp>
      <p:sp>
        <p:nvSpPr>
          <p:cNvPr id="25" name="Text 23"/>
          <p:cNvSpPr/>
          <p:nvPr/>
        </p:nvSpPr>
        <p:spPr>
          <a:xfrm>
            <a:off x="1303020" y="6149340"/>
            <a:ext cx="751895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BBF24"/>
                </a:solidFill>
                <a:latin typeface="Arial" pitchFamily="34" charset="0"/>
                <a:ea typeface="Arial" pitchFamily="34" charset="-122"/>
                <a:cs typeface="Arial" pitchFamily="34" charset="-120"/>
              </a:rPr>
              <a:t>Trap: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SUM counts hidden rows. Use </a:t>
            </a:r>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=SUBTOTAL(9, B2:B9)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to sum </a:t>
            </a:r>
            <a:pPr algn="l" indent="0" marL="0">
              <a:lnSpc>
                <a:spcPct val="155000"/>
              </a:lnSpc>
              <a:buNone/>
            </a:pPr>
            <a:r>
              <a:rPr lang="en-US" sz="1950" i="1" dirty="0">
                <a:solidFill>
                  <a:srgbClr val="F0F6FC"/>
                </a:solidFill>
                <a:latin typeface="Arial" pitchFamily="34" charset="0"/>
                <a:ea typeface="Arial" pitchFamily="34" charset="-122"/>
                <a:cs typeface="Arial" pitchFamily="34" charset="-120"/>
              </a:rPr>
              <a:t>only visible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rows.</a:t>
            </a:r>
            <a:endParaRPr lang="en-US" sz="1950" dirty="0"/>
          </a:p>
        </p:txBody>
      </p:sp>
      <p:sp>
        <p:nvSpPr>
          <p:cNvPr id="26" name="Text 24"/>
          <p:cNvSpPr/>
          <p:nvPr/>
        </p:nvSpPr>
        <p:spPr>
          <a:xfrm>
            <a:off x="9334500" y="1680210"/>
            <a:ext cx="824103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2DD4BF"/>
                </a:solidFill>
                <a:latin typeface="Arial" pitchFamily="34" charset="0"/>
                <a:ea typeface="Arial" pitchFamily="34" charset="-122"/>
                <a:cs typeface="Arial" pitchFamily="34" charset="-120"/>
              </a:rPr>
              <a:t>Filtered: Marketing only</a:t>
            </a:r>
            <a:endParaRPr lang="en-US" sz="1500" dirty="0"/>
          </a:p>
        </p:txBody>
      </p:sp>
      <p:sp>
        <p:nvSpPr>
          <p:cNvPr id="27" name="Shape 25"/>
          <p:cNvSpPr/>
          <p:nvPr/>
        </p:nvSpPr>
        <p:spPr>
          <a:xfrm>
            <a:off x="9334500" y="1962150"/>
            <a:ext cx="3249573" cy="506730"/>
          </a:xfrm>
          <a:prstGeom prst="rect">
            <a:avLst/>
          </a:prstGeom>
          <a:solidFill>
            <a:srgbClr val="2DD4BF"/>
          </a:solidFill>
          <a:ln/>
        </p:spPr>
      </p:sp>
      <p:sp>
        <p:nvSpPr>
          <p:cNvPr id="28" name="Text 26"/>
          <p:cNvSpPr/>
          <p:nvPr/>
        </p:nvSpPr>
        <p:spPr>
          <a:xfrm>
            <a:off x="9505950" y="2085975"/>
            <a:ext cx="3004160" cy="29718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Name</a:t>
            </a:r>
            <a:endParaRPr lang="en-US" sz="1575" dirty="0"/>
          </a:p>
        </p:txBody>
      </p:sp>
      <p:sp>
        <p:nvSpPr>
          <p:cNvPr id="29" name="Shape 27"/>
          <p:cNvSpPr/>
          <p:nvPr/>
        </p:nvSpPr>
        <p:spPr>
          <a:xfrm>
            <a:off x="12584073" y="1962150"/>
            <a:ext cx="2581275" cy="506730"/>
          </a:xfrm>
          <a:prstGeom prst="rect">
            <a:avLst/>
          </a:prstGeom>
          <a:solidFill>
            <a:srgbClr val="2DD4BF"/>
          </a:solidFill>
          <a:ln/>
        </p:spPr>
      </p:sp>
      <p:sp>
        <p:nvSpPr>
          <p:cNvPr id="30" name="Text 28"/>
          <p:cNvSpPr/>
          <p:nvPr/>
        </p:nvSpPr>
        <p:spPr>
          <a:xfrm>
            <a:off x="12755523" y="2085975"/>
            <a:ext cx="2315813" cy="29718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Dept ▼▲</a:t>
            </a:r>
            <a:endParaRPr lang="en-US" sz="1575" dirty="0"/>
          </a:p>
        </p:txBody>
      </p:sp>
      <p:sp>
        <p:nvSpPr>
          <p:cNvPr id="31" name="Shape 29"/>
          <p:cNvSpPr/>
          <p:nvPr/>
        </p:nvSpPr>
        <p:spPr>
          <a:xfrm>
            <a:off x="15165348" y="1962150"/>
            <a:ext cx="2170152" cy="506730"/>
          </a:xfrm>
          <a:prstGeom prst="rect">
            <a:avLst/>
          </a:prstGeom>
          <a:solidFill>
            <a:srgbClr val="2DD4BF"/>
          </a:solidFill>
          <a:ln/>
        </p:spPr>
      </p:sp>
      <p:sp>
        <p:nvSpPr>
          <p:cNvPr id="32" name="Text 30"/>
          <p:cNvSpPr/>
          <p:nvPr/>
        </p:nvSpPr>
        <p:spPr>
          <a:xfrm>
            <a:off x="15260598" y="2085975"/>
            <a:ext cx="1903452" cy="29718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33" name="Shape 31"/>
          <p:cNvSpPr/>
          <p:nvPr/>
        </p:nvSpPr>
        <p:spPr>
          <a:xfrm>
            <a:off x="9334500" y="2468880"/>
            <a:ext cx="3249573" cy="487680"/>
          </a:xfrm>
          <a:prstGeom prst="rect">
            <a:avLst/>
          </a:prstGeom>
          <a:solidFill>
            <a:srgbClr val="2DD4BF">
              <a:alpha val="14000"/>
            </a:srgbClr>
          </a:solidFill>
          <a:ln/>
        </p:spPr>
      </p:sp>
      <p:sp>
        <p:nvSpPr>
          <p:cNvPr id="34" name="Shape 32"/>
          <p:cNvSpPr/>
          <p:nvPr/>
        </p:nvSpPr>
        <p:spPr>
          <a:xfrm>
            <a:off x="9334500" y="2948940"/>
            <a:ext cx="3249573" cy="9525"/>
          </a:xfrm>
          <a:prstGeom prst="rect">
            <a:avLst/>
          </a:prstGeom>
          <a:solidFill>
            <a:srgbClr val="FFFFFF">
              <a:alpha val="8000"/>
            </a:srgbClr>
          </a:solidFill>
          <a:ln/>
        </p:spPr>
      </p:sp>
      <p:sp>
        <p:nvSpPr>
          <p:cNvPr id="35" name="Text 33"/>
          <p:cNvSpPr/>
          <p:nvPr/>
        </p:nvSpPr>
        <p:spPr>
          <a:xfrm>
            <a:off x="9505950" y="2573655"/>
            <a:ext cx="3004160" cy="30861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Alice Johnson</a:t>
            </a:r>
            <a:endParaRPr lang="en-US" sz="1725" dirty="0"/>
          </a:p>
        </p:txBody>
      </p:sp>
      <p:sp>
        <p:nvSpPr>
          <p:cNvPr id="36" name="Shape 34"/>
          <p:cNvSpPr/>
          <p:nvPr/>
        </p:nvSpPr>
        <p:spPr>
          <a:xfrm>
            <a:off x="12584073" y="2468880"/>
            <a:ext cx="2581275" cy="487680"/>
          </a:xfrm>
          <a:prstGeom prst="rect">
            <a:avLst/>
          </a:prstGeom>
          <a:solidFill>
            <a:srgbClr val="2DD4BF">
              <a:alpha val="14000"/>
            </a:srgbClr>
          </a:solidFill>
          <a:ln/>
        </p:spPr>
      </p:sp>
      <p:sp>
        <p:nvSpPr>
          <p:cNvPr id="37" name="Shape 35"/>
          <p:cNvSpPr/>
          <p:nvPr/>
        </p:nvSpPr>
        <p:spPr>
          <a:xfrm>
            <a:off x="12584073" y="2948940"/>
            <a:ext cx="2581275" cy="9525"/>
          </a:xfrm>
          <a:prstGeom prst="rect">
            <a:avLst/>
          </a:prstGeom>
          <a:solidFill>
            <a:srgbClr val="FFFFFF">
              <a:alpha val="8000"/>
            </a:srgbClr>
          </a:solidFill>
          <a:ln/>
        </p:spPr>
      </p:sp>
      <p:sp>
        <p:nvSpPr>
          <p:cNvPr id="38" name="Text 36"/>
          <p:cNvSpPr/>
          <p:nvPr/>
        </p:nvSpPr>
        <p:spPr>
          <a:xfrm>
            <a:off x="12755523" y="2573655"/>
            <a:ext cx="2315813" cy="30861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39" name="Shape 37"/>
          <p:cNvSpPr/>
          <p:nvPr/>
        </p:nvSpPr>
        <p:spPr>
          <a:xfrm>
            <a:off x="15165348" y="2468880"/>
            <a:ext cx="2170152" cy="487680"/>
          </a:xfrm>
          <a:prstGeom prst="rect">
            <a:avLst/>
          </a:prstGeom>
          <a:solidFill>
            <a:srgbClr val="2DD4BF">
              <a:alpha val="14000"/>
            </a:srgbClr>
          </a:solidFill>
          <a:ln/>
        </p:spPr>
      </p:sp>
      <p:sp>
        <p:nvSpPr>
          <p:cNvPr id="40" name="Shape 38"/>
          <p:cNvSpPr/>
          <p:nvPr/>
        </p:nvSpPr>
        <p:spPr>
          <a:xfrm>
            <a:off x="15165348" y="2948940"/>
            <a:ext cx="2170152" cy="9525"/>
          </a:xfrm>
          <a:prstGeom prst="rect">
            <a:avLst/>
          </a:prstGeom>
          <a:solidFill>
            <a:srgbClr val="FFFFFF">
              <a:alpha val="8000"/>
            </a:srgbClr>
          </a:solidFill>
          <a:ln/>
        </p:spPr>
      </p:sp>
      <p:sp>
        <p:nvSpPr>
          <p:cNvPr id="41" name="Text 39"/>
          <p:cNvSpPr/>
          <p:nvPr/>
        </p:nvSpPr>
        <p:spPr>
          <a:xfrm>
            <a:off x="15260598" y="2573655"/>
            <a:ext cx="1903452" cy="30861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$52,000</a:t>
            </a:r>
            <a:endParaRPr lang="en-US" sz="1725" dirty="0"/>
          </a:p>
        </p:txBody>
      </p:sp>
      <p:sp>
        <p:nvSpPr>
          <p:cNvPr id="42" name="Shape 40"/>
          <p:cNvSpPr/>
          <p:nvPr/>
        </p:nvSpPr>
        <p:spPr>
          <a:xfrm>
            <a:off x="9334500" y="2956560"/>
            <a:ext cx="3249573" cy="491490"/>
          </a:xfrm>
          <a:prstGeom prst="rect">
            <a:avLst/>
          </a:prstGeom>
          <a:solidFill>
            <a:srgbClr val="2DD4BF">
              <a:alpha val="14000"/>
            </a:srgbClr>
          </a:solidFill>
          <a:ln/>
        </p:spPr>
      </p:sp>
      <p:sp>
        <p:nvSpPr>
          <p:cNvPr id="43" name="Shape 41"/>
          <p:cNvSpPr/>
          <p:nvPr/>
        </p:nvSpPr>
        <p:spPr>
          <a:xfrm>
            <a:off x="9334500" y="3440430"/>
            <a:ext cx="3249573" cy="9525"/>
          </a:xfrm>
          <a:prstGeom prst="rect">
            <a:avLst/>
          </a:prstGeom>
          <a:solidFill>
            <a:srgbClr val="FFFFFF">
              <a:alpha val="8000"/>
            </a:srgbClr>
          </a:solidFill>
          <a:ln/>
        </p:spPr>
      </p:sp>
      <p:sp>
        <p:nvSpPr>
          <p:cNvPr id="44" name="Text 42"/>
          <p:cNvSpPr/>
          <p:nvPr/>
        </p:nvSpPr>
        <p:spPr>
          <a:xfrm>
            <a:off x="9505950" y="3061335"/>
            <a:ext cx="3004160"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Emma Davis</a:t>
            </a:r>
            <a:endParaRPr lang="en-US" sz="1725" dirty="0"/>
          </a:p>
        </p:txBody>
      </p:sp>
      <p:sp>
        <p:nvSpPr>
          <p:cNvPr id="45" name="Shape 43"/>
          <p:cNvSpPr/>
          <p:nvPr/>
        </p:nvSpPr>
        <p:spPr>
          <a:xfrm>
            <a:off x="12584073" y="2956560"/>
            <a:ext cx="2581275" cy="491490"/>
          </a:xfrm>
          <a:prstGeom prst="rect">
            <a:avLst/>
          </a:prstGeom>
          <a:solidFill>
            <a:srgbClr val="2DD4BF">
              <a:alpha val="14000"/>
            </a:srgbClr>
          </a:solidFill>
          <a:ln/>
        </p:spPr>
      </p:sp>
      <p:sp>
        <p:nvSpPr>
          <p:cNvPr id="46" name="Shape 44"/>
          <p:cNvSpPr/>
          <p:nvPr/>
        </p:nvSpPr>
        <p:spPr>
          <a:xfrm>
            <a:off x="12584073" y="3440430"/>
            <a:ext cx="2581275" cy="9525"/>
          </a:xfrm>
          <a:prstGeom prst="rect">
            <a:avLst/>
          </a:prstGeom>
          <a:solidFill>
            <a:srgbClr val="FFFFFF">
              <a:alpha val="8000"/>
            </a:srgbClr>
          </a:solidFill>
          <a:ln/>
        </p:spPr>
      </p:sp>
      <p:sp>
        <p:nvSpPr>
          <p:cNvPr id="47" name="Text 45"/>
          <p:cNvSpPr/>
          <p:nvPr/>
        </p:nvSpPr>
        <p:spPr>
          <a:xfrm>
            <a:off x="12755523" y="3061335"/>
            <a:ext cx="2315813"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48" name="Shape 46"/>
          <p:cNvSpPr/>
          <p:nvPr/>
        </p:nvSpPr>
        <p:spPr>
          <a:xfrm>
            <a:off x="15165348" y="2956560"/>
            <a:ext cx="2170152" cy="491490"/>
          </a:xfrm>
          <a:prstGeom prst="rect">
            <a:avLst/>
          </a:prstGeom>
          <a:solidFill>
            <a:srgbClr val="2DD4BF">
              <a:alpha val="14000"/>
            </a:srgbClr>
          </a:solidFill>
          <a:ln/>
        </p:spPr>
      </p:sp>
      <p:sp>
        <p:nvSpPr>
          <p:cNvPr id="49" name="Shape 47"/>
          <p:cNvSpPr/>
          <p:nvPr/>
        </p:nvSpPr>
        <p:spPr>
          <a:xfrm>
            <a:off x="15165348" y="3440430"/>
            <a:ext cx="2170152" cy="9525"/>
          </a:xfrm>
          <a:prstGeom prst="rect">
            <a:avLst/>
          </a:prstGeom>
          <a:solidFill>
            <a:srgbClr val="FFFFFF">
              <a:alpha val="8000"/>
            </a:srgbClr>
          </a:solidFill>
          <a:ln/>
        </p:spPr>
      </p:sp>
      <p:sp>
        <p:nvSpPr>
          <p:cNvPr id="50" name="Text 48"/>
          <p:cNvSpPr/>
          <p:nvPr/>
        </p:nvSpPr>
        <p:spPr>
          <a:xfrm>
            <a:off x="15260598" y="3061335"/>
            <a:ext cx="1903452"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$58,300</a:t>
            </a:r>
            <a:endParaRPr lang="en-US" sz="1725" dirty="0"/>
          </a:p>
        </p:txBody>
      </p:sp>
      <p:sp>
        <p:nvSpPr>
          <p:cNvPr id="51" name="Shape 49"/>
          <p:cNvSpPr/>
          <p:nvPr/>
        </p:nvSpPr>
        <p:spPr>
          <a:xfrm>
            <a:off x="9334500" y="3448050"/>
            <a:ext cx="3249573" cy="491490"/>
          </a:xfrm>
          <a:prstGeom prst="rect">
            <a:avLst/>
          </a:prstGeom>
          <a:solidFill>
            <a:srgbClr val="2DD4BF">
              <a:alpha val="14000"/>
            </a:srgbClr>
          </a:solidFill>
          <a:ln/>
        </p:spPr>
      </p:sp>
      <p:sp>
        <p:nvSpPr>
          <p:cNvPr id="52" name="Shape 50"/>
          <p:cNvSpPr/>
          <p:nvPr/>
        </p:nvSpPr>
        <p:spPr>
          <a:xfrm>
            <a:off x="9334500" y="3931920"/>
            <a:ext cx="3249573" cy="9525"/>
          </a:xfrm>
          <a:prstGeom prst="rect">
            <a:avLst/>
          </a:prstGeom>
          <a:solidFill>
            <a:srgbClr val="FFFFFF">
              <a:alpha val="8000"/>
            </a:srgbClr>
          </a:solidFill>
          <a:ln/>
        </p:spPr>
      </p:sp>
      <p:sp>
        <p:nvSpPr>
          <p:cNvPr id="53" name="Text 51"/>
          <p:cNvSpPr/>
          <p:nvPr/>
        </p:nvSpPr>
        <p:spPr>
          <a:xfrm>
            <a:off x="9505950" y="3552825"/>
            <a:ext cx="3004160"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Henry Wu</a:t>
            </a:r>
            <a:endParaRPr lang="en-US" sz="1725" dirty="0"/>
          </a:p>
        </p:txBody>
      </p:sp>
      <p:sp>
        <p:nvSpPr>
          <p:cNvPr id="54" name="Shape 52"/>
          <p:cNvSpPr/>
          <p:nvPr/>
        </p:nvSpPr>
        <p:spPr>
          <a:xfrm>
            <a:off x="12584073" y="3448050"/>
            <a:ext cx="2581275" cy="491490"/>
          </a:xfrm>
          <a:prstGeom prst="rect">
            <a:avLst/>
          </a:prstGeom>
          <a:solidFill>
            <a:srgbClr val="2DD4BF">
              <a:alpha val="14000"/>
            </a:srgbClr>
          </a:solidFill>
          <a:ln/>
        </p:spPr>
      </p:sp>
      <p:sp>
        <p:nvSpPr>
          <p:cNvPr id="55" name="Shape 53"/>
          <p:cNvSpPr/>
          <p:nvPr/>
        </p:nvSpPr>
        <p:spPr>
          <a:xfrm>
            <a:off x="12584073" y="3931920"/>
            <a:ext cx="2581275" cy="9525"/>
          </a:xfrm>
          <a:prstGeom prst="rect">
            <a:avLst/>
          </a:prstGeom>
          <a:solidFill>
            <a:srgbClr val="FFFFFF">
              <a:alpha val="8000"/>
            </a:srgbClr>
          </a:solidFill>
          <a:ln/>
        </p:spPr>
      </p:sp>
      <p:sp>
        <p:nvSpPr>
          <p:cNvPr id="56" name="Text 54"/>
          <p:cNvSpPr/>
          <p:nvPr/>
        </p:nvSpPr>
        <p:spPr>
          <a:xfrm>
            <a:off x="12755523" y="3552825"/>
            <a:ext cx="2315813"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57" name="Shape 55"/>
          <p:cNvSpPr/>
          <p:nvPr/>
        </p:nvSpPr>
        <p:spPr>
          <a:xfrm>
            <a:off x="15165348" y="3448050"/>
            <a:ext cx="2170152" cy="491490"/>
          </a:xfrm>
          <a:prstGeom prst="rect">
            <a:avLst/>
          </a:prstGeom>
          <a:solidFill>
            <a:srgbClr val="2DD4BF">
              <a:alpha val="14000"/>
            </a:srgbClr>
          </a:solidFill>
          <a:ln/>
        </p:spPr>
      </p:sp>
      <p:sp>
        <p:nvSpPr>
          <p:cNvPr id="58" name="Shape 56"/>
          <p:cNvSpPr/>
          <p:nvPr/>
        </p:nvSpPr>
        <p:spPr>
          <a:xfrm>
            <a:off x="15165348" y="3931920"/>
            <a:ext cx="2170152" cy="9525"/>
          </a:xfrm>
          <a:prstGeom prst="rect">
            <a:avLst/>
          </a:prstGeom>
          <a:solidFill>
            <a:srgbClr val="FFFFFF">
              <a:alpha val="8000"/>
            </a:srgbClr>
          </a:solidFill>
          <a:ln/>
        </p:spPr>
      </p:sp>
      <p:sp>
        <p:nvSpPr>
          <p:cNvPr id="59" name="Text 57"/>
          <p:cNvSpPr/>
          <p:nvPr/>
        </p:nvSpPr>
        <p:spPr>
          <a:xfrm>
            <a:off x="15260598" y="3552825"/>
            <a:ext cx="1903452"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$55,400</a:t>
            </a:r>
            <a:endParaRPr lang="en-US" sz="1725" dirty="0"/>
          </a:p>
        </p:txBody>
      </p:sp>
      <p:sp>
        <p:nvSpPr>
          <p:cNvPr id="60" name="Text 58"/>
          <p:cNvSpPr/>
          <p:nvPr/>
        </p:nvSpPr>
        <p:spPr>
          <a:xfrm>
            <a:off x="9334500" y="4019550"/>
            <a:ext cx="8241030" cy="251460"/>
          </a:xfrm>
          <a:prstGeom prst="rect">
            <a:avLst/>
          </a:prstGeom>
          <a:noFill/>
          <a:ln/>
        </p:spPr>
        <p:txBody>
          <a:bodyPr wrap="square" lIns="25400" tIns="25400" rIns="25400" bIns="25400" rtlCol="0" anchor="t">
            <a:normAutofit/>
          </a:bodyPr>
          <a:lstStyle/>
          <a:p>
            <a:pPr algn="l" indent="0" marL="0">
              <a:buNone/>
            </a:pPr>
            <a:r>
              <a:rPr lang="en-US" sz="1425" dirty="0">
                <a:solidFill>
                  <a:srgbClr val="7D8590"/>
                </a:solidFill>
                <a:latin typeface="Arial" pitchFamily="34" charset="0"/>
                <a:ea typeface="Arial" pitchFamily="34" charset="-122"/>
                <a:cs typeface="Arial" pitchFamily="34" charset="-120"/>
              </a:rPr>
              <a:t>Rows 3, 4, 6, 7 are hidden — not deleted</a:t>
            </a:r>
            <a:endParaRPr lang="en-US" sz="1425" dirty="0"/>
          </a:p>
        </p:txBody>
      </p:sp>
      <p:sp>
        <p:nvSpPr>
          <p:cNvPr id="61" name="Shape 59"/>
          <p:cNvSpPr/>
          <p:nvPr/>
        </p:nvSpPr>
        <p:spPr>
          <a:xfrm>
            <a:off x="9334500" y="4385310"/>
            <a:ext cx="8001000" cy="2034540"/>
          </a:xfrm>
          <a:prstGeom prst="roundRect">
            <a:avLst>
              <a:gd name="adj" fmla="val 5618"/>
            </a:avLst>
          </a:prstGeom>
          <a:solidFill>
            <a:srgbClr val="161B22"/>
          </a:solidFill>
          <a:ln w="7620">
            <a:solidFill>
              <a:srgbClr val="2DD4BF">
                <a:alpha val="30000"/>
              </a:srgbClr>
            </a:solidFill>
            <a:prstDash val="solid"/>
          </a:ln>
        </p:spPr>
      </p:sp>
      <p:sp>
        <p:nvSpPr>
          <p:cNvPr id="62" name="Text 60"/>
          <p:cNvSpPr/>
          <p:nvPr/>
        </p:nvSpPr>
        <p:spPr>
          <a:xfrm>
            <a:off x="9685020" y="4697730"/>
            <a:ext cx="7518959"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=SUBTOTAL(9, B2:B9)</a:t>
            </a:r>
            <a:endParaRPr lang="en-US" sz="1650" dirty="0"/>
          </a:p>
        </p:txBody>
      </p:sp>
      <p:sp>
        <p:nvSpPr>
          <p:cNvPr id="63" name="Text 61"/>
          <p:cNvSpPr/>
          <p:nvPr/>
        </p:nvSpPr>
        <p:spPr>
          <a:xfrm>
            <a:off x="9685020" y="5055870"/>
            <a:ext cx="7518959"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DD4BF"/>
                </a:solidFill>
                <a:latin typeface="Arial" pitchFamily="34" charset="0"/>
                <a:ea typeface="Arial" pitchFamily="34" charset="-122"/>
                <a:cs typeface="Arial" pitchFamily="34" charset="-120"/>
              </a:rPr>
              <a:t>$165,700</a:t>
            </a:r>
            <a:endParaRPr lang="en-US" sz="4500" dirty="0"/>
          </a:p>
        </p:txBody>
      </p:sp>
      <p:sp>
        <p:nvSpPr>
          <p:cNvPr id="64" name="Text 62"/>
          <p:cNvSpPr/>
          <p:nvPr/>
        </p:nvSpPr>
        <p:spPr>
          <a:xfrm>
            <a:off x="9685020" y="5817870"/>
            <a:ext cx="7518959"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Marketing total (visible rows only)</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4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solidFill>
          <a:ln/>
        </p:spPr>
      </p:sp>
      <p:sp>
        <p:nvSpPr>
          <p:cNvPr id="7" name="Shape 5"/>
          <p:cNvSpPr/>
          <p:nvPr/>
        </p:nvSpPr>
        <p:spPr>
          <a:xfrm>
            <a:off x="16478250" y="400050"/>
            <a:ext cx="247650" cy="38100"/>
          </a:xfrm>
          <a:prstGeom prst="roundRect">
            <a:avLst>
              <a:gd name="adj" fmla="val 50000"/>
            </a:avLst>
          </a:prstGeom>
          <a:solidFill>
            <a:srgbClr val="1C2430"/>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Merging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Tables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 The Concept</a:t>
            </a:r>
            <a:endParaRPr lang="en-US" sz="4200" dirty="0"/>
          </a:p>
        </p:txBody>
      </p:sp>
      <p:sp>
        <p:nvSpPr>
          <p:cNvPr id="11" name="Text 9"/>
          <p:cNvSpPr/>
          <p:nvPr/>
        </p:nvSpPr>
        <p:spPr>
          <a:xfrm>
            <a:off x="952500" y="3648551"/>
            <a:ext cx="4225122"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Orders Table</a:t>
            </a:r>
            <a:endParaRPr lang="en-US" sz="1500" dirty="0"/>
          </a:p>
        </p:txBody>
      </p:sp>
      <p:sp>
        <p:nvSpPr>
          <p:cNvPr id="12" name="Shape 10"/>
          <p:cNvSpPr/>
          <p:nvPr/>
        </p:nvSpPr>
        <p:spPr>
          <a:xfrm>
            <a:off x="952500" y="3968591"/>
            <a:ext cx="1466374" cy="499110"/>
          </a:xfrm>
          <a:prstGeom prst="rect">
            <a:avLst/>
          </a:prstGeom>
          <a:solidFill>
            <a:srgbClr val="2DD4BF"/>
          </a:solidFill>
          <a:ln/>
        </p:spPr>
      </p:sp>
      <p:sp>
        <p:nvSpPr>
          <p:cNvPr id="13" name="Text 11"/>
          <p:cNvSpPr/>
          <p:nvPr/>
        </p:nvSpPr>
        <p:spPr>
          <a:xfrm>
            <a:off x="1123950" y="4092416"/>
            <a:ext cx="1199674"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Order ID</a:t>
            </a:r>
            <a:endParaRPr lang="en-US" sz="1575" dirty="0"/>
          </a:p>
        </p:txBody>
      </p:sp>
      <p:sp>
        <p:nvSpPr>
          <p:cNvPr id="14" name="Shape 12"/>
          <p:cNvSpPr/>
          <p:nvPr/>
        </p:nvSpPr>
        <p:spPr>
          <a:xfrm>
            <a:off x="2418874" y="3968591"/>
            <a:ext cx="1730812" cy="499110"/>
          </a:xfrm>
          <a:prstGeom prst="rect">
            <a:avLst/>
          </a:prstGeom>
          <a:solidFill>
            <a:srgbClr val="2DD4BF"/>
          </a:solidFill>
          <a:ln/>
        </p:spPr>
      </p:sp>
      <p:sp>
        <p:nvSpPr>
          <p:cNvPr id="15" name="Text 13"/>
          <p:cNvSpPr/>
          <p:nvPr/>
        </p:nvSpPr>
        <p:spPr>
          <a:xfrm>
            <a:off x="2590324" y="4092416"/>
            <a:ext cx="146411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ID</a:t>
            </a:r>
            <a:endParaRPr lang="en-US" sz="1575" dirty="0"/>
          </a:p>
        </p:txBody>
      </p:sp>
      <p:sp>
        <p:nvSpPr>
          <p:cNvPr id="16" name="Shape 14"/>
          <p:cNvSpPr/>
          <p:nvPr/>
        </p:nvSpPr>
        <p:spPr>
          <a:xfrm>
            <a:off x="4149685" y="3968591"/>
            <a:ext cx="904875" cy="499110"/>
          </a:xfrm>
          <a:prstGeom prst="rect">
            <a:avLst/>
          </a:prstGeom>
          <a:solidFill>
            <a:srgbClr val="2DD4BF"/>
          </a:solidFill>
          <a:ln/>
        </p:spPr>
      </p:sp>
      <p:sp>
        <p:nvSpPr>
          <p:cNvPr id="17" name="Text 15"/>
          <p:cNvSpPr/>
          <p:nvPr/>
        </p:nvSpPr>
        <p:spPr>
          <a:xfrm>
            <a:off x="4244935" y="4092416"/>
            <a:ext cx="638175"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Qty</a:t>
            </a:r>
            <a:endParaRPr lang="en-US" sz="1575" dirty="0"/>
          </a:p>
        </p:txBody>
      </p:sp>
      <p:sp>
        <p:nvSpPr>
          <p:cNvPr id="18" name="Shape 16"/>
          <p:cNvSpPr/>
          <p:nvPr/>
        </p:nvSpPr>
        <p:spPr>
          <a:xfrm>
            <a:off x="952500" y="4467701"/>
            <a:ext cx="1466374" cy="464820"/>
          </a:xfrm>
          <a:prstGeom prst="rect">
            <a:avLst/>
          </a:prstGeom>
          <a:solidFill>
            <a:srgbClr val="FFFFFF">
              <a:alpha val="2000"/>
            </a:srgbClr>
          </a:solidFill>
          <a:ln/>
        </p:spPr>
      </p:sp>
      <p:sp>
        <p:nvSpPr>
          <p:cNvPr id="19" name="Shape 17"/>
          <p:cNvSpPr/>
          <p:nvPr/>
        </p:nvSpPr>
        <p:spPr>
          <a:xfrm>
            <a:off x="952500" y="4924901"/>
            <a:ext cx="1466374" cy="9525"/>
          </a:xfrm>
          <a:prstGeom prst="rect">
            <a:avLst/>
          </a:prstGeom>
          <a:solidFill>
            <a:srgbClr val="FFFFFF">
              <a:alpha val="8000"/>
            </a:srgbClr>
          </a:solidFill>
          <a:ln/>
        </p:spPr>
      </p:sp>
      <p:sp>
        <p:nvSpPr>
          <p:cNvPr id="20" name="Text 18"/>
          <p:cNvSpPr/>
          <p:nvPr/>
        </p:nvSpPr>
        <p:spPr>
          <a:xfrm>
            <a:off x="1123950" y="4572476"/>
            <a:ext cx="1199674"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1001</a:t>
            </a:r>
            <a:endParaRPr lang="en-US" sz="1725" dirty="0"/>
          </a:p>
        </p:txBody>
      </p:sp>
      <p:sp>
        <p:nvSpPr>
          <p:cNvPr id="21" name="Shape 19"/>
          <p:cNvSpPr/>
          <p:nvPr/>
        </p:nvSpPr>
        <p:spPr>
          <a:xfrm>
            <a:off x="2418874" y="4467701"/>
            <a:ext cx="1730812" cy="464820"/>
          </a:xfrm>
          <a:prstGeom prst="rect">
            <a:avLst/>
          </a:prstGeom>
          <a:solidFill>
            <a:srgbClr val="FFFFFF">
              <a:alpha val="2000"/>
            </a:srgbClr>
          </a:solidFill>
          <a:ln/>
        </p:spPr>
      </p:sp>
      <p:sp>
        <p:nvSpPr>
          <p:cNvPr id="22" name="Shape 20"/>
          <p:cNvSpPr/>
          <p:nvPr/>
        </p:nvSpPr>
        <p:spPr>
          <a:xfrm>
            <a:off x="2418874" y="4924901"/>
            <a:ext cx="1730812" cy="9525"/>
          </a:xfrm>
          <a:prstGeom prst="rect">
            <a:avLst/>
          </a:prstGeom>
          <a:solidFill>
            <a:srgbClr val="FFFFFF">
              <a:alpha val="8000"/>
            </a:srgbClr>
          </a:solidFill>
          <a:ln/>
        </p:spPr>
      </p:sp>
      <p:sp>
        <p:nvSpPr>
          <p:cNvPr id="23" name="Text 21"/>
          <p:cNvSpPr/>
          <p:nvPr/>
        </p:nvSpPr>
        <p:spPr>
          <a:xfrm>
            <a:off x="2590324" y="4572476"/>
            <a:ext cx="146411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P-042</a:t>
            </a:r>
            <a:endParaRPr lang="en-US" sz="1725" dirty="0"/>
          </a:p>
        </p:txBody>
      </p:sp>
      <p:sp>
        <p:nvSpPr>
          <p:cNvPr id="24" name="Shape 22"/>
          <p:cNvSpPr/>
          <p:nvPr/>
        </p:nvSpPr>
        <p:spPr>
          <a:xfrm>
            <a:off x="4149685" y="4467701"/>
            <a:ext cx="904875" cy="464820"/>
          </a:xfrm>
          <a:prstGeom prst="rect">
            <a:avLst/>
          </a:prstGeom>
          <a:solidFill>
            <a:srgbClr val="FFFFFF">
              <a:alpha val="2000"/>
            </a:srgbClr>
          </a:solidFill>
          <a:ln/>
        </p:spPr>
      </p:sp>
      <p:sp>
        <p:nvSpPr>
          <p:cNvPr id="25" name="Shape 23"/>
          <p:cNvSpPr/>
          <p:nvPr/>
        </p:nvSpPr>
        <p:spPr>
          <a:xfrm>
            <a:off x="4149685" y="4924901"/>
            <a:ext cx="904875" cy="9525"/>
          </a:xfrm>
          <a:prstGeom prst="rect">
            <a:avLst/>
          </a:prstGeom>
          <a:solidFill>
            <a:srgbClr val="FFFFFF">
              <a:alpha val="8000"/>
            </a:srgbClr>
          </a:solidFill>
          <a:ln/>
        </p:spPr>
      </p:sp>
      <p:sp>
        <p:nvSpPr>
          <p:cNvPr id="26" name="Text 24"/>
          <p:cNvSpPr/>
          <p:nvPr/>
        </p:nvSpPr>
        <p:spPr>
          <a:xfrm>
            <a:off x="4244935" y="4572476"/>
            <a:ext cx="638175"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a:t>
            </a:r>
            <a:endParaRPr lang="en-US" sz="1725" dirty="0"/>
          </a:p>
        </p:txBody>
      </p:sp>
      <p:sp>
        <p:nvSpPr>
          <p:cNvPr id="27" name="Shape 25"/>
          <p:cNvSpPr/>
          <p:nvPr/>
        </p:nvSpPr>
        <p:spPr>
          <a:xfrm>
            <a:off x="952500" y="5393532"/>
            <a:ext cx="1466374" cy="9525"/>
          </a:xfrm>
          <a:prstGeom prst="rect">
            <a:avLst/>
          </a:prstGeom>
          <a:solidFill>
            <a:srgbClr val="FFFFFF">
              <a:alpha val="8000"/>
            </a:srgbClr>
          </a:solidFill>
          <a:ln/>
        </p:spPr>
      </p:sp>
      <p:sp>
        <p:nvSpPr>
          <p:cNvPr id="28" name="Text 26"/>
          <p:cNvSpPr/>
          <p:nvPr/>
        </p:nvSpPr>
        <p:spPr>
          <a:xfrm>
            <a:off x="1123950" y="5037297"/>
            <a:ext cx="119967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1002</a:t>
            </a:r>
            <a:endParaRPr lang="en-US" sz="1725" dirty="0"/>
          </a:p>
        </p:txBody>
      </p:sp>
      <p:sp>
        <p:nvSpPr>
          <p:cNvPr id="29" name="Shape 27"/>
          <p:cNvSpPr/>
          <p:nvPr/>
        </p:nvSpPr>
        <p:spPr>
          <a:xfrm>
            <a:off x="2418874" y="5393532"/>
            <a:ext cx="1730812" cy="9525"/>
          </a:xfrm>
          <a:prstGeom prst="rect">
            <a:avLst/>
          </a:prstGeom>
          <a:solidFill>
            <a:srgbClr val="FFFFFF">
              <a:alpha val="8000"/>
            </a:srgbClr>
          </a:solidFill>
          <a:ln/>
        </p:spPr>
      </p:sp>
      <p:sp>
        <p:nvSpPr>
          <p:cNvPr id="30" name="Text 28"/>
          <p:cNvSpPr/>
          <p:nvPr/>
        </p:nvSpPr>
        <p:spPr>
          <a:xfrm>
            <a:off x="2590324" y="5037297"/>
            <a:ext cx="14641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P-018</a:t>
            </a:r>
            <a:endParaRPr lang="en-US" sz="1725" dirty="0"/>
          </a:p>
        </p:txBody>
      </p:sp>
      <p:sp>
        <p:nvSpPr>
          <p:cNvPr id="31" name="Shape 29"/>
          <p:cNvSpPr/>
          <p:nvPr/>
        </p:nvSpPr>
        <p:spPr>
          <a:xfrm>
            <a:off x="4149685" y="5393532"/>
            <a:ext cx="904875" cy="9525"/>
          </a:xfrm>
          <a:prstGeom prst="rect">
            <a:avLst/>
          </a:prstGeom>
          <a:solidFill>
            <a:srgbClr val="FFFFFF">
              <a:alpha val="8000"/>
            </a:srgbClr>
          </a:solidFill>
          <a:ln/>
        </p:spPr>
      </p:sp>
      <p:sp>
        <p:nvSpPr>
          <p:cNvPr id="32" name="Text 30"/>
          <p:cNvSpPr/>
          <p:nvPr/>
        </p:nvSpPr>
        <p:spPr>
          <a:xfrm>
            <a:off x="4244935" y="5037297"/>
            <a:ext cx="6381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12</a:t>
            </a:r>
            <a:endParaRPr lang="en-US" sz="1725" dirty="0"/>
          </a:p>
        </p:txBody>
      </p:sp>
      <p:sp>
        <p:nvSpPr>
          <p:cNvPr id="33" name="Shape 31"/>
          <p:cNvSpPr/>
          <p:nvPr/>
        </p:nvSpPr>
        <p:spPr>
          <a:xfrm>
            <a:off x="952500" y="5401151"/>
            <a:ext cx="1466374" cy="468630"/>
          </a:xfrm>
          <a:prstGeom prst="rect">
            <a:avLst/>
          </a:prstGeom>
          <a:solidFill>
            <a:srgbClr val="FFFFFF">
              <a:alpha val="2000"/>
            </a:srgbClr>
          </a:solidFill>
          <a:ln/>
        </p:spPr>
      </p:sp>
      <p:sp>
        <p:nvSpPr>
          <p:cNvPr id="34" name="Shape 32"/>
          <p:cNvSpPr/>
          <p:nvPr/>
        </p:nvSpPr>
        <p:spPr>
          <a:xfrm>
            <a:off x="952500" y="5862161"/>
            <a:ext cx="1466374" cy="9525"/>
          </a:xfrm>
          <a:prstGeom prst="rect">
            <a:avLst/>
          </a:prstGeom>
          <a:solidFill>
            <a:srgbClr val="FFFFFF">
              <a:alpha val="8000"/>
            </a:srgbClr>
          </a:solidFill>
          <a:ln/>
        </p:spPr>
      </p:sp>
      <p:sp>
        <p:nvSpPr>
          <p:cNvPr id="35" name="Text 33"/>
          <p:cNvSpPr/>
          <p:nvPr/>
        </p:nvSpPr>
        <p:spPr>
          <a:xfrm>
            <a:off x="1123950" y="5505926"/>
            <a:ext cx="119967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1003</a:t>
            </a:r>
            <a:endParaRPr lang="en-US" sz="1725" dirty="0"/>
          </a:p>
        </p:txBody>
      </p:sp>
      <p:sp>
        <p:nvSpPr>
          <p:cNvPr id="36" name="Shape 34"/>
          <p:cNvSpPr/>
          <p:nvPr/>
        </p:nvSpPr>
        <p:spPr>
          <a:xfrm>
            <a:off x="2418874" y="5401151"/>
            <a:ext cx="1730812" cy="468630"/>
          </a:xfrm>
          <a:prstGeom prst="rect">
            <a:avLst/>
          </a:prstGeom>
          <a:solidFill>
            <a:srgbClr val="FFFFFF">
              <a:alpha val="2000"/>
            </a:srgbClr>
          </a:solidFill>
          <a:ln/>
        </p:spPr>
      </p:sp>
      <p:sp>
        <p:nvSpPr>
          <p:cNvPr id="37" name="Shape 35"/>
          <p:cNvSpPr/>
          <p:nvPr/>
        </p:nvSpPr>
        <p:spPr>
          <a:xfrm>
            <a:off x="2418874" y="5862161"/>
            <a:ext cx="1730812" cy="9525"/>
          </a:xfrm>
          <a:prstGeom prst="rect">
            <a:avLst/>
          </a:prstGeom>
          <a:solidFill>
            <a:srgbClr val="FFFFFF">
              <a:alpha val="8000"/>
            </a:srgbClr>
          </a:solidFill>
          <a:ln/>
        </p:spPr>
      </p:sp>
      <p:sp>
        <p:nvSpPr>
          <p:cNvPr id="38" name="Text 36"/>
          <p:cNvSpPr/>
          <p:nvPr/>
        </p:nvSpPr>
        <p:spPr>
          <a:xfrm>
            <a:off x="2590324" y="5505926"/>
            <a:ext cx="14641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P-042</a:t>
            </a:r>
            <a:endParaRPr lang="en-US" sz="1725" dirty="0"/>
          </a:p>
        </p:txBody>
      </p:sp>
      <p:sp>
        <p:nvSpPr>
          <p:cNvPr id="39" name="Shape 37"/>
          <p:cNvSpPr/>
          <p:nvPr/>
        </p:nvSpPr>
        <p:spPr>
          <a:xfrm>
            <a:off x="4149685" y="5401151"/>
            <a:ext cx="904875" cy="468630"/>
          </a:xfrm>
          <a:prstGeom prst="rect">
            <a:avLst/>
          </a:prstGeom>
          <a:solidFill>
            <a:srgbClr val="FFFFFF">
              <a:alpha val="2000"/>
            </a:srgbClr>
          </a:solidFill>
          <a:ln/>
        </p:spPr>
      </p:sp>
      <p:sp>
        <p:nvSpPr>
          <p:cNvPr id="40" name="Shape 38"/>
          <p:cNvSpPr/>
          <p:nvPr/>
        </p:nvSpPr>
        <p:spPr>
          <a:xfrm>
            <a:off x="4149685" y="5862161"/>
            <a:ext cx="904875" cy="9525"/>
          </a:xfrm>
          <a:prstGeom prst="rect">
            <a:avLst/>
          </a:prstGeom>
          <a:solidFill>
            <a:srgbClr val="FFFFFF">
              <a:alpha val="8000"/>
            </a:srgbClr>
          </a:solidFill>
          <a:ln/>
        </p:spPr>
      </p:sp>
      <p:sp>
        <p:nvSpPr>
          <p:cNvPr id="41" name="Text 39"/>
          <p:cNvSpPr/>
          <p:nvPr/>
        </p:nvSpPr>
        <p:spPr>
          <a:xfrm>
            <a:off x="4244935" y="5505926"/>
            <a:ext cx="6381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3</a:t>
            </a:r>
            <a:endParaRPr lang="en-US" sz="1725" dirty="0"/>
          </a:p>
        </p:txBody>
      </p:sp>
      <p:sp>
        <p:nvSpPr>
          <p:cNvPr id="42" name="Shape 40"/>
          <p:cNvSpPr/>
          <p:nvPr/>
        </p:nvSpPr>
        <p:spPr>
          <a:xfrm>
            <a:off x="952500" y="6330791"/>
            <a:ext cx="1466374" cy="9525"/>
          </a:xfrm>
          <a:prstGeom prst="rect">
            <a:avLst/>
          </a:prstGeom>
          <a:solidFill>
            <a:srgbClr val="FFFFFF">
              <a:alpha val="8000"/>
            </a:srgbClr>
          </a:solidFill>
          <a:ln/>
        </p:spPr>
      </p:sp>
      <p:sp>
        <p:nvSpPr>
          <p:cNvPr id="43" name="Text 41"/>
          <p:cNvSpPr/>
          <p:nvPr/>
        </p:nvSpPr>
        <p:spPr>
          <a:xfrm>
            <a:off x="1123950" y="5974556"/>
            <a:ext cx="1199674"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1004</a:t>
            </a:r>
            <a:endParaRPr lang="en-US" sz="1725" dirty="0"/>
          </a:p>
        </p:txBody>
      </p:sp>
      <p:sp>
        <p:nvSpPr>
          <p:cNvPr id="44" name="Shape 42"/>
          <p:cNvSpPr/>
          <p:nvPr/>
        </p:nvSpPr>
        <p:spPr>
          <a:xfrm>
            <a:off x="2418874" y="6330791"/>
            <a:ext cx="1730812" cy="9525"/>
          </a:xfrm>
          <a:prstGeom prst="rect">
            <a:avLst/>
          </a:prstGeom>
          <a:solidFill>
            <a:srgbClr val="FFFFFF">
              <a:alpha val="8000"/>
            </a:srgbClr>
          </a:solidFill>
          <a:ln/>
        </p:spPr>
      </p:sp>
      <p:sp>
        <p:nvSpPr>
          <p:cNvPr id="45" name="Text 43"/>
          <p:cNvSpPr/>
          <p:nvPr/>
        </p:nvSpPr>
        <p:spPr>
          <a:xfrm>
            <a:off x="2590324" y="5974556"/>
            <a:ext cx="146411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P-099</a:t>
            </a:r>
            <a:endParaRPr lang="en-US" sz="1725" dirty="0"/>
          </a:p>
        </p:txBody>
      </p:sp>
      <p:sp>
        <p:nvSpPr>
          <p:cNvPr id="46" name="Shape 44"/>
          <p:cNvSpPr/>
          <p:nvPr/>
        </p:nvSpPr>
        <p:spPr>
          <a:xfrm>
            <a:off x="4149685" y="6330791"/>
            <a:ext cx="904875" cy="9525"/>
          </a:xfrm>
          <a:prstGeom prst="rect">
            <a:avLst/>
          </a:prstGeom>
          <a:solidFill>
            <a:srgbClr val="FFFFFF">
              <a:alpha val="8000"/>
            </a:srgbClr>
          </a:solidFill>
          <a:ln/>
        </p:spPr>
      </p:sp>
      <p:sp>
        <p:nvSpPr>
          <p:cNvPr id="47" name="Text 45"/>
          <p:cNvSpPr/>
          <p:nvPr/>
        </p:nvSpPr>
        <p:spPr>
          <a:xfrm>
            <a:off x="4244935" y="5974556"/>
            <a:ext cx="638175"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8</a:t>
            </a:r>
            <a:endParaRPr lang="en-US" sz="1725" dirty="0"/>
          </a:p>
        </p:txBody>
      </p:sp>
      <p:sp>
        <p:nvSpPr>
          <p:cNvPr id="48" name="Text 46"/>
          <p:cNvSpPr/>
          <p:nvPr/>
        </p:nvSpPr>
        <p:spPr>
          <a:xfrm>
            <a:off x="5988011" y="4454366"/>
            <a:ext cx="533400" cy="563880"/>
          </a:xfrm>
          <a:prstGeom prst="rect">
            <a:avLst/>
          </a:prstGeom>
          <a:noFill/>
          <a:ln/>
        </p:spPr>
        <p:txBody>
          <a:bodyPr wrap="square" lIns="25400" tIns="25400" rIns="25400" bIns="25400" rtlCol="0" anchor="t">
            <a:normAutofit/>
          </a:bodyPr>
          <a:lstStyle/>
          <a:p>
            <a:pPr algn="l" indent="0" marL="0">
              <a:buNone/>
            </a:pPr>
            <a:r>
              <a:rPr lang="en-US" sz="3600" dirty="0">
                <a:solidFill>
                  <a:srgbClr val="2DD4BF"/>
                </a:solidFill>
                <a:latin typeface="Arial" pitchFamily="34" charset="0"/>
                <a:ea typeface="Arial" pitchFamily="34" charset="-122"/>
                <a:cs typeface="Arial" pitchFamily="34" charset="-120"/>
              </a:rPr>
              <a:t>→</a:t>
            </a:r>
            <a:endParaRPr lang="en-US" sz="3600" dirty="0"/>
          </a:p>
        </p:txBody>
      </p:sp>
      <p:sp>
        <p:nvSpPr>
          <p:cNvPr id="49" name="Text 47"/>
          <p:cNvSpPr/>
          <p:nvPr/>
        </p:nvSpPr>
        <p:spPr>
          <a:xfrm>
            <a:off x="5417701" y="5056347"/>
            <a:ext cx="15977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7D8590"/>
                </a:solidFill>
                <a:latin typeface="Arial" pitchFamily="34" charset="0"/>
                <a:ea typeface="Arial" pitchFamily="34" charset="-122"/>
                <a:cs typeface="Arial" pitchFamily="34" charset="-120"/>
              </a:rPr>
              <a:t>VLOOKUP matches on Product ID</a:t>
            </a:r>
            <a:endParaRPr lang="en-US" sz="1350" dirty="0"/>
          </a:p>
        </p:txBody>
      </p:sp>
      <p:sp>
        <p:nvSpPr>
          <p:cNvPr id="50" name="Text 48"/>
          <p:cNvSpPr/>
          <p:nvPr/>
        </p:nvSpPr>
        <p:spPr>
          <a:xfrm>
            <a:off x="7378661" y="3397091"/>
            <a:ext cx="4225245"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Products Table</a:t>
            </a:r>
            <a:endParaRPr lang="en-US" sz="1500" dirty="0"/>
          </a:p>
        </p:txBody>
      </p:sp>
      <p:sp>
        <p:nvSpPr>
          <p:cNvPr id="51" name="Shape 49"/>
          <p:cNvSpPr/>
          <p:nvPr/>
        </p:nvSpPr>
        <p:spPr>
          <a:xfrm>
            <a:off x="7378661" y="3717131"/>
            <a:ext cx="1314688" cy="750570"/>
          </a:xfrm>
          <a:prstGeom prst="rect">
            <a:avLst/>
          </a:prstGeom>
          <a:solidFill>
            <a:srgbClr val="2DD4BF"/>
          </a:solidFill>
          <a:ln/>
        </p:spPr>
      </p:sp>
      <p:sp>
        <p:nvSpPr>
          <p:cNvPr id="52" name="Text 50"/>
          <p:cNvSpPr/>
          <p:nvPr/>
        </p:nvSpPr>
        <p:spPr>
          <a:xfrm>
            <a:off x="7550111" y="3840956"/>
            <a:ext cx="1047988" cy="54102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ID</a:t>
            </a:r>
            <a:endParaRPr lang="en-US" sz="1575" dirty="0"/>
          </a:p>
        </p:txBody>
      </p:sp>
      <p:sp>
        <p:nvSpPr>
          <p:cNvPr id="53" name="Shape 51"/>
          <p:cNvSpPr/>
          <p:nvPr/>
        </p:nvSpPr>
        <p:spPr>
          <a:xfrm>
            <a:off x="8693348" y="3717131"/>
            <a:ext cx="1721763" cy="750570"/>
          </a:xfrm>
          <a:prstGeom prst="rect">
            <a:avLst/>
          </a:prstGeom>
          <a:solidFill>
            <a:srgbClr val="2DD4BF"/>
          </a:solidFill>
          <a:ln/>
        </p:spPr>
      </p:sp>
      <p:sp>
        <p:nvSpPr>
          <p:cNvPr id="54" name="Text 52"/>
          <p:cNvSpPr/>
          <p:nvPr/>
        </p:nvSpPr>
        <p:spPr>
          <a:xfrm>
            <a:off x="8864798" y="3840956"/>
            <a:ext cx="1455063" cy="54102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Name</a:t>
            </a:r>
            <a:endParaRPr lang="en-US" sz="1575" dirty="0"/>
          </a:p>
        </p:txBody>
      </p:sp>
      <p:sp>
        <p:nvSpPr>
          <p:cNvPr id="55" name="Shape 53"/>
          <p:cNvSpPr/>
          <p:nvPr/>
        </p:nvSpPr>
        <p:spPr>
          <a:xfrm>
            <a:off x="10415112" y="3717131"/>
            <a:ext cx="1065728" cy="750570"/>
          </a:xfrm>
          <a:prstGeom prst="rect">
            <a:avLst/>
          </a:prstGeom>
          <a:solidFill>
            <a:srgbClr val="2DD4BF"/>
          </a:solidFill>
          <a:ln/>
        </p:spPr>
      </p:sp>
      <p:sp>
        <p:nvSpPr>
          <p:cNvPr id="56" name="Text 54"/>
          <p:cNvSpPr/>
          <p:nvPr/>
        </p:nvSpPr>
        <p:spPr>
          <a:xfrm>
            <a:off x="10510362" y="3840956"/>
            <a:ext cx="799028" cy="54102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Price</a:t>
            </a:r>
            <a:endParaRPr lang="en-US" sz="1575" dirty="0"/>
          </a:p>
        </p:txBody>
      </p:sp>
      <p:sp>
        <p:nvSpPr>
          <p:cNvPr id="57" name="Shape 55"/>
          <p:cNvSpPr/>
          <p:nvPr/>
        </p:nvSpPr>
        <p:spPr>
          <a:xfrm>
            <a:off x="7378661" y="4467701"/>
            <a:ext cx="1314688" cy="716280"/>
          </a:xfrm>
          <a:prstGeom prst="rect">
            <a:avLst/>
          </a:prstGeom>
          <a:solidFill>
            <a:srgbClr val="FBBF24">
              <a:alpha val="10000"/>
            </a:srgbClr>
          </a:solidFill>
          <a:ln/>
        </p:spPr>
      </p:sp>
      <p:sp>
        <p:nvSpPr>
          <p:cNvPr id="58" name="Shape 56"/>
          <p:cNvSpPr/>
          <p:nvPr/>
        </p:nvSpPr>
        <p:spPr>
          <a:xfrm>
            <a:off x="7378661" y="5176361"/>
            <a:ext cx="1314688" cy="9525"/>
          </a:xfrm>
          <a:prstGeom prst="rect">
            <a:avLst/>
          </a:prstGeom>
          <a:solidFill>
            <a:srgbClr val="FFFFFF">
              <a:alpha val="8000"/>
            </a:srgbClr>
          </a:solidFill>
          <a:ln/>
        </p:spPr>
      </p:sp>
      <p:sp>
        <p:nvSpPr>
          <p:cNvPr id="59" name="Text 57"/>
          <p:cNvSpPr/>
          <p:nvPr/>
        </p:nvSpPr>
        <p:spPr>
          <a:xfrm>
            <a:off x="7550111" y="4572476"/>
            <a:ext cx="1047988" cy="53721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P-018</a:t>
            </a:r>
            <a:endParaRPr lang="en-US" sz="1725" dirty="0"/>
          </a:p>
        </p:txBody>
      </p:sp>
      <p:sp>
        <p:nvSpPr>
          <p:cNvPr id="60" name="Shape 58"/>
          <p:cNvSpPr/>
          <p:nvPr/>
        </p:nvSpPr>
        <p:spPr>
          <a:xfrm>
            <a:off x="8693348" y="4467701"/>
            <a:ext cx="1721763" cy="716280"/>
          </a:xfrm>
          <a:prstGeom prst="rect">
            <a:avLst/>
          </a:prstGeom>
          <a:solidFill>
            <a:srgbClr val="FBBF24">
              <a:alpha val="10000"/>
            </a:srgbClr>
          </a:solidFill>
          <a:ln/>
        </p:spPr>
      </p:sp>
      <p:sp>
        <p:nvSpPr>
          <p:cNvPr id="61" name="Shape 59"/>
          <p:cNvSpPr/>
          <p:nvPr/>
        </p:nvSpPr>
        <p:spPr>
          <a:xfrm>
            <a:off x="8693348" y="5176361"/>
            <a:ext cx="1721763" cy="9525"/>
          </a:xfrm>
          <a:prstGeom prst="rect">
            <a:avLst/>
          </a:prstGeom>
          <a:solidFill>
            <a:srgbClr val="FFFFFF">
              <a:alpha val="8000"/>
            </a:srgbClr>
          </a:solidFill>
          <a:ln/>
        </p:spPr>
      </p:sp>
      <p:sp>
        <p:nvSpPr>
          <p:cNvPr id="62" name="Text 60"/>
          <p:cNvSpPr/>
          <p:nvPr/>
        </p:nvSpPr>
        <p:spPr>
          <a:xfrm>
            <a:off x="8864798" y="4572476"/>
            <a:ext cx="1455063" cy="53721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Wireless Mouse</a:t>
            </a:r>
            <a:endParaRPr lang="en-US" sz="1725" dirty="0"/>
          </a:p>
        </p:txBody>
      </p:sp>
      <p:sp>
        <p:nvSpPr>
          <p:cNvPr id="63" name="Shape 61"/>
          <p:cNvSpPr/>
          <p:nvPr/>
        </p:nvSpPr>
        <p:spPr>
          <a:xfrm>
            <a:off x="10415112" y="4467701"/>
            <a:ext cx="1065728" cy="716280"/>
          </a:xfrm>
          <a:prstGeom prst="rect">
            <a:avLst/>
          </a:prstGeom>
          <a:solidFill>
            <a:srgbClr val="FBBF24">
              <a:alpha val="10000"/>
            </a:srgbClr>
          </a:solidFill>
          <a:ln/>
        </p:spPr>
      </p:sp>
      <p:sp>
        <p:nvSpPr>
          <p:cNvPr id="64" name="Shape 62"/>
          <p:cNvSpPr/>
          <p:nvPr/>
        </p:nvSpPr>
        <p:spPr>
          <a:xfrm>
            <a:off x="10415112" y="5176361"/>
            <a:ext cx="1065728" cy="9525"/>
          </a:xfrm>
          <a:prstGeom prst="rect">
            <a:avLst/>
          </a:prstGeom>
          <a:solidFill>
            <a:srgbClr val="FFFFFF">
              <a:alpha val="8000"/>
            </a:srgbClr>
          </a:solidFill>
          <a:ln/>
        </p:spPr>
      </p:sp>
      <p:sp>
        <p:nvSpPr>
          <p:cNvPr id="65" name="Text 63"/>
          <p:cNvSpPr/>
          <p:nvPr/>
        </p:nvSpPr>
        <p:spPr>
          <a:xfrm>
            <a:off x="10510362" y="4572476"/>
            <a:ext cx="799028" cy="53721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$29.99</a:t>
            </a:r>
            <a:endParaRPr lang="en-US" sz="1725" dirty="0"/>
          </a:p>
        </p:txBody>
      </p:sp>
      <p:sp>
        <p:nvSpPr>
          <p:cNvPr id="66" name="Shape 64"/>
          <p:cNvSpPr/>
          <p:nvPr/>
        </p:nvSpPr>
        <p:spPr>
          <a:xfrm>
            <a:off x="7378661" y="5183981"/>
            <a:ext cx="1314688" cy="468630"/>
          </a:xfrm>
          <a:prstGeom prst="rect">
            <a:avLst/>
          </a:prstGeom>
          <a:solidFill>
            <a:srgbClr val="FBBF24">
              <a:alpha val="10000"/>
            </a:srgbClr>
          </a:solidFill>
          <a:ln/>
        </p:spPr>
      </p:sp>
      <p:sp>
        <p:nvSpPr>
          <p:cNvPr id="67" name="Shape 65"/>
          <p:cNvSpPr/>
          <p:nvPr/>
        </p:nvSpPr>
        <p:spPr>
          <a:xfrm>
            <a:off x="7378661" y="5644991"/>
            <a:ext cx="1314688" cy="9525"/>
          </a:xfrm>
          <a:prstGeom prst="rect">
            <a:avLst/>
          </a:prstGeom>
          <a:solidFill>
            <a:srgbClr val="FFFFFF">
              <a:alpha val="8000"/>
            </a:srgbClr>
          </a:solidFill>
          <a:ln/>
        </p:spPr>
      </p:sp>
      <p:sp>
        <p:nvSpPr>
          <p:cNvPr id="68" name="Text 66"/>
          <p:cNvSpPr/>
          <p:nvPr/>
        </p:nvSpPr>
        <p:spPr>
          <a:xfrm>
            <a:off x="7550111" y="5288756"/>
            <a:ext cx="104798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P-042</a:t>
            </a:r>
            <a:endParaRPr lang="en-US" sz="1725" dirty="0"/>
          </a:p>
        </p:txBody>
      </p:sp>
      <p:sp>
        <p:nvSpPr>
          <p:cNvPr id="69" name="Shape 67"/>
          <p:cNvSpPr/>
          <p:nvPr/>
        </p:nvSpPr>
        <p:spPr>
          <a:xfrm>
            <a:off x="8693348" y="5183981"/>
            <a:ext cx="1721763" cy="468630"/>
          </a:xfrm>
          <a:prstGeom prst="rect">
            <a:avLst/>
          </a:prstGeom>
          <a:solidFill>
            <a:srgbClr val="FBBF24">
              <a:alpha val="10000"/>
            </a:srgbClr>
          </a:solidFill>
          <a:ln/>
        </p:spPr>
      </p:sp>
      <p:sp>
        <p:nvSpPr>
          <p:cNvPr id="70" name="Shape 68"/>
          <p:cNvSpPr/>
          <p:nvPr/>
        </p:nvSpPr>
        <p:spPr>
          <a:xfrm>
            <a:off x="8693348" y="5644991"/>
            <a:ext cx="1721763" cy="9525"/>
          </a:xfrm>
          <a:prstGeom prst="rect">
            <a:avLst/>
          </a:prstGeom>
          <a:solidFill>
            <a:srgbClr val="FFFFFF">
              <a:alpha val="8000"/>
            </a:srgbClr>
          </a:solidFill>
          <a:ln/>
        </p:spPr>
      </p:sp>
      <p:sp>
        <p:nvSpPr>
          <p:cNvPr id="71" name="Text 69"/>
          <p:cNvSpPr/>
          <p:nvPr/>
        </p:nvSpPr>
        <p:spPr>
          <a:xfrm>
            <a:off x="8864798" y="5288756"/>
            <a:ext cx="145506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USB-C Hub</a:t>
            </a:r>
            <a:endParaRPr lang="en-US" sz="1725" dirty="0"/>
          </a:p>
        </p:txBody>
      </p:sp>
      <p:sp>
        <p:nvSpPr>
          <p:cNvPr id="72" name="Shape 70"/>
          <p:cNvSpPr/>
          <p:nvPr/>
        </p:nvSpPr>
        <p:spPr>
          <a:xfrm>
            <a:off x="10415112" y="5183981"/>
            <a:ext cx="1065728" cy="468630"/>
          </a:xfrm>
          <a:prstGeom prst="rect">
            <a:avLst/>
          </a:prstGeom>
          <a:solidFill>
            <a:srgbClr val="FBBF24">
              <a:alpha val="10000"/>
            </a:srgbClr>
          </a:solidFill>
          <a:ln/>
        </p:spPr>
      </p:sp>
      <p:sp>
        <p:nvSpPr>
          <p:cNvPr id="73" name="Shape 71"/>
          <p:cNvSpPr/>
          <p:nvPr/>
        </p:nvSpPr>
        <p:spPr>
          <a:xfrm>
            <a:off x="10415112" y="5644991"/>
            <a:ext cx="1065728" cy="9525"/>
          </a:xfrm>
          <a:prstGeom prst="rect">
            <a:avLst/>
          </a:prstGeom>
          <a:solidFill>
            <a:srgbClr val="FFFFFF">
              <a:alpha val="8000"/>
            </a:srgbClr>
          </a:solidFill>
          <a:ln/>
        </p:spPr>
      </p:sp>
      <p:sp>
        <p:nvSpPr>
          <p:cNvPr id="74" name="Text 72"/>
          <p:cNvSpPr/>
          <p:nvPr/>
        </p:nvSpPr>
        <p:spPr>
          <a:xfrm>
            <a:off x="10510362" y="5288756"/>
            <a:ext cx="79902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$49.99</a:t>
            </a:r>
            <a:endParaRPr lang="en-US" sz="1725" dirty="0"/>
          </a:p>
        </p:txBody>
      </p:sp>
      <p:sp>
        <p:nvSpPr>
          <p:cNvPr id="75" name="Shape 73"/>
          <p:cNvSpPr/>
          <p:nvPr/>
        </p:nvSpPr>
        <p:spPr>
          <a:xfrm>
            <a:off x="7378661" y="5652611"/>
            <a:ext cx="1314688" cy="468630"/>
          </a:xfrm>
          <a:prstGeom prst="rect">
            <a:avLst/>
          </a:prstGeom>
          <a:solidFill>
            <a:srgbClr val="FFFFFF">
              <a:alpha val="2000"/>
            </a:srgbClr>
          </a:solidFill>
          <a:ln/>
        </p:spPr>
      </p:sp>
      <p:sp>
        <p:nvSpPr>
          <p:cNvPr id="76" name="Shape 74"/>
          <p:cNvSpPr/>
          <p:nvPr/>
        </p:nvSpPr>
        <p:spPr>
          <a:xfrm>
            <a:off x="7378661" y="6113621"/>
            <a:ext cx="1314688" cy="9525"/>
          </a:xfrm>
          <a:prstGeom prst="rect">
            <a:avLst/>
          </a:prstGeom>
          <a:solidFill>
            <a:srgbClr val="FFFFFF">
              <a:alpha val="8000"/>
            </a:srgbClr>
          </a:solidFill>
          <a:ln/>
        </p:spPr>
      </p:sp>
      <p:sp>
        <p:nvSpPr>
          <p:cNvPr id="77" name="Text 75"/>
          <p:cNvSpPr/>
          <p:nvPr/>
        </p:nvSpPr>
        <p:spPr>
          <a:xfrm>
            <a:off x="7550111" y="5757386"/>
            <a:ext cx="104798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P-055</a:t>
            </a:r>
            <a:endParaRPr lang="en-US" sz="1725" dirty="0"/>
          </a:p>
        </p:txBody>
      </p:sp>
      <p:sp>
        <p:nvSpPr>
          <p:cNvPr id="78" name="Shape 76"/>
          <p:cNvSpPr/>
          <p:nvPr/>
        </p:nvSpPr>
        <p:spPr>
          <a:xfrm>
            <a:off x="8693348" y="5652611"/>
            <a:ext cx="1721763" cy="468630"/>
          </a:xfrm>
          <a:prstGeom prst="rect">
            <a:avLst/>
          </a:prstGeom>
          <a:solidFill>
            <a:srgbClr val="FFFFFF">
              <a:alpha val="2000"/>
            </a:srgbClr>
          </a:solidFill>
          <a:ln/>
        </p:spPr>
      </p:sp>
      <p:sp>
        <p:nvSpPr>
          <p:cNvPr id="79" name="Shape 77"/>
          <p:cNvSpPr/>
          <p:nvPr/>
        </p:nvSpPr>
        <p:spPr>
          <a:xfrm>
            <a:off x="8693348" y="6113621"/>
            <a:ext cx="1721763" cy="9525"/>
          </a:xfrm>
          <a:prstGeom prst="rect">
            <a:avLst/>
          </a:prstGeom>
          <a:solidFill>
            <a:srgbClr val="FFFFFF">
              <a:alpha val="8000"/>
            </a:srgbClr>
          </a:solidFill>
          <a:ln/>
        </p:spPr>
      </p:sp>
      <p:sp>
        <p:nvSpPr>
          <p:cNvPr id="80" name="Text 78"/>
          <p:cNvSpPr/>
          <p:nvPr/>
        </p:nvSpPr>
        <p:spPr>
          <a:xfrm>
            <a:off x="8864798" y="5757386"/>
            <a:ext cx="145506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Desk Lamp</a:t>
            </a:r>
            <a:endParaRPr lang="en-US" sz="1725" dirty="0"/>
          </a:p>
        </p:txBody>
      </p:sp>
      <p:sp>
        <p:nvSpPr>
          <p:cNvPr id="81" name="Shape 79"/>
          <p:cNvSpPr/>
          <p:nvPr/>
        </p:nvSpPr>
        <p:spPr>
          <a:xfrm>
            <a:off x="10415112" y="5652611"/>
            <a:ext cx="1065728" cy="468630"/>
          </a:xfrm>
          <a:prstGeom prst="rect">
            <a:avLst/>
          </a:prstGeom>
          <a:solidFill>
            <a:srgbClr val="FFFFFF">
              <a:alpha val="2000"/>
            </a:srgbClr>
          </a:solidFill>
          <a:ln/>
        </p:spPr>
      </p:sp>
      <p:sp>
        <p:nvSpPr>
          <p:cNvPr id="82" name="Shape 80"/>
          <p:cNvSpPr/>
          <p:nvPr/>
        </p:nvSpPr>
        <p:spPr>
          <a:xfrm>
            <a:off x="10415112" y="6113621"/>
            <a:ext cx="1065728" cy="9525"/>
          </a:xfrm>
          <a:prstGeom prst="rect">
            <a:avLst/>
          </a:prstGeom>
          <a:solidFill>
            <a:srgbClr val="FFFFFF">
              <a:alpha val="8000"/>
            </a:srgbClr>
          </a:solidFill>
          <a:ln/>
        </p:spPr>
      </p:sp>
      <p:sp>
        <p:nvSpPr>
          <p:cNvPr id="83" name="Text 81"/>
          <p:cNvSpPr/>
          <p:nvPr/>
        </p:nvSpPr>
        <p:spPr>
          <a:xfrm>
            <a:off x="10510362" y="5757386"/>
            <a:ext cx="79902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$34.99</a:t>
            </a:r>
            <a:endParaRPr lang="en-US" sz="1725" dirty="0"/>
          </a:p>
        </p:txBody>
      </p:sp>
      <p:sp>
        <p:nvSpPr>
          <p:cNvPr id="84" name="Shape 82"/>
          <p:cNvSpPr/>
          <p:nvPr/>
        </p:nvSpPr>
        <p:spPr>
          <a:xfrm>
            <a:off x="7378661" y="6121241"/>
            <a:ext cx="1314688" cy="468630"/>
          </a:xfrm>
          <a:prstGeom prst="rect">
            <a:avLst/>
          </a:prstGeom>
          <a:solidFill>
            <a:srgbClr val="FBBF24">
              <a:alpha val="10000"/>
            </a:srgbClr>
          </a:solidFill>
          <a:ln/>
        </p:spPr>
      </p:sp>
      <p:sp>
        <p:nvSpPr>
          <p:cNvPr id="85" name="Shape 83"/>
          <p:cNvSpPr/>
          <p:nvPr/>
        </p:nvSpPr>
        <p:spPr>
          <a:xfrm>
            <a:off x="7378661" y="6582251"/>
            <a:ext cx="1314688" cy="9525"/>
          </a:xfrm>
          <a:prstGeom prst="rect">
            <a:avLst/>
          </a:prstGeom>
          <a:solidFill>
            <a:srgbClr val="FFFFFF">
              <a:alpha val="8000"/>
            </a:srgbClr>
          </a:solidFill>
          <a:ln/>
        </p:spPr>
      </p:sp>
      <p:sp>
        <p:nvSpPr>
          <p:cNvPr id="86" name="Text 84"/>
          <p:cNvSpPr/>
          <p:nvPr/>
        </p:nvSpPr>
        <p:spPr>
          <a:xfrm>
            <a:off x="7550111" y="6226016"/>
            <a:ext cx="104798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BBF24"/>
                </a:solidFill>
                <a:latin typeface="Arial" pitchFamily="34" charset="0"/>
                <a:ea typeface="Arial" pitchFamily="34" charset="-122"/>
                <a:cs typeface="Arial" pitchFamily="34" charset="-120"/>
              </a:rPr>
              <a:t>P-099</a:t>
            </a:r>
            <a:endParaRPr lang="en-US" sz="1725" dirty="0"/>
          </a:p>
        </p:txBody>
      </p:sp>
      <p:sp>
        <p:nvSpPr>
          <p:cNvPr id="87" name="Shape 85"/>
          <p:cNvSpPr/>
          <p:nvPr/>
        </p:nvSpPr>
        <p:spPr>
          <a:xfrm>
            <a:off x="8693348" y="6121241"/>
            <a:ext cx="1721763" cy="468630"/>
          </a:xfrm>
          <a:prstGeom prst="rect">
            <a:avLst/>
          </a:prstGeom>
          <a:solidFill>
            <a:srgbClr val="FBBF24">
              <a:alpha val="10000"/>
            </a:srgbClr>
          </a:solidFill>
          <a:ln/>
        </p:spPr>
      </p:sp>
      <p:sp>
        <p:nvSpPr>
          <p:cNvPr id="88" name="Shape 86"/>
          <p:cNvSpPr/>
          <p:nvPr/>
        </p:nvSpPr>
        <p:spPr>
          <a:xfrm>
            <a:off x="8693348" y="6582251"/>
            <a:ext cx="1721763" cy="9525"/>
          </a:xfrm>
          <a:prstGeom prst="rect">
            <a:avLst/>
          </a:prstGeom>
          <a:solidFill>
            <a:srgbClr val="FFFFFF">
              <a:alpha val="8000"/>
            </a:srgbClr>
          </a:solidFill>
          <a:ln/>
        </p:spPr>
      </p:sp>
      <p:sp>
        <p:nvSpPr>
          <p:cNvPr id="89" name="Text 87"/>
          <p:cNvSpPr/>
          <p:nvPr/>
        </p:nvSpPr>
        <p:spPr>
          <a:xfrm>
            <a:off x="8864798" y="6226016"/>
            <a:ext cx="145506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Laptop Stand</a:t>
            </a:r>
            <a:endParaRPr lang="en-US" sz="1725" dirty="0"/>
          </a:p>
        </p:txBody>
      </p:sp>
      <p:sp>
        <p:nvSpPr>
          <p:cNvPr id="90" name="Shape 88"/>
          <p:cNvSpPr/>
          <p:nvPr/>
        </p:nvSpPr>
        <p:spPr>
          <a:xfrm>
            <a:off x="10415112" y="6121241"/>
            <a:ext cx="1065728" cy="468630"/>
          </a:xfrm>
          <a:prstGeom prst="rect">
            <a:avLst/>
          </a:prstGeom>
          <a:solidFill>
            <a:srgbClr val="FBBF24">
              <a:alpha val="10000"/>
            </a:srgbClr>
          </a:solidFill>
          <a:ln/>
        </p:spPr>
      </p:sp>
      <p:sp>
        <p:nvSpPr>
          <p:cNvPr id="91" name="Shape 89"/>
          <p:cNvSpPr/>
          <p:nvPr/>
        </p:nvSpPr>
        <p:spPr>
          <a:xfrm>
            <a:off x="10415112" y="6582251"/>
            <a:ext cx="1065728" cy="9525"/>
          </a:xfrm>
          <a:prstGeom prst="rect">
            <a:avLst/>
          </a:prstGeom>
          <a:solidFill>
            <a:srgbClr val="FFFFFF">
              <a:alpha val="8000"/>
            </a:srgbClr>
          </a:solidFill>
          <a:ln/>
        </p:spPr>
      </p:sp>
      <p:sp>
        <p:nvSpPr>
          <p:cNvPr id="92" name="Text 90"/>
          <p:cNvSpPr/>
          <p:nvPr/>
        </p:nvSpPr>
        <p:spPr>
          <a:xfrm>
            <a:off x="10510362" y="6226016"/>
            <a:ext cx="79902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$59.99</a:t>
            </a:r>
            <a:endParaRPr lang="en-US" sz="1725" dirty="0"/>
          </a:p>
        </p:txBody>
      </p:sp>
      <p:sp>
        <p:nvSpPr>
          <p:cNvPr id="93" name="Text 91"/>
          <p:cNvSpPr/>
          <p:nvPr/>
        </p:nvSpPr>
        <p:spPr>
          <a:xfrm>
            <a:off x="12128540" y="4732496"/>
            <a:ext cx="533400" cy="563880"/>
          </a:xfrm>
          <a:prstGeom prst="rect">
            <a:avLst/>
          </a:prstGeom>
          <a:noFill/>
          <a:ln/>
        </p:spPr>
        <p:txBody>
          <a:bodyPr wrap="square" lIns="25400" tIns="25400" rIns="25400" bIns="25400" rtlCol="0" anchor="t">
            <a:normAutofit/>
          </a:bodyPr>
          <a:lstStyle/>
          <a:p>
            <a:pPr algn="l" indent="0" marL="0">
              <a:buNone/>
            </a:pPr>
            <a:r>
              <a:rPr lang="en-US" sz="3600" dirty="0">
                <a:solidFill>
                  <a:srgbClr val="34D399"/>
                </a:solidFill>
                <a:latin typeface="Arial" pitchFamily="34" charset="0"/>
                <a:ea typeface="Arial" pitchFamily="34" charset="-122"/>
                <a:cs typeface="Arial" pitchFamily="34" charset="-120"/>
              </a:rPr>
              <a:t>→</a:t>
            </a:r>
            <a:endParaRPr lang="en-US" sz="3600" dirty="0"/>
          </a:p>
        </p:txBody>
      </p:sp>
      <p:sp>
        <p:nvSpPr>
          <p:cNvPr id="94" name="Text 92"/>
          <p:cNvSpPr/>
          <p:nvPr/>
        </p:nvSpPr>
        <p:spPr>
          <a:xfrm>
            <a:off x="13233440" y="3648551"/>
            <a:ext cx="4225122"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2DD4BF"/>
                </a:solidFill>
                <a:latin typeface="Arial" pitchFamily="34" charset="0"/>
                <a:ea typeface="Arial" pitchFamily="34" charset="-122"/>
                <a:cs typeface="Arial" pitchFamily="34" charset="-120"/>
              </a:rPr>
              <a:t>Result: Orders + Product Names</a:t>
            </a:r>
            <a:endParaRPr lang="en-US" sz="1500" dirty="0"/>
          </a:p>
        </p:txBody>
      </p:sp>
      <p:sp>
        <p:nvSpPr>
          <p:cNvPr id="95" name="Shape 93"/>
          <p:cNvSpPr/>
          <p:nvPr/>
        </p:nvSpPr>
        <p:spPr>
          <a:xfrm>
            <a:off x="13233440" y="3968591"/>
            <a:ext cx="1262182" cy="499110"/>
          </a:xfrm>
          <a:prstGeom prst="rect">
            <a:avLst/>
          </a:prstGeom>
          <a:solidFill>
            <a:srgbClr val="2DD4BF"/>
          </a:solidFill>
          <a:ln/>
        </p:spPr>
      </p:sp>
      <p:sp>
        <p:nvSpPr>
          <p:cNvPr id="96" name="Text 94"/>
          <p:cNvSpPr/>
          <p:nvPr/>
        </p:nvSpPr>
        <p:spPr>
          <a:xfrm>
            <a:off x="13404890" y="4092416"/>
            <a:ext cx="99548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Order ID</a:t>
            </a:r>
            <a:endParaRPr lang="en-US" sz="1575" dirty="0"/>
          </a:p>
        </p:txBody>
      </p:sp>
      <p:sp>
        <p:nvSpPr>
          <p:cNvPr id="97" name="Shape 95"/>
          <p:cNvSpPr/>
          <p:nvPr/>
        </p:nvSpPr>
        <p:spPr>
          <a:xfrm>
            <a:off x="14495621" y="3968591"/>
            <a:ext cx="2060853" cy="499110"/>
          </a:xfrm>
          <a:prstGeom prst="rect">
            <a:avLst/>
          </a:prstGeom>
          <a:solidFill>
            <a:srgbClr val="2DD4BF"/>
          </a:solidFill>
          <a:ln/>
        </p:spPr>
      </p:sp>
      <p:sp>
        <p:nvSpPr>
          <p:cNvPr id="98" name="Text 96"/>
          <p:cNvSpPr/>
          <p:nvPr/>
        </p:nvSpPr>
        <p:spPr>
          <a:xfrm>
            <a:off x="14667071" y="4092416"/>
            <a:ext cx="1794153"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Name</a:t>
            </a:r>
            <a:endParaRPr lang="en-US" sz="1575" dirty="0"/>
          </a:p>
        </p:txBody>
      </p:sp>
      <p:sp>
        <p:nvSpPr>
          <p:cNvPr id="99" name="Shape 97"/>
          <p:cNvSpPr/>
          <p:nvPr/>
        </p:nvSpPr>
        <p:spPr>
          <a:xfrm>
            <a:off x="16556474" y="3968591"/>
            <a:ext cx="779026" cy="499110"/>
          </a:xfrm>
          <a:prstGeom prst="rect">
            <a:avLst/>
          </a:prstGeom>
          <a:solidFill>
            <a:srgbClr val="2DD4BF"/>
          </a:solidFill>
          <a:ln/>
        </p:spPr>
      </p:sp>
      <p:sp>
        <p:nvSpPr>
          <p:cNvPr id="100" name="Text 98"/>
          <p:cNvSpPr/>
          <p:nvPr/>
        </p:nvSpPr>
        <p:spPr>
          <a:xfrm>
            <a:off x="16651724" y="4092416"/>
            <a:ext cx="512326"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Qty</a:t>
            </a:r>
            <a:endParaRPr lang="en-US" sz="1575" dirty="0"/>
          </a:p>
        </p:txBody>
      </p:sp>
      <p:sp>
        <p:nvSpPr>
          <p:cNvPr id="101" name="Shape 99"/>
          <p:cNvSpPr/>
          <p:nvPr/>
        </p:nvSpPr>
        <p:spPr>
          <a:xfrm>
            <a:off x="13233440" y="4467701"/>
            <a:ext cx="1262182" cy="464820"/>
          </a:xfrm>
          <a:prstGeom prst="rect">
            <a:avLst/>
          </a:prstGeom>
          <a:solidFill>
            <a:srgbClr val="FFFFFF">
              <a:alpha val="2000"/>
            </a:srgbClr>
          </a:solidFill>
          <a:ln/>
        </p:spPr>
      </p:sp>
      <p:sp>
        <p:nvSpPr>
          <p:cNvPr id="102" name="Shape 100"/>
          <p:cNvSpPr/>
          <p:nvPr/>
        </p:nvSpPr>
        <p:spPr>
          <a:xfrm>
            <a:off x="13233440" y="4924901"/>
            <a:ext cx="1262182" cy="9525"/>
          </a:xfrm>
          <a:prstGeom prst="rect">
            <a:avLst/>
          </a:prstGeom>
          <a:solidFill>
            <a:srgbClr val="FFFFFF">
              <a:alpha val="8000"/>
            </a:srgbClr>
          </a:solidFill>
          <a:ln/>
        </p:spPr>
      </p:sp>
      <p:sp>
        <p:nvSpPr>
          <p:cNvPr id="103" name="Text 101"/>
          <p:cNvSpPr/>
          <p:nvPr/>
        </p:nvSpPr>
        <p:spPr>
          <a:xfrm>
            <a:off x="13404890" y="4572476"/>
            <a:ext cx="99548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1001</a:t>
            </a:r>
            <a:endParaRPr lang="en-US" sz="1725" dirty="0"/>
          </a:p>
        </p:txBody>
      </p:sp>
      <p:sp>
        <p:nvSpPr>
          <p:cNvPr id="104" name="Shape 102"/>
          <p:cNvSpPr/>
          <p:nvPr/>
        </p:nvSpPr>
        <p:spPr>
          <a:xfrm>
            <a:off x="14495621" y="4467701"/>
            <a:ext cx="2060853" cy="464820"/>
          </a:xfrm>
          <a:prstGeom prst="rect">
            <a:avLst/>
          </a:prstGeom>
          <a:solidFill>
            <a:srgbClr val="FFFFFF">
              <a:alpha val="2000"/>
            </a:srgbClr>
          </a:solidFill>
          <a:ln/>
        </p:spPr>
      </p:sp>
      <p:sp>
        <p:nvSpPr>
          <p:cNvPr id="105" name="Shape 103"/>
          <p:cNvSpPr/>
          <p:nvPr/>
        </p:nvSpPr>
        <p:spPr>
          <a:xfrm>
            <a:off x="14495621" y="4924901"/>
            <a:ext cx="2060853" cy="9525"/>
          </a:xfrm>
          <a:prstGeom prst="rect">
            <a:avLst/>
          </a:prstGeom>
          <a:solidFill>
            <a:srgbClr val="FFFFFF">
              <a:alpha val="8000"/>
            </a:srgbClr>
          </a:solidFill>
          <a:ln/>
        </p:spPr>
      </p:sp>
      <p:sp>
        <p:nvSpPr>
          <p:cNvPr id="106" name="Text 104"/>
          <p:cNvSpPr/>
          <p:nvPr/>
        </p:nvSpPr>
        <p:spPr>
          <a:xfrm>
            <a:off x="14667071" y="4572476"/>
            <a:ext cx="1794153"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2DD4BF"/>
                </a:solidFill>
                <a:latin typeface="Arial" pitchFamily="34" charset="0"/>
                <a:ea typeface="Arial" pitchFamily="34" charset="-122"/>
                <a:cs typeface="Arial" pitchFamily="34" charset="-120"/>
              </a:rPr>
              <a:t>USB-C Hub</a:t>
            </a:r>
            <a:endParaRPr lang="en-US" sz="1725" dirty="0"/>
          </a:p>
        </p:txBody>
      </p:sp>
      <p:sp>
        <p:nvSpPr>
          <p:cNvPr id="107" name="Shape 105"/>
          <p:cNvSpPr/>
          <p:nvPr/>
        </p:nvSpPr>
        <p:spPr>
          <a:xfrm>
            <a:off x="16556474" y="4467701"/>
            <a:ext cx="779026" cy="464820"/>
          </a:xfrm>
          <a:prstGeom prst="rect">
            <a:avLst/>
          </a:prstGeom>
          <a:solidFill>
            <a:srgbClr val="FFFFFF">
              <a:alpha val="2000"/>
            </a:srgbClr>
          </a:solidFill>
          <a:ln/>
        </p:spPr>
      </p:sp>
      <p:sp>
        <p:nvSpPr>
          <p:cNvPr id="108" name="Shape 106"/>
          <p:cNvSpPr/>
          <p:nvPr/>
        </p:nvSpPr>
        <p:spPr>
          <a:xfrm>
            <a:off x="16556474" y="4924901"/>
            <a:ext cx="779026" cy="9525"/>
          </a:xfrm>
          <a:prstGeom prst="rect">
            <a:avLst/>
          </a:prstGeom>
          <a:solidFill>
            <a:srgbClr val="FFFFFF">
              <a:alpha val="8000"/>
            </a:srgbClr>
          </a:solidFill>
          <a:ln/>
        </p:spPr>
      </p:sp>
      <p:sp>
        <p:nvSpPr>
          <p:cNvPr id="109" name="Text 107"/>
          <p:cNvSpPr/>
          <p:nvPr/>
        </p:nvSpPr>
        <p:spPr>
          <a:xfrm>
            <a:off x="16651724" y="4572476"/>
            <a:ext cx="512326"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a:t>
            </a:r>
            <a:endParaRPr lang="en-US" sz="1725" dirty="0"/>
          </a:p>
        </p:txBody>
      </p:sp>
      <p:sp>
        <p:nvSpPr>
          <p:cNvPr id="110" name="Shape 108"/>
          <p:cNvSpPr/>
          <p:nvPr/>
        </p:nvSpPr>
        <p:spPr>
          <a:xfrm>
            <a:off x="13233440" y="5393532"/>
            <a:ext cx="1262182" cy="9525"/>
          </a:xfrm>
          <a:prstGeom prst="rect">
            <a:avLst/>
          </a:prstGeom>
          <a:solidFill>
            <a:srgbClr val="FFFFFF">
              <a:alpha val="8000"/>
            </a:srgbClr>
          </a:solidFill>
          <a:ln/>
        </p:spPr>
      </p:sp>
      <p:sp>
        <p:nvSpPr>
          <p:cNvPr id="111" name="Text 109"/>
          <p:cNvSpPr/>
          <p:nvPr/>
        </p:nvSpPr>
        <p:spPr>
          <a:xfrm>
            <a:off x="13404890" y="5037297"/>
            <a:ext cx="9954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1002</a:t>
            </a:r>
            <a:endParaRPr lang="en-US" sz="1725" dirty="0"/>
          </a:p>
        </p:txBody>
      </p:sp>
      <p:sp>
        <p:nvSpPr>
          <p:cNvPr id="112" name="Shape 110"/>
          <p:cNvSpPr/>
          <p:nvPr/>
        </p:nvSpPr>
        <p:spPr>
          <a:xfrm>
            <a:off x="14495621" y="5393532"/>
            <a:ext cx="2060853" cy="9525"/>
          </a:xfrm>
          <a:prstGeom prst="rect">
            <a:avLst/>
          </a:prstGeom>
          <a:solidFill>
            <a:srgbClr val="FFFFFF">
              <a:alpha val="8000"/>
            </a:srgbClr>
          </a:solidFill>
          <a:ln/>
        </p:spPr>
      </p:sp>
      <p:sp>
        <p:nvSpPr>
          <p:cNvPr id="113" name="Text 111"/>
          <p:cNvSpPr/>
          <p:nvPr/>
        </p:nvSpPr>
        <p:spPr>
          <a:xfrm>
            <a:off x="14667071" y="5037297"/>
            <a:ext cx="179415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DD4BF"/>
                </a:solidFill>
                <a:latin typeface="Arial" pitchFamily="34" charset="0"/>
                <a:ea typeface="Arial" pitchFamily="34" charset="-122"/>
                <a:cs typeface="Arial" pitchFamily="34" charset="-120"/>
              </a:rPr>
              <a:t>Wireless Mouse</a:t>
            </a:r>
            <a:endParaRPr lang="en-US" sz="1725" dirty="0"/>
          </a:p>
        </p:txBody>
      </p:sp>
      <p:sp>
        <p:nvSpPr>
          <p:cNvPr id="114" name="Shape 112"/>
          <p:cNvSpPr/>
          <p:nvPr/>
        </p:nvSpPr>
        <p:spPr>
          <a:xfrm>
            <a:off x="16556474" y="5393532"/>
            <a:ext cx="779026" cy="9525"/>
          </a:xfrm>
          <a:prstGeom prst="rect">
            <a:avLst/>
          </a:prstGeom>
          <a:solidFill>
            <a:srgbClr val="FFFFFF">
              <a:alpha val="8000"/>
            </a:srgbClr>
          </a:solidFill>
          <a:ln/>
        </p:spPr>
      </p:sp>
      <p:sp>
        <p:nvSpPr>
          <p:cNvPr id="115" name="Text 113"/>
          <p:cNvSpPr/>
          <p:nvPr/>
        </p:nvSpPr>
        <p:spPr>
          <a:xfrm>
            <a:off x="16651724" y="5037297"/>
            <a:ext cx="512326"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12</a:t>
            </a:r>
            <a:endParaRPr lang="en-US" sz="1725" dirty="0"/>
          </a:p>
        </p:txBody>
      </p:sp>
      <p:sp>
        <p:nvSpPr>
          <p:cNvPr id="116" name="Shape 114"/>
          <p:cNvSpPr/>
          <p:nvPr/>
        </p:nvSpPr>
        <p:spPr>
          <a:xfrm>
            <a:off x="13233440" y="5401151"/>
            <a:ext cx="1262182" cy="468630"/>
          </a:xfrm>
          <a:prstGeom prst="rect">
            <a:avLst/>
          </a:prstGeom>
          <a:solidFill>
            <a:srgbClr val="FFFFFF">
              <a:alpha val="2000"/>
            </a:srgbClr>
          </a:solidFill>
          <a:ln/>
        </p:spPr>
      </p:sp>
      <p:sp>
        <p:nvSpPr>
          <p:cNvPr id="117" name="Shape 115"/>
          <p:cNvSpPr/>
          <p:nvPr/>
        </p:nvSpPr>
        <p:spPr>
          <a:xfrm>
            <a:off x="13233440" y="5862161"/>
            <a:ext cx="1262182" cy="9525"/>
          </a:xfrm>
          <a:prstGeom prst="rect">
            <a:avLst/>
          </a:prstGeom>
          <a:solidFill>
            <a:srgbClr val="FFFFFF">
              <a:alpha val="8000"/>
            </a:srgbClr>
          </a:solidFill>
          <a:ln/>
        </p:spPr>
      </p:sp>
      <p:sp>
        <p:nvSpPr>
          <p:cNvPr id="118" name="Text 116"/>
          <p:cNvSpPr/>
          <p:nvPr/>
        </p:nvSpPr>
        <p:spPr>
          <a:xfrm>
            <a:off x="13404890" y="5505926"/>
            <a:ext cx="9954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1003</a:t>
            </a:r>
            <a:endParaRPr lang="en-US" sz="1725" dirty="0"/>
          </a:p>
        </p:txBody>
      </p:sp>
      <p:sp>
        <p:nvSpPr>
          <p:cNvPr id="119" name="Shape 117"/>
          <p:cNvSpPr/>
          <p:nvPr/>
        </p:nvSpPr>
        <p:spPr>
          <a:xfrm>
            <a:off x="14495621" y="5401151"/>
            <a:ext cx="2060853" cy="468630"/>
          </a:xfrm>
          <a:prstGeom prst="rect">
            <a:avLst/>
          </a:prstGeom>
          <a:solidFill>
            <a:srgbClr val="FFFFFF">
              <a:alpha val="2000"/>
            </a:srgbClr>
          </a:solidFill>
          <a:ln/>
        </p:spPr>
      </p:sp>
      <p:sp>
        <p:nvSpPr>
          <p:cNvPr id="120" name="Shape 118"/>
          <p:cNvSpPr/>
          <p:nvPr/>
        </p:nvSpPr>
        <p:spPr>
          <a:xfrm>
            <a:off x="14495621" y="5862161"/>
            <a:ext cx="2060853" cy="9525"/>
          </a:xfrm>
          <a:prstGeom prst="rect">
            <a:avLst/>
          </a:prstGeom>
          <a:solidFill>
            <a:srgbClr val="FFFFFF">
              <a:alpha val="8000"/>
            </a:srgbClr>
          </a:solidFill>
          <a:ln/>
        </p:spPr>
      </p:sp>
      <p:sp>
        <p:nvSpPr>
          <p:cNvPr id="121" name="Text 119"/>
          <p:cNvSpPr/>
          <p:nvPr/>
        </p:nvSpPr>
        <p:spPr>
          <a:xfrm>
            <a:off x="14667071" y="5505926"/>
            <a:ext cx="179415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DD4BF"/>
                </a:solidFill>
                <a:latin typeface="Arial" pitchFamily="34" charset="0"/>
                <a:ea typeface="Arial" pitchFamily="34" charset="-122"/>
                <a:cs typeface="Arial" pitchFamily="34" charset="-120"/>
              </a:rPr>
              <a:t>USB-C Hub</a:t>
            </a:r>
            <a:endParaRPr lang="en-US" sz="1725" dirty="0"/>
          </a:p>
        </p:txBody>
      </p:sp>
      <p:sp>
        <p:nvSpPr>
          <p:cNvPr id="122" name="Shape 120"/>
          <p:cNvSpPr/>
          <p:nvPr/>
        </p:nvSpPr>
        <p:spPr>
          <a:xfrm>
            <a:off x="16556474" y="5401151"/>
            <a:ext cx="779026" cy="468630"/>
          </a:xfrm>
          <a:prstGeom prst="rect">
            <a:avLst/>
          </a:prstGeom>
          <a:solidFill>
            <a:srgbClr val="FFFFFF">
              <a:alpha val="2000"/>
            </a:srgbClr>
          </a:solidFill>
          <a:ln/>
        </p:spPr>
      </p:sp>
      <p:sp>
        <p:nvSpPr>
          <p:cNvPr id="123" name="Shape 121"/>
          <p:cNvSpPr/>
          <p:nvPr/>
        </p:nvSpPr>
        <p:spPr>
          <a:xfrm>
            <a:off x="16556474" y="5862161"/>
            <a:ext cx="779026" cy="9525"/>
          </a:xfrm>
          <a:prstGeom prst="rect">
            <a:avLst/>
          </a:prstGeom>
          <a:solidFill>
            <a:srgbClr val="FFFFFF">
              <a:alpha val="8000"/>
            </a:srgbClr>
          </a:solidFill>
          <a:ln/>
        </p:spPr>
      </p:sp>
      <p:sp>
        <p:nvSpPr>
          <p:cNvPr id="124" name="Text 122"/>
          <p:cNvSpPr/>
          <p:nvPr/>
        </p:nvSpPr>
        <p:spPr>
          <a:xfrm>
            <a:off x="16651724" y="5505926"/>
            <a:ext cx="512326"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3</a:t>
            </a:r>
            <a:endParaRPr lang="en-US" sz="1725" dirty="0"/>
          </a:p>
        </p:txBody>
      </p:sp>
      <p:sp>
        <p:nvSpPr>
          <p:cNvPr id="125" name="Shape 123"/>
          <p:cNvSpPr/>
          <p:nvPr/>
        </p:nvSpPr>
        <p:spPr>
          <a:xfrm>
            <a:off x="13233440" y="6330791"/>
            <a:ext cx="1262182" cy="9525"/>
          </a:xfrm>
          <a:prstGeom prst="rect">
            <a:avLst/>
          </a:prstGeom>
          <a:solidFill>
            <a:srgbClr val="FFFFFF">
              <a:alpha val="8000"/>
            </a:srgbClr>
          </a:solidFill>
          <a:ln/>
        </p:spPr>
      </p:sp>
      <p:sp>
        <p:nvSpPr>
          <p:cNvPr id="126" name="Text 124"/>
          <p:cNvSpPr/>
          <p:nvPr/>
        </p:nvSpPr>
        <p:spPr>
          <a:xfrm>
            <a:off x="13404890" y="5974556"/>
            <a:ext cx="9954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1004</a:t>
            </a:r>
            <a:endParaRPr lang="en-US" sz="1725" dirty="0"/>
          </a:p>
        </p:txBody>
      </p:sp>
      <p:sp>
        <p:nvSpPr>
          <p:cNvPr id="127" name="Shape 125"/>
          <p:cNvSpPr/>
          <p:nvPr/>
        </p:nvSpPr>
        <p:spPr>
          <a:xfrm>
            <a:off x="14495621" y="6330791"/>
            <a:ext cx="2060853" cy="9525"/>
          </a:xfrm>
          <a:prstGeom prst="rect">
            <a:avLst/>
          </a:prstGeom>
          <a:solidFill>
            <a:srgbClr val="FFFFFF">
              <a:alpha val="8000"/>
            </a:srgbClr>
          </a:solidFill>
          <a:ln/>
        </p:spPr>
      </p:sp>
      <p:sp>
        <p:nvSpPr>
          <p:cNvPr id="128" name="Text 126"/>
          <p:cNvSpPr/>
          <p:nvPr/>
        </p:nvSpPr>
        <p:spPr>
          <a:xfrm>
            <a:off x="14667071" y="5974556"/>
            <a:ext cx="1794153"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2DD4BF"/>
                </a:solidFill>
                <a:latin typeface="Arial" pitchFamily="34" charset="0"/>
                <a:ea typeface="Arial" pitchFamily="34" charset="-122"/>
                <a:cs typeface="Arial" pitchFamily="34" charset="-120"/>
              </a:rPr>
              <a:t>Laptop Stand</a:t>
            </a:r>
            <a:endParaRPr lang="en-US" sz="1725" dirty="0"/>
          </a:p>
        </p:txBody>
      </p:sp>
      <p:sp>
        <p:nvSpPr>
          <p:cNvPr id="129" name="Shape 127"/>
          <p:cNvSpPr/>
          <p:nvPr/>
        </p:nvSpPr>
        <p:spPr>
          <a:xfrm>
            <a:off x="16556474" y="6330791"/>
            <a:ext cx="779026" cy="9525"/>
          </a:xfrm>
          <a:prstGeom prst="rect">
            <a:avLst/>
          </a:prstGeom>
          <a:solidFill>
            <a:srgbClr val="FFFFFF">
              <a:alpha val="8000"/>
            </a:srgbClr>
          </a:solidFill>
          <a:ln/>
        </p:spPr>
      </p:sp>
      <p:sp>
        <p:nvSpPr>
          <p:cNvPr id="130" name="Text 128"/>
          <p:cNvSpPr/>
          <p:nvPr/>
        </p:nvSpPr>
        <p:spPr>
          <a:xfrm>
            <a:off x="16651724" y="5974556"/>
            <a:ext cx="512326"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8</a:t>
            </a:r>
            <a:endParaRPr lang="en-US" sz="1725" dirty="0"/>
          </a:p>
        </p:txBody>
      </p:sp>
      <p:sp>
        <p:nvSpPr>
          <p:cNvPr id="131" name="Shape 129"/>
          <p:cNvSpPr/>
          <p:nvPr/>
        </p:nvSpPr>
        <p:spPr>
          <a:xfrm>
            <a:off x="952500" y="8501063"/>
            <a:ext cx="16383000" cy="1023938"/>
          </a:xfrm>
          <a:prstGeom prst="roundRect">
            <a:avLst>
              <a:gd name="adj" fmla="val 11163"/>
            </a:avLst>
          </a:prstGeom>
          <a:solidFill>
            <a:srgbClr val="2DD4BF">
              <a:alpha val="5000"/>
            </a:srgbClr>
          </a:solidFill>
          <a:ln w="7620">
            <a:solidFill>
              <a:srgbClr val="2DD4BF">
                <a:alpha val="30000"/>
              </a:srgbClr>
            </a:solidFill>
            <a:prstDash val="solid"/>
          </a:ln>
        </p:spPr>
      </p:sp>
      <p:sp>
        <p:nvSpPr>
          <p:cNvPr id="132" name="Text 130"/>
          <p:cNvSpPr/>
          <p:nvPr/>
        </p:nvSpPr>
        <p:spPr>
          <a:xfrm>
            <a:off x="1303020" y="8813482"/>
            <a:ext cx="16152419" cy="437198"/>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This is exactly what </a:t>
            </a:r>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VLOOKUP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does. We'll build this formula in Module 5.</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68391"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04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Sort, Filter &amp; Analyze</a:t>
            </a:r>
            <a:endParaRPr lang="en-US" sz="3900" dirty="0"/>
          </a:p>
        </p:txBody>
      </p:sp>
      <p:sp>
        <p:nvSpPr>
          <p:cNvPr id="8" name="Text 6"/>
          <p:cNvSpPr/>
          <p:nvPr/>
        </p:nvSpPr>
        <p:spPr>
          <a:xfrm>
            <a:off x="1493520" y="2672715"/>
            <a:ext cx="15759989" cy="2268855"/>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Using the employee table in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Module4_Data.xlsx</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Apply a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multi-level sort</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Department A→Z, then Salary highest-to-lowest within each department.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Apply a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filter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 show only the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Marketing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department.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Count the Marketing headcount and calculate their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total salary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using SUBTOTAL, not SUM.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Clear the filter. Which department has the highest average salary?</a:t>
            </a:r>
            <a:endParaRPr lang="en-US" sz="2100" dirty="0"/>
          </a:p>
        </p:txBody>
      </p:sp>
      <p:sp>
        <p:nvSpPr>
          <p:cNvPr id="9" name="Shape 7"/>
          <p:cNvSpPr/>
          <p:nvPr/>
        </p:nvSpPr>
        <p:spPr>
          <a:xfrm>
            <a:off x="1493520" y="5170170"/>
            <a:ext cx="1525072"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263515"/>
            <a:ext cx="1166932"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5 minutes</a:t>
            </a:r>
            <a:endParaRPr lang="en-US" sz="1500" dirty="0"/>
          </a:p>
        </p:txBody>
      </p:sp>
      <p:sp>
        <p:nvSpPr>
          <p:cNvPr id="11" name="Shape 9"/>
          <p:cNvSpPr/>
          <p:nvPr/>
        </p:nvSpPr>
        <p:spPr>
          <a:xfrm>
            <a:off x="3170992" y="5170170"/>
            <a:ext cx="1920121"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88162" y="5263515"/>
            <a:ext cx="1561981"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Intermediate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681365" y="8382000"/>
            <a:ext cx="2111335"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05</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5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Lookup &amp;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Logic Functions</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VLOOKUP · COUNTIF · SUMIF</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30 minutes</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5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How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VLOOKUP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Works</a:t>
            </a:r>
            <a:endParaRPr lang="en-US" sz="4200" dirty="0"/>
          </a:p>
        </p:txBody>
      </p:sp>
      <p:sp>
        <p:nvSpPr>
          <p:cNvPr id="11" name="Text 9"/>
          <p:cNvSpPr/>
          <p:nvPr/>
        </p:nvSpPr>
        <p:spPr>
          <a:xfrm>
            <a:off x="952500" y="3863340"/>
            <a:ext cx="745617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Orders Table</a:t>
            </a:r>
            <a:endParaRPr lang="en-US" sz="1500" dirty="0"/>
          </a:p>
        </p:txBody>
      </p:sp>
      <p:sp>
        <p:nvSpPr>
          <p:cNvPr id="12" name="Shape 10"/>
          <p:cNvSpPr/>
          <p:nvPr/>
        </p:nvSpPr>
        <p:spPr>
          <a:xfrm>
            <a:off x="952500" y="4107180"/>
            <a:ext cx="1687116" cy="499110"/>
          </a:xfrm>
          <a:prstGeom prst="rect">
            <a:avLst/>
          </a:prstGeom>
          <a:solidFill>
            <a:srgbClr val="2DD4BF"/>
          </a:solidFill>
          <a:ln/>
        </p:spPr>
      </p:sp>
      <p:sp>
        <p:nvSpPr>
          <p:cNvPr id="13" name="Text 11"/>
          <p:cNvSpPr/>
          <p:nvPr/>
        </p:nvSpPr>
        <p:spPr>
          <a:xfrm>
            <a:off x="1123950" y="4231005"/>
            <a:ext cx="1420416"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Order ID</a:t>
            </a:r>
            <a:endParaRPr lang="en-US" sz="1575" dirty="0"/>
          </a:p>
        </p:txBody>
      </p:sp>
      <p:sp>
        <p:nvSpPr>
          <p:cNvPr id="14" name="Shape 12"/>
          <p:cNvSpPr/>
          <p:nvPr/>
        </p:nvSpPr>
        <p:spPr>
          <a:xfrm>
            <a:off x="2639616" y="4107180"/>
            <a:ext cx="1991439" cy="499110"/>
          </a:xfrm>
          <a:prstGeom prst="rect">
            <a:avLst/>
          </a:prstGeom>
          <a:solidFill>
            <a:srgbClr val="2DD4BF"/>
          </a:solidFill>
          <a:ln/>
        </p:spPr>
      </p:sp>
      <p:sp>
        <p:nvSpPr>
          <p:cNvPr id="15" name="Text 13"/>
          <p:cNvSpPr/>
          <p:nvPr/>
        </p:nvSpPr>
        <p:spPr>
          <a:xfrm>
            <a:off x="2811066" y="4231005"/>
            <a:ext cx="1724739"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ID</a:t>
            </a:r>
            <a:endParaRPr lang="en-US" sz="1575" dirty="0"/>
          </a:p>
        </p:txBody>
      </p:sp>
      <p:sp>
        <p:nvSpPr>
          <p:cNvPr id="16" name="Shape 14"/>
          <p:cNvSpPr/>
          <p:nvPr/>
        </p:nvSpPr>
        <p:spPr>
          <a:xfrm>
            <a:off x="4631055" y="4107180"/>
            <a:ext cx="3560445" cy="499110"/>
          </a:xfrm>
          <a:prstGeom prst="rect">
            <a:avLst/>
          </a:prstGeom>
          <a:solidFill>
            <a:srgbClr val="2DD4BF"/>
          </a:solidFill>
          <a:ln/>
        </p:spPr>
      </p:sp>
      <p:sp>
        <p:nvSpPr>
          <p:cNvPr id="17" name="Text 15"/>
          <p:cNvSpPr/>
          <p:nvPr/>
        </p:nvSpPr>
        <p:spPr>
          <a:xfrm>
            <a:off x="4802505" y="4231005"/>
            <a:ext cx="3324359"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Product Name</a:t>
            </a:r>
            <a:endParaRPr lang="en-US" sz="1575" dirty="0"/>
          </a:p>
        </p:txBody>
      </p:sp>
      <p:sp>
        <p:nvSpPr>
          <p:cNvPr id="18" name="Shape 16"/>
          <p:cNvSpPr/>
          <p:nvPr/>
        </p:nvSpPr>
        <p:spPr>
          <a:xfrm>
            <a:off x="952500" y="4606290"/>
            <a:ext cx="1687116" cy="487680"/>
          </a:xfrm>
          <a:prstGeom prst="rect">
            <a:avLst/>
          </a:prstGeom>
          <a:solidFill>
            <a:srgbClr val="FFFFFF">
              <a:alpha val="2000"/>
            </a:srgbClr>
          </a:solidFill>
          <a:ln/>
        </p:spPr>
      </p:sp>
      <p:sp>
        <p:nvSpPr>
          <p:cNvPr id="19" name="Shape 17"/>
          <p:cNvSpPr/>
          <p:nvPr/>
        </p:nvSpPr>
        <p:spPr>
          <a:xfrm>
            <a:off x="952500" y="5086350"/>
            <a:ext cx="1687116" cy="9525"/>
          </a:xfrm>
          <a:prstGeom prst="rect">
            <a:avLst/>
          </a:prstGeom>
          <a:solidFill>
            <a:srgbClr val="FFFFFF">
              <a:alpha val="8000"/>
            </a:srgbClr>
          </a:solidFill>
          <a:ln/>
        </p:spPr>
      </p:sp>
      <p:sp>
        <p:nvSpPr>
          <p:cNvPr id="20" name="Text 18"/>
          <p:cNvSpPr/>
          <p:nvPr/>
        </p:nvSpPr>
        <p:spPr>
          <a:xfrm>
            <a:off x="1123950" y="4711065"/>
            <a:ext cx="1420416" cy="30861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1001</a:t>
            </a:r>
            <a:endParaRPr lang="en-US" sz="1725" dirty="0"/>
          </a:p>
        </p:txBody>
      </p:sp>
      <p:sp>
        <p:nvSpPr>
          <p:cNvPr id="21" name="Shape 19"/>
          <p:cNvSpPr/>
          <p:nvPr/>
        </p:nvSpPr>
        <p:spPr>
          <a:xfrm>
            <a:off x="2639616" y="4606290"/>
            <a:ext cx="1991439" cy="487680"/>
          </a:xfrm>
          <a:prstGeom prst="rect">
            <a:avLst/>
          </a:prstGeom>
          <a:solidFill>
            <a:srgbClr val="FBBF24">
              <a:alpha val="15000"/>
            </a:srgbClr>
          </a:solidFill>
          <a:ln/>
        </p:spPr>
      </p:sp>
      <p:sp>
        <p:nvSpPr>
          <p:cNvPr id="22" name="Shape 20"/>
          <p:cNvSpPr/>
          <p:nvPr/>
        </p:nvSpPr>
        <p:spPr>
          <a:xfrm>
            <a:off x="2639616" y="5086350"/>
            <a:ext cx="1991439" cy="9525"/>
          </a:xfrm>
          <a:prstGeom prst="rect">
            <a:avLst/>
          </a:prstGeom>
          <a:solidFill>
            <a:srgbClr val="FFFFFF">
              <a:alpha val="8000"/>
            </a:srgbClr>
          </a:solidFill>
          <a:ln/>
        </p:spPr>
      </p:sp>
      <p:sp>
        <p:nvSpPr>
          <p:cNvPr id="23" name="Text 21"/>
          <p:cNvSpPr/>
          <p:nvPr/>
        </p:nvSpPr>
        <p:spPr>
          <a:xfrm>
            <a:off x="2811066" y="4711065"/>
            <a:ext cx="1724739" cy="308610"/>
          </a:xfrm>
          <a:prstGeom prst="rect">
            <a:avLst/>
          </a:prstGeom>
          <a:noFill/>
          <a:ln/>
        </p:spPr>
        <p:txBody>
          <a:bodyPr wrap="square" lIns="25400" tIns="25400" rIns="25400" bIns="25400" rtlCol="0" anchor="ctr">
            <a:normAutofit/>
          </a:bodyPr>
          <a:lstStyle/>
          <a:p>
            <a:pPr algn="l" indent="0" marL="0">
              <a:buNone/>
            </a:pPr>
            <a:r>
              <a:rPr lang="en-US" sz="1725" b="1" dirty="0">
                <a:solidFill>
                  <a:srgbClr val="FBBF24"/>
                </a:solidFill>
                <a:latin typeface="Arial" pitchFamily="34" charset="0"/>
                <a:ea typeface="Arial" pitchFamily="34" charset="-122"/>
                <a:cs typeface="Arial" pitchFamily="34" charset="-120"/>
              </a:rPr>
              <a:t>P-042</a:t>
            </a:r>
            <a:endParaRPr lang="en-US" sz="1725" dirty="0"/>
          </a:p>
        </p:txBody>
      </p:sp>
      <p:sp>
        <p:nvSpPr>
          <p:cNvPr id="24" name="Shape 22"/>
          <p:cNvSpPr/>
          <p:nvPr/>
        </p:nvSpPr>
        <p:spPr>
          <a:xfrm>
            <a:off x="4631055" y="4606290"/>
            <a:ext cx="3560445" cy="487680"/>
          </a:xfrm>
          <a:prstGeom prst="rect">
            <a:avLst/>
          </a:prstGeom>
          <a:solidFill>
            <a:srgbClr val="FFFFFF">
              <a:alpha val="2000"/>
            </a:srgbClr>
          </a:solidFill>
          <a:ln/>
        </p:spPr>
      </p:sp>
      <p:sp>
        <p:nvSpPr>
          <p:cNvPr id="25" name="Shape 23"/>
          <p:cNvSpPr/>
          <p:nvPr/>
        </p:nvSpPr>
        <p:spPr>
          <a:xfrm>
            <a:off x="4631055" y="5086350"/>
            <a:ext cx="3560445" cy="9525"/>
          </a:xfrm>
          <a:prstGeom prst="rect">
            <a:avLst/>
          </a:prstGeom>
          <a:solidFill>
            <a:srgbClr val="FFFFFF">
              <a:alpha val="8000"/>
            </a:srgbClr>
          </a:solidFill>
          <a:ln/>
        </p:spPr>
      </p:sp>
      <p:sp>
        <p:nvSpPr>
          <p:cNvPr id="26" name="Text 24"/>
          <p:cNvSpPr/>
          <p:nvPr/>
        </p:nvSpPr>
        <p:spPr>
          <a:xfrm>
            <a:off x="4802505" y="4711065"/>
            <a:ext cx="3324359" cy="308610"/>
          </a:xfrm>
          <a:prstGeom prst="rect">
            <a:avLst/>
          </a:prstGeom>
          <a:noFill/>
          <a:ln/>
        </p:spPr>
        <p:txBody>
          <a:bodyPr wrap="square" lIns="25400" tIns="25400" rIns="25400" bIns="25400" rtlCol="0" anchor="ctr">
            <a:normAutofit/>
          </a:bodyPr>
          <a:lstStyle/>
          <a:p>
            <a:pPr algn="l" indent="0" marL="0">
              <a:buNone/>
            </a:pPr>
            <a:r>
              <a:rPr lang="en-US" sz="1725" i="1" dirty="0">
                <a:solidFill>
                  <a:srgbClr val="2DD4BF"/>
                </a:solidFill>
                <a:latin typeface="Arial" pitchFamily="34" charset="0"/>
                <a:ea typeface="Arial" pitchFamily="34" charset="-122"/>
                <a:cs typeface="Arial" pitchFamily="34" charset="-120"/>
              </a:rPr>
              <a:t>← VLOOKUP fills this</a:t>
            </a:r>
            <a:endParaRPr lang="en-US" sz="1725" dirty="0"/>
          </a:p>
        </p:txBody>
      </p:sp>
      <p:sp>
        <p:nvSpPr>
          <p:cNvPr id="27" name="Shape 25"/>
          <p:cNvSpPr/>
          <p:nvPr/>
        </p:nvSpPr>
        <p:spPr>
          <a:xfrm>
            <a:off x="952500" y="5554980"/>
            <a:ext cx="1687116" cy="9525"/>
          </a:xfrm>
          <a:prstGeom prst="rect">
            <a:avLst/>
          </a:prstGeom>
          <a:solidFill>
            <a:srgbClr val="FFFFFF">
              <a:alpha val="8000"/>
            </a:srgbClr>
          </a:solidFill>
          <a:ln/>
        </p:spPr>
      </p:sp>
      <p:sp>
        <p:nvSpPr>
          <p:cNvPr id="28" name="Text 26"/>
          <p:cNvSpPr/>
          <p:nvPr/>
        </p:nvSpPr>
        <p:spPr>
          <a:xfrm>
            <a:off x="1123950" y="5198745"/>
            <a:ext cx="142041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1002</a:t>
            </a:r>
            <a:endParaRPr lang="en-US" sz="1725" dirty="0"/>
          </a:p>
        </p:txBody>
      </p:sp>
      <p:sp>
        <p:nvSpPr>
          <p:cNvPr id="29" name="Shape 27"/>
          <p:cNvSpPr/>
          <p:nvPr/>
        </p:nvSpPr>
        <p:spPr>
          <a:xfrm>
            <a:off x="2639616" y="5554980"/>
            <a:ext cx="1991439" cy="9525"/>
          </a:xfrm>
          <a:prstGeom prst="rect">
            <a:avLst/>
          </a:prstGeom>
          <a:solidFill>
            <a:srgbClr val="FFFFFF">
              <a:alpha val="8000"/>
            </a:srgbClr>
          </a:solidFill>
          <a:ln/>
        </p:spPr>
      </p:sp>
      <p:sp>
        <p:nvSpPr>
          <p:cNvPr id="30" name="Text 28"/>
          <p:cNvSpPr/>
          <p:nvPr/>
        </p:nvSpPr>
        <p:spPr>
          <a:xfrm>
            <a:off x="2811066" y="5198745"/>
            <a:ext cx="172473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P-018</a:t>
            </a:r>
            <a:endParaRPr lang="en-US" sz="1725" dirty="0"/>
          </a:p>
        </p:txBody>
      </p:sp>
      <p:sp>
        <p:nvSpPr>
          <p:cNvPr id="31" name="Shape 29"/>
          <p:cNvSpPr/>
          <p:nvPr/>
        </p:nvSpPr>
        <p:spPr>
          <a:xfrm>
            <a:off x="4631055" y="5554980"/>
            <a:ext cx="3560445" cy="9525"/>
          </a:xfrm>
          <a:prstGeom prst="rect">
            <a:avLst/>
          </a:prstGeom>
          <a:solidFill>
            <a:srgbClr val="FFFFFF">
              <a:alpha val="8000"/>
            </a:srgbClr>
          </a:solidFill>
          <a:ln/>
        </p:spPr>
      </p:sp>
      <p:sp>
        <p:nvSpPr>
          <p:cNvPr id="32" name="Text 30"/>
          <p:cNvSpPr/>
          <p:nvPr/>
        </p:nvSpPr>
        <p:spPr>
          <a:xfrm>
            <a:off x="4802505" y="5198745"/>
            <a:ext cx="332435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a:t>
            </a:r>
            <a:endParaRPr lang="en-US" sz="1725" dirty="0"/>
          </a:p>
        </p:txBody>
      </p:sp>
      <p:sp>
        <p:nvSpPr>
          <p:cNvPr id="33" name="Shape 31"/>
          <p:cNvSpPr/>
          <p:nvPr/>
        </p:nvSpPr>
        <p:spPr>
          <a:xfrm>
            <a:off x="952500" y="5562600"/>
            <a:ext cx="1687116" cy="468630"/>
          </a:xfrm>
          <a:prstGeom prst="rect">
            <a:avLst/>
          </a:prstGeom>
          <a:solidFill>
            <a:srgbClr val="FFFFFF">
              <a:alpha val="2000"/>
            </a:srgbClr>
          </a:solidFill>
          <a:ln/>
        </p:spPr>
      </p:sp>
      <p:sp>
        <p:nvSpPr>
          <p:cNvPr id="34" name="Shape 32"/>
          <p:cNvSpPr/>
          <p:nvPr/>
        </p:nvSpPr>
        <p:spPr>
          <a:xfrm>
            <a:off x="952500" y="6023610"/>
            <a:ext cx="1687116" cy="9525"/>
          </a:xfrm>
          <a:prstGeom prst="rect">
            <a:avLst/>
          </a:prstGeom>
          <a:solidFill>
            <a:srgbClr val="FFFFFF">
              <a:alpha val="8000"/>
            </a:srgbClr>
          </a:solidFill>
          <a:ln/>
        </p:spPr>
      </p:sp>
      <p:sp>
        <p:nvSpPr>
          <p:cNvPr id="35" name="Text 33"/>
          <p:cNvSpPr/>
          <p:nvPr/>
        </p:nvSpPr>
        <p:spPr>
          <a:xfrm>
            <a:off x="1123950" y="5667375"/>
            <a:ext cx="142041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1003</a:t>
            </a:r>
            <a:endParaRPr lang="en-US" sz="1725" dirty="0"/>
          </a:p>
        </p:txBody>
      </p:sp>
      <p:sp>
        <p:nvSpPr>
          <p:cNvPr id="36" name="Shape 34"/>
          <p:cNvSpPr/>
          <p:nvPr/>
        </p:nvSpPr>
        <p:spPr>
          <a:xfrm>
            <a:off x="2639616" y="5562600"/>
            <a:ext cx="1991439" cy="468630"/>
          </a:xfrm>
          <a:prstGeom prst="rect">
            <a:avLst/>
          </a:prstGeom>
          <a:solidFill>
            <a:srgbClr val="FFFFFF">
              <a:alpha val="2000"/>
            </a:srgbClr>
          </a:solidFill>
          <a:ln/>
        </p:spPr>
      </p:sp>
      <p:sp>
        <p:nvSpPr>
          <p:cNvPr id="37" name="Shape 35"/>
          <p:cNvSpPr/>
          <p:nvPr/>
        </p:nvSpPr>
        <p:spPr>
          <a:xfrm>
            <a:off x="2639616" y="6023610"/>
            <a:ext cx="1991439" cy="9525"/>
          </a:xfrm>
          <a:prstGeom prst="rect">
            <a:avLst/>
          </a:prstGeom>
          <a:solidFill>
            <a:srgbClr val="FFFFFF">
              <a:alpha val="8000"/>
            </a:srgbClr>
          </a:solidFill>
          <a:ln/>
        </p:spPr>
      </p:sp>
      <p:sp>
        <p:nvSpPr>
          <p:cNvPr id="38" name="Text 36"/>
          <p:cNvSpPr/>
          <p:nvPr/>
        </p:nvSpPr>
        <p:spPr>
          <a:xfrm>
            <a:off x="2811066" y="5667375"/>
            <a:ext cx="172473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P-042</a:t>
            </a:r>
            <a:endParaRPr lang="en-US" sz="1725" dirty="0"/>
          </a:p>
        </p:txBody>
      </p:sp>
      <p:sp>
        <p:nvSpPr>
          <p:cNvPr id="39" name="Shape 37"/>
          <p:cNvSpPr/>
          <p:nvPr/>
        </p:nvSpPr>
        <p:spPr>
          <a:xfrm>
            <a:off x="4631055" y="5562600"/>
            <a:ext cx="3560445" cy="468630"/>
          </a:xfrm>
          <a:prstGeom prst="rect">
            <a:avLst/>
          </a:prstGeom>
          <a:solidFill>
            <a:srgbClr val="FFFFFF">
              <a:alpha val="2000"/>
            </a:srgbClr>
          </a:solidFill>
          <a:ln/>
        </p:spPr>
      </p:sp>
      <p:sp>
        <p:nvSpPr>
          <p:cNvPr id="40" name="Shape 38"/>
          <p:cNvSpPr/>
          <p:nvPr/>
        </p:nvSpPr>
        <p:spPr>
          <a:xfrm>
            <a:off x="4631055" y="6023610"/>
            <a:ext cx="3560445" cy="9525"/>
          </a:xfrm>
          <a:prstGeom prst="rect">
            <a:avLst/>
          </a:prstGeom>
          <a:solidFill>
            <a:srgbClr val="FFFFFF">
              <a:alpha val="8000"/>
            </a:srgbClr>
          </a:solidFill>
          <a:ln/>
        </p:spPr>
      </p:sp>
      <p:sp>
        <p:nvSpPr>
          <p:cNvPr id="41" name="Text 39"/>
          <p:cNvSpPr/>
          <p:nvPr/>
        </p:nvSpPr>
        <p:spPr>
          <a:xfrm>
            <a:off x="4802505" y="5667375"/>
            <a:ext cx="332435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a:t>
            </a:r>
            <a:endParaRPr lang="en-US" sz="1725" dirty="0"/>
          </a:p>
        </p:txBody>
      </p:sp>
      <p:sp>
        <p:nvSpPr>
          <p:cNvPr id="42" name="Shape 40"/>
          <p:cNvSpPr/>
          <p:nvPr/>
        </p:nvSpPr>
        <p:spPr>
          <a:xfrm>
            <a:off x="952500" y="6492240"/>
            <a:ext cx="1687116" cy="9525"/>
          </a:xfrm>
          <a:prstGeom prst="rect">
            <a:avLst/>
          </a:prstGeom>
          <a:solidFill>
            <a:srgbClr val="FFFFFF">
              <a:alpha val="8000"/>
            </a:srgbClr>
          </a:solidFill>
          <a:ln/>
        </p:spPr>
      </p:sp>
      <p:sp>
        <p:nvSpPr>
          <p:cNvPr id="43" name="Text 41"/>
          <p:cNvSpPr/>
          <p:nvPr/>
        </p:nvSpPr>
        <p:spPr>
          <a:xfrm>
            <a:off x="1123950" y="6136005"/>
            <a:ext cx="142041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1004</a:t>
            </a:r>
            <a:endParaRPr lang="en-US" sz="1725" dirty="0"/>
          </a:p>
        </p:txBody>
      </p:sp>
      <p:sp>
        <p:nvSpPr>
          <p:cNvPr id="44" name="Shape 42"/>
          <p:cNvSpPr/>
          <p:nvPr/>
        </p:nvSpPr>
        <p:spPr>
          <a:xfrm>
            <a:off x="2639616" y="6492240"/>
            <a:ext cx="1991439" cy="9525"/>
          </a:xfrm>
          <a:prstGeom prst="rect">
            <a:avLst/>
          </a:prstGeom>
          <a:solidFill>
            <a:srgbClr val="FFFFFF">
              <a:alpha val="8000"/>
            </a:srgbClr>
          </a:solidFill>
          <a:ln/>
        </p:spPr>
      </p:sp>
      <p:sp>
        <p:nvSpPr>
          <p:cNvPr id="45" name="Text 43"/>
          <p:cNvSpPr/>
          <p:nvPr/>
        </p:nvSpPr>
        <p:spPr>
          <a:xfrm>
            <a:off x="2811066" y="6136005"/>
            <a:ext cx="172473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P-099</a:t>
            </a:r>
            <a:endParaRPr lang="en-US" sz="1725" dirty="0"/>
          </a:p>
        </p:txBody>
      </p:sp>
      <p:sp>
        <p:nvSpPr>
          <p:cNvPr id="46" name="Shape 44"/>
          <p:cNvSpPr/>
          <p:nvPr/>
        </p:nvSpPr>
        <p:spPr>
          <a:xfrm>
            <a:off x="4631055" y="6492240"/>
            <a:ext cx="3560445" cy="9525"/>
          </a:xfrm>
          <a:prstGeom prst="rect">
            <a:avLst/>
          </a:prstGeom>
          <a:solidFill>
            <a:srgbClr val="FFFFFF">
              <a:alpha val="8000"/>
            </a:srgbClr>
          </a:solidFill>
          <a:ln/>
        </p:spPr>
      </p:sp>
      <p:sp>
        <p:nvSpPr>
          <p:cNvPr id="47" name="Text 45"/>
          <p:cNvSpPr/>
          <p:nvPr/>
        </p:nvSpPr>
        <p:spPr>
          <a:xfrm>
            <a:off x="4802505" y="6136005"/>
            <a:ext cx="332435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a:t>
            </a:r>
            <a:endParaRPr lang="en-US" sz="1725" dirty="0"/>
          </a:p>
        </p:txBody>
      </p:sp>
      <p:sp>
        <p:nvSpPr>
          <p:cNvPr id="48" name="Text 46"/>
          <p:cNvSpPr/>
          <p:nvPr/>
        </p:nvSpPr>
        <p:spPr>
          <a:xfrm>
            <a:off x="8583096" y="4567238"/>
            <a:ext cx="1121688" cy="52578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Find P-042 in col 1 →</a:t>
            </a:r>
            <a:endParaRPr lang="en-US" sz="1500" dirty="0"/>
          </a:p>
        </p:txBody>
      </p:sp>
      <p:sp>
        <p:nvSpPr>
          <p:cNvPr id="49" name="Shape 47"/>
          <p:cNvSpPr/>
          <p:nvPr/>
        </p:nvSpPr>
        <p:spPr>
          <a:xfrm>
            <a:off x="8191500" y="5169218"/>
            <a:ext cx="1905000" cy="28575"/>
          </a:xfrm>
          <a:prstGeom prst="roundRect">
            <a:avLst>
              <a:gd name="adj" fmla="val 50000"/>
            </a:avLst>
          </a:prstGeom>
          <a:solidFill>
            <a:srgbClr val="FBBF24"/>
          </a:solidFill>
          <a:ln/>
        </p:spPr>
      </p:sp>
      <p:sp>
        <p:nvSpPr>
          <p:cNvPr id="50" name="Text 48"/>
          <p:cNvSpPr/>
          <p:nvPr/>
        </p:nvSpPr>
        <p:spPr>
          <a:xfrm>
            <a:off x="8564761" y="5312093"/>
            <a:ext cx="1158478" cy="52578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Return col 2 value</a:t>
            </a:r>
            <a:endParaRPr lang="en-US" sz="1500" dirty="0"/>
          </a:p>
        </p:txBody>
      </p:sp>
      <p:sp>
        <p:nvSpPr>
          <p:cNvPr id="51" name="Text 49"/>
          <p:cNvSpPr/>
          <p:nvPr/>
        </p:nvSpPr>
        <p:spPr>
          <a:xfrm>
            <a:off x="10096500" y="3863340"/>
            <a:ext cx="745617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Products Table (lookup table)</a:t>
            </a:r>
            <a:endParaRPr lang="en-US" sz="1500" dirty="0"/>
          </a:p>
        </p:txBody>
      </p:sp>
      <p:sp>
        <p:nvSpPr>
          <p:cNvPr id="52" name="Shape 50"/>
          <p:cNvSpPr/>
          <p:nvPr/>
        </p:nvSpPr>
        <p:spPr>
          <a:xfrm>
            <a:off x="10096500" y="4107180"/>
            <a:ext cx="2653070" cy="499110"/>
          </a:xfrm>
          <a:prstGeom prst="rect">
            <a:avLst/>
          </a:prstGeom>
          <a:solidFill>
            <a:srgbClr val="FBBF24">
              <a:alpha val="40000"/>
            </a:srgbClr>
          </a:solidFill>
          <a:ln/>
        </p:spPr>
      </p:sp>
      <p:sp>
        <p:nvSpPr>
          <p:cNvPr id="53" name="Text 51"/>
          <p:cNvSpPr/>
          <p:nvPr/>
        </p:nvSpPr>
        <p:spPr>
          <a:xfrm>
            <a:off x="10267950" y="4231005"/>
            <a:ext cx="238976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Col 1: Product ID</a:t>
            </a:r>
            <a:endParaRPr lang="en-US" sz="1575" dirty="0"/>
          </a:p>
        </p:txBody>
      </p:sp>
      <p:sp>
        <p:nvSpPr>
          <p:cNvPr id="54" name="Shape 52"/>
          <p:cNvSpPr/>
          <p:nvPr/>
        </p:nvSpPr>
        <p:spPr>
          <a:xfrm>
            <a:off x="12749569" y="4107180"/>
            <a:ext cx="2605921" cy="499110"/>
          </a:xfrm>
          <a:prstGeom prst="rect">
            <a:avLst/>
          </a:prstGeom>
          <a:solidFill>
            <a:srgbClr val="2DD4BF">
              <a:alpha val="40000"/>
            </a:srgbClr>
          </a:solidFill>
          <a:ln/>
        </p:spPr>
      </p:sp>
      <p:sp>
        <p:nvSpPr>
          <p:cNvPr id="55" name="Text 53"/>
          <p:cNvSpPr/>
          <p:nvPr/>
        </p:nvSpPr>
        <p:spPr>
          <a:xfrm>
            <a:off x="12921019" y="4231005"/>
            <a:ext cx="2341199"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Col 2: Name</a:t>
            </a:r>
            <a:endParaRPr lang="en-US" sz="1575" dirty="0"/>
          </a:p>
        </p:txBody>
      </p:sp>
      <p:sp>
        <p:nvSpPr>
          <p:cNvPr id="56" name="Shape 54"/>
          <p:cNvSpPr/>
          <p:nvPr/>
        </p:nvSpPr>
        <p:spPr>
          <a:xfrm>
            <a:off x="15355491" y="4107180"/>
            <a:ext cx="1980009" cy="499110"/>
          </a:xfrm>
          <a:prstGeom prst="rect">
            <a:avLst/>
          </a:prstGeom>
          <a:solidFill>
            <a:srgbClr val="2DD4BF"/>
          </a:solidFill>
          <a:ln/>
        </p:spPr>
      </p:sp>
      <p:sp>
        <p:nvSpPr>
          <p:cNvPr id="57" name="Text 55"/>
          <p:cNvSpPr/>
          <p:nvPr/>
        </p:nvSpPr>
        <p:spPr>
          <a:xfrm>
            <a:off x="15526941" y="4231005"/>
            <a:ext cx="1713309"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Col 3: Price</a:t>
            </a:r>
            <a:endParaRPr lang="en-US" sz="1575" dirty="0"/>
          </a:p>
        </p:txBody>
      </p:sp>
      <p:sp>
        <p:nvSpPr>
          <p:cNvPr id="58" name="Shape 56"/>
          <p:cNvSpPr/>
          <p:nvPr/>
        </p:nvSpPr>
        <p:spPr>
          <a:xfrm>
            <a:off x="10096500" y="4606290"/>
            <a:ext cx="2653070" cy="464820"/>
          </a:xfrm>
          <a:prstGeom prst="rect">
            <a:avLst/>
          </a:prstGeom>
          <a:solidFill>
            <a:srgbClr val="FFFFFF">
              <a:alpha val="2000"/>
            </a:srgbClr>
          </a:solidFill>
          <a:ln/>
        </p:spPr>
      </p:sp>
      <p:sp>
        <p:nvSpPr>
          <p:cNvPr id="59" name="Shape 57"/>
          <p:cNvSpPr/>
          <p:nvPr/>
        </p:nvSpPr>
        <p:spPr>
          <a:xfrm>
            <a:off x="10096500" y="5063490"/>
            <a:ext cx="2653070" cy="9525"/>
          </a:xfrm>
          <a:prstGeom prst="rect">
            <a:avLst/>
          </a:prstGeom>
          <a:solidFill>
            <a:srgbClr val="FFFFFF">
              <a:alpha val="8000"/>
            </a:srgbClr>
          </a:solidFill>
          <a:ln/>
        </p:spPr>
      </p:sp>
      <p:sp>
        <p:nvSpPr>
          <p:cNvPr id="60" name="Text 58"/>
          <p:cNvSpPr/>
          <p:nvPr/>
        </p:nvSpPr>
        <p:spPr>
          <a:xfrm>
            <a:off x="10267950" y="4711065"/>
            <a:ext cx="238976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P-018</a:t>
            </a:r>
            <a:endParaRPr lang="en-US" sz="1725" dirty="0"/>
          </a:p>
        </p:txBody>
      </p:sp>
      <p:sp>
        <p:nvSpPr>
          <p:cNvPr id="61" name="Shape 59"/>
          <p:cNvSpPr/>
          <p:nvPr/>
        </p:nvSpPr>
        <p:spPr>
          <a:xfrm>
            <a:off x="12749569" y="4606290"/>
            <a:ext cx="2605921" cy="464820"/>
          </a:xfrm>
          <a:prstGeom prst="rect">
            <a:avLst/>
          </a:prstGeom>
          <a:solidFill>
            <a:srgbClr val="FFFFFF">
              <a:alpha val="2000"/>
            </a:srgbClr>
          </a:solidFill>
          <a:ln/>
        </p:spPr>
      </p:sp>
      <p:sp>
        <p:nvSpPr>
          <p:cNvPr id="62" name="Shape 60"/>
          <p:cNvSpPr/>
          <p:nvPr/>
        </p:nvSpPr>
        <p:spPr>
          <a:xfrm>
            <a:off x="12749569" y="5063490"/>
            <a:ext cx="2605921" cy="9525"/>
          </a:xfrm>
          <a:prstGeom prst="rect">
            <a:avLst/>
          </a:prstGeom>
          <a:solidFill>
            <a:srgbClr val="FFFFFF">
              <a:alpha val="8000"/>
            </a:srgbClr>
          </a:solidFill>
          <a:ln/>
        </p:spPr>
      </p:sp>
      <p:sp>
        <p:nvSpPr>
          <p:cNvPr id="63" name="Text 61"/>
          <p:cNvSpPr/>
          <p:nvPr/>
        </p:nvSpPr>
        <p:spPr>
          <a:xfrm>
            <a:off x="12921019" y="4711065"/>
            <a:ext cx="2341199"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Wireless Mouse</a:t>
            </a:r>
            <a:endParaRPr lang="en-US" sz="1725" dirty="0"/>
          </a:p>
        </p:txBody>
      </p:sp>
      <p:sp>
        <p:nvSpPr>
          <p:cNvPr id="64" name="Shape 62"/>
          <p:cNvSpPr/>
          <p:nvPr/>
        </p:nvSpPr>
        <p:spPr>
          <a:xfrm>
            <a:off x="15355491" y="4606290"/>
            <a:ext cx="1980009" cy="464820"/>
          </a:xfrm>
          <a:prstGeom prst="rect">
            <a:avLst/>
          </a:prstGeom>
          <a:solidFill>
            <a:srgbClr val="FFFFFF">
              <a:alpha val="2000"/>
            </a:srgbClr>
          </a:solidFill>
          <a:ln/>
        </p:spPr>
      </p:sp>
      <p:sp>
        <p:nvSpPr>
          <p:cNvPr id="65" name="Shape 63"/>
          <p:cNvSpPr/>
          <p:nvPr/>
        </p:nvSpPr>
        <p:spPr>
          <a:xfrm>
            <a:off x="15355491" y="5063490"/>
            <a:ext cx="1980009" cy="9525"/>
          </a:xfrm>
          <a:prstGeom prst="rect">
            <a:avLst/>
          </a:prstGeom>
          <a:solidFill>
            <a:srgbClr val="FFFFFF">
              <a:alpha val="8000"/>
            </a:srgbClr>
          </a:solidFill>
          <a:ln/>
        </p:spPr>
      </p:sp>
      <p:sp>
        <p:nvSpPr>
          <p:cNvPr id="66" name="Text 64"/>
          <p:cNvSpPr/>
          <p:nvPr/>
        </p:nvSpPr>
        <p:spPr>
          <a:xfrm>
            <a:off x="15450741" y="4711065"/>
            <a:ext cx="1713309"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$29.99</a:t>
            </a:r>
            <a:endParaRPr lang="en-US" sz="1725" dirty="0"/>
          </a:p>
        </p:txBody>
      </p:sp>
      <p:sp>
        <p:nvSpPr>
          <p:cNvPr id="67" name="Shape 65"/>
          <p:cNvSpPr/>
          <p:nvPr/>
        </p:nvSpPr>
        <p:spPr>
          <a:xfrm>
            <a:off x="10096500" y="5071110"/>
            <a:ext cx="7239000" cy="491490"/>
          </a:xfrm>
          <a:prstGeom prst="rect">
            <a:avLst/>
          </a:prstGeom>
          <a:solidFill>
            <a:srgbClr val="FBBF24">
              <a:alpha val="10000"/>
            </a:srgbClr>
          </a:solidFill>
          <a:ln/>
        </p:spPr>
      </p:sp>
      <p:sp>
        <p:nvSpPr>
          <p:cNvPr id="68" name="Shape 66"/>
          <p:cNvSpPr/>
          <p:nvPr/>
        </p:nvSpPr>
        <p:spPr>
          <a:xfrm>
            <a:off x="10096500" y="5554980"/>
            <a:ext cx="2653070" cy="9525"/>
          </a:xfrm>
          <a:prstGeom prst="rect">
            <a:avLst/>
          </a:prstGeom>
          <a:solidFill>
            <a:srgbClr val="FFFFFF">
              <a:alpha val="8000"/>
            </a:srgbClr>
          </a:solidFill>
          <a:ln/>
        </p:spPr>
      </p:sp>
      <p:sp>
        <p:nvSpPr>
          <p:cNvPr id="69" name="Text 67"/>
          <p:cNvSpPr/>
          <p:nvPr/>
        </p:nvSpPr>
        <p:spPr>
          <a:xfrm>
            <a:off x="10267950" y="5175885"/>
            <a:ext cx="2389762"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FBBF24"/>
                </a:solidFill>
                <a:latin typeface="Arial" pitchFamily="34" charset="0"/>
                <a:ea typeface="Arial" pitchFamily="34" charset="-122"/>
                <a:cs typeface="Arial" pitchFamily="34" charset="-120"/>
              </a:rPr>
              <a:t>P-042</a:t>
            </a:r>
            <a:endParaRPr lang="en-US" sz="1725" dirty="0"/>
          </a:p>
        </p:txBody>
      </p:sp>
      <p:sp>
        <p:nvSpPr>
          <p:cNvPr id="70" name="Shape 68"/>
          <p:cNvSpPr/>
          <p:nvPr/>
        </p:nvSpPr>
        <p:spPr>
          <a:xfrm>
            <a:off x="12749569" y="5554980"/>
            <a:ext cx="2605921" cy="9525"/>
          </a:xfrm>
          <a:prstGeom prst="rect">
            <a:avLst/>
          </a:prstGeom>
          <a:solidFill>
            <a:srgbClr val="FFFFFF">
              <a:alpha val="8000"/>
            </a:srgbClr>
          </a:solidFill>
          <a:ln/>
        </p:spPr>
      </p:sp>
      <p:sp>
        <p:nvSpPr>
          <p:cNvPr id="71" name="Text 69"/>
          <p:cNvSpPr/>
          <p:nvPr/>
        </p:nvSpPr>
        <p:spPr>
          <a:xfrm>
            <a:off x="12921019" y="5175885"/>
            <a:ext cx="2341199"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USB-C Hub</a:t>
            </a:r>
            <a:endParaRPr lang="en-US" sz="1725" dirty="0"/>
          </a:p>
        </p:txBody>
      </p:sp>
      <p:sp>
        <p:nvSpPr>
          <p:cNvPr id="72" name="Shape 70"/>
          <p:cNvSpPr/>
          <p:nvPr/>
        </p:nvSpPr>
        <p:spPr>
          <a:xfrm>
            <a:off x="15355491" y="5554980"/>
            <a:ext cx="1980009" cy="9525"/>
          </a:xfrm>
          <a:prstGeom prst="rect">
            <a:avLst/>
          </a:prstGeom>
          <a:solidFill>
            <a:srgbClr val="FFFFFF">
              <a:alpha val="8000"/>
            </a:srgbClr>
          </a:solidFill>
          <a:ln/>
        </p:spPr>
      </p:sp>
      <p:sp>
        <p:nvSpPr>
          <p:cNvPr id="73" name="Text 71"/>
          <p:cNvSpPr/>
          <p:nvPr/>
        </p:nvSpPr>
        <p:spPr>
          <a:xfrm>
            <a:off x="15450741" y="5175885"/>
            <a:ext cx="1713309" cy="31242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$49.99</a:t>
            </a:r>
            <a:endParaRPr lang="en-US" sz="1725" dirty="0"/>
          </a:p>
        </p:txBody>
      </p:sp>
      <p:sp>
        <p:nvSpPr>
          <p:cNvPr id="74" name="Shape 72"/>
          <p:cNvSpPr/>
          <p:nvPr/>
        </p:nvSpPr>
        <p:spPr>
          <a:xfrm>
            <a:off x="10096500" y="5562600"/>
            <a:ext cx="2653070" cy="468630"/>
          </a:xfrm>
          <a:prstGeom prst="rect">
            <a:avLst/>
          </a:prstGeom>
          <a:solidFill>
            <a:srgbClr val="FFFFFF">
              <a:alpha val="2000"/>
            </a:srgbClr>
          </a:solidFill>
          <a:ln/>
        </p:spPr>
      </p:sp>
      <p:sp>
        <p:nvSpPr>
          <p:cNvPr id="75" name="Shape 73"/>
          <p:cNvSpPr/>
          <p:nvPr/>
        </p:nvSpPr>
        <p:spPr>
          <a:xfrm>
            <a:off x="10096500" y="6023610"/>
            <a:ext cx="2653070" cy="9525"/>
          </a:xfrm>
          <a:prstGeom prst="rect">
            <a:avLst/>
          </a:prstGeom>
          <a:solidFill>
            <a:srgbClr val="FFFFFF">
              <a:alpha val="8000"/>
            </a:srgbClr>
          </a:solidFill>
          <a:ln/>
        </p:spPr>
      </p:sp>
      <p:sp>
        <p:nvSpPr>
          <p:cNvPr id="76" name="Text 74"/>
          <p:cNvSpPr/>
          <p:nvPr/>
        </p:nvSpPr>
        <p:spPr>
          <a:xfrm>
            <a:off x="10267950" y="5667375"/>
            <a:ext cx="238976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P-055</a:t>
            </a:r>
            <a:endParaRPr lang="en-US" sz="1725" dirty="0"/>
          </a:p>
        </p:txBody>
      </p:sp>
      <p:sp>
        <p:nvSpPr>
          <p:cNvPr id="77" name="Shape 75"/>
          <p:cNvSpPr/>
          <p:nvPr/>
        </p:nvSpPr>
        <p:spPr>
          <a:xfrm>
            <a:off x="12749569" y="5562600"/>
            <a:ext cx="2605921" cy="468630"/>
          </a:xfrm>
          <a:prstGeom prst="rect">
            <a:avLst/>
          </a:prstGeom>
          <a:solidFill>
            <a:srgbClr val="FFFFFF">
              <a:alpha val="2000"/>
            </a:srgbClr>
          </a:solidFill>
          <a:ln/>
        </p:spPr>
      </p:sp>
      <p:sp>
        <p:nvSpPr>
          <p:cNvPr id="78" name="Shape 76"/>
          <p:cNvSpPr/>
          <p:nvPr/>
        </p:nvSpPr>
        <p:spPr>
          <a:xfrm>
            <a:off x="12749569" y="6023610"/>
            <a:ext cx="2605921" cy="9525"/>
          </a:xfrm>
          <a:prstGeom prst="rect">
            <a:avLst/>
          </a:prstGeom>
          <a:solidFill>
            <a:srgbClr val="FFFFFF">
              <a:alpha val="8000"/>
            </a:srgbClr>
          </a:solidFill>
          <a:ln/>
        </p:spPr>
      </p:sp>
      <p:sp>
        <p:nvSpPr>
          <p:cNvPr id="79" name="Text 77"/>
          <p:cNvSpPr/>
          <p:nvPr/>
        </p:nvSpPr>
        <p:spPr>
          <a:xfrm>
            <a:off x="12921019" y="5667375"/>
            <a:ext cx="234119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Desk Lamp</a:t>
            </a:r>
            <a:endParaRPr lang="en-US" sz="1725" dirty="0"/>
          </a:p>
        </p:txBody>
      </p:sp>
      <p:sp>
        <p:nvSpPr>
          <p:cNvPr id="80" name="Shape 78"/>
          <p:cNvSpPr/>
          <p:nvPr/>
        </p:nvSpPr>
        <p:spPr>
          <a:xfrm>
            <a:off x="15355491" y="5562600"/>
            <a:ext cx="1980009" cy="468630"/>
          </a:xfrm>
          <a:prstGeom prst="rect">
            <a:avLst/>
          </a:prstGeom>
          <a:solidFill>
            <a:srgbClr val="FFFFFF">
              <a:alpha val="2000"/>
            </a:srgbClr>
          </a:solidFill>
          <a:ln/>
        </p:spPr>
      </p:sp>
      <p:sp>
        <p:nvSpPr>
          <p:cNvPr id="81" name="Shape 79"/>
          <p:cNvSpPr/>
          <p:nvPr/>
        </p:nvSpPr>
        <p:spPr>
          <a:xfrm>
            <a:off x="15355491" y="6023610"/>
            <a:ext cx="1980009" cy="9525"/>
          </a:xfrm>
          <a:prstGeom prst="rect">
            <a:avLst/>
          </a:prstGeom>
          <a:solidFill>
            <a:srgbClr val="FFFFFF">
              <a:alpha val="8000"/>
            </a:srgbClr>
          </a:solidFill>
          <a:ln/>
        </p:spPr>
      </p:sp>
      <p:sp>
        <p:nvSpPr>
          <p:cNvPr id="82" name="Text 80"/>
          <p:cNvSpPr/>
          <p:nvPr/>
        </p:nvSpPr>
        <p:spPr>
          <a:xfrm>
            <a:off x="15450741" y="5667375"/>
            <a:ext cx="1713309"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$34.99</a:t>
            </a:r>
            <a:endParaRPr lang="en-US" sz="1725" dirty="0"/>
          </a:p>
        </p:txBody>
      </p:sp>
      <p:sp>
        <p:nvSpPr>
          <p:cNvPr id="83" name="Shape 81"/>
          <p:cNvSpPr/>
          <p:nvPr/>
        </p:nvSpPr>
        <p:spPr>
          <a:xfrm>
            <a:off x="10096500" y="6492240"/>
            <a:ext cx="2653070" cy="9525"/>
          </a:xfrm>
          <a:prstGeom prst="rect">
            <a:avLst/>
          </a:prstGeom>
          <a:solidFill>
            <a:srgbClr val="FFFFFF">
              <a:alpha val="8000"/>
            </a:srgbClr>
          </a:solidFill>
          <a:ln/>
        </p:spPr>
      </p:sp>
      <p:sp>
        <p:nvSpPr>
          <p:cNvPr id="84" name="Text 82"/>
          <p:cNvSpPr/>
          <p:nvPr/>
        </p:nvSpPr>
        <p:spPr>
          <a:xfrm>
            <a:off x="10267950" y="6136005"/>
            <a:ext cx="238976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P-099</a:t>
            </a:r>
            <a:endParaRPr lang="en-US" sz="1725" dirty="0"/>
          </a:p>
        </p:txBody>
      </p:sp>
      <p:sp>
        <p:nvSpPr>
          <p:cNvPr id="85" name="Shape 83"/>
          <p:cNvSpPr/>
          <p:nvPr/>
        </p:nvSpPr>
        <p:spPr>
          <a:xfrm>
            <a:off x="12749569" y="6492240"/>
            <a:ext cx="2605921" cy="9525"/>
          </a:xfrm>
          <a:prstGeom prst="rect">
            <a:avLst/>
          </a:prstGeom>
          <a:solidFill>
            <a:srgbClr val="FFFFFF">
              <a:alpha val="8000"/>
            </a:srgbClr>
          </a:solidFill>
          <a:ln/>
        </p:spPr>
      </p:sp>
      <p:sp>
        <p:nvSpPr>
          <p:cNvPr id="86" name="Text 84"/>
          <p:cNvSpPr/>
          <p:nvPr/>
        </p:nvSpPr>
        <p:spPr>
          <a:xfrm>
            <a:off x="12921019" y="6136005"/>
            <a:ext cx="2341199"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Laptop Stand</a:t>
            </a:r>
            <a:endParaRPr lang="en-US" sz="1725" dirty="0"/>
          </a:p>
        </p:txBody>
      </p:sp>
      <p:sp>
        <p:nvSpPr>
          <p:cNvPr id="87" name="Shape 85"/>
          <p:cNvSpPr/>
          <p:nvPr/>
        </p:nvSpPr>
        <p:spPr>
          <a:xfrm>
            <a:off x="15355491" y="6492240"/>
            <a:ext cx="1980009" cy="9525"/>
          </a:xfrm>
          <a:prstGeom prst="rect">
            <a:avLst/>
          </a:prstGeom>
          <a:solidFill>
            <a:srgbClr val="FFFFFF">
              <a:alpha val="8000"/>
            </a:srgbClr>
          </a:solidFill>
          <a:ln/>
        </p:spPr>
      </p:sp>
      <p:sp>
        <p:nvSpPr>
          <p:cNvPr id="88" name="Text 86"/>
          <p:cNvSpPr/>
          <p:nvPr/>
        </p:nvSpPr>
        <p:spPr>
          <a:xfrm>
            <a:off x="15450741" y="6136005"/>
            <a:ext cx="1713309"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$59.99</a:t>
            </a:r>
            <a:endParaRPr lang="en-US" sz="1725" dirty="0"/>
          </a:p>
        </p:txBody>
      </p:sp>
      <p:sp>
        <p:nvSpPr>
          <p:cNvPr id="89" name="Shape 87"/>
          <p:cNvSpPr/>
          <p:nvPr/>
        </p:nvSpPr>
        <p:spPr>
          <a:xfrm>
            <a:off x="952500" y="8915400"/>
            <a:ext cx="16383000" cy="609600"/>
          </a:xfrm>
          <a:prstGeom prst="roundRect">
            <a:avLst>
              <a:gd name="adj" fmla="val 12500"/>
            </a:avLst>
          </a:prstGeom>
          <a:solidFill>
            <a:srgbClr val="161B22"/>
          </a:solidFill>
          <a:ln w="7620">
            <a:solidFill>
              <a:srgbClr val="FFFFFF">
                <a:alpha val="8000"/>
              </a:srgbClr>
            </a:solidFill>
            <a:prstDash val="solid"/>
          </a:ln>
        </p:spPr>
      </p:sp>
      <p:sp>
        <p:nvSpPr>
          <p:cNvPr id="90" name="Text 88"/>
          <p:cNvSpPr/>
          <p:nvPr/>
        </p:nvSpPr>
        <p:spPr>
          <a:xfrm>
            <a:off x="1226820" y="9075420"/>
            <a:ext cx="16325850" cy="327660"/>
          </a:xfrm>
          <a:prstGeom prst="rect">
            <a:avLst/>
          </a:prstGeom>
          <a:noFill/>
          <a:ln/>
        </p:spPr>
        <p:txBody>
          <a:bodyPr wrap="square" lIns="25400" tIns="25400" rIns="25400" bIns="25400" rtlCol="0" anchor="t">
            <a:normAutofit/>
          </a:bodyPr>
          <a:lstStyle/>
          <a:p>
            <a:pPr algn="l" indent="0" marL="0">
              <a:buNone/>
            </a:pPr>
            <a:r>
              <a:rPr lang="en-US" sz="1950" dirty="0">
                <a:solidFill>
                  <a:srgbClr val="22D3EE"/>
                </a:solidFill>
                <a:highlight>
                  <a:srgbClr val="161B22"/>
                </a:highlight>
                <a:latin typeface="monospace" pitchFamily="34" charset="0"/>
                <a:ea typeface="monospace" pitchFamily="34" charset="-122"/>
                <a:cs typeface="monospace" pitchFamily="34" charset="-120"/>
              </a:rPr>
              <a:t>=VLOOKUP(</a:t>
            </a:r>
            <a:pPr algn="l" indent="0" marL="0">
              <a:buNone/>
            </a:pPr>
            <a:r>
              <a:rPr lang="en-US" sz="1950" dirty="0">
                <a:solidFill>
                  <a:srgbClr val="FBBF24"/>
                </a:solidFill>
                <a:latin typeface="monospace" pitchFamily="34" charset="0"/>
                <a:ea typeface="monospace" pitchFamily="34" charset="-122"/>
                <a:cs typeface="monospace" pitchFamily="34" charset="-120"/>
              </a:rPr>
              <a:t>B2</a:t>
            </a:r>
            <a:pPr algn="l" indent="0" marL="0">
              <a:buNone/>
            </a:pPr>
            <a:r>
              <a:rPr lang="en-US" sz="1950" dirty="0">
                <a:solidFill>
                  <a:srgbClr val="22D3EE"/>
                </a:solidFill>
                <a:highlight>
                  <a:srgbClr val="161B22"/>
                </a:highlight>
                <a:latin typeface="monospace" pitchFamily="34" charset="0"/>
                <a:ea typeface="monospace" pitchFamily="34" charset="-122"/>
                <a:cs typeface="monospace" pitchFamily="34" charset="-120"/>
              </a:rPr>
              <a:t>, </a:t>
            </a:r>
            <a:pPr algn="l" indent="0" marL="0">
              <a:buNone/>
            </a:pPr>
            <a:r>
              <a:rPr lang="en-US" sz="1950" dirty="0">
                <a:solidFill>
                  <a:srgbClr val="34D399"/>
                </a:solidFill>
                <a:latin typeface="monospace" pitchFamily="34" charset="0"/>
                <a:ea typeface="monospace" pitchFamily="34" charset="-122"/>
                <a:cs typeface="monospace" pitchFamily="34" charset="-120"/>
              </a:rPr>
              <a:t>Products!$A$2:$C$5</a:t>
            </a:r>
            <a:pPr algn="l" indent="0" marL="0">
              <a:buNone/>
            </a:pPr>
            <a:r>
              <a:rPr lang="en-US" sz="1950" dirty="0">
                <a:solidFill>
                  <a:srgbClr val="22D3EE"/>
                </a:solidFill>
                <a:highlight>
                  <a:srgbClr val="161B22"/>
                </a:highlight>
                <a:latin typeface="monospace" pitchFamily="34" charset="0"/>
                <a:ea typeface="monospace" pitchFamily="34" charset="-122"/>
                <a:cs typeface="monospace" pitchFamily="34" charset="-120"/>
              </a:rPr>
              <a:t>, </a:t>
            </a:r>
            <a:pPr algn="l" indent="0" marL="0">
              <a:buNone/>
            </a:pPr>
            <a:r>
              <a:rPr lang="en-US" sz="1950" dirty="0">
                <a:solidFill>
                  <a:srgbClr val="A78BFA"/>
                </a:solidFill>
                <a:latin typeface="monospace" pitchFamily="34" charset="0"/>
                <a:ea typeface="monospace" pitchFamily="34" charset="-122"/>
                <a:cs typeface="monospace" pitchFamily="34" charset="-120"/>
              </a:rPr>
              <a:t>2</a:t>
            </a:r>
            <a:pPr algn="l" indent="0" marL="0">
              <a:buNone/>
            </a:pPr>
            <a:r>
              <a:rPr lang="en-US" sz="1950" dirty="0">
                <a:solidFill>
                  <a:srgbClr val="22D3EE"/>
                </a:solidFill>
                <a:highlight>
                  <a:srgbClr val="161B22"/>
                </a:highlight>
                <a:latin typeface="monospace" pitchFamily="34" charset="0"/>
                <a:ea typeface="monospace" pitchFamily="34" charset="-122"/>
                <a:cs typeface="monospace" pitchFamily="34" charset="-120"/>
              </a:rPr>
              <a:t>, </a:t>
            </a:r>
            <a:pPr algn="l" indent="0" marL="0">
              <a:buNone/>
            </a:pPr>
            <a:r>
              <a:rPr lang="en-US" sz="1950" dirty="0">
                <a:solidFill>
                  <a:srgbClr val="F87171"/>
                </a:solidFill>
                <a:latin typeface="monospace" pitchFamily="34" charset="0"/>
                <a:ea typeface="monospace" pitchFamily="34" charset="-122"/>
                <a:cs typeface="monospace" pitchFamily="34" charset="-120"/>
              </a:rPr>
              <a:t>FALSE</a:t>
            </a:r>
            <a:pPr algn="l" indent="0" marL="0">
              <a:buNone/>
            </a:pPr>
            <a:r>
              <a:rPr lang="en-US" sz="1950" dirty="0">
                <a:solidFill>
                  <a:srgbClr val="22D3EE"/>
                </a:solidFill>
                <a:highlight>
                  <a:srgbClr val="161B22"/>
                </a:highlight>
                <a:latin typeface="monospace" pitchFamily="34" charset="0"/>
                <a:ea typeface="monospace" pitchFamily="34" charset="-122"/>
                <a:cs typeface="monospace" pitchFamily="34" charset="-120"/>
              </a:rPr>
              <a:t>)</a:t>
            </a:r>
            <a:endParaRPr lang="en-US" sz="1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5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VLOOKUP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 Four Arguments</a:t>
            </a:r>
            <a:endParaRPr lang="en-US" sz="4200" dirty="0"/>
          </a:p>
        </p:txBody>
      </p:sp>
      <p:sp>
        <p:nvSpPr>
          <p:cNvPr id="11" name="Text 9"/>
          <p:cNvSpPr/>
          <p:nvPr/>
        </p:nvSpPr>
        <p:spPr>
          <a:xfrm>
            <a:off x="706755" y="1718310"/>
            <a:ext cx="16874490" cy="617220"/>
          </a:xfrm>
          <a:prstGeom prst="rect">
            <a:avLst/>
          </a:prstGeom>
          <a:noFill/>
          <a:ln/>
        </p:spPr>
        <p:txBody>
          <a:bodyPr wrap="square" lIns="25400" tIns="25400" rIns="25400" bIns="25400" rtlCol="0" anchor="t">
            <a:normAutofit/>
          </a:bodyPr>
          <a:lstStyle/>
          <a:p>
            <a:pPr algn="ctr" indent="0" marL="0">
              <a:buNone/>
            </a:pPr>
            <a:r>
              <a:rPr lang="en-US" sz="3900" spc="75" kern="0" dirty="0">
                <a:solidFill>
                  <a:srgbClr val="F0F6FC"/>
                </a:solidFill>
                <a:latin typeface="monospace" pitchFamily="34" charset="0"/>
                <a:ea typeface="monospace" pitchFamily="34" charset="-122"/>
                <a:cs typeface="monospace" pitchFamily="34" charset="-120"/>
              </a:rPr>
              <a:t>=VLOOKUP(</a:t>
            </a:r>
            <a:pPr algn="ctr" indent="0" marL="0">
              <a:buNone/>
            </a:pPr>
            <a:r>
              <a:rPr lang="en-US" sz="3900" spc="75" kern="0" dirty="0">
                <a:solidFill>
                  <a:srgbClr val="FBBF24"/>
                </a:solidFill>
                <a:latin typeface="monospace" pitchFamily="34" charset="0"/>
                <a:ea typeface="monospace" pitchFamily="34" charset="-122"/>
                <a:cs typeface="monospace" pitchFamily="34" charset="-120"/>
              </a:rPr>
              <a:t>B2</a:t>
            </a:r>
            <a:pPr algn="ctr" indent="0" marL="0">
              <a:buNone/>
            </a:pPr>
            <a:r>
              <a:rPr lang="en-US" sz="3900" spc="75" kern="0" dirty="0">
                <a:solidFill>
                  <a:srgbClr val="F0F6FC"/>
                </a:solidFill>
                <a:latin typeface="monospace" pitchFamily="34" charset="0"/>
                <a:ea typeface="monospace" pitchFamily="34" charset="-122"/>
                <a:cs typeface="monospace" pitchFamily="34" charset="-120"/>
              </a:rPr>
              <a:t>, </a:t>
            </a:r>
            <a:pPr algn="ctr" indent="0" marL="0">
              <a:buNone/>
            </a:pPr>
            <a:r>
              <a:rPr lang="en-US" sz="3900" spc="75" kern="0" dirty="0">
                <a:solidFill>
                  <a:srgbClr val="34D399"/>
                </a:solidFill>
                <a:latin typeface="monospace" pitchFamily="34" charset="0"/>
                <a:ea typeface="monospace" pitchFamily="34" charset="-122"/>
                <a:cs typeface="monospace" pitchFamily="34" charset="-120"/>
              </a:rPr>
              <a:t>$A$2:$C$100</a:t>
            </a:r>
            <a:pPr algn="ctr" indent="0" marL="0">
              <a:buNone/>
            </a:pPr>
            <a:r>
              <a:rPr lang="en-US" sz="3900" spc="75" kern="0" dirty="0">
                <a:solidFill>
                  <a:srgbClr val="F0F6FC"/>
                </a:solidFill>
                <a:latin typeface="monospace" pitchFamily="34" charset="0"/>
                <a:ea typeface="monospace" pitchFamily="34" charset="-122"/>
                <a:cs typeface="monospace" pitchFamily="34" charset="-120"/>
              </a:rPr>
              <a:t>, </a:t>
            </a:r>
            <a:pPr algn="ctr" indent="0" marL="0">
              <a:buNone/>
            </a:pPr>
            <a:r>
              <a:rPr lang="en-US" sz="3900" spc="75" kern="0" dirty="0">
                <a:solidFill>
                  <a:srgbClr val="A78BFA"/>
                </a:solidFill>
                <a:latin typeface="monospace" pitchFamily="34" charset="0"/>
                <a:ea typeface="monospace" pitchFamily="34" charset="-122"/>
                <a:cs typeface="monospace" pitchFamily="34" charset="-120"/>
              </a:rPr>
              <a:t>2</a:t>
            </a:r>
            <a:pPr algn="ctr" indent="0" marL="0">
              <a:buNone/>
            </a:pPr>
            <a:r>
              <a:rPr lang="en-US" sz="3900" spc="75" kern="0" dirty="0">
                <a:solidFill>
                  <a:srgbClr val="F0F6FC"/>
                </a:solidFill>
                <a:latin typeface="monospace" pitchFamily="34" charset="0"/>
                <a:ea typeface="monospace" pitchFamily="34" charset="-122"/>
                <a:cs typeface="monospace" pitchFamily="34" charset="-120"/>
              </a:rPr>
              <a:t>, </a:t>
            </a:r>
            <a:pPr algn="ctr" indent="0" marL="0">
              <a:buNone/>
            </a:pPr>
            <a:r>
              <a:rPr lang="en-US" sz="3900" spc="75" kern="0" dirty="0">
                <a:solidFill>
                  <a:srgbClr val="F87171"/>
                </a:solidFill>
                <a:latin typeface="monospace" pitchFamily="34" charset="0"/>
                <a:ea typeface="monospace" pitchFamily="34" charset="-122"/>
                <a:cs typeface="monospace" pitchFamily="34" charset="-120"/>
              </a:rPr>
              <a:t>FALSE</a:t>
            </a:r>
            <a:pPr algn="ctr" indent="0" marL="0">
              <a:buNone/>
            </a:pPr>
            <a:r>
              <a:rPr lang="en-US" sz="3900" spc="75" kern="0" dirty="0">
                <a:solidFill>
                  <a:srgbClr val="F0F6FC"/>
                </a:solidFill>
                <a:latin typeface="monospace" pitchFamily="34" charset="0"/>
                <a:ea typeface="monospace" pitchFamily="34" charset="-122"/>
                <a:cs typeface="monospace" pitchFamily="34" charset="-120"/>
              </a:rPr>
              <a:t>)</a:t>
            </a:r>
            <a:endParaRPr lang="en-US" sz="3900" dirty="0"/>
          </a:p>
        </p:txBody>
      </p:sp>
      <p:sp>
        <p:nvSpPr>
          <p:cNvPr id="12" name="Shape 10"/>
          <p:cNvSpPr/>
          <p:nvPr/>
        </p:nvSpPr>
        <p:spPr>
          <a:xfrm>
            <a:off x="952500" y="2678430"/>
            <a:ext cx="4095750" cy="2454593"/>
          </a:xfrm>
          <a:prstGeom prst="roundRect">
            <a:avLst>
              <a:gd name="adj" fmla="val 4657"/>
            </a:avLst>
          </a:prstGeom>
          <a:solidFill>
            <a:srgbClr val="161B22"/>
          </a:solidFill>
          <a:ln w="7620">
            <a:solidFill>
              <a:srgbClr val="FFFFFF">
                <a:alpha val="8000"/>
              </a:srgbClr>
            </a:solidFill>
            <a:prstDash val="solid"/>
          </a:ln>
        </p:spPr>
      </p:sp>
      <p:sp>
        <p:nvSpPr>
          <p:cNvPr id="13" name="Text 11"/>
          <p:cNvSpPr/>
          <p:nvPr/>
        </p:nvSpPr>
        <p:spPr>
          <a:xfrm>
            <a:off x="1303020" y="2990850"/>
            <a:ext cx="3496551" cy="426720"/>
          </a:xfrm>
          <a:prstGeom prst="rect">
            <a:avLst/>
          </a:prstGeom>
          <a:noFill/>
          <a:ln/>
        </p:spPr>
        <p:txBody>
          <a:bodyPr wrap="square" lIns="25400" tIns="25400" rIns="25400" bIns="25400" rtlCol="0" anchor="t">
            <a:normAutofit/>
          </a:bodyPr>
          <a:lstStyle/>
          <a:p>
            <a:pPr algn="l" indent="0" marL="0">
              <a:buNone/>
            </a:pPr>
            <a:r>
              <a:rPr lang="en-US" sz="2400" b="1" dirty="0">
                <a:solidFill>
                  <a:srgbClr val="FBBF24"/>
                </a:solidFill>
                <a:latin typeface="Arial" pitchFamily="34" charset="0"/>
                <a:ea typeface="Arial" pitchFamily="34" charset="-122"/>
                <a:cs typeface="Arial" pitchFamily="34" charset="-120"/>
              </a:rPr>
              <a:t>1</a:t>
            </a:r>
            <a:endParaRPr lang="en-US" sz="2400" dirty="0"/>
          </a:p>
        </p:txBody>
      </p:sp>
      <p:sp>
        <p:nvSpPr>
          <p:cNvPr id="14" name="Text 12"/>
          <p:cNvSpPr/>
          <p:nvPr/>
        </p:nvSpPr>
        <p:spPr>
          <a:xfrm>
            <a:off x="1303020" y="3379470"/>
            <a:ext cx="3496551" cy="327660"/>
          </a:xfrm>
          <a:prstGeom prst="rect">
            <a:avLst/>
          </a:prstGeom>
          <a:noFill/>
          <a:ln/>
        </p:spPr>
        <p:txBody>
          <a:bodyPr wrap="square" lIns="25400" tIns="25400" rIns="25400" bIns="25400" rtlCol="0" anchor="t">
            <a:normAutofit/>
          </a:bodyPr>
          <a:lstStyle/>
          <a:p>
            <a:pPr algn="l" indent="0" marL="0">
              <a:buNone/>
            </a:pPr>
            <a:r>
              <a:rPr lang="en-US" sz="1800" b="1" dirty="0">
                <a:solidFill>
                  <a:srgbClr val="FBBF24"/>
                </a:solidFill>
                <a:latin typeface="Arial" pitchFamily="34" charset="0"/>
                <a:ea typeface="Arial" pitchFamily="34" charset="-122"/>
                <a:cs typeface="Arial" pitchFamily="34" charset="-120"/>
              </a:rPr>
              <a:t>lookup_value</a:t>
            </a:r>
            <a:endParaRPr lang="en-US" sz="1800" dirty="0"/>
          </a:p>
        </p:txBody>
      </p:sp>
      <p:sp>
        <p:nvSpPr>
          <p:cNvPr id="15" name="Text 13"/>
          <p:cNvSpPr/>
          <p:nvPr/>
        </p:nvSpPr>
        <p:spPr>
          <a:xfrm>
            <a:off x="1303020" y="3669030"/>
            <a:ext cx="3496551"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The value you're searching for — typically a cell reference like B2</a:t>
            </a:r>
            <a:endParaRPr lang="en-US" sz="1950" dirty="0"/>
          </a:p>
        </p:txBody>
      </p:sp>
      <p:sp>
        <p:nvSpPr>
          <p:cNvPr id="16" name="Shape 14"/>
          <p:cNvSpPr/>
          <p:nvPr/>
        </p:nvSpPr>
        <p:spPr>
          <a:xfrm>
            <a:off x="5048250" y="2678430"/>
            <a:ext cx="4095750" cy="2454593"/>
          </a:xfrm>
          <a:prstGeom prst="roundRect">
            <a:avLst>
              <a:gd name="adj" fmla="val 4657"/>
            </a:avLst>
          </a:prstGeom>
          <a:solidFill>
            <a:srgbClr val="161B22"/>
          </a:solidFill>
          <a:ln w="7620">
            <a:solidFill>
              <a:srgbClr val="FFFFFF">
                <a:alpha val="8000"/>
              </a:srgbClr>
            </a:solidFill>
            <a:prstDash val="solid"/>
          </a:ln>
        </p:spPr>
      </p:sp>
      <p:sp>
        <p:nvSpPr>
          <p:cNvPr id="17" name="Text 15"/>
          <p:cNvSpPr/>
          <p:nvPr/>
        </p:nvSpPr>
        <p:spPr>
          <a:xfrm>
            <a:off x="5398770" y="2990850"/>
            <a:ext cx="3496551" cy="426720"/>
          </a:xfrm>
          <a:prstGeom prst="rect">
            <a:avLst/>
          </a:prstGeom>
          <a:noFill/>
          <a:ln/>
        </p:spPr>
        <p:txBody>
          <a:bodyPr wrap="square" lIns="25400" tIns="25400" rIns="25400" bIns="25400" rtlCol="0" anchor="t">
            <a:normAutofit/>
          </a:bodyPr>
          <a:lstStyle/>
          <a:p>
            <a:pPr algn="l" indent="0" marL="0">
              <a:buNone/>
            </a:pPr>
            <a:r>
              <a:rPr lang="en-US" sz="2400" b="1" dirty="0">
                <a:solidFill>
                  <a:srgbClr val="34D399"/>
                </a:solidFill>
                <a:latin typeface="Arial" pitchFamily="34" charset="0"/>
                <a:ea typeface="Arial" pitchFamily="34" charset="-122"/>
                <a:cs typeface="Arial" pitchFamily="34" charset="-120"/>
              </a:rPr>
              <a:t>2</a:t>
            </a:r>
            <a:endParaRPr lang="en-US" sz="2400" dirty="0"/>
          </a:p>
        </p:txBody>
      </p:sp>
      <p:sp>
        <p:nvSpPr>
          <p:cNvPr id="18" name="Text 16"/>
          <p:cNvSpPr/>
          <p:nvPr/>
        </p:nvSpPr>
        <p:spPr>
          <a:xfrm>
            <a:off x="5398770" y="3379470"/>
            <a:ext cx="3496551" cy="327660"/>
          </a:xfrm>
          <a:prstGeom prst="rect">
            <a:avLst/>
          </a:prstGeom>
          <a:noFill/>
          <a:ln/>
        </p:spPr>
        <p:txBody>
          <a:bodyPr wrap="square" lIns="25400" tIns="25400" rIns="25400" bIns="25400" rtlCol="0" anchor="t">
            <a:normAutofit/>
          </a:bodyPr>
          <a:lstStyle/>
          <a:p>
            <a:pPr algn="l" indent="0" marL="0">
              <a:buNone/>
            </a:pPr>
            <a:r>
              <a:rPr lang="en-US" sz="1800" b="1" dirty="0">
                <a:solidFill>
                  <a:srgbClr val="34D399"/>
                </a:solidFill>
                <a:latin typeface="Arial" pitchFamily="34" charset="0"/>
                <a:ea typeface="Arial" pitchFamily="34" charset="-122"/>
                <a:cs typeface="Arial" pitchFamily="34" charset="-120"/>
              </a:rPr>
              <a:t>table_array</a:t>
            </a:r>
            <a:endParaRPr lang="en-US" sz="1800" dirty="0"/>
          </a:p>
        </p:txBody>
      </p:sp>
      <p:sp>
        <p:nvSpPr>
          <p:cNvPr id="19" name="Text 17"/>
          <p:cNvSpPr/>
          <p:nvPr/>
        </p:nvSpPr>
        <p:spPr>
          <a:xfrm>
            <a:off x="5398770" y="3669030"/>
            <a:ext cx="3496551"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The lookup table range. Lock with $$ so it doesn't shift when you copy down</a:t>
            </a:r>
            <a:endParaRPr lang="en-US" sz="1950" dirty="0"/>
          </a:p>
        </p:txBody>
      </p:sp>
      <p:sp>
        <p:nvSpPr>
          <p:cNvPr id="20" name="Shape 18"/>
          <p:cNvSpPr/>
          <p:nvPr/>
        </p:nvSpPr>
        <p:spPr>
          <a:xfrm>
            <a:off x="9144000" y="2678430"/>
            <a:ext cx="4095750" cy="2070735"/>
          </a:xfrm>
          <a:prstGeom prst="roundRect">
            <a:avLst>
              <a:gd name="adj" fmla="val 5520"/>
            </a:avLst>
          </a:prstGeom>
          <a:solidFill>
            <a:srgbClr val="161B22"/>
          </a:solidFill>
          <a:ln w="7620">
            <a:solidFill>
              <a:srgbClr val="FFFFFF">
                <a:alpha val="8000"/>
              </a:srgbClr>
            </a:solidFill>
            <a:prstDash val="solid"/>
          </a:ln>
        </p:spPr>
      </p:sp>
      <p:sp>
        <p:nvSpPr>
          <p:cNvPr id="21" name="Text 19"/>
          <p:cNvSpPr/>
          <p:nvPr/>
        </p:nvSpPr>
        <p:spPr>
          <a:xfrm>
            <a:off x="9494520" y="2990850"/>
            <a:ext cx="3496551" cy="426720"/>
          </a:xfrm>
          <a:prstGeom prst="rect">
            <a:avLst/>
          </a:prstGeom>
          <a:noFill/>
          <a:ln/>
        </p:spPr>
        <p:txBody>
          <a:bodyPr wrap="square" lIns="25400" tIns="25400" rIns="25400" bIns="25400" rtlCol="0" anchor="t">
            <a:normAutofit/>
          </a:bodyPr>
          <a:lstStyle/>
          <a:p>
            <a:pPr algn="l" indent="0" marL="0">
              <a:buNone/>
            </a:pPr>
            <a:r>
              <a:rPr lang="en-US" sz="2400" b="1" dirty="0">
                <a:solidFill>
                  <a:srgbClr val="A78BFA"/>
                </a:solidFill>
                <a:latin typeface="Arial" pitchFamily="34" charset="0"/>
                <a:ea typeface="Arial" pitchFamily="34" charset="-122"/>
                <a:cs typeface="Arial" pitchFamily="34" charset="-120"/>
              </a:rPr>
              <a:t>3</a:t>
            </a:r>
            <a:endParaRPr lang="en-US" sz="2400" dirty="0"/>
          </a:p>
        </p:txBody>
      </p:sp>
      <p:sp>
        <p:nvSpPr>
          <p:cNvPr id="22" name="Text 20"/>
          <p:cNvSpPr/>
          <p:nvPr/>
        </p:nvSpPr>
        <p:spPr>
          <a:xfrm>
            <a:off x="9494520" y="3379470"/>
            <a:ext cx="3496551" cy="327660"/>
          </a:xfrm>
          <a:prstGeom prst="rect">
            <a:avLst/>
          </a:prstGeom>
          <a:noFill/>
          <a:ln/>
        </p:spPr>
        <p:txBody>
          <a:bodyPr wrap="square" lIns="25400" tIns="25400" rIns="25400" bIns="25400" rtlCol="0" anchor="t">
            <a:normAutofit/>
          </a:bodyPr>
          <a:lstStyle/>
          <a:p>
            <a:pPr algn="l" indent="0" marL="0">
              <a:buNone/>
            </a:pPr>
            <a:r>
              <a:rPr lang="en-US" sz="1800" b="1" dirty="0">
                <a:solidFill>
                  <a:srgbClr val="A78BFA"/>
                </a:solidFill>
                <a:latin typeface="Arial" pitchFamily="34" charset="0"/>
                <a:ea typeface="Arial" pitchFamily="34" charset="-122"/>
                <a:cs typeface="Arial" pitchFamily="34" charset="-120"/>
              </a:rPr>
              <a:t>col_index_num</a:t>
            </a:r>
            <a:endParaRPr lang="en-US" sz="1800" dirty="0"/>
          </a:p>
        </p:txBody>
      </p:sp>
      <p:sp>
        <p:nvSpPr>
          <p:cNvPr id="23" name="Text 21"/>
          <p:cNvSpPr/>
          <p:nvPr/>
        </p:nvSpPr>
        <p:spPr>
          <a:xfrm>
            <a:off x="9494520" y="3669030"/>
            <a:ext cx="3496551"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Which column to return. 1 = first col, 2 = second col, etc.</a:t>
            </a:r>
            <a:endParaRPr lang="en-US" sz="1950" dirty="0"/>
          </a:p>
        </p:txBody>
      </p:sp>
      <p:sp>
        <p:nvSpPr>
          <p:cNvPr id="24" name="Shape 22"/>
          <p:cNvSpPr/>
          <p:nvPr/>
        </p:nvSpPr>
        <p:spPr>
          <a:xfrm>
            <a:off x="13239750" y="2678430"/>
            <a:ext cx="4095750" cy="2469833"/>
          </a:xfrm>
          <a:prstGeom prst="roundRect">
            <a:avLst>
              <a:gd name="adj" fmla="val 4628"/>
            </a:avLst>
          </a:prstGeom>
          <a:solidFill>
            <a:srgbClr val="161B22"/>
          </a:solidFill>
          <a:ln w="7620">
            <a:solidFill>
              <a:srgbClr val="FFFFFF">
                <a:alpha val="8000"/>
              </a:srgbClr>
            </a:solidFill>
            <a:prstDash val="solid"/>
          </a:ln>
        </p:spPr>
      </p:sp>
      <p:sp>
        <p:nvSpPr>
          <p:cNvPr id="25" name="Text 23"/>
          <p:cNvSpPr/>
          <p:nvPr/>
        </p:nvSpPr>
        <p:spPr>
          <a:xfrm>
            <a:off x="13590270" y="2990850"/>
            <a:ext cx="3496551" cy="426720"/>
          </a:xfrm>
          <a:prstGeom prst="rect">
            <a:avLst/>
          </a:prstGeom>
          <a:noFill/>
          <a:ln/>
        </p:spPr>
        <p:txBody>
          <a:bodyPr wrap="square" lIns="25400" tIns="25400" rIns="25400" bIns="25400" rtlCol="0" anchor="t">
            <a:normAutofit/>
          </a:bodyPr>
          <a:lstStyle/>
          <a:p>
            <a:pPr algn="l" indent="0" marL="0">
              <a:buNone/>
            </a:pPr>
            <a:r>
              <a:rPr lang="en-US" sz="2400" b="1" dirty="0">
                <a:solidFill>
                  <a:srgbClr val="F87171"/>
                </a:solidFill>
                <a:latin typeface="Arial" pitchFamily="34" charset="0"/>
                <a:ea typeface="Arial" pitchFamily="34" charset="-122"/>
                <a:cs typeface="Arial" pitchFamily="34" charset="-120"/>
              </a:rPr>
              <a:t>4</a:t>
            </a:r>
            <a:endParaRPr lang="en-US" sz="2400" dirty="0"/>
          </a:p>
        </p:txBody>
      </p:sp>
      <p:sp>
        <p:nvSpPr>
          <p:cNvPr id="26" name="Text 24"/>
          <p:cNvSpPr/>
          <p:nvPr/>
        </p:nvSpPr>
        <p:spPr>
          <a:xfrm>
            <a:off x="13590270" y="3379470"/>
            <a:ext cx="3496551" cy="327660"/>
          </a:xfrm>
          <a:prstGeom prst="rect">
            <a:avLst/>
          </a:prstGeom>
          <a:noFill/>
          <a:ln/>
        </p:spPr>
        <p:txBody>
          <a:bodyPr wrap="square" lIns="25400" tIns="25400" rIns="25400" bIns="25400" rtlCol="0" anchor="t">
            <a:normAutofit/>
          </a:bodyPr>
          <a:lstStyle/>
          <a:p>
            <a:pPr algn="l" indent="0" marL="0">
              <a:buNone/>
            </a:pPr>
            <a:r>
              <a:rPr lang="en-US" sz="1800" b="1" dirty="0">
                <a:solidFill>
                  <a:srgbClr val="F87171"/>
                </a:solidFill>
                <a:latin typeface="Arial" pitchFamily="34" charset="0"/>
                <a:ea typeface="Arial" pitchFamily="34" charset="-122"/>
                <a:cs typeface="Arial" pitchFamily="34" charset="-120"/>
              </a:rPr>
              <a:t>range_lookup</a:t>
            </a:r>
            <a:endParaRPr lang="en-US" sz="1800" dirty="0"/>
          </a:p>
        </p:txBody>
      </p:sp>
      <p:sp>
        <p:nvSpPr>
          <p:cNvPr id="27" name="Text 25"/>
          <p:cNvSpPr/>
          <p:nvPr/>
        </p:nvSpPr>
        <p:spPr>
          <a:xfrm>
            <a:off x="13590270" y="3669030"/>
            <a:ext cx="3496551" cy="120491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Always use </a:t>
            </a:r>
            <a:pPr algn="l" indent="0" marL="0">
              <a:lnSpc>
                <a:spcPct val="155000"/>
              </a:lnSpc>
              <a:buNone/>
            </a:pPr>
            <a:r>
              <a:rPr lang="en-US" sz="1950" b="1" dirty="0">
                <a:solidFill>
                  <a:srgbClr val="7D8590"/>
                </a:solidFill>
                <a:latin typeface="Arial" pitchFamily="34" charset="0"/>
                <a:ea typeface="Arial" pitchFamily="34" charset="-122"/>
                <a:cs typeface="Arial" pitchFamily="34" charset="-120"/>
              </a:rPr>
              <a:t>FALSE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for exact match. TRUE is for approximate matches (rare)</a:t>
            </a:r>
            <a:endParaRPr lang="en-US" sz="1950" dirty="0"/>
          </a:p>
        </p:txBody>
      </p:sp>
      <p:sp>
        <p:nvSpPr>
          <p:cNvPr id="28" name="Shape 26"/>
          <p:cNvSpPr/>
          <p:nvPr/>
        </p:nvSpPr>
        <p:spPr>
          <a:xfrm>
            <a:off x="952500" y="5376863"/>
            <a:ext cx="16383000" cy="1407795"/>
          </a:xfrm>
          <a:prstGeom prst="roundRect">
            <a:avLst>
              <a:gd name="adj" fmla="val 8119"/>
            </a:avLst>
          </a:prstGeom>
          <a:solidFill>
            <a:srgbClr val="FBBF24">
              <a:alpha val="5000"/>
            </a:srgbClr>
          </a:solidFill>
          <a:ln w="7620">
            <a:solidFill>
              <a:srgbClr val="FBBF24">
                <a:alpha val="30000"/>
              </a:srgbClr>
            </a:solidFill>
            <a:prstDash val="solid"/>
          </a:ln>
        </p:spPr>
      </p:sp>
      <p:sp>
        <p:nvSpPr>
          <p:cNvPr id="29" name="Text 27"/>
          <p:cNvSpPr/>
          <p:nvPr/>
        </p:nvSpPr>
        <p:spPr>
          <a:xfrm>
            <a:off x="1303020" y="5689282"/>
            <a:ext cx="1615241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BBF24"/>
                </a:solidFill>
                <a:latin typeface="Arial" pitchFamily="34" charset="0"/>
                <a:ea typeface="Arial" pitchFamily="34" charset="-122"/>
                <a:cs typeface="Arial" pitchFamily="34" charset="-120"/>
              </a:rPr>
              <a:t>Most common error: </a:t>
            </a:r>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#N/A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 means the lookup value wasn't found in column 1 of your table. Check for trailing spaces or mismatched data types.</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5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COUNTIF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 Count Matching Rows</a:t>
            </a:r>
            <a:endParaRPr lang="en-US" sz="4200" dirty="0"/>
          </a:p>
        </p:txBody>
      </p:sp>
      <p:sp>
        <p:nvSpPr>
          <p:cNvPr id="11" name="Shape 9"/>
          <p:cNvSpPr/>
          <p:nvPr/>
        </p:nvSpPr>
        <p:spPr>
          <a:xfrm>
            <a:off x="952500" y="1642110"/>
            <a:ext cx="3161467" cy="499110"/>
          </a:xfrm>
          <a:prstGeom prst="rect">
            <a:avLst/>
          </a:prstGeom>
          <a:solidFill>
            <a:srgbClr val="2DD4BF"/>
          </a:solidFill>
          <a:ln/>
        </p:spPr>
      </p:sp>
      <p:sp>
        <p:nvSpPr>
          <p:cNvPr id="12" name="Text 10"/>
          <p:cNvSpPr/>
          <p:nvPr/>
        </p:nvSpPr>
        <p:spPr>
          <a:xfrm>
            <a:off x="1123950" y="1765935"/>
            <a:ext cx="2913411"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Name</a:t>
            </a:r>
            <a:endParaRPr lang="en-US" sz="1575" dirty="0"/>
          </a:p>
        </p:txBody>
      </p:sp>
      <p:sp>
        <p:nvSpPr>
          <p:cNvPr id="13" name="Shape 11"/>
          <p:cNvSpPr/>
          <p:nvPr/>
        </p:nvSpPr>
        <p:spPr>
          <a:xfrm>
            <a:off x="4113967" y="1642110"/>
            <a:ext cx="2728079" cy="499110"/>
          </a:xfrm>
          <a:prstGeom prst="rect">
            <a:avLst/>
          </a:prstGeom>
          <a:solidFill>
            <a:srgbClr val="2DD4BF"/>
          </a:solidFill>
          <a:ln/>
        </p:spPr>
      </p:sp>
      <p:sp>
        <p:nvSpPr>
          <p:cNvPr id="14" name="Text 12"/>
          <p:cNvSpPr/>
          <p:nvPr/>
        </p:nvSpPr>
        <p:spPr>
          <a:xfrm>
            <a:off x="4285417" y="1765935"/>
            <a:ext cx="2467021"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Department</a:t>
            </a:r>
            <a:endParaRPr lang="en-US" sz="1575" dirty="0"/>
          </a:p>
        </p:txBody>
      </p:sp>
      <p:sp>
        <p:nvSpPr>
          <p:cNvPr id="15" name="Shape 13"/>
          <p:cNvSpPr/>
          <p:nvPr/>
        </p:nvSpPr>
        <p:spPr>
          <a:xfrm>
            <a:off x="6842046" y="1642110"/>
            <a:ext cx="2111454" cy="499110"/>
          </a:xfrm>
          <a:prstGeom prst="rect">
            <a:avLst/>
          </a:prstGeom>
          <a:solidFill>
            <a:srgbClr val="2DD4BF"/>
          </a:solidFill>
          <a:ln/>
        </p:spPr>
      </p:sp>
      <p:sp>
        <p:nvSpPr>
          <p:cNvPr id="16" name="Text 14"/>
          <p:cNvSpPr/>
          <p:nvPr/>
        </p:nvSpPr>
        <p:spPr>
          <a:xfrm>
            <a:off x="6937296" y="1765935"/>
            <a:ext cx="1844754"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17" name="Shape 15"/>
          <p:cNvSpPr/>
          <p:nvPr/>
        </p:nvSpPr>
        <p:spPr>
          <a:xfrm>
            <a:off x="952500" y="2141220"/>
            <a:ext cx="3161467" cy="487680"/>
          </a:xfrm>
          <a:prstGeom prst="rect">
            <a:avLst/>
          </a:prstGeom>
          <a:solidFill>
            <a:srgbClr val="2DD4BF">
              <a:alpha val="14000"/>
            </a:srgbClr>
          </a:solidFill>
          <a:ln/>
        </p:spPr>
      </p:sp>
      <p:sp>
        <p:nvSpPr>
          <p:cNvPr id="18" name="Shape 16"/>
          <p:cNvSpPr/>
          <p:nvPr/>
        </p:nvSpPr>
        <p:spPr>
          <a:xfrm>
            <a:off x="952500" y="2621280"/>
            <a:ext cx="3161467" cy="9525"/>
          </a:xfrm>
          <a:prstGeom prst="rect">
            <a:avLst/>
          </a:prstGeom>
          <a:solidFill>
            <a:srgbClr val="FFFFFF">
              <a:alpha val="8000"/>
            </a:srgbClr>
          </a:solidFill>
          <a:ln/>
        </p:spPr>
      </p:sp>
      <p:sp>
        <p:nvSpPr>
          <p:cNvPr id="19" name="Text 17"/>
          <p:cNvSpPr/>
          <p:nvPr/>
        </p:nvSpPr>
        <p:spPr>
          <a:xfrm>
            <a:off x="1123950" y="2245995"/>
            <a:ext cx="2913411" cy="30861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Alice Johnson</a:t>
            </a:r>
            <a:endParaRPr lang="en-US" sz="1725" dirty="0"/>
          </a:p>
        </p:txBody>
      </p:sp>
      <p:sp>
        <p:nvSpPr>
          <p:cNvPr id="20" name="Shape 18"/>
          <p:cNvSpPr/>
          <p:nvPr/>
        </p:nvSpPr>
        <p:spPr>
          <a:xfrm>
            <a:off x="4113967" y="2141220"/>
            <a:ext cx="2728079" cy="487680"/>
          </a:xfrm>
          <a:prstGeom prst="rect">
            <a:avLst/>
          </a:prstGeom>
          <a:solidFill>
            <a:srgbClr val="2DD4BF">
              <a:alpha val="14000"/>
            </a:srgbClr>
          </a:solidFill>
          <a:ln/>
        </p:spPr>
      </p:sp>
      <p:sp>
        <p:nvSpPr>
          <p:cNvPr id="21" name="Shape 19"/>
          <p:cNvSpPr/>
          <p:nvPr/>
        </p:nvSpPr>
        <p:spPr>
          <a:xfrm>
            <a:off x="4113967" y="2621280"/>
            <a:ext cx="2728079" cy="9525"/>
          </a:xfrm>
          <a:prstGeom prst="rect">
            <a:avLst/>
          </a:prstGeom>
          <a:solidFill>
            <a:srgbClr val="FFFFFF">
              <a:alpha val="8000"/>
            </a:srgbClr>
          </a:solidFill>
          <a:ln/>
        </p:spPr>
      </p:sp>
      <p:sp>
        <p:nvSpPr>
          <p:cNvPr id="22" name="Text 20"/>
          <p:cNvSpPr/>
          <p:nvPr/>
        </p:nvSpPr>
        <p:spPr>
          <a:xfrm>
            <a:off x="4285417" y="2245995"/>
            <a:ext cx="2467021" cy="30861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23" name="Shape 21"/>
          <p:cNvSpPr/>
          <p:nvPr/>
        </p:nvSpPr>
        <p:spPr>
          <a:xfrm>
            <a:off x="6842046" y="2141220"/>
            <a:ext cx="2111454" cy="487680"/>
          </a:xfrm>
          <a:prstGeom prst="rect">
            <a:avLst/>
          </a:prstGeom>
          <a:solidFill>
            <a:srgbClr val="2DD4BF">
              <a:alpha val="14000"/>
            </a:srgbClr>
          </a:solidFill>
          <a:ln/>
        </p:spPr>
      </p:sp>
      <p:sp>
        <p:nvSpPr>
          <p:cNvPr id="24" name="Shape 22"/>
          <p:cNvSpPr/>
          <p:nvPr/>
        </p:nvSpPr>
        <p:spPr>
          <a:xfrm>
            <a:off x="6842046" y="2621280"/>
            <a:ext cx="2111454" cy="9525"/>
          </a:xfrm>
          <a:prstGeom prst="rect">
            <a:avLst/>
          </a:prstGeom>
          <a:solidFill>
            <a:srgbClr val="FFFFFF">
              <a:alpha val="8000"/>
            </a:srgbClr>
          </a:solidFill>
          <a:ln/>
        </p:spPr>
      </p:sp>
      <p:sp>
        <p:nvSpPr>
          <p:cNvPr id="25" name="Text 23"/>
          <p:cNvSpPr/>
          <p:nvPr/>
        </p:nvSpPr>
        <p:spPr>
          <a:xfrm>
            <a:off x="6937296" y="2245995"/>
            <a:ext cx="1844754" cy="30861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$52,000</a:t>
            </a:r>
            <a:endParaRPr lang="en-US" sz="1725" dirty="0"/>
          </a:p>
        </p:txBody>
      </p:sp>
      <p:sp>
        <p:nvSpPr>
          <p:cNvPr id="26" name="Shape 24"/>
          <p:cNvSpPr/>
          <p:nvPr/>
        </p:nvSpPr>
        <p:spPr>
          <a:xfrm>
            <a:off x="952500" y="3089910"/>
            <a:ext cx="3161467" cy="9525"/>
          </a:xfrm>
          <a:prstGeom prst="rect">
            <a:avLst/>
          </a:prstGeom>
          <a:solidFill>
            <a:srgbClr val="FFFFFF">
              <a:alpha val="8000"/>
            </a:srgbClr>
          </a:solidFill>
          <a:ln/>
        </p:spPr>
      </p:sp>
      <p:sp>
        <p:nvSpPr>
          <p:cNvPr id="27" name="Text 25"/>
          <p:cNvSpPr/>
          <p:nvPr/>
        </p:nvSpPr>
        <p:spPr>
          <a:xfrm>
            <a:off x="1123950" y="2733675"/>
            <a:ext cx="291341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28" name="Shape 26"/>
          <p:cNvSpPr/>
          <p:nvPr/>
        </p:nvSpPr>
        <p:spPr>
          <a:xfrm>
            <a:off x="4113967" y="3089910"/>
            <a:ext cx="2728079" cy="9525"/>
          </a:xfrm>
          <a:prstGeom prst="rect">
            <a:avLst/>
          </a:prstGeom>
          <a:solidFill>
            <a:srgbClr val="FFFFFF">
              <a:alpha val="8000"/>
            </a:srgbClr>
          </a:solidFill>
          <a:ln/>
        </p:spPr>
      </p:sp>
      <p:sp>
        <p:nvSpPr>
          <p:cNvPr id="29" name="Text 27"/>
          <p:cNvSpPr/>
          <p:nvPr/>
        </p:nvSpPr>
        <p:spPr>
          <a:xfrm>
            <a:off x="4285417" y="2733675"/>
            <a:ext cx="246702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30" name="Shape 28"/>
          <p:cNvSpPr/>
          <p:nvPr/>
        </p:nvSpPr>
        <p:spPr>
          <a:xfrm>
            <a:off x="6842046" y="3089910"/>
            <a:ext cx="2111454" cy="9525"/>
          </a:xfrm>
          <a:prstGeom prst="rect">
            <a:avLst/>
          </a:prstGeom>
          <a:solidFill>
            <a:srgbClr val="FFFFFF">
              <a:alpha val="8000"/>
            </a:srgbClr>
          </a:solidFill>
          <a:ln/>
        </p:spPr>
      </p:sp>
      <p:sp>
        <p:nvSpPr>
          <p:cNvPr id="31" name="Text 29"/>
          <p:cNvSpPr/>
          <p:nvPr/>
        </p:nvSpPr>
        <p:spPr>
          <a:xfrm>
            <a:off x="6937296" y="2733675"/>
            <a:ext cx="184475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32" name="Shape 30"/>
          <p:cNvSpPr/>
          <p:nvPr/>
        </p:nvSpPr>
        <p:spPr>
          <a:xfrm>
            <a:off x="952500" y="3097530"/>
            <a:ext cx="3161467" cy="468630"/>
          </a:xfrm>
          <a:prstGeom prst="rect">
            <a:avLst/>
          </a:prstGeom>
          <a:solidFill>
            <a:srgbClr val="FFFFFF">
              <a:alpha val="2000"/>
            </a:srgbClr>
          </a:solidFill>
          <a:ln/>
        </p:spPr>
      </p:sp>
      <p:sp>
        <p:nvSpPr>
          <p:cNvPr id="33" name="Shape 31"/>
          <p:cNvSpPr/>
          <p:nvPr/>
        </p:nvSpPr>
        <p:spPr>
          <a:xfrm>
            <a:off x="952500" y="3558540"/>
            <a:ext cx="3161467" cy="9525"/>
          </a:xfrm>
          <a:prstGeom prst="rect">
            <a:avLst/>
          </a:prstGeom>
          <a:solidFill>
            <a:srgbClr val="FFFFFF">
              <a:alpha val="8000"/>
            </a:srgbClr>
          </a:solidFill>
          <a:ln/>
        </p:spPr>
      </p:sp>
      <p:sp>
        <p:nvSpPr>
          <p:cNvPr id="34" name="Text 32"/>
          <p:cNvSpPr/>
          <p:nvPr/>
        </p:nvSpPr>
        <p:spPr>
          <a:xfrm>
            <a:off x="1123950" y="3202305"/>
            <a:ext cx="291341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Carol Smith</a:t>
            </a:r>
            <a:endParaRPr lang="en-US" sz="1725" dirty="0"/>
          </a:p>
        </p:txBody>
      </p:sp>
      <p:sp>
        <p:nvSpPr>
          <p:cNvPr id="35" name="Shape 33"/>
          <p:cNvSpPr/>
          <p:nvPr/>
        </p:nvSpPr>
        <p:spPr>
          <a:xfrm>
            <a:off x="4113967" y="3097530"/>
            <a:ext cx="2728079" cy="468630"/>
          </a:xfrm>
          <a:prstGeom prst="rect">
            <a:avLst/>
          </a:prstGeom>
          <a:solidFill>
            <a:srgbClr val="FFFFFF">
              <a:alpha val="2000"/>
            </a:srgbClr>
          </a:solidFill>
          <a:ln/>
        </p:spPr>
      </p:sp>
      <p:sp>
        <p:nvSpPr>
          <p:cNvPr id="36" name="Shape 34"/>
          <p:cNvSpPr/>
          <p:nvPr/>
        </p:nvSpPr>
        <p:spPr>
          <a:xfrm>
            <a:off x="4113967" y="3558540"/>
            <a:ext cx="2728079" cy="9525"/>
          </a:xfrm>
          <a:prstGeom prst="rect">
            <a:avLst/>
          </a:prstGeom>
          <a:solidFill>
            <a:srgbClr val="FFFFFF">
              <a:alpha val="8000"/>
            </a:srgbClr>
          </a:solidFill>
          <a:ln/>
        </p:spPr>
      </p:sp>
      <p:sp>
        <p:nvSpPr>
          <p:cNvPr id="37" name="Text 35"/>
          <p:cNvSpPr/>
          <p:nvPr/>
        </p:nvSpPr>
        <p:spPr>
          <a:xfrm>
            <a:off x="4285417" y="3202305"/>
            <a:ext cx="246702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HR</a:t>
            </a:r>
            <a:endParaRPr lang="en-US" sz="1725" dirty="0"/>
          </a:p>
        </p:txBody>
      </p:sp>
      <p:sp>
        <p:nvSpPr>
          <p:cNvPr id="38" name="Shape 36"/>
          <p:cNvSpPr/>
          <p:nvPr/>
        </p:nvSpPr>
        <p:spPr>
          <a:xfrm>
            <a:off x="6842046" y="3097530"/>
            <a:ext cx="2111454" cy="468630"/>
          </a:xfrm>
          <a:prstGeom prst="rect">
            <a:avLst/>
          </a:prstGeom>
          <a:solidFill>
            <a:srgbClr val="FFFFFF">
              <a:alpha val="2000"/>
            </a:srgbClr>
          </a:solidFill>
          <a:ln/>
        </p:spPr>
      </p:sp>
      <p:sp>
        <p:nvSpPr>
          <p:cNvPr id="39" name="Shape 37"/>
          <p:cNvSpPr/>
          <p:nvPr/>
        </p:nvSpPr>
        <p:spPr>
          <a:xfrm>
            <a:off x="6842046" y="3558540"/>
            <a:ext cx="2111454" cy="9525"/>
          </a:xfrm>
          <a:prstGeom prst="rect">
            <a:avLst/>
          </a:prstGeom>
          <a:solidFill>
            <a:srgbClr val="FFFFFF">
              <a:alpha val="8000"/>
            </a:srgbClr>
          </a:solidFill>
          <a:ln/>
        </p:spPr>
      </p:sp>
      <p:sp>
        <p:nvSpPr>
          <p:cNvPr id="40" name="Text 38"/>
          <p:cNvSpPr/>
          <p:nvPr/>
        </p:nvSpPr>
        <p:spPr>
          <a:xfrm>
            <a:off x="6937296" y="3202305"/>
            <a:ext cx="184475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41" name="Shape 39"/>
          <p:cNvSpPr/>
          <p:nvPr/>
        </p:nvSpPr>
        <p:spPr>
          <a:xfrm>
            <a:off x="952500" y="4027170"/>
            <a:ext cx="3161467" cy="9525"/>
          </a:xfrm>
          <a:prstGeom prst="rect">
            <a:avLst/>
          </a:prstGeom>
          <a:solidFill>
            <a:srgbClr val="FFFFFF">
              <a:alpha val="8000"/>
            </a:srgbClr>
          </a:solidFill>
          <a:ln/>
        </p:spPr>
      </p:sp>
      <p:sp>
        <p:nvSpPr>
          <p:cNvPr id="42" name="Text 40"/>
          <p:cNvSpPr/>
          <p:nvPr/>
        </p:nvSpPr>
        <p:spPr>
          <a:xfrm>
            <a:off x="1123950" y="3670935"/>
            <a:ext cx="291341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43" name="Shape 41"/>
          <p:cNvSpPr/>
          <p:nvPr/>
        </p:nvSpPr>
        <p:spPr>
          <a:xfrm>
            <a:off x="4113967" y="4027170"/>
            <a:ext cx="2728079" cy="9525"/>
          </a:xfrm>
          <a:prstGeom prst="rect">
            <a:avLst/>
          </a:prstGeom>
          <a:solidFill>
            <a:srgbClr val="FFFFFF">
              <a:alpha val="8000"/>
            </a:srgbClr>
          </a:solidFill>
          <a:ln/>
        </p:spPr>
      </p:sp>
      <p:sp>
        <p:nvSpPr>
          <p:cNvPr id="44" name="Text 42"/>
          <p:cNvSpPr/>
          <p:nvPr/>
        </p:nvSpPr>
        <p:spPr>
          <a:xfrm>
            <a:off x="4285417" y="3670935"/>
            <a:ext cx="246702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45" name="Shape 43"/>
          <p:cNvSpPr/>
          <p:nvPr/>
        </p:nvSpPr>
        <p:spPr>
          <a:xfrm>
            <a:off x="6842046" y="4027170"/>
            <a:ext cx="2111454" cy="9525"/>
          </a:xfrm>
          <a:prstGeom prst="rect">
            <a:avLst/>
          </a:prstGeom>
          <a:solidFill>
            <a:srgbClr val="FFFFFF">
              <a:alpha val="8000"/>
            </a:srgbClr>
          </a:solidFill>
          <a:ln/>
        </p:spPr>
      </p:sp>
      <p:sp>
        <p:nvSpPr>
          <p:cNvPr id="46" name="Text 44"/>
          <p:cNvSpPr/>
          <p:nvPr/>
        </p:nvSpPr>
        <p:spPr>
          <a:xfrm>
            <a:off x="6937296" y="3670935"/>
            <a:ext cx="184475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$71,000</a:t>
            </a:r>
            <a:endParaRPr lang="en-US" sz="1725" dirty="0"/>
          </a:p>
        </p:txBody>
      </p:sp>
      <p:sp>
        <p:nvSpPr>
          <p:cNvPr id="47" name="Shape 45"/>
          <p:cNvSpPr/>
          <p:nvPr/>
        </p:nvSpPr>
        <p:spPr>
          <a:xfrm>
            <a:off x="952500" y="4034790"/>
            <a:ext cx="3161467" cy="491490"/>
          </a:xfrm>
          <a:prstGeom prst="rect">
            <a:avLst/>
          </a:prstGeom>
          <a:solidFill>
            <a:srgbClr val="2DD4BF">
              <a:alpha val="14000"/>
            </a:srgbClr>
          </a:solidFill>
          <a:ln/>
        </p:spPr>
      </p:sp>
      <p:sp>
        <p:nvSpPr>
          <p:cNvPr id="48" name="Shape 46"/>
          <p:cNvSpPr/>
          <p:nvPr/>
        </p:nvSpPr>
        <p:spPr>
          <a:xfrm>
            <a:off x="952500" y="4518660"/>
            <a:ext cx="3161467" cy="9525"/>
          </a:xfrm>
          <a:prstGeom prst="rect">
            <a:avLst/>
          </a:prstGeom>
          <a:solidFill>
            <a:srgbClr val="FFFFFF">
              <a:alpha val="8000"/>
            </a:srgbClr>
          </a:solidFill>
          <a:ln/>
        </p:spPr>
      </p:sp>
      <p:sp>
        <p:nvSpPr>
          <p:cNvPr id="49" name="Text 47"/>
          <p:cNvSpPr/>
          <p:nvPr/>
        </p:nvSpPr>
        <p:spPr>
          <a:xfrm>
            <a:off x="1123950" y="4139565"/>
            <a:ext cx="2913411"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Emma Davis</a:t>
            </a:r>
            <a:endParaRPr lang="en-US" sz="1725" dirty="0"/>
          </a:p>
        </p:txBody>
      </p:sp>
      <p:sp>
        <p:nvSpPr>
          <p:cNvPr id="50" name="Shape 48"/>
          <p:cNvSpPr/>
          <p:nvPr/>
        </p:nvSpPr>
        <p:spPr>
          <a:xfrm>
            <a:off x="4113967" y="4034790"/>
            <a:ext cx="2728079" cy="491490"/>
          </a:xfrm>
          <a:prstGeom prst="rect">
            <a:avLst/>
          </a:prstGeom>
          <a:solidFill>
            <a:srgbClr val="2DD4BF">
              <a:alpha val="14000"/>
            </a:srgbClr>
          </a:solidFill>
          <a:ln/>
        </p:spPr>
      </p:sp>
      <p:sp>
        <p:nvSpPr>
          <p:cNvPr id="51" name="Shape 49"/>
          <p:cNvSpPr/>
          <p:nvPr/>
        </p:nvSpPr>
        <p:spPr>
          <a:xfrm>
            <a:off x="4113967" y="4518660"/>
            <a:ext cx="2728079" cy="9525"/>
          </a:xfrm>
          <a:prstGeom prst="rect">
            <a:avLst/>
          </a:prstGeom>
          <a:solidFill>
            <a:srgbClr val="FFFFFF">
              <a:alpha val="8000"/>
            </a:srgbClr>
          </a:solidFill>
          <a:ln/>
        </p:spPr>
      </p:sp>
      <p:sp>
        <p:nvSpPr>
          <p:cNvPr id="52" name="Text 50"/>
          <p:cNvSpPr/>
          <p:nvPr/>
        </p:nvSpPr>
        <p:spPr>
          <a:xfrm>
            <a:off x="4285417" y="4139565"/>
            <a:ext cx="2467021"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53" name="Shape 51"/>
          <p:cNvSpPr/>
          <p:nvPr/>
        </p:nvSpPr>
        <p:spPr>
          <a:xfrm>
            <a:off x="6842046" y="4034790"/>
            <a:ext cx="2111454" cy="491490"/>
          </a:xfrm>
          <a:prstGeom prst="rect">
            <a:avLst/>
          </a:prstGeom>
          <a:solidFill>
            <a:srgbClr val="2DD4BF">
              <a:alpha val="14000"/>
            </a:srgbClr>
          </a:solidFill>
          <a:ln/>
        </p:spPr>
      </p:sp>
      <p:sp>
        <p:nvSpPr>
          <p:cNvPr id="54" name="Shape 52"/>
          <p:cNvSpPr/>
          <p:nvPr/>
        </p:nvSpPr>
        <p:spPr>
          <a:xfrm>
            <a:off x="6842046" y="4518660"/>
            <a:ext cx="2111454" cy="9525"/>
          </a:xfrm>
          <a:prstGeom prst="rect">
            <a:avLst/>
          </a:prstGeom>
          <a:solidFill>
            <a:srgbClr val="FFFFFF">
              <a:alpha val="8000"/>
            </a:srgbClr>
          </a:solidFill>
          <a:ln/>
        </p:spPr>
      </p:sp>
      <p:sp>
        <p:nvSpPr>
          <p:cNvPr id="55" name="Text 53"/>
          <p:cNvSpPr/>
          <p:nvPr/>
        </p:nvSpPr>
        <p:spPr>
          <a:xfrm>
            <a:off x="6937296" y="4139565"/>
            <a:ext cx="1844754"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$58,300</a:t>
            </a:r>
            <a:endParaRPr lang="en-US" sz="1725" dirty="0"/>
          </a:p>
        </p:txBody>
      </p:sp>
      <p:sp>
        <p:nvSpPr>
          <p:cNvPr id="56" name="Shape 54"/>
          <p:cNvSpPr/>
          <p:nvPr/>
        </p:nvSpPr>
        <p:spPr>
          <a:xfrm>
            <a:off x="952500" y="4987290"/>
            <a:ext cx="3161467" cy="9525"/>
          </a:xfrm>
          <a:prstGeom prst="rect">
            <a:avLst/>
          </a:prstGeom>
          <a:solidFill>
            <a:srgbClr val="FFFFFF">
              <a:alpha val="8000"/>
            </a:srgbClr>
          </a:solidFill>
          <a:ln/>
        </p:spPr>
      </p:sp>
      <p:sp>
        <p:nvSpPr>
          <p:cNvPr id="57" name="Text 55"/>
          <p:cNvSpPr/>
          <p:nvPr/>
        </p:nvSpPr>
        <p:spPr>
          <a:xfrm>
            <a:off x="1123950" y="4631055"/>
            <a:ext cx="291341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58" name="Shape 56"/>
          <p:cNvSpPr/>
          <p:nvPr/>
        </p:nvSpPr>
        <p:spPr>
          <a:xfrm>
            <a:off x="4113967" y="4987290"/>
            <a:ext cx="2728079" cy="9525"/>
          </a:xfrm>
          <a:prstGeom prst="rect">
            <a:avLst/>
          </a:prstGeom>
          <a:solidFill>
            <a:srgbClr val="FFFFFF">
              <a:alpha val="8000"/>
            </a:srgbClr>
          </a:solidFill>
          <a:ln/>
        </p:spPr>
      </p:sp>
      <p:sp>
        <p:nvSpPr>
          <p:cNvPr id="59" name="Text 57"/>
          <p:cNvSpPr/>
          <p:nvPr/>
        </p:nvSpPr>
        <p:spPr>
          <a:xfrm>
            <a:off x="4285417" y="4631055"/>
            <a:ext cx="246702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60" name="Shape 58"/>
          <p:cNvSpPr/>
          <p:nvPr/>
        </p:nvSpPr>
        <p:spPr>
          <a:xfrm>
            <a:off x="6842046" y="4987290"/>
            <a:ext cx="2111454" cy="9525"/>
          </a:xfrm>
          <a:prstGeom prst="rect">
            <a:avLst/>
          </a:prstGeom>
          <a:solidFill>
            <a:srgbClr val="FFFFFF">
              <a:alpha val="8000"/>
            </a:srgbClr>
          </a:solidFill>
          <a:ln/>
        </p:spPr>
      </p:sp>
      <p:sp>
        <p:nvSpPr>
          <p:cNvPr id="61" name="Text 59"/>
          <p:cNvSpPr/>
          <p:nvPr/>
        </p:nvSpPr>
        <p:spPr>
          <a:xfrm>
            <a:off x="6937296" y="4631055"/>
            <a:ext cx="184475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62" name="Shape 60"/>
          <p:cNvSpPr/>
          <p:nvPr/>
        </p:nvSpPr>
        <p:spPr>
          <a:xfrm>
            <a:off x="952500" y="4994910"/>
            <a:ext cx="3161467" cy="468630"/>
          </a:xfrm>
          <a:prstGeom prst="rect">
            <a:avLst/>
          </a:prstGeom>
          <a:solidFill>
            <a:srgbClr val="FFFFFF">
              <a:alpha val="2000"/>
            </a:srgbClr>
          </a:solidFill>
          <a:ln/>
        </p:spPr>
      </p:sp>
      <p:sp>
        <p:nvSpPr>
          <p:cNvPr id="63" name="Shape 61"/>
          <p:cNvSpPr/>
          <p:nvPr/>
        </p:nvSpPr>
        <p:spPr>
          <a:xfrm>
            <a:off x="952500" y="5455920"/>
            <a:ext cx="3161467" cy="9525"/>
          </a:xfrm>
          <a:prstGeom prst="rect">
            <a:avLst/>
          </a:prstGeom>
          <a:solidFill>
            <a:srgbClr val="FFFFFF">
              <a:alpha val="8000"/>
            </a:srgbClr>
          </a:solidFill>
          <a:ln/>
        </p:spPr>
      </p:sp>
      <p:sp>
        <p:nvSpPr>
          <p:cNvPr id="64" name="Text 62"/>
          <p:cNvSpPr/>
          <p:nvPr/>
        </p:nvSpPr>
        <p:spPr>
          <a:xfrm>
            <a:off x="1123950" y="5099685"/>
            <a:ext cx="291341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Grace Kim</a:t>
            </a:r>
            <a:endParaRPr lang="en-US" sz="1725" dirty="0"/>
          </a:p>
        </p:txBody>
      </p:sp>
      <p:sp>
        <p:nvSpPr>
          <p:cNvPr id="65" name="Shape 63"/>
          <p:cNvSpPr/>
          <p:nvPr/>
        </p:nvSpPr>
        <p:spPr>
          <a:xfrm>
            <a:off x="4113967" y="4994910"/>
            <a:ext cx="2728079" cy="468630"/>
          </a:xfrm>
          <a:prstGeom prst="rect">
            <a:avLst/>
          </a:prstGeom>
          <a:solidFill>
            <a:srgbClr val="FFFFFF">
              <a:alpha val="2000"/>
            </a:srgbClr>
          </a:solidFill>
          <a:ln/>
        </p:spPr>
      </p:sp>
      <p:sp>
        <p:nvSpPr>
          <p:cNvPr id="66" name="Shape 64"/>
          <p:cNvSpPr/>
          <p:nvPr/>
        </p:nvSpPr>
        <p:spPr>
          <a:xfrm>
            <a:off x="4113967" y="5455920"/>
            <a:ext cx="2728079" cy="9525"/>
          </a:xfrm>
          <a:prstGeom prst="rect">
            <a:avLst/>
          </a:prstGeom>
          <a:solidFill>
            <a:srgbClr val="FFFFFF">
              <a:alpha val="8000"/>
            </a:srgbClr>
          </a:solidFill>
          <a:ln/>
        </p:spPr>
      </p:sp>
      <p:sp>
        <p:nvSpPr>
          <p:cNvPr id="67" name="Text 65"/>
          <p:cNvSpPr/>
          <p:nvPr/>
        </p:nvSpPr>
        <p:spPr>
          <a:xfrm>
            <a:off x="4285417" y="5099685"/>
            <a:ext cx="2467021"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HR</a:t>
            </a:r>
            <a:endParaRPr lang="en-US" sz="1725" dirty="0"/>
          </a:p>
        </p:txBody>
      </p:sp>
      <p:sp>
        <p:nvSpPr>
          <p:cNvPr id="68" name="Shape 66"/>
          <p:cNvSpPr/>
          <p:nvPr/>
        </p:nvSpPr>
        <p:spPr>
          <a:xfrm>
            <a:off x="6842046" y="4994910"/>
            <a:ext cx="2111454" cy="468630"/>
          </a:xfrm>
          <a:prstGeom prst="rect">
            <a:avLst/>
          </a:prstGeom>
          <a:solidFill>
            <a:srgbClr val="FFFFFF">
              <a:alpha val="2000"/>
            </a:srgbClr>
          </a:solidFill>
          <a:ln/>
        </p:spPr>
      </p:sp>
      <p:sp>
        <p:nvSpPr>
          <p:cNvPr id="69" name="Shape 67"/>
          <p:cNvSpPr/>
          <p:nvPr/>
        </p:nvSpPr>
        <p:spPr>
          <a:xfrm>
            <a:off x="6842046" y="5455920"/>
            <a:ext cx="2111454" cy="9525"/>
          </a:xfrm>
          <a:prstGeom prst="rect">
            <a:avLst/>
          </a:prstGeom>
          <a:solidFill>
            <a:srgbClr val="FFFFFF">
              <a:alpha val="8000"/>
            </a:srgbClr>
          </a:solidFill>
          <a:ln/>
        </p:spPr>
      </p:sp>
      <p:sp>
        <p:nvSpPr>
          <p:cNvPr id="70" name="Text 68"/>
          <p:cNvSpPr/>
          <p:nvPr/>
        </p:nvSpPr>
        <p:spPr>
          <a:xfrm>
            <a:off x="6937296" y="5099685"/>
            <a:ext cx="184475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71" name="Shape 69"/>
          <p:cNvSpPr/>
          <p:nvPr/>
        </p:nvSpPr>
        <p:spPr>
          <a:xfrm>
            <a:off x="952500" y="5463540"/>
            <a:ext cx="3161467" cy="491490"/>
          </a:xfrm>
          <a:prstGeom prst="rect">
            <a:avLst/>
          </a:prstGeom>
          <a:solidFill>
            <a:srgbClr val="2DD4BF">
              <a:alpha val="14000"/>
            </a:srgbClr>
          </a:solidFill>
          <a:ln/>
        </p:spPr>
      </p:sp>
      <p:sp>
        <p:nvSpPr>
          <p:cNvPr id="72" name="Shape 70"/>
          <p:cNvSpPr/>
          <p:nvPr/>
        </p:nvSpPr>
        <p:spPr>
          <a:xfrm>
            <a:off x="952500" y="5947410"/>
            <a:ext cx="3161467" cy="9525"/>
          </a:xfrm>
          <a:prstGeom prst="rect">
            <a:avLst/>
          </a:prstGeom>
          <a:solidFill>
            <a:srgbClr val="FFFFFF">
              <a:alpha val="8000"/>
            </a:srgbClr>
          </a:solidFill>
          <a:ln/>
        </p:spPr>
      </p:sp>
      <p:sp>
        <p:nvSpPr>
          <p:cNvPr id="73" name="Text 71"/>
          <p:cNvSpPr/>
          <p:nvPr/>
        </p:nvSpPr>
        <p:spPr>
          <a:xfrm>
            <a:off x="1123950" y="5568315"/>
            <a:ext cx="2913411"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Henry Wu</a:t>
            </a:r>
            <a:endParaRPr lang="en-US" sz="1725" dirty="0"/>
          </a:p>
        </p:txBody>
      </p:sp>
      <p:sp>
        <p:nvSpPr>
          <p:cNvPr id="74" name="Shape 72"/>
          <p:cNvSpPr/>
          <p:nvPr/>
        </p:nvSpPr>
        <p:spPr>
          <a:xfrm>
            <a:off x="4113967" y="5463540"/>
            <a:ext cx="2728079" cy="491490"/>
          </a:xfrm>
          <a:prstGeom prst="rect">
            <a:avLst/>
          </a:prstGeom>
          <a:solidFill>
            <a:srgbClr val="2DD4BF">
              <a:alpha val="14000"/>
            </a:srgbClr>
          </a:solidFill>
          <a:ln/>
        </p:spPr>
      </p:sp>
      <p:sp>
        <p:nvSpPr>
          <p:cNvPr id="75" name="Shape 73"/>
          <p:cNvSpPr/>
          <p:nvPr/>
        </p:nvSpPr>
        <p:spPr>
          <a:xfrm>
            <a:off x="4113967" y="5947410"/>
            <a:ext cx="2728079" cy="9525"/>
          </a:xfrm>
          <a:prstGeom prst="rect">
            <a:avLst/>
          </a:prstGeom>
          <a:solidFill>
            <a:srgbClr val="FFFFFF">
              <a:alpha val="8000"/>
            </a:srgbClr>
          </a:solidFill>
          <a:ln/>
        </p:spPr>
      </p:sp>
      <p:sp>
        <p:nvSpPr>
          <p:cNvPr id="76" name="Text 74"/>
          <p:cNvSpPr/>
          <p:nvPr/>
        </p:nvSpPr>
        <p:spPr>
          <a:xfrm>
            <a:off x="4285417" y="5568315"/>
            <a:ext cx="2467021" cy="31242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77" name="Shape 75"/>
          <p:cNvSpPr/>
          <p:nvPr/>
        </p:nvSpPr>
        <p:spPr>
          <a:xfrm>
            <a:off x="6842046" y="5463540"/>
            <a:ext cx="2111454" cy="491490"/>
          </a:xfrm>
          <a:prstGeom prst="rect">
            <a:avLst/>
          </a:prstGeom>
          <a:solidFill>
            <a:srgbClr val="2DD4BF">
              <a:alpha val="14000"/>
            </a:srgbClr>
          </a:solidFill>
          <a:ln/>
        </p:spPr>
      </p:sp>
      <p:sp>
        <p:nvSpPr>
          <p:cNvPr id="78" name="Shape 76"/>
          <p:cNvSpPr/>
          <p:nvPr/>
        </p:nvSpPr>
        <p:spPr>
          <a:xfrm>
            <a:off x="6842046" y="5947410"/>
            <a:ext cx="2111454" cy="9525"/>
          </a:xfrm>
          <a:prstGeom prst="rect">
            <a:avLst/>
          </a:prstGeom>
          <a:solidFill>
            <a:srgbClr val="FFFFFF">
              <a:alpha val="8000"/>
            </a:srgbClr>
          </a:solidFill>
          <a:ln/>
        </p:spPr>
      </p:sp>
      <p:sp>
        <p:nvSpPr>
          <p:cNvPr id="79" name="Text 77"/>
          <p:cNvSpPr/>
          <p:nvPr/>
        </p:nvSpPr>
        <p:spPr>
          <a:xfrm>
            <a:off x="6937296" y="5568315"/>
            <a:ext cx="1844754" cy="31242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$55,400</a:t>
            </a:r>
            <a:endParaRPr lang="en-US" sz="1725" dirty="0"/>
          </a:p>
        </p:txBody>
      </p:sp>
      <p:sp>
        <p:nvSpPr>
          <p:cNvPr id="80" name="Shape 78"/>
          <p:cNvSpPr/>
          <p:nvPr/>
        </p:nvSpPr>
        <p:spPr>
          <a:xfrm>
            <a:off x="9334500" y="1642110"/>
            <a:ext cx="5841206" cy="624840"/>
          </a:xfrm>
          <a:prstGeom prst="roundRect">
            <a:avLst>
              <a:gd name="adj" fmla="val 12195"/>
            </a:avLst>
          </a:prstGeom>
          <a:solidFill>
            <a:srgbClr val="161B22"/>
          </a:solidFill>
          <a:ln w="7620">
            <a:solidFill>
              <a:srgbClr val="FFFFFF">
                <a:alpha val="8000"/>
              </a:srgbClr>
            </a:solidFill>
            <a:prstDash val="solid"/>
          </a:ln>
        </p:spPr>
      </p:sp>
      <p:sp>
        <p:nvSpPr>
          <p:cNvPr id="81" name="Text 79"/>
          <p:cNvSpPr/>
          <p:nvPr/>
        </p:nvSpPr>
        <p:spPr>
          <a:xfrm>
            <a:off x="9608820" y="1783080"/>
            <a:ext cx="5467802" cy="381000"/>
          </a:xfrm>
          <a:prstGeom prst="rect">
            <a:avLst/>
          </a:prstGeom>
          <a:noFill/>
          <a:ln/>
        </p:spPr>
        <p:txBody>
          <a:bodyPr wrap="square" lIns="25400" tIns="25400" rIns="25400" bIns="25400" rtlCol="0" anchor="t">
            <a:normAutofit/>
          </a:bodyPr>
          <a:lstStyle/>
          <a:p>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2DD4BF"/>
                </a:solidFill>
                <a:latin typeface="Courier New" pitchFamily="34" charset="0"/>
                <a:ea typeface="Courier New" pitchFamily="34" charset="-122"/>
                <a:cs typeface="Courier New" pitchFamily="34" charset="-120"/>
              </a:rPr>
              <a:t>COUNTIF</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FBBF24"/>
                </a:solidFill>
                <a:latin typeface="Courier New" pitchFamily="34" charset="0"/>
                <a:ea typeface="Courier New" pitchFamily="34" charset="-122"/>
                <a:cs typeface="Courier New" pitchFamily="34" charset="-120"/>
              </a:rPr>
              <a:t>C2:C9</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 </a:t>
            </a:r>
            <a:pPr algn="l" indent="0" marL="0">
              <a:buNone/>
            </a:pPr>
            <a:r>
              <a:rPr lang="en-US" sz="2400" spc="48" kern="0" dirty="0">
                <a:solidFill>
                  <a:srgbClr val="34D399"/>
                </a:solidFill>
                <a:latin typeface="Courier New" pitchFamily="34" charset="0"/>
                <a:ea typeface="Courier New" pitchFamily="34" charset="-122"/>
                <a:cs typeface="Courier New" pitchFamily="34" charset="-120"/>
              </a:rPr>
              <a:t>"Marketing"</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endParaRPr lang="en-US" sz="2400" dirty="0"/>
          </a:p>
        </p:txBody>
      </p:sp>
      <p:sp>
        <p:nvSpPr>
          <p:cNvPr id="82" name="Shape 80"/>
          <p:cNvSpPr/>
          <p:nvPr/>
        </p:nvSpPr>
        <p:spPr>
          <a:xfrm>
            <a:off x="9334500" y="2495550"/>
            <a:ext cx="8001000" cy="2034540"/>
          </a:xfrm>
          <a:prstGeom prst="roundRect">
            <a:avLst>
              <a:gd name="adj" fmla="val 5618"/>
            </a:avLst>
          </a:prstGeom>
          <a:solidFill>
            <a:srgbClr val="161B22"/>
          </a:solidFill>
          <a:ln w="7620">
            <a:solidFill>
              <a:srgbClr val="2DD4BF">
                <a:alpha val="30000"/>
              </a:srgbClr>
            </a:solidFill>
            <a:prstDash val="solid"/>
          </a:ln>
        </p:spPr>
      </p:sp>
      <p:sp>
        <p:nvSpPr>
          <p:cNvPr id="83" name="Text 81"/>
          <p:cNvSpPr/>
          <p:nvPr/>
        </p:nvSpPr>
        <p:spPr>
          <a:xfrm>
            <a:off x="9685020" y="2807970"/>
            <a:ext cx="7518959" cy="281940"/>
          </a:xfrm>
          <a:prstGeom prst="rect">
            <a:avLst/>
          </a:prstGeom>
          <a:noFill/>
          <a:ln/>
        </p:spPr>
        <p:txBody>
          <a:bodyPr wrap="square" lIns="25400" tIns="25400" rIns="25400" bIns="25400" rtlCol="0" anchor="t">
            <a:normAutofit/>
          </a:bodyPr>
          <a:lstStyle/>
          <a:p>
            <a:pPr algn="l" indent="0" marL="0">
              <a:buNone/>
            </a:pPr>
            <a:r>
              <a:rPr lang="en-US" sz="1650" dirty="0">
                <a:solidFill>
                  <a:srgbClr val="22D3EE"/>
                </a:solidFill>
                <a:latin typeface="monospace" pitchFamily="34" charset="0"/>
                <a:ea typeface="monospace" pitchFamily="34" charset="-122"/>
                <a:cs typeface="monospace" pitchFamily="34" charset="-120"/>
              </a:rPr>
              <a:t>=COUNTIF(C2:C9,"Marketing")</a:t>
            </a:r>
            <a:endParaRPr lang="en-US" sz="1650" dirty="0"/>
          </a:p>
        </p:txBody>
      </p:sp>
      <p:sp>
        <p:nvSpPr>
          <p:cNvPr id="84" name="Text 82"/>
          <p:cNvSpPr/>
          <p:nvPr/>
        </p:nvSpPr>
        <p:spPr>
          <a:xfrm>
            <a:off x="9685020" y="3166110"/>
            <a:ext cx="7518959"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DD4BF"/>
                </a:solidFill>
                <a:latin typeface="Arial" pitchFamily="34" charset="0"/>
                <a:ea typeface="Arial" pitchFamily="34" charset="-122"/>
                <a:cs typeface="Arial" pitchFamily="34" charset="-120"/>
              </a:rPr>
              <a:t>3</a:t>
            </a:r>
            <a:endParaRPr lang="en-US" sz="4500" dirty="0"/>
          </a:p>
        </p:txBody>
      </p:sp>
      <p:sp>
        <p:nvSpPr>
          <p:cNvPr id="85" name="Text 83"/>
          <p:cNvSpPr/>
          <p:nvPr/>
        </p:nvSpPr>
        <p:spPr>
          <a:xfrm>
            <a:off x="9685020" y="3928110"/>
            <a:ext cx="7518959"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Marketing employees</a:t>
            </a:r>
            <a:endParaRPr lang="en-US" sz="1800" dirty="0"/>
          </a:p>
        </p:txBody>
      </p:sp>
      <p:sp>
        <p:nvSpPr>
          <p:cNvPr id="86" name="Shape 84"/>
          <p:cNvSpPr/>
          <p:nvPr/>
        </p:nvSpPr>
        <p:spPr>
          <a:xfrm>
            <a:off x="9334500" y="4758690"/>
            <a:ext cx="8001000" cy="2020253"/>
          </a:xfrm>
          <a:prstGeom prst="roundRect">
            <a:avLst>
              <a:gd name="adj" fmla="val 5658"/>
            </a:avLst>
          </a:prstGeom>
          <a:solidFill>
            <a:srgbClr val="161B22"/>
          </a:solidFill>
          <a:ln w="7620">
            <a:solidFill>
              <a:srgbClr val="FFFFFF">
                <a:alpha val="8000"/>
              </a:srgbClr>
            </a:solidFill>
            <a:prstDash val="solid"/>
          </a:ln>
        </p:spPr>
      </p:sp>
      <p:sp>
        <p:nvSpPr>
          <p:cNvPr id="87" name="Text 85"/>
          <p:cNvSpPr/>
          <p:nvPr/>
        </p:nvSpPr>
        <p:spPr>
          <a:xfrm>
            <a:off x="9685020" y="5071110"/>
            <a:ext cx="7518959"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F0F6FC"/>
                </a:solidFill>
                <a:latin typeface="Arial" pitchFamily="34" charset="0"/>
                <a:ea typeface="Arial" pitchFamily="34" charset="-122"/>
                <a:cs typeface="Arial" pitchFamily="34" charset="-120"/>
              </a:rPr>
              <a:t>Wildcard examples</a:t>
            </a:r>
            <a:endParaRPr lang="en-US" sz="1500" dirty="0"/>
          </a:p>
        </p:txBody>
      </p:sp>
      <p:sp>
        <p:nvSpPr>
          <p:cNvPr id="88" name="Text 86"/>
          <p:cNvSpPr/>
          <p:nvPr/>
        </p:nvSpPr>
        <p:spPr>
          <a:xfrm>
            <a:off x="9685020" y="5314950"/>
            <a:ext cx="7518959"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"Mar*"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 starts with Mar </a:t>
            </a:r>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"*ing"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 ends with ing </a:t>
            </a:r>
            <a:pPr algn="l" indent="0" marL="0">
              <a:lnSpc>
                <a:spcPct val="155000"/>
              </a:lnSpc>
              <a:buNone/>
            </a:pPr>
            <a:r>
              <a:rPr lang="en-US" sz="1950" dirty="0">
                <a:solidFill>
                  <a:srgbClr val="22D3EE"/>
                </a:solidFill>
                <a:latin typeface="monospace" pitchFamily="34" charset="0"/>
                <a:ea typeface="monospace" pitchFamily="34" charset="-122"/>
                <a:cs typeface="monospace" pitchFamily="34" charset="-120"/>
              </a:rPr>
              <a:t>"*keting*"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 contains keting</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5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SUMIF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 Sum Where Condition Is Met</a:t>
            </a:r>
            <a:endParaRPr lang="en-US" sz="4200" dirty="0"/>
          </a:p>
        </p:txBody>
      </p:sp>
      <p:sp>
        <p:nvSpPr>
          <p:cNvPr id="11" name="Shape 9"/>
          <p:cNvSpPr/>
          <p:nvPr/>
        </p:nvSpPr>
        <p:spPr>
          <a:xfrm>
            <a:off x="952500" y="1642110"/>
            <a:ext cx="2973229" cy="499110"/>
          </a:xfrm>
          <a:prstGeom prst="rect">
            <a:avLst/>
          </a:prstGeom>
          <a:solidFill>
            <a:srgbClr val="2DD4BF"/>
          </a:solidFill>
          <a:ln/>
        </p:spPr>
      </p:sp>
      <p:sp>
        <p:nvSpPr>
          <p:cNvPr id="12" name="Text 10"/>
          <p:cNvSpPr/>
          <p:nvPr/>
        </p:nvSpPr>
        <p:spPr>
          <a:xfrm>
            <a:off x="1123950" y="1765935"/>
            <a:ext cx="2719526"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Name</a:t>
            </a:r>
            <a:endParaRPr lang="en-US" sz="1575" dirty="0"/>
          </a:p>
        </p:txBody>
      </p:sp>
      <p:sp>
        <p:nvSpPr>
          <p:cNvPr id="13" name="Shape 11"/>
          <p:cNvSpPr/>
          <p:nvPr/>
        </p:nvSpPr>
        <p:spPr>
          <a:xfrm>
            <a:off x="3925729" y="1642110"/>
            <a:ext cx="2565678" cy="499110"/>
          </a:xfrm>
          <a:prstGeom prst="rect">
            <a:avLst/>
          </a:prstGeom>
          <a:solidFill>
            <a:srgbClr val="2DD4BF"/>
          </a:solidFill>
          <a:ln/>
        </p:spPr>
      </p:sp>
      <p:sp>
        <p:nvSpPr>
          <p:cNvPr id="14" name="Text 12"/>
          <p:cNvSpPr/>
          <p:nvPr/>
        </p:nvSpPr>
        <p:spPr>
          <a:xfrm>
            <a:off x="4097179" y="1765935"/>
            <a:ext cx="2299748"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Department</a:t>
            </a:r>
            <a:endParaRPr lang="en-US" sz="1575" dirty="0"/>
          </a:p>
        </p:txBody>
      </p:sp>
      <p:sp>
        <p:nvSpPr>
          <p:cNvPr id="15" name="Shape 13"/>
          <p:cNvSpPr/>
          <p:nvPr/>
        </p:nvSpPr>
        <p:spPr>
          <a:xfrm>
            <a:off x="6491407" y="1642110"/>
            <a:ext cx="2462094" cy="499110"/>
          </a:xfrm>
          <a:prstGeom prst="rect">
            <a:avLst/>
          </a:prstGeom>
          <a:solidFill>
            <a:srgbClr val="2DD4BF"/>
          </a:solidFill>
          <a:ln/>
        </p:spPr>
      </p:sp>
      <p:sp>
        <p:nvSpPr>
          <p:cNvPr id="16" name="Text 14"/>
          <p:cNvSpPr/>
          <p:nvPr/>
        </p:nvSpPr>
        <p:spPr>
          <a:xfrm>
            <a:off x="6586657" y="1765935"/>
            <a:ext cx="2195394"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Salary</a:t>
            </a:r>
            <a:endParaRPr lang="en-US" sz="1575" dirty="0"/>
          </a:p>
        </p:txBody>
      </p:sp>
      <p:sp>
        <p:nvSpPr>
          <p:cNvPr id="17" name="Shape 15"/>
          <p:cNvSpPr/>
          <p:nvPr/>
        </p:nvSpPr>
        <p:spPr>
          <a:xfrm>
            <a:off x="952500" y="2141220"/>
            <a:ext cx="2973229" cy="502920"/>
          </a:xfrm>
          <a:prstGeom prst="rect">
            <a:avLst/>
          </a:prstGeom>
          <a:solidFill>
            <a:srgbClr val="2DD4BF">
              <a:alpha val="14000"/>
            </a:srgbClr>
          </a:solidFill>
          <a:ln/>
        </p:spPr>
      </p:sp>
      <p:sp>
        <p:nvSpPr>
          <p:cNvPr id="18" name="Shape 16"/>
          <p:cNvSpPr/>
          <p:nvPr/>
        </p:nvSpPr>
        <p:spPr>
          <a:xfrm>
            <a:off x="952500" y="2636520"/>
            <a:ext cx="2973229" cy="9525"/>
          </a:xfrm>
          <a:prstGeom prst="rect">
            <a:avLst/>
          </a:prstGeom>
          <a:solidFill>
            <a:srgbClr val="FFFFFF">
              <a:alpha val="8000"/>
            </a:srgbClr>
          </a:solidFill>
          <a:ln/>
        </p:spPr>
      </p:sp>
      <p:sp>
        <p:nvSpPr>
          <p:cNvPr id="19" name="Text 17"/>
          <p:cNvSpPr/>
          <p:nvPr/>
        </p:nvSpPr>
        <p:spPr>
          <a:xfrm>
            <a:off x="1123950" y="2245995"/>
            <a:ext cx="2719526" cy="32385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Alice Johnson</a:t>
            </a:r>
            <a:endParaRPr lang="en-US" sz="1725" dirty="0"/>
          </a:p>
        </p:txBody>
      </p:sp>
      <p:sp>
        <p:nvSpPr>
          <p:cNvPr id="20" name="Shape 18"/>
          <p:cNvSpPr/>
          <p:nvPr/>
        </p:nvSpPr>
        <p:spPr>
          <a:xfrm>
            <a:off x="3925729" y="2141220"/>
            <a:ext cx="2565678" cy="502920"/>
          </a:xfrm>
          <a:prstGeom prst="rect">
            <a:avLst/>
          </a:prstGeom>
          <a:solidFill>
            <a:srgbClr val="2DD4BF">
              <a:alpha val="14000"/>
            </a:srgbClr>
          </a:solidFill>
          <a:ln/>
        </p:spPr>
      </p:sp>
      <p:sp>
        <p:nvSpPr>
          <p:cNvPr id="21" name="Shape 19"/>
          <p:cNvSpPr/>
          <p:nvPr/>
        </p:nvSpPr>
        <p:spPr>
          <a:xfrm>
            <a:off x="3925729" y="2636520"/>
            <a:ext cx="2565678" cy="9525"/>
          </a:xfrm>
          <a:prstGeom prst="rect">
            <a:avLst/>
          </a:prstGeom>
          <a:solidFill>
            <a:srgbClr val="FFFFFF">
              <a:alpha val="8000"/>
            </a:srgbClr>
          </a:solidFill>
          <a:ln/>
        </p:spPr>
      </p:sp>
      <p:sp>
        <p:nvSpPr>
          <p:cNvPr id="22" name="Text 20"/>
          <p:cNvSpPr/>
          <p:nvPr/>
        </p:nvSpPr>
        <p:spPr>
          <a:xfrm>
            <a:off x="4097179" y="2245995"/>
            <a:ext cx="2299748" cy="32385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23" name="Shape 21"/>
          <p:cNvSpPr/>
          <p:nvPr/>
        </p:nvSpPr>
        <p:spPr>
          <a:xfrm>
            <a:off x="6491407" y="2141220"/>
            <a:ext cx="2462094" cy="502920"/>
          </a:xfrm>
          <a:prstGeom prst="rect">
            <a:avLst/>
          </a:prstGeom>
          <a:solidFill>
            <a:srgbClr val="2DD4BF">
              <a:alpha val="14000"/>
            </a:srgbClr>
          </a:solidFill>
          <a:ln/>
        </p:spPr>
      </p:sp>
      <p:sp>
        <p:nvSpPr>
          <p:cNvPr id="24" name="Shape 22"/>
          <p:cNvSpPr/>
          <p:nvPr/>
        </p:nvSpPr>
        <p:spPr>
          <a:xfrm>
            <a:off x="6491407" y="2636520"/>
            <a:ext cx="2462094" cy="9525"/>
          </a:xfrm>
          <a:prstGeom prst="rect">
            <a:avLst/>
          </a:prstGeom>
          <a:solidFill>
            <a:srgbClr val="FFFFFF">
              <a:alpha val="8000"/>
            </a:srgbClr>
          </a:solidFill>
          <a:ln/>
        </p:spPr>
      </p:sp>
      <p:sp>
        <p:nvSpPr>
          <p:cNvPr id="25" name="Text 23"/>
          <p:cNvSpPr/>
          <p:nvPr/>
        </p:nvSpPr>
        <p:spPr>
          <a:xfrm>
            <a:off x="6586657" y="2245995"/>
            <a:ext cx="2195394" cy="32385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$52,000 ✓</a:t>
            </a:r>
            <a:endParaRPr lang="en-US" sz="1725" dirty="0"/>
          </a:p>
        </p:txBody>
      </p:sp>
      <p:sp>
        <p:nvSpPr>
          <p:cNvPr id="26" name="Shape 24"/>
          <p:cNvSpPr/>
          <p:nvPr/>
        </p:nvSpPr>
        <p:spPr>
          <a:xfrm>
            <a:off x="952500" y="3105150"/>
            <a:ext cx="2973229" cy="9525"/>
          </a:xfrm>
          <a:prstGeom prst="rect">
            <a:avLst/>
          </a:prstGeom>
          <a:solidFill>
            <a:srgbClr val="FFFFFF">
              <a:alpha val="8000"/>
            </a:srgbClr>
          </a:solidFill>
          <a:ln/>
        </p:spPr>
      </p:sp>
      <p:sp>
        <p:nvSpPr>
          <p:cNvPr id="27" name="Text 25"/>
          <p:cNvSpPr/>
          <p:nvPr/>
        </p:nvSpPr>
        <p:spPr>
          <a:xfrm>
            <a:off x="1123950" y="2748915"/>
            <a:ext cx="271952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Bob Chen</a:t>
            </a:r>
            <a:endParaRPr lang="en-US" sz="1725" dirty="0"/>
          </a:p>
        </p:txBody>
      </p:sp>
      <p:sp>
        <p:nvSpPr>
          <p:cNvPr id="28" name="Shape 26"/>
          <p:cNvSpPr/>
          <p:nvPr/>
        </p:nvSpPr>
        <p:spPr>
          <a:xfrm>
            <a:off x="3925729" y="3105150"/>
            <a:ext cx="2565678" cy="9525"/>
          </a:xfrm>
          <a:prstGeom prst="rect">
            <a:avLst/>
          </a:prstGeom>
          <a:solidFill>
            <a:srgbClr val="FFFFFF">
              <a:alpha val="8000"/>
            </a:srgbClr>
          </a:solidFill>
          <a:ln/>
        </p:spPr>
      </p:sp>
      <p:sp>
        <p:nvSpPr>
          <p:cNvPr id="29" name="Text 27"/>
          <p:cNvSpPr/>
          <p:nvPr/>
        </p:nvSpPr>
        <p:spPr>
          <a:xfrm>
            <a:off x="4097179" y="2748915"/>
            <a:ext cx="229974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30" name="Shape 28"/>
          <p:cNvSpPr/>
          <p:nvPr/>
        </p:nvSpPr>
        <p:spPr>
          <a:xfrm>
            <a:off x="6491407" y="3105150"/>
            <a:ext cx="2462094" cy="9525"/>
          </a:xfrm>
          <a:prstGeom prst="rect">
            <a:avLst/>
          </a:prstGeom>
          <a:solidFill>
            <a:srgbClr val="FFFFFF">
              <a:alpha val="8000"/>
            </a:srgbClr>
          </a:solidFill>
          <a:ln/>
        </p:spPr>
      </p:sp>
      <p:sp>
        <p:nvSpPr>
          <p:cNvPr id="31" name="Text 29"/>
          <p:cNvSpPr/>
          <p:nvPr/>
        </p:nvSpPr>
        <p:spPr>
          <a:xfrm>
            <a:off x="6586657" y="2748915"/>
            <a:ext cx="219539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$68,500</a:t>
            </a:r>
            <a:endParaRPr lang="en-US" sz="1725" dirty="0"/>
          </a:p>
        </p:txBody>
      </p:sp>
      <p:sp>
        <p:nvSpPr>
          <p:cNvPr id="32" name="Shape 30"/>
          <p:cNvSpPr/>
          <p:nvPr/>
        </p:nvSpPr>
        <p:spPr>
          <a:xfrm>
            <a:off x="952500" y="3112770"/>
            <a:ext cx="2973229" cy="468630"/>
          </a:xfrm>
          <a:prstGeom prst="rect">
            <a:avLst/>
          </a:prstGeom>
          <a:solidFill>
            <a:srgbClr val="FFFFFF">
              <a:alpha val="2000"/>
            </a:srgbClr>
          </a:solidFill>
          <a:ln/>
        </p:spPr>
      </p:sp>
      <p:sp>
        <p:nvSpPr>
          <p:cNvPr id="33" name="Shape 31"/>
          <p:cNvSpPr/>
          <p:nvPr/>
        </p:nvSpPr>
        <p:spPr>
          <a:xfrm>
            <a:off x="952500" y="3573780"/>
            <a:ext cx="2973229" cy="9525"/>
          </a:xfrm>
          <a:prstGeom prst="rect">
            <a:avLst/>
          </a:prstGeom>
          <a:solidFill>
            <a:srgbClr val="FFFFFF">
              <a:alpha val="8000"/>
            </a:srgbClr>
          </a:solidFill>
          <a:ln/>
        </p:spPr>
      </p:sp>
      <p:sp>
        <p:nvSpPr>
          <p:cNvPr id="34" name="Text 32"/>
          <p:cNvSpPr/>
          <p:nvPr/>
        </p:nvSpPr>
        <p:spPr>
          <a:xfrm>
            <a:off x="1123950" y="3217545"/>
            <a:ext cx="271952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Carol Smith</a:t>
            </a:r>
            <a:endParaRPr lang="en-US" sz="1725" dirty="0"/>
          </a:p>
        </p:txBody>
      </p:sp>
      <p:sp>
        <p:nvSpPr>
          <p:cNvPr id="35" name="Shape 33"/>
          <p:cNvSpPr/>
          <p:nvPr/>
        </p:nvSpPr>
        <p:spPr>
          <a:xfrm>
            <a:off x="3925729" y="3112770"/>
            <a:ext cx="2565678" cy="468630"/>
          </a:xfrm>
          <a:prstGeom prst="rect">
            <a:avLst/>
          </a:prstGeom>
          <a:solidFill>
            <a:srgbClr val="FFFFFF">
              <a:alpha val="2000"/>
            </a:srgbClr>
          </a:solidFill>
          <a:ln/>
        </p:spPr>
      </p:sp>
      <p:sp>
        <p:nvSpPr>
          <p:cNvPr id="36" name="Shape 34"/>
          <p:cNvSpPr/>
          <p:nvPr/>
        </p:nvSpPr>
        <p:spPr>
          <a:xfrm>
            <a:off x="3925729" y="3573780"/>
            <a:ext cx="2565678" cy="9525"/>
          </a:xfrm>
          <a:prstGeom prst="rect">
            <a:avLst/>
          </a:prstGeom>
          <a:solidFill>
            <a:srgbClr val="FFFFFF">
              <a:alpha val="8000"/>
            </a:srgbClr>
          </a:solidFill>
          <a:ln/>
        </p:spPr>
      </p:sp>
      <p:sp>
        <p:nvSpPr>
          <p:cNvPr id="37" name="Text 35"/>
          <p:cNvSpPr/>
          <p:nvPr/>
        </p:nvSpPr>
        <p:spPr>
          <a:xfrm>
            <a:off x="4097179" y="3217545"/>
            <a:ext cx="229974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HR</a:t>
            </a:r>
            <a:endParaRPr lang="en-US" sz="1725" dirty="0"/>
          </a:p>
        </p:txBody>
      </p:sp>
      <p:sp>
        <p:nvSpPr>
          <p:cNvPr id="38" name="Shape 36"/>
          <p:cNvSpPr/>
          <p:nvPr/>
        </p:nvSpPr>
        <p:spPr>
          <a:xfrm>
            <a:off x="6491407" y="3112770"/>
            <a:ext cx="2462094" cy="468630"/>
          </a:xfrm>
          <a:prstGeom prst="rect">
            <a:avLst/>
          </a:prstGeom>
          <a:solidFill>
            <a:srgbClr val="FFFFFF">
              <a:alpha val="2000"/>
            </a:srgbClr>
          </a:solidFill>
          <a:ln/>
        </p:spPr>
      </p:sp>
      <p:sp>
        <p:nvSpPr>
          <p:cNvPr id="39" name="Shape 37"/>
          <p:cNvSpPr/>
          <p:nvPr/>
        </p:nvSpPr>
        <p:spPr>
          <a:xfrm>
            <a:off x="6491407" y="3573780"/>
            <a:ext cx="2462094" cy="9525"/>
          </a:xfrm>
          <a:prstGeom prst="rect">
            <a:avLst/>
          </a:prstGeom>
          <a:solidFill>
            <a:srgbClr val="FFFFFF">
              <a:alpha val="8000"/>
            </a:srgbClr>
          </a:solidFill>
          <a:ln/>
        </p:spPr>
      </p:sp>
      <p:sp>
        <p:nvSpPr>
          <p:cNvPr id="40" name="Text 38"/>
          <p:cNvSpPr/>
          <p:nvPr/>
        </p:nvSpPr>
        <p:spPr>
          <a:xfrm>
            <a:off x="6586657" y="3217545"/>
            <a:ext cx="219539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41" name="Shape 39"/>
          <p:cNvSpPr/>
          <p:nvPr/>
        </p:nvSpPr>
        <p:spPr>
          <a:xfrm>
            <a:off x="952500" y="4042410"/>
            <a:ext cx="2973229" cy="9525"/>
          </a:xfrm>
          <a:prstGeom prst="rect">
            <a:avLst/>
          </a:prstGeom>
          <a:solidFill>
            <a:srgbClr val="FFFFFF">
              <a:alpha val="8000"/>
            </a:srgbClr>
          </a:solidFill>
          <a:ln/>
        </p:spPr>
      </p:sp>
      <p:sp>
        <p:nvSpPr>
          <p:cNvPr id="42" name="Text 40"/>
          <p:cNvSpPr/>
          <p:nvPr/>
        </p:nvSpPr>
        <p:spPr>
          <a:xfrm>
            <a:off x="1123950" y="3686175"/>
            <a:ext cx="271952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David Park</a:t>
            </a:r>
            <a:endParaRPr lang="en-US" sz="1725" dirty="0"/>
          </a:p>
        </p:txBody>
      </p:sp>
      <p:sp>
        <p:nvSpPr>
          <p:cNvPr id="43" name="Shape 41"/>
          <p:cNvSpPr/>
          <p:nvPr/>
        </p:nvSpPr>
        <p:spPr>
          <a:xfrm>
            <a:off x="3925729" y="4042410"/>
            <a:ext cx="2565678" cy="9525"/>
          </a:xfrm>
          <a:prstGeom prst="rect">
            <a:avLst/>
          </a:prstGeom>
          <a:solidFill>
            <a:srgbClr val="FFFFFF">
              <a:alpha val="8000"/>
            </a:srgbClr>
          </a:solidFill>
          <a:ln/>
        </p:spPr>
      </p:sp>
      <p:sp>
        <p:nvSpPr>
          <p:cNvPr id="44" name="Text 42"/>
          <p:cNvSpPr/>
          <p:nvPr/>
        </p:nvSpPr>
        <p:spPr>
          <a:xfrm>
            <a:off x="4097179" y="3686175"/>
            <a:ext cx="229974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45" name="Shape 43"/>
          <p:cNvSpPr/>
          <p:nvPr/>
        </p:nvSpPr>
        <p:spPr>
          <a:xfrm>
            <a:off x="6491407" y="4042410"/>
            <a:ext cx="2462094" cy="9525"/>
          </a:xfrm>
          <a:prstGeom prst="rect">
            <a:avLst/>
          </a:prstGeom>
          <a:solidFill>
            <a:srgbClr val="FFFFFF">
              <a:alpha val="8000"/>
            </a:srgbClr>
          </a:solidFill>
          <a:ln/>
        </p:spPr>
      </p:sp>
      <p:sp>
        <p:nvSpPr>
          <p:cNvPr id="46" name="Text 44"/>
          <p:cNvSpPr/>
          <p:nvPr/>
        </p:nvSpPr>
        <p:spPr>
          <a:xfrm>
            <a:off x="6586657" y="3686175"/>
            <a:ext cx="219539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$71,000</a:t>
            </a:r>
            <a:endParaRPr lang="en-US" sz="1725" dirty="0"/>
          </a:p>
        </p:txBody>
      </p:sp>
      <p:sp>
        <p:nvSpPr>
          <p:cNvPr id="47" name="Shape 45"/>
          <p:cNvSpPr/>
          <p:nvPr/>
        </p:nvSpPr>
        <p:spPr>
          <a:xfrm>
            <a:off x="952500" y="4050030"/>
            <a:ext cx="2973229" cy="506730"/>
          </a:xfrm>
          <a:prstGeom prst="rect">
            <a:avLst/>
          </a:prstGeom>
          <a:solidFill>
            <a:srgbClr val="2DD4BF">
              <a:alpha val="14000"/>
            </a:srgbClr>
          </a:solidFill>
          <a:ln/>
        </p:spPr>
      </p:sp>
      <p:sp>
        <p:nvSpPr>
          <p:cNvPr id="48" name="Shape 46"/>
          <p:cNvSpPr/>
          <p:nvPr/>
        </p:nvSpPr>
        <p:spPr>
          <a:xfrm>
            <a:off x="952500" y="4549140"/>
            <a:ext cx="2973229" cy="9525"/>
          </a:xfrm>
          <a:prstGeom prst="rect">
            <a:avLst/>
          </a:prstGeom>
          <a:solidFill>
            <a:srgbClr val="FFFFFF">
              <a:alpha val="8000"/>
            </a:srgbClr>
          </a:solidFill>
          <a:ln/>
        </p:spPr>
      </p:sp>
      <p:sp>
        <p:nvSpPr>
          <p:cNvPr id="49" name="Text 47"/>
          <p:cNvSpPr/>
          <p:nvPr/>
        </p:nvSpPr>
        <p:spPr>
          <a:xfrm>
            <a:off x="1123950" y="4154805"/>
            <a:ext cx="2719526" cy="32766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Emma Davis</a:t>
            </a:r>
            <a:endParaRPr lang="en-US" sz="1725" dirty="0"/>
          </a:p>
        </p:txBody>
      </p:sp>
      <p:sp>
        <p:nvSpPr>
          <p:cNvPr id="50" name="Shape 48"/>
          <p:cNvSpPr/>
          <p:nvPr/>
        </p:nvSpPr>
        <p:spPr>
          <a:xfrm>
            <a:off x="3925729" y="4050030"/>
            <a:ext cx="2565678" cy="506730"/>
          </a:xfrm>
          <a:prstGeom prst="rect">
            <a:avLst/>
          </a:prstGeom>
          <a:solidFill>
            <a:srgbClr val="2DD4BF">
              <a:alpha val="14000"/>
            </a:srgbClr>
          </a:solidFill>
          <a:ln/>
        </p:spPr>
      </p:sp>
      <p:sp>
        <p:nvSpPr>
          <p:cNvPr id="51" name="Shape 49"/>
          <p:cNvSpPr/>
          <p:nvPr/>
        </p:nvSpPr>
        <p:spPr>
          <a:xfrm>
            <a:off x="3925729" y="4549140"/>
            <a:ext cx="2565678" cy="9525"/>
          </a:xfrm>
          <a:prstGeom prst="rect">
            <a:avLst/>
          </a:prstGeom>
          <a:solidFill>
            <a:srgbClr val="FFFFFF">
              <a:alpha val="8000"/>
            </a:srgbClr>
          </a:solidFill>
          <a:ln/>
        </p:spPr>
      </p:sp>
      <p:sp>
        <p:nvSpPr>
          <p:cNvPr id="52" name="Text 50"/>
          <p:cNvSpPr/>
          <p:nvPr/>
        </p:nvSpPr>
        <p:spPr>
          <a:xfrm>
            <a:off x="4097179" y="4154805"/>
            <a:ext cx="2299748" cy="32766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53" name="Shape 51"/>
          <p:cNvSpPr/>
          <p:nvPr/>
        </p:nvSpPr>
        <p:spPr>
          <a:xfrm>
            <a:off x="6491407" y="4050030"/>
            <a:ext cx="2462094" cy="506730"/>
          </a:xfrm>
          <a:prstGeom prst="rect">
            <a:avLst/>
          </a:prstGeom>
          <a:solidFill>
            <a:srgbClr val="2DD4BF">
              <a:alpha val="14000"/>
            </a:srgbClr>
          </a:solidFill>
          <a:ln/>
        </p:spPr>
      </p:sp>
      <p:sp>
        <p:nvSpPr>
          <p:cNvPr id="54" name="Shape 52"/>
          <p:cNvSpPr/>
          <p:nvPr/>
        </p:nvSpPr>
        <p:spPr>
          <a:xfrm>
            <a:off x="6491407" y="4549140"/>
            <a:ext cx="2462094" cy="9525"/>
          </a:xfrm>
          <a:prstGeom prst="rect">
            <a:avLst/>
          </a:prstGeom>
          <a:solidFill>
            <a:srgbClr val="FFFFFF">
              <a:alpha val="8000"/>
            </a:srgbClr>
          </a:solidFill>
          <a:ln/>
        </p:spPr>
      </p:sp>
      <p:sp>
        <p:nvSpPr>
          <p:cNvPr id="55" name="Text 53"/>
          <p:cNvSpPr/>
          <p:nvPr/>
        </p:nvSpPr>
        <p:spPr>
          <a:xfrm>
            <a:off x="6586657" y="4154805"/>
            <a:ext cx="2195394" cy="32766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$58,300 ✓</a:t>
            </a:r>
            <a:endParaRPr lang="en-US" sz="1725" dirty="0"/>
          </a:p>
        </p:txBody>
      </p:sp>
      <p:sp>
        <p:nvSpPr>
          <p:cNvPr id="56" name="Shape 54"/>
          <p:cNvSpPr/>
          <p:nvPr/>
        </p:nvSpPr>
        <p:spPr>
          <a:xfrm>
            <a:off x="952500" y="5017770"/>
            <a:ext cx="2973229" cy="9525"/>
          </a:xfrm>
          <a:prstGeom prst="rect">
            <a:avLst/>
          </a:prstGeom>
          <a:solidFill>
            <a:srgbClr val="FFFFFF">
              <a:alpha val="8000"/>
            </a:srgbClr>
          </a:solidFill>
          <a:ln/>
        </p:spPr>
      </p:sp>
      <p:sp>
        <p:nvSpPr>
          <p:cNvPr id="57" name="Text 55"/>
          <p:cNvSpPr/>
          <p:nvPr/>
        </p:nvSpPr>
        <p:spPr>
          <a:xfrm>
            <a:off x="1123950" y="4661535"/>
            <a:ext cx="271952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Frank Lee</a:t>
            </a:r>
            <a:endParaRPr lang="en-US" sz="1725" dirty="0"/>
          </a:p>
        </p:txBody>
      </p:sp>
      <p:sp>
        <p:nvSpPr>
          <p:cNvPr id="58" name="Shape 56"/>
          <p:cNvSpPr/>
          <p:nvPr/>
        </p:nvSpPr>
        <p:spPr>
          <a:xfrm>
            <a:off x="3925729" y="5017770"/>
            <a:ext cx="2565678" cy="9525"/>
          </a:xfrm>
          <a:prstGeom prst="rect">
            <a:avLst/>
          </a:prstGeom>
          <a:solidFill>
            <a:srgbClr val="FFFFFF">
              <a:alpha val="8000"/>
            </a:srgbClr>
          </a:solidFill>
          <a:ln/>
        </p:spPr>
      </p:sp>
      <p:sp>
        <p:nvSpPr>
          <p:cNvPr id="59" name="Text 57"/>
          <p:cNvSpPr/>
          <p:nvPr/>
        </p:nvSpPr>
        <p:spPr>
          <a:xfrm>
            <a:off x="4097179" y="4661535"/>
            <a:ext cx="229974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Sales</a:t>
            </a:r>
            <a:endParaRPr lang="en-US" sz="1725" dirty="0"/>
          </a:p>
        </p:txBody>
      </p:sp>
      <p:sp>
        <p:nvSpPr>
          <p:cNvPr id="60" name="Shape 58"/>
          <p:cNvSpPr/>
          <p:nvPr/>
        </p:nvSpPr>
        <p:spPr>
          <a:xfrm>
            <a:off x="6491407" y="5017770"/>
            <a:ext cx="2462094" cy="9525"/>
          </a:xfrm>
          <a:prstGeom prst="rect">
            <a:avLst/>
          </a:prstGeom>
          <a:solidFill>
            <a:srgbClr val="FFFFFF">
              <a:alpha val="8000"/>
            </a:srgbClr>
          </a:solidFill>
          <a:ln/>
        </p:spPr>
      </p:sp>
      <p:sp>
        <p:nvSpPr>
          <p:cNvPr id="61" name="Text 59"/>
          <p:cNvSpPr/>
          <p:nvPr/>
        </p:nvSpPr>
        <p:spPr>
          <a:xfrm>
            <a:off x="6586657" y="4661535"/>
            <a:ext cx="219539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$62,100</a:t>
            </a:r>
            <a:endParaRPr lang="en-US" sz="1725" dirty="0"/>
          </a:p>
        </p:txBody>
      </p:sp>
      <p:sp>
        <p:nvSpPr>
          <p:cNvPr id="62" name="Shape 60"/>
          <p:cNvSpPr/>
          <p:nvPr/>
        </p:nvSpPr>
        <p:spPr>
          <a:xfrm>
            <a:off x="952500" y="5025390"/>
            <a:ext cx="2973229" cy="468630"/>
          </a:xfrm>
          <a:prstGeom prst="rect">
            <a:avLst/>
          </a:prstGeom>
          <a:solidFill>
            <a:srgbClr val="FFFFFF">
              <a:alpha val="2000"/>
            </a:srgbClr>
          </a:solidFill>
          <a:ln/>
        </p:spPr>
      </p:sp>
      <p:sp>
        <p:nvSpPr>
          <p:cNvPr id="63" name="Shape 61"/>
          <p:cNvSpPr/>
          <p:nvPr/>
        </p:nvSpPr>
        <p:spPr>
          <a:xfrm>
            <a:off x="952500" y="5486400"/>
            <a:ext cx="2973229" cy="9525"/>
          </a:xfrm>
          <a:prstGeom prst="rect">
            <a:avLst/>
          </a:prstGeom>
          <a:solidFill>
            <a:srgbClr val="FFFFFF">
              <a:alpha val="8000"/>
            </a:srgbClr>
          </a:solidFill>
          <a:ln/>
        </p:spPr>
      </p:sp>
      <p:sp>
        <p:nvSpPr>
          <p:cNvPr id="64" name="Text 62"/>
          <p:cNvSpPr/>
          <p:nvPr/>
        </p:nvSpPr>
        <p:spPr>
          <a:xfrm>
            <a:off x="1123950" y="5130165"/>
            <a:ext cx="271952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Grace Kim</a:t>
            </a:r>
            <a:endParaRPr lang="en-US" sz="1725" dirty="0"/>
          </a:p>
        </p:txBody>
      </p:sp>
      <p:sp>
        <p:nvSpPr>
          <p:cNvPr id="65" name="Shape 63"/>
          <p:cNvSpPr/>
          <p:nvPr/>
        </p:nvSpPr>
        <p:spPr>
          <a:xfrm>
            <a:off x="3925729" y="5025390"/>
            <a:ext cx="2565678" cy="468630"/>
          </a:xfrm>
          <a:prstGeom prst="rect">
            <a:avLst/>
          </a:prstGeom>
          <a:solidFill>
            <a:srgbClr val="FFFFFF">
              <a:alpha val="2000"/>
            </a:srgbClr>
          </a:solidFill>
          <a:ln/>
        </p:spPr>
      </p:sp>
      <p:sp>
        <p:nvSpPr>
          <p:cNvPr id="66" name="Shape 64"/>
          <p:cNvSpPr/>
          <p:nvPr/>
        </p:nvSpPr>
        <p:spPr>
          <a:xfrm>
            <a:off x="3925729" y="5486400"/>
            <a:ext cx="2565678" cy="9525"/>
          </a:xfrm>
          <a:prstGeom prst="rect">
            <a:avLst/>
          </a:prstGeom>
          <a:solidFill>
            <a:srgbClr val="FFFFFF">
              <a:alpha val="8000"/>
            </a:srgbClr>
          </a:solidFill>
          <a:ln/>
        </p:spPr>
      </p:sp>
      <p:sp>
        <p:nvSpPr>
          <p:cNvPr id="67" name="Text 65"/>
          <p:cNvSpPr/>
          <p:nvPr/>
        </p:nvSpPr>
        <p:spPr>
          <a:xfrm>
            <a:off x="4097179" y="5130165"/>
            <a:ext cx="2299748"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HR</a:t>
            </a:r>
            <a:endParaRPr lang="en-US" sz="1725" dirty="0"/>
          </a:p>
        </p:txBody>
      </p:sp>
      <p:sp>
        <p:nvSpPr>
          <p:cNvPr id="68" name="Shape 66"/>
          <p:cNvSpPr/>
          <p:nvPr/>
        </p:nvSpPr>
        <p:spPr>
          <a:xfrm>
            <a:off x="6491407" y="5025390"/>
            <a:ext cx="2462094" cy="468630"/>
          </a:xfrm>
          <a:prstGeom prst="rect">
            <a:avLst/>
          </a:prstGeom>
          <a:solidFill>
            <a:srgbClr val="FFFFFF">
              <a:alpha val="2000"/>
            </a:srgbClr>
          </a:solidFill>
          <a:ln/>
        </p:spPr>
      </p:sp>
      <p:sp>
        <p:nvSpPr>
          <p:cNvPr id="69" name="Shape 67"/>
          <p:cNvSpPr/>
          <p:nvPr/>
        </p:nvSpPr>
        <p:spPr>
          <a:xfrm>
            <a:off x="6491407" y="5486400"/>
            <a:ext cx="2462094" cy="9525"/>
          </a:xfrm>
          <a:prstGeom prst="rect">
            <a:avLst/>
          </a:prstGeom>
          <a:solidFill>
            <a:srgbClr val="FFFFFF">
              <a:alpha val="8000"/>
            </a:srgbClr>
          </a:solidFill>
          <a:ln/>
        </p:spPr>
      </p:sp>
      <p:sp>
        <p:nvSpPr>
          <p:cNvPr id="70" name="Text 68"/>
          <p:cNvSpPr/>
          <p:nvPr/>
        </p:nvSpPr>
        <p:spPr>
          <a:xfrm>
            <a:off x="6586657" y="5130165"/>
            <a:ext cx="2195394"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$45,200</a:t>
            </a:r>
            <a:endParaRPr lang="en-US" sz="1725" dirty="0"/>
          </a:p>
        </p:txBody>
      </p:sp>
      <p:sp>
        <p:nvSpPr>
          <p:cNvPr id="71" name="Shape 69"/>
          <p:cNvSpPr/>
          <p:nvPr/>
        </p:nvSpPr>
        <p:spPr>
          <a:xfrm>
            <a:off x="952500" y="5494020"/>
            <a:ext cx="2973229" cy="506730"/>
          </a:xfrm>
          <a:prstGeom prst="rect">
            <a:avLst/>
          </a:prstGeom>
          <a:solidFill>
            <a:srgbClr val="2DD4BF">
              <a:alpha val="14000"/>
            </a:srgbClr>
          </a:solidFill>
          <a:ln/>
        </p:spPr>
      </p:sp>
      <p:sp>
        <p:nvSpPr>
          <p:cNvPr id="72" name="Shape 70"/>
          <p:cNvSpPr/>
          <p:nvPr/>
        </p:nvSpPr>
        <p:spPr>
          <a:xfrm>
            <a:off x="952500" y="5993130"/>
            <a:ext cx="2973229" cy="9525"/>
          </a:xfrm>
          <a:prstGeom prst="rect">
            <a:avLst/>
          </a:prstGeom>
          <a:solidFill>
            <a:srgbClr val="FFFFFF">
              <a:alpha val="8000"/>
            </a:srgbClr>
          </a:solidFill>
          <a:ln/>
        </p:spPr>
      </p:sp>
      <p:sp>
        <p:nvSpPr>
          <p:cNvPr id="73" name="Text 71"/>
          <p:cNvSpPr/>
          <p:nvPr/>
        </p:nvSpPr>
        <p:spPr>
          <a:xfrm>
            <a:off x="1123950" y="5598795"/>
            <a:ext cx="2719526" cy="32766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Henry Wu</a:t>
            </a:r>
            <a:endParaRPr lang="en-US" sz="1725" dirty="0"/>
          </a:p>
        </p:txBody>
      </p:sp>
      <p:sp>
        <p:nvSpPr>
          <p:cNvPr id="74" name="Shape 72"/>
          <p:cNvSpPr/>
          <p:nvPr/>
        </p:nvSpPr>
        <p:spPr>
          <a:xfrm>
            <a:off x="3925729" y="5494020"/>
            <a:ext cx="2565678" cy="506730"/>
          </a:xfrm>
          <a:prstGeom prst="rect">
            <a:avLst/>
          </a:prstGeom>
          <a:solidFill>
            <a:srgbClr val="2DD4BF">
              <a:alpha val="14000"/>
            </a:srgbClr>
          </a:solidFill>
          <a:ln/>
        </p:spPr>
      </p:sp>
      <p:sp>
        <p:nvSpPr>
          <p:cNvPr id="75" name="Shape 73"/>
          <p:cNvSpPr/>
          <p:nvPr/>
        </p:nvSpPr>
        <p:spPr>
          <a:xfrm>
            <a:off x="3925729" y="5993130"/>
            <a:ext cx="2565678" cy="9525"/>
          </a:xfrm>
          <a:prstGeom prst="rect">
            <a:avLst/>
          </a:prstGeom>
          <a:solidFill>
            <a:srgbClr val="FFFFFF">
              <a:alpha val="8000"/>
            </a:srgbClr>
          </a:solidFill>
          <a:ln/>
        </p:spPr>
      </p:sp>
      <p:sp>
        <p:nvSpPr>
          <p:cNvPr id="76" name="Text 74"/>
          <p:cNvSpPr/>
          <p:nvPr/>
        </p:nvSpPr>
        <p:spPr>
          <a:xfrm>
            <a:off x="4097179" y="5598795"/>
            <a:ext cx="2299748" cy="327660"/>
          </a:xfrm>
          <a:prstGeom prst="rect">
            <a:avLst/>
          </a:prstGeom>
          <a:noFill/>
          <a:ln/>
        </p:spPr>
        <p:txBody>
          <a:bodyPr wrap="square" lIns="25400" tIns="25400" rIns="25400" bIns="25400" rtlCol="0" anchor="ctr">
            <a:normAutofit/>
          </a:bodyPr>
          <a:lstStyle/>
          <a:p>
            <a:pPr algn="l" indent="0" marL="0">
              <a:buNone/>
            </a:pPr>
            <a:r>
              <a:rPr lang="en-US" sz="1725" b="1" dirty="0">
                <a:solidFill>
                  <a:srgbClr val="2DD4BF"/>
                </a:solidFill>
                <a:latin typeface="Arial" pitchFamily="34" charset="0"/>
                <a:ea typeface="Arial" pitchFamily="34" charset="-122"/>
                <a:cs typeface="Arial" pitchFamily="34" charset="-120"/>
              </a:rPr>
              <a:t>Marketing</a:t>
            </a:r>
            <a:endParaRPr lang="en-US" sz="1725" dirty="0"/>
          </a:p>
        </p:txBody>
      </p:sp>
      <p:sp>
        <p:nvSpPr>
          <p:cNvPr id="77" name="Shape 75"/>
          <p:cNvSpPr/>
          <p:nvPr/>
        </p:nvSpPr>
        <p:spPr>
          <a:xfrm>
            <a:off x="6491407" y="5494020"/>
            <a:ext cx="2462094" cy="506730"/>
          </a:xfrm>
          <a:prstGeom prst="rect">
            <a:avLst/>
          </a:prstGeom>
          <a:solidFill>
            <a:srgbClr val="2DD4BF">
              <a:alpha val="14000"/>
            </a:srgbClr>
          </a:solidFill>
          <a:ln/>
        </p:spPr>
      </p:sp>
      <p:sp>
        <p:nvSpPr>
          <p:cNvPr id="78" name="Shape 76"/>
          <p:cNvSpPr/>
          <p:nvPr/>
        </p:nvSpPr>
        <p:spPr>
          <a:xfrm>
            <a:off x="6491407" y="5993130"/>
            <a:ext cx="2462094" cy="9525"/>
          </a:xfrm>
          <a:prstGeom prst="rect">
            <a:avLst/>
          </a:prstGeom>
          <a:solidFill>
            <a:srgbClr val="FFFFFF">
              <a:alpha val="8000"/>
            </a:srgbClr>
          </a:solidFill>
          <a:ln/>
        </p:spPr>
      </p:sp>
      <p:sp>
        <p:nvSpPr>
          <p:cNvPr id="79" name="Text 77"/>
          <p:cNvSpPr/>
          <p:nvPr/>
        </p:nvSpPr>
        <p:spPr>
          <a:xfrm>
            <a:off x="6586657" y="5598795"/>
            <a:ext cx="2195394" cy="327660"/>
          </a:xfrm>
          <a:prstGeom prst="rect">
            <a:avLst/>
          </a:prstGeom>
          <a:noFill/>
          <a:ln/>
        </p:spPr>
        <p:txBody>
          <a:bodyPr wrap="square" lIns="25400" tIns="25400" rIns="25400" bIns="25400" rtlCol="0" anchor="ctr">
            <a:normAutofit/>
          </a:bodyPr>
          <a:lstStyle/>
          <a:p>
            <a:pPr algn="r" indent="0" marL="0">
              <a:buNone/>
            </a:pPr>
            <a:r>
              <a:rPr lang="en-US" sz="1725" b="1" dirty="0">
                <a:solidFill>
                  <a:srgbClr val="2DD4BF"/>
                </a:solidFill>
                <a:latin typeface="monospace" pitchFamily="34" charset="0"/>
                <a:ea typeface="monospace" pitchFamily="34" charset="-122"/>
                <a:cs typeface="monospace" pitchFamily="34" charset="-120"/>
              </a:rPr>
              <a:t>$55,400 ✓</a:t>
            </a:r>
            <a:endParaRPr lang="en-US" sz="1725" dirty="0"/>
          </a:p>
        </p:txBody>
      </p:sp>
      <p:sp>
        <p:nvSpPr>
          <p:cNvPr id="80" name="Shape 78"/>
          <p:cNvSpPr/>
          <p:nvPr/>
        </p:nvSpPr>
        <p:spPr>
          <a:xfrm>
            <a:off x="9334500" y="1642110"/>
            <a:ext cx="6408420" cy="624840"/>
          </a:xfrm>
          <a:prstGeom prst="roundRect">
            <a:avLst>
              <a:gd name="adj" fmla="val 12195"/>
            </a:avLst>
          </a:prstGeom>
          <a:solidFill>
            <a:srgbClr val="161B22"/>
          </a:solidFill>
          <a:ln w="7620">
            <a:solidFill>
              <a:srgbClr val="FFFFFF">
                <a:alpha val="8000"/>
              </a:srgbClr>
            </a:solidFill>
            <a:prstDash val="solid"/>
          </a:ln>
        </p:spPr>
      </p:sp>
      <p:sp>
        <p:nvSpPr>
          <p:cNvPr id="81" name="Text 79"/>
          <p:cNvSpPr/>
          <p:nvPr/>
        </p:nvSpPr>
        <p:spPr>
          <a:xfrm>
            <a:off x="9608820" y="1783080"/>
            <a:ext cx="6052032" cy="381000"/>
          </a:xfrm>
          <a:prstGeom prst="rect">
            <a:avLst/>
          </a:prstGeom>
          <a:noFill/>
          <a:ln/>
        </p:spPr>
        <p:txBody>
          <a:bodyPr wrap="square" lIns="25400" tIns="25400" rIns="25400" bIns="25400" rtlCol="0" anchor="t">
            <a:normAutofit/>
          </a:bodyPr>
          <a:lstStyle/>
          <a:p>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2DD4BF"/>
                </a:solidFill>
                <a:latin typeface="Courier New" pitchFamily="34" charset="0"/>
                <a:ea typeface="Courier New" pitchFamily="34" charset="-122"/>
                <a:cs typeface="Courier New" pitchFamily="34" charset="-120"/>
              </a:rPr>
              <a:t>SUMIF</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FBBF24"/>
                </a:solidFill>
                <a:latin typeface="Courier New" pitchFamily="34" charset="0"/>
                <a:ea typeface="Courier New" pitchFamily="34" charset="-122"/>
                <a:cs typeface="Courier New" pitchFamily="34" charset="-120"/>
              </a:rPr>
              <a:t>C2:C9</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34D399"/>
                </a:solidFill>
                <a:latin typeface="Courier New" pitchFamily="34" charset="0"/>
                <a:ea typeface="Courier New" pitchFamily="34" charset="-122"/>
                <a:cs typeface="Courier New" pitchFamily="34" charset="-120"/>
              </a:rPr>
              <a:t>"Marketing"</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pPr algn="l" indent="0" marL="0">
              <a:buNone/>
            </a:pPr>
            <a:r>
              <a:rPr lang="en-US" sz="2400" spc="48" kern="0" dirty="0">
                <a:solidFill>
                  <a:srgbClr val="FBBF24"/>
                </a:solidFill>
                <a:latin typeface="Courier New" pitchFamily="34" charset="0"/>
                <a:ea typeface="Courier New" pitchFamily="34" charset="-122"/>
                <a:cs typeface="Courier New" pitchFamily="34" charset="-120"/>
              </a:rPr>
              <a:t>D2:D9</a:t>
            </a:r>
            <a:pPr algn="l" indent="0" marL="0">
              <a:buNone/>
            </a:pPr>
            <a:r>
              <a:rPr lang="en-US" sz="2400" spc="48" kern="0" dirty="0">
                <a:solidFill>
                  <a:srgbClr val="22D3EE"/>
                </a:solidFill>
                <a:highlight>
                  <a:srgbClr val="161B22"/>
                </a:highlight>
                <a:latin typeface="Courier New" pitchFamily="34" charset="0"/>
                <a:ea typeface="Courier New" pitchFamily="34" charset="-122"/>
                <a:cs typeface="Courier New" pitchFamily="34" charset="-120"/>
              </a:rPr>
              <a:t>)</a:t>
            </a:r>
            <a:endParaRPr lang="en-US" sz="2400" dirty="0"/>
          </a:p>
        </p:txBody>
      </p:sp>
      <p:sp>
        <p:nvSpPr>
          <p:cNvPr id="82" name="Shape 80"/>
          <p:cNvSpPr/>
          <p:nvPr/>
        </p:nvSpPr>
        <p:spPr>
          <a:xfrm>
            <a:off x="9334500" y="2495550"/>
            <a:ext cx="2565321" cy="1127760"/>
          </a:xfrm>
          <a:prstGeom prst="roundRect">
            <a:avLst>
              <a:gd name="adj" fmla="val 10135"/>
            </a:avLst>
          </a:prstGeom>
          <a:solidFill>
            <a:srgbClr val="161B22"/>
          </a:solidFill>
          <a:ln w="7620">
            <a:solidFill>
              <a:srgbClr val="FFFFFF">
                <a:alpha val="8000"/>
              </a:srgbClr>
            </a:solidFill>
            <a:prstDash val="solid"/>
          </a:ln>
        </p:spPr>
      </p:sp>
      <p:sp>
        <p:nvSpPr>
          <p:cNvPr id="83" name="Text 81"/>
          <p:cNvSpPr/>
          <p:nvPr/>
        </p:nvSpPr>
        <p:spPr>
          <a:xfrm>
            <a:off x="9551670" y="2674620"/>
            <a:ext cx="2207181" cy="243840"/>
          </a:xfrm>
          <a:prstGeom prst="rect">
            <a:avLst/>
          </a:prstGeom>
          <a:noFill/>
          <a:ln/>
        </p:spPr>
        <p:txBody>
          <a:bodyPr wrap="square" lIns="25400" tIns="25400" rIns="25400" bIns="25400" rtlCol="0" anchor="t">
            <a:normAutofit/>
          </a:bodyPr>
          <a:lstStyle/>
          <a:p>
            <a:pPr algn="l" indent="0" marL="0">
              <a:buNone/>
            </a:pPr>
            <a:r>
              <a:rPr lang="en-US" sz="1275" b="1" dirty="0">
                <a:solidFill>
                  <a:srgbClr val="FBBF24"/>
                </a:solidFill>
                <a:latin typeface="Arial" pitchFamily="34" charset="0"/>
                <a:ea typeface="Arial" pitchFamily="34" charset="-122"/>
                <a:cs typeface="Arial" pitchFamily="34" charset="-120"/>
              </a:rPr>
              <a:t>Arg 1</a:t>
            </a:r>
            <a:endParaRPr lang="en-US" sz="1275" dirty="0"/>
          </a:p>
        </p:txBody>
      </p:sp>
      <p:sp>
        <p:nvSpPr>
          <p:cNvPr id="84" name="Text 82"/>
          <p:cNvSpPr/>
          <p:nvPr/>
        </p:nvSpPr>
        <p:spPr>
          <a:xfrm>
            <a:off x="9551670" y="2956560"/>
            <a:ext cx="2207181" cy="259080"/>
          </a:xfrm>
          <a:prstGeom prst="rect">
            <a:avLst/>
          </a:prstGeom>
          <a:noFill/>
          <a:ln/>
        </p:spPr>
        <p:txBody>
          <a:bodyPr wrap="square" lIns="25400" tIns="25400" rIns="25400" bIns="2540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C2:C9</a:t>
            </a:r>
            <a:endParaRPr lang="en-US" sz="1500" dirty="0"/>
          </a:p>
        </p:txBody>
      </p:sp>
      <p:sp>
        <p:nvSpPr>
          <p:cNvPr id="85" name="Text 83"/>
          <p:cNvSpPr/>
          <p:nvPr/>
        </p:nvSpPr>
        <p:spPr>
          <a:xfrm>
            <a:off x="9551670" y="3253740"/>
            <a:ext cx="2207181"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Range to check condition</a:t>
            </a:r>
            <a:endParaRPr lang="en-US" sz="1275" dirty="0"/>
          </a:p>
        </p:txBody>
      </p:sp>
      <p:sp>
        <p:nvSpPr>
          <p:cNvPr id="86" name="Shape 84"/>
          <p:cNvSpPr/>
          <p:nvPr/>
        </p:nvSpPr>
        <p:spPr>
          <a:xfrm>
            <a:off x="12052221" y="2495550"/>
            <a:ext cx="2565440" cy="1127760"/>
          </a:xfrm>
          <a:prstGeom prst="roundRect">
            <a:avLst>
              <a:gd name="adj" fmla="val 10135"/>
            </a:avLst>
          </a:prstGeom>
          <a:solidFill>
            <a:srgbClr val="161B22"/>
          </a:solidFill>
          <a:ln w="7620">
            <a:solidFill>
              <a:srgbClr val="FFFFFF">
                <a:alpha val="8000"/>
              </a:srgbClr>
            </a:solidFill>
            <a:prstDash val="solid"/>
          </a:ln>
        </p:spPr>
      </p:sp>
      <p:sp>
        <p:nvSpPr>
          <p:cNvPr id="87" name="Text 85"/>
          <p:cNvSpPr/>
          <p:nvPr/>
        </p:nvSpPr>
        <p:spPr>
          <a:xfrm>
            <a:off x="12269391" y="2674620"/>
            <a:ext cx="2207300" cy="243840"/>
          </a:xfrm>
          <a:prstGeom prst="rect">
            <a:avLst/>
          </a:prstGeom>
          <a:noFill/>
          <a:ln/>
        </p:spPr>
        <p:txBody>
          <a:bodyPr wrap="square" lIns="25400" tIns="25400" rIns="25400" bIns="25400" rtlCol="0" anchor="t">
            <a:normAutofit/>
          </a:bodyPr>
          <a:lstStyle/>
          <a:p>
            <a:pPr algn="l" indent="0" marL="0">
              <a:buNone/>
            </a:pPr>
            <a:r>
              <a:rPr lang="en-US" sz="1275" b="1" dirty="0">
                <a:solidFill>
                  <a:srgbClr val="34D399"/>
                </a:solidFill>
                <a:latin typeface="Arial" pitchFamily="34" charset="0"/>
                <a:ea typeface="Arial" pitchFamily="34" charset="-122"/>
                <a:cs typeface="Arial" pitchFamily="34" charset="-120"/>
              </a:rPr>
              <a:t>Arg 2</a:t>
            </a:r>
            <a:endParaRPr lang="en-US" sz="1275" dirty="0"/>
          </a:p>
        </p:txBody>
      </p:sp>
      <p:sp>
        <p:nvSpPr>
          <p:cNvPr id="88" name="Text 86"/>
          <p:cNvSpPr/>
          <p:nvPr/>
        </p:nvSpPr>
        <p:spPr>
          <a:xfrm>
            <a:off x="12269391" y="2956560"/>
            <a:ext cx="220730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"Marketing"</a:t>
            </a:r>
            <a:endParaRPr lang="en-US" sz="1500" dirty="0"/>
          </a:p>
        </p:txBody>
      </p:sp>
      <p:sp>
        <p:nvSpPr>
          <p:cNvPr id="89" name="Text 87"/>
          <p:cNvSpPr/>
          <p:nvPr/>
        </p:nvSpPr>
        <p:spPr>
          <a:xfrm>
            <a:off x="12269391" y="3253740"/>
            <a:ext cx="220730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The condition to match</a:t>
            </a:r>
            <a:endParaRPr lang="en-US" sz="1275" dirty="0"/>
          </a:p>
        </p:txBody>
      </p:sp>
      <p:sp>
        <p:nvSpPr>
          <p:cNvPr id="90" name="Shape 88"/>
          <p:cNvSpPr/>
          <p:nvPr/>
        </p:nvSpPr>
        <p:spPr>
          <a:xfrm>
            <a:off x="14770060" y="2495550"/>
            <a:ext cx="2565440" cy="1127760"/>
          </a:xfrm>
          <a:prstGeom prst="roundRect">
            <a:avLst>
              <a:gd name="adj" fmla="val 10135"/>
            </a:avLst>
          </a:prstGeom>
          <a:solidFill>
            <a:srgbClr val="161B22"/>
          </a:solidFill>
          <a:ln w="7620">
            <a:solidFill>
              <a:srgbClr val="FFFFFF">
                <a:alpha val="8000"/>
              </a:srgbClr>
            </a:solidFill>
            <a:prstDash val="solid"/>
          </a:ln>
        </p:spPr>
      </p:sp>
      <p:sp>
        <p:nvSpPr>
          <p:cNvPr id="91" name="Text 89"/>
          <p:cNvSpPr/>
          <p:nvPr/>
        </p:nvSpPr>
        <p:spPr>
          <a:xfrm>
            <a:off x="14987231" y="2674620"/>
            <a:ext cx="2207300" cy="243840"/>
          </a:xfrm>
          <a:prstGeom prst="rect">
            <a:avLst/>
          </a:prstGeom>
          <a:noFill/>
          <a:ln/>
        </p:spPr>
        <p:txBody>
          <a:bodyPr wrap="square" lIns="25400" tIns="25400" rIns="25400" bIns="25400" rtlCol="0" anchor="t">
            <a:normAutofit/>
          </a:bodyPr>
          <a:lstStyle/>
          <a:p>
            <a:pPr algn="l" indent="0" marL="0">
              <a:buNone/>
            </a:pPr>
            <a:r>
              <a:rPr lang="en-US" sz="1275" b="1" dirty="0">
                <a:solidFill>
                  <a:srgbClr val="A78BFA"/>
                </a:solidFill>
                <a:latin typeface="Arial" pitchFamily="34" charset="0"/>
                <a:ea typeface="Arial" pitchFamily="34" charset="-122"/>
                <a:cs typeface="Arial" pitchFamily="34" charset="-120"/>
              </a:rPr>
              <a:t>Arg 3</a:t>
            </a:r>
            <a:endParaRPr lang="en-US" sz="1275" dirty="0"/>
          </a:p>
        </p:txBody>
      </p:sp>
      <p:sp>
        <p:nvSpPr>
          <p:cNvPr id="92" name="Text 90"/>
          <p:cNvSpPr/>
          <p:nvPr/>
        </p:nvSpPr>
        <p:spPr>
          <a:xfrm>
            <a:off x="14987231" y="2956560"/>
            <a:ext cx="220730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D2:D9</a:t>
            </a:r>
            <a:endParaRPr lang="en-US" sz="1500" dirty="0"/>
          </a:p>
        </p:txBody>
      </p:sp>
      <p:sp>
        <p:nvSpPr>
          <p:cNvPr id="93" name="Text 91"/>
          <p:cNvSpPr/>
          <p:nvPr/>
        </p:nvSpPr>
        <p:spPr>
          <a:xfrm>
            <a:off x="14987231" y="3253740"/>
            <a:ext cx="220730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Range to sum</a:t>
            </a:r>
            <a:endParaRPr lang="en-US" sz="1275" dirty="0"/>
          </a:p>
        </p:txBody>
      </p:sp>
      <p:sp>
        <p:nvSpPr>
          <p:cNvPr id="94" name="Shape 92"/>
          <p:cNvSpPr/>
          <p:nvPr/>
        </p:nvSpPr>
        <p:spPr>
          <a:xfrm>
            <a:off x="9334500" y="3851910"/>
            <a:ext cx="8001000" cy="1676400"/>
          </a:xfrm>
          <a:prstGeom prst="roundRect">
            <a:avLst>
              <a:gd name="adj" fmla="val 6818"/>
            </a:avLst>
          </a:prstGeom>
          <a:solidFill>
            <a:srgbClr val="161B22"/>
          </a:solidFill>
          <a:ln w="7620">
            <a:solidFill>
              <a:srgbClr val="2DD4BF">
                <a:alpha val="30000"/>
              </a:srgbClr>
            </a:solidFill>
            <a:prstDash val="solid"/>
          </a:ln>
        </p:spPr>
      </p:sp>
      <p:sp>
        <p:nvSpPr>
          <p:cNvPr id="95" name="Text 93"/>
          <p:cNvSpPr/>
          <p:nvPr/>
        </p:nvSpPr>
        <p:spPr>
          <a:xfrm>
            <a:off x="9685020" y="4164330"/>
            <a:ext cx="7518959" cy="723900"/>
          </a:xfrm>
          <a:prstGeom prst="rect">
            <a:avLst/>
          </a:prstGeom>
          <a:noFill/>
          <a:ln/>
        </p:spPr>
        <p:txBody>
          <a:bodyPr wrap="square" lIns="25400" tIns="25400" rIns="25400" bIns="25400" rtlCol="0" anchor="t">
            <a:normAutofit/>
          </a:bodyPr>
          <a:lstStyle/>
          <a:p>
            <a:pPr algn="l" indent="0" marL="0">
              <a:buNone/>
            </a:pPr>
            <a:r>
              <a:rPr lang="en-US" sz="4500" b="1" dirty="0">
                <a:solidFill>
                  <a:srgbClr val="2DD4BF"/>
                </a:solidFill>
                <a:latin typeface="Arial" pitchFamily="34" charset="0"/>
                <a:ea typeface="Arial" pitchFamily="34" charset="-122"/>
                <a:cs typeface="Arial" pitchFamily="34" charset="-120"/>
              </a:rPr>
              <a:t>$165,700</a:t>
            </a:r>
            <a:endParaRPr lang="en-US" sz="4500" dirty="0"/>
          </a:p>
        </p:txBody>
      </p:sp>
      <p:sp>
        <p:nvSpPr>
          <p:cNvPr id="96" name="Text 94"/>
          <p:cNvSpPr/>
          <p:nvPr/>
        </p:nvSpPr>
        <p:spPr>
          <a:xfrm>
            <a:off x="9685020" y="4926330"/>
            <a:ext cx="7518959" cy="327660"/>
          </a:xfrm>
          <a:prstGeom prst="rect">
            <a:avLst/>
          </a:prstGeom>
          <a:noFill/>
          <a:ln/>
        </p:spPr>
        <p:txBody>
          <a:bodyPr wrap="square" lIns="25400" tIns="25400" rIns="25400" bIns="25400" rtlCol="0" anchor="t">
            <a:normAutofit/>
          </a:bodyPr>
          <a:lstStyle/>
          <a:p>
            <a:pPr algn="l" indent="0" marL="0">
              <a:buNone/>
            </a:pPr>
            <a:r>
              <a:rPr lang="en-US" sz="1800" dirty="0">
                <a:solidFill>
                  <a:srgbClr val="7D8590"/>
                </a:solidFill>
                <a:latin typeface="Arial" pitchFamily="34" charset="0"/>
                <a:ea typeface="Arial" pitchFamily="34" charset="-122"/>
                <a:cs typeface="Arial" pitchFamily="34" charset="-120"/>
              </a:rPr>
              <a:t>Marketing total salary</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5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solidFill>
          <a:ln/>
        </p:spPr>
      </p:sp>
      <p:sp>
        <p:nvSpPr>
          <p:cNvPr id="8" name="Shape 6"/>
          <p:cNvSpPr/>
          <p:nvPr/>
        </p:nvSpPr>
        <p:spPr>
          <a:xfrm>
            <a:off x="16783050" y="400050"/>
            <a:ext cx="247650" cy="38100"/>
          </a:xfrm>
          <a:prstGeom prst="roundRect">
            <a:avLst>
              <a:gd name="adj" fmla="val 50000"/>
            </a:avLst>
          </a:prstGeom>
          <a:solidFill>
            <a:srgbClr val="1C2430"/>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Quick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Reference</a:t>
            </a:r>
            <a:endParaRPr lang="en-US" sz="4200" dirty="0"/>
          </a:p>
        </p:txBody>
      </p:sp>
      <p:sp>
        <p:nvSpPr>
          <p:cNvPr id="11" name="Shape 9"/>
          <p:cNvSpPr/>
          <p:nvPr/>
        </p:nvSpPr>
        <p:spPr>
          <a:xfrm>
            <a:off x="952500" y="1680210"/>
            <a:ext cx="5308521" cy="7844790"/>
          </a:xfrm>
          <a:prstGeom prst="roundRect">
            <a:avLst>
              <a:gd name="adj" fmla="val 2153"/>
            </a:avLst>
          </a:prstGeom>
          <a:solidFill>
            <a:srgbClr val="161B22"/>
          </a:solidFill>
          <a:ln w="7620">
            <a:solidFill>
              <a:srgbClr val="FFFFFF">
                <a:alpha val="8000"/>
              </a:srgbClr>
            </a:solidFill>
            <a:prstDash val="solid"/>
          </a:ln>
        </p:spPr>
      </p:sp>
      <p:sp>
        <p:nvSpPr>
          <p:cNvPr id="12" name="Text 10"/>
          <p:cNvSpPr/>
          <p:nvPr/>
        </p:nvSpPr>
        <p:spPr>
          <a:xfrm>
            <a:off x="1303020" y="1992630"/>
            <a:ext cx="4745705" cy="350520"/>
          </a:xfrm>
          <a:prstGeom prst="rect">
            <a:avLst/>
          </a:prstGeom>
          <a:noFill/>
          <a:ln/>
        </p:spPr>
        <p:txBody>
          <a:bodyPr wrap="square" lIns="25400" tIns="25400" rIns="25400" bIns="25400" rtlCol="0" anchor="t">
            <a:normAutofit/>
          </a:bodyPr>
          <a:lstStyle/>
          <a:p>
            <a:pPr algn="l" indent="0" marL="0">
              <a:buNone/>
            </a:pPr>
            <a:r>
              <a:rPr lang="en-US" sz="2100" b="1" dirty="0">
                <a:solidFill>
                  <a:srgbClr val="2DD4BF"/>
                </a:solidFill>
                <a:latin typeface="monospace" pitchFamily="34" charset="0"/>
                <a:ea typeface="monospace" pitchFamily="34" charset="-122"/>
                <a:cs typeface="monospace" pitchFamily="34" charset="-120"/>
              </a:rPr>
              <a:t>VLOOKUP</a:t>
            </a:r>
            <a:endParaRPr lang="en-US" sz="2100" dirty="0"/>
          </a:p>
        </p:txBody>
      </p:sp>
      <p:sp>
        <p:nvSpPr>
          <p:cNvPr id="13" name="Shape 11"/>
          <p:cNvSpPr/>
          <p:nvPr/>
        </p:nvSpPr>
        <p:spPr>
          <a:xfrm>
            <a:off x="1303020" y="2457450"/>
            <a:ext cx="4607481" cy="723900"/>
          </a:xfrm>
          <a:prstGeom prst="roundRect">
            <a:avLst>
              <a:gd name="adj" fmla="val 10526"/>
            </a:avLst>
          </a:prstGeom>
          <a:solidFill>
            <a:srgbClr val="161B22"/>
          </a:solidFill>
          <a:ln w="7620">
            <a:solidFill>
              <a:srgbClr val="FFFFFF">
                <a:alpha val="8000"/>
              </a:srgbClr>
            </a:solidFill>
            <a:prstDash val="solid"/>
          </a:ln>
        </p:spPr>
      </p:sp>
      <p:sp>
        <p:nvSpPr>
          <p:cNvPr id="14" name="Text 12"/>
          <p:cNvSpPr/>
          <p:nvPr/>
        </p:nvSpPr>
        <p:spPr>
          <a:xfrm>
            <a:off x="1577340" y="2598420"/>
            <a:ext cx="4197065" cy="480060"/>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=VLOOKUP(</a:t>
            </a:r>
            <a:pPr algn="l" indent="0" marL="0">
              <a:buNone/>
            </a:pPr>
            <a:r>
              <a:rPr lang="en-US" sz="1500" spc="30" kern="0" dirty="0">
                <a:solidFill>
                  <a:srgbClr val="FBBF24"/>
                </a:solidFill>
                <a:latin typeface="Courier New" pitchFamily="34" charset="0"/>
                <a:ea typeface="Courier New" pitchFamily="34" charset="-122"/>
                <a:cs typeface="Courier New" pitchFamily="34" charset="-120"/>
              </a:rPr>
              <a:t>lookup</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FBBF24"/>
                </a:solidFill>
                <a:latin typeface="Courier New" pitchFamily="34" charset="0"/>
                <a:ea typeface="Courier New" pitchFamily="34" charset="-122"/>
                <a:cs typeface="Courier New" pitchFamily="34" charset="-120"/>
              </a:rPr>
              <a:t>table</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34D399"/>
                </a:solidFill>
                <a:latin typeface="Courier New" pitchFamily="34" charset="0"/>
                <a:ea typeface="Courier New" pitchFamily="34" charset="-122"/>
                <a:cs typeface="Courier New" pitchFamily="34" charset="-120"/>
              </a:rPr>
              <a:t>col#</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7D8590"/>
                </a:solidFill>
                <a:latin typeface="Courier New" pitchFamily="34" charset="0"/>
                <a:ea typeface="Courier New" pitchFamily="34" charset="-122"/>
                <a:cs typeface="Courier New" pitchFamily="34" charset="-120"/>
              </a:rPr>
              <a:t>FALSE</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a:t>
            </a:r>
            <a:endParaRPr lang="en-US" sz="1500" dirty="0"/>
          </a:p>
        </p:txBody>
      </p:sp>
      <p:sp>
        <p:nvSpPr>
          <p:cNvPr id="15" name="Text 13"/>
          <p:cNvSpPr/>
          <p:nvPr/>
        </p:nvSpPr>
        <p:spPr>
          <a:xfrm>
            <a:off x="1303020" y="3333750"/>
            <a:ext cx="4745705" cy="1204913"/>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Use when: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You need to pull a value from another table based on a matching ID or key</a:t>
            </a:r>
            <a:endParaRPr lang="en-US" sz="1950" dirty="0"/>
          </a:p>
        </p:txBody>
      </p:sp>
      <p:sp>
        <p:nvSpPr>
          <p:cNvPr id="16" name="Text 14"/>
          <p:cNvSpPr/>
          <p:nvPr/>
        </p:nvSpPr>
        <p:spPr>
          <a:xfrm>
            <a:off x="1303020" y="4652963"/>
            <a:ext cx="4745705"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2DD4BF"/>
                </a:solidFill>
                <a:latin typeface="Arial" pitchFamily="34" charset="0"/>
                <a:ea typeface="Arial" pitchFamily="34" charset="-122"/>
                <a:cs typeface="Arial" pitchFamily="34" charset="-120"/>
              </a:rPr>
              <a:t>Example: Pull product price using product ID</a:t>
            </a:r>
            <a:endParaRPr lang="en-US" sz="1950" dirty="0"/>
          </a:p>
        </p:txBody>
      </p:sp>
      <p:sp>
        <p:nvSpPr>
          <p:cNvPr id="17" name="Shape 15"/>
          <p:cNvSpPr/>
          <p:nvPr/>
        </p:nvSpPr>
        <p:spPr>
          <a:xfrm>
            <a:off x="6489621" y="1680210"/>
            <a:ext cx="5308640" cy="7844790"/>
          </a:xfrm>
          <a:prstGeom prst="roundRect">
            <a:avLst>
              <a:gd name="adj" fmla="val 2153"/>
            </a:avLst>
          </a:prstGeom>
          <a:solidFill>
            <a:srgbClr val="161B22"/>
          </a:solidFill>
          <a:ln w="7620">
            <a:solidFill>
              <a:srgbClr val="FFFFFF">
                <a:alpha val="8000"/>
              </a:srgbClr>
            </a:solidFill>
            <a:prstDash val="solid"/>
          </a:ln>
        </p:spPr>
      </p:sp>
      <p:sp>
        <p:nvSpPr>
          <p:cNvPr id="18" name="Text 16"/>
          <p:cNvSpPr/>
          <p:nvPr/>
        </p:nvSpPr>
        <p:spPr>
          <a:xfrm>
            <a:off x="6840141" y="1992630"/>
            <a:ext cx="4745828" cy="350520"/>
          </a:xfrm>
          <a:prstGeom prst="rect">
            <a:avLst/>
          </a:prstGeom>
          <a:noFill/>
          <a:ln/>
        </p:spPr>
        <p:txBody>
          <a:bodyPr wrap="square" lIns="25400" tIns="25400" rIns="25400" bIns="25400" rtlCol="0" anchor="t">
            <a:normAutofit/>
          </a:bodyPr>
          <a:lstStyle/>
          <a:p>
            <a:pPr algn="l" indent="0" marL="0">
              <a:buNone/>
            </a:pPr>
            <a:r>
              <a:rPr lang="en-US" sz="2100" b="1" dirty="0">
                <a:solidFill>
                  <a:srgbClr val="22D3EE"/>
                </a:solidFill>
                <a:latin typeface="monospace" pitchFamily="34" charset="0"/>
                <a:ea typeface="monospace" pitchFamily="34" charset="-122"/>
                <a:cs typeface="monospace" pitchFamily="34" charset="-120"/>
              </a:rPr>
              <a:t>COUNTIF</a:t>
            </a:r>
            <a:endParaRPr lang="en-US" sz="2100" dirty="0"/>
          </a:p>
        </p:txBody>
      </p:sp>
      <p:sp>
        <p:nvSpPr>
          <p:cNvPr id="19" name="Shape 17"/>
          <p:cNvSpPr/>
          <p:nvPr/>
        </p:nvSpPr>
        <p:spPr>
          <a:xfrm>
            <a:off x="6840141" y="2457450"/>
            <a:ext cx="3502223" cy="502920"/>
          </a:xfrm>
          <a:prstGeom prst="roundRect">
            <a:avLst>
              <a:gd name="adj" fmla="val 15152"/>
            </a:avLst>
          </a:prstGeom>
          <a:solidFill>
            <a:srgbClr val="161B22"/>
          </a:solidFill>
          <a:ln w="7620">
            <a:solidFill>
              <a:srgbClr val="FFFFFF">
                <a:alpha val="8000"/>
              </a:srgbClr>
            </a:solidFill>
            <a:prstDash val="solid"/>
          </a:ln>
        </p:spPr>
      </p:sp>
      <p:sp>
        <p:nvSpPr>
          <p:cNvPr id="20" name="Text 18"/>
          <p:cNvSpPr/>
          <p:nvPr/>
        </p:nvSpPr>
        <p:spPr>
          <a:xfrm>
            <a:off x="7114461" y="2598420"/>
            <a:ext cx="3058650" cy="259080"/>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=COUNTIF(</a:t>
            </a:r>
            <a:pPr algn="l" indent="0" marL="0">
              <a:buNone/>
            </a:pPr>
            <a:r>
              <a:rPr lang="en-US" sz="1500" spc="30" kern="0" dirty="0">
                <a:solidFill>
                  <a:srgbClr val="FBBF24"/>
                </a:solidFill>
                <a:latin typeface="Courier New" pitchFamily="34" charset="0"/>
                <a:ea typeface="Courier New" pitchFamily="34" charset="-122"/>
                <a:cs typeface="Courier New" pitchFamily="34" charset="-120"/>
              </a:rPr>
              <a:t>range</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34D399"/>
                </a:solidFill>
                <a:latin typeface="Courier New" pitchFamily="34" charset="0"/>
                <a:ea typeface="Courier New" pitchFamily="34" charset="-122"/>
                <a:cs typeface="Courier New" pitchFamily="34" charset="-120"/>
              </a:rPr>
              <a:t>criteria</a:t>
            </a:r>
            <a:pPr algn="l" indent="0" marL="0">
              <a:buNone/>
            </a:pPr>
            <a:r>
              <a:rPr lang="en-US" sz="1500" spc="30" kern="0" dirty="0">
                <a:solidFill>
                  <a:srgbClr val="22D3EE"/>
                </a:solidFill>
                <a:highlight>
                  <a:srgbClr val="161B22"/>
                </a:highlight>
                <a:latin typeface="Courier New" pitchFamily="34" charset="0"/>
                <a:ea typeface="Courier New" pitchFamily="34" charset="-122"/>
                <a:cs typeface="Courier New" pitchFamily="34" charset="-120"/>
              </a:rPr>
              <a:t>)</a:t>
            </a:r>
            <a:endParaRPr lang="en-US" sz="1500" dirty="0"/>
          </a:p>
        </p:txBody>
      </p:sp>
      <p:sp>
        <p:nvSpPr>
          <p:cNvPr id="21" name="Text 19"/>
          <p:cNvSpPr/>
          <p:nvPr/>
        </p:nvSpPr>
        <p:spPr>
          <a:xfrm>
            <a:off x="6840141" y="3112770"/>
            <a:ext cx="4745828"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Use when: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You need to count how many rows match a condition</a:t>
            </a:r>
            <a:endParaRPr lang="en-US" sz="1950" dirty="0"/>
          </a:p>
        </p:txBody>
      </p:sp>
      <p:sp>
        <p:nvSpPr>
          <p:cNvPr id="22" name="Text 20"/>
          <p:cNvSpPr/>
          <p:nvPr/>
        </p:nvSpPr>
        <p:spPr>
          <a:xfrm>
            <a:off x="6840141" y="4048125"/>
            <a:ext cx="4745828"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22D3EE"/>
                </a:solidFill>
                <a:latin typeface="Arial" pitchFamily="34" charset="0"/>
                <a:ea typeface="Arial" pitchFamily="34" charset="-122"/>
                <a:cs typeface="Arial" pitchFamily="34" charset="-120"/>
              </a:rPr>
              <a:t>Example: Count how many orders came from Region East</a:t>
            </a:r>
            <a:endParaRPr lang="en-US" sz="1950" dirty="0"/>
          </a:p>
        </p:txBody>
      </p:sp>
      <p:sp>
        <p:nvSpPr>
          <p:cNvPr id="23" name="Shape 21"/>
          <p:cNvSpPr/>
          <p:nvPr/>
        </p:nvSpPr>
        <p:spPr>
          <a:xfrm>
            <a:off x="12026860" y="1680210"/>
            <a:ext cx="5308640" cy="7844790"/>
          </a:xfrm>
          <a:prstGeom prst="roundRect">
            <a:avLst>
              <a:gd name="adj" fmla="val 2153"/>
            </a:avLst>
          </a:prstGeom>
          <a:solidFill>
            <a:srgbClr val="161B22"/>
          </a:solidFill>
          <a:ln w="7620">
            <a:solidFill>
              <a:srgbClr val="FFFFFF">
                <a:alpha val="8000"/>
              </a:srgbClr>
            </a:solidFill>
            <a:prstDash val="solid"/>
          </a:ln>
        </p:spPr>
      </p:sp>
      <p:sp>
        <p:nvSpPr>
          <p:cNvPr id="24" name="Text 22"/>
          <p:cNvSpPr/>
          <p:nvPr/>
        </p:nvSpPr>
        <p:spPr>
          <a:xfrm>
            <a:off x="12377381" y="1992630"/>
            <a:ext cx="4745828" cy="350520"/>
          </a:xfrm>
          <a:prstGeom prst="rect">
            <a:avLst/>
          </a:prstGeom>
          <a:noFill/>
          <a:ln/>
        </p:spPr>
        <p:txBody>
          <a:bodyPr wrap="square" lIns="25400" tIns="25400" rIns="25400" bIns="25400" rtlCol="0" anchor="t">
            <a:normAutofit/>
          </a:bodyPr>
          <a:lstStyle/>
          <a:p>
            <a:pPr algn="l" indent="0" marL="0">
              <a:buNone/>
            </a:pPr>
            <a:r>
              <a:rPr lang="en-US" sz="2100" b="1" dirty="0">
                <a:solidFill>
                  <a:srgbClr val="34D399"/>
                </a:solidFill>
                <a:latin typeface="monospace" pitchFamily="34" charset="0"/>
                <a:ea typeface="monospace" pitchFamily="34" charset="-122"/>
                <a:cs typeface="monospace" pitchFamily="34" charset="-120"/>
              </a:rPr>
              <a:t>SUMIF</a:t>
            </a:r>
            <a:endParaRPr lang="en-US" sz="2100" dirty="0"/>
          </a:p>
        </p:txBody>
      </p:sp>
      <p:sp>
        <p:nvSpPr>
          <p:cNvPr id="25" name="Shape 23"/>
          <p:cNvSpPr/>
          <p:nvPr/>
        </p:nvSpPr>
        <p:spPr>
          <a:xfrm>
            <a:off x="12377381" y="2457450"/>
            <a:ext cx="4565571" cy="502920"/>
          </a:xfrm>
          <a:prstGeom prst="roundRect">
            <a:avLst>
              <a:gd name="adj" fmla="val 15152"/>
            </a:avLst>
          </a:prstGeom>
          <a:solidFill>
            <a:srgbClr val="161B22"/>
          </a:solidFill>
          <a:ln w="7620">
            <a:solidFill>
              <a:srgbClr val="FFFFFF">
                <a:alpha val="8000"/>
              </a:srgbClr>
            </a:solidFill>
            <a:prstDash val="solid"/>
          </a:ln>
        </p:spPr>
      </p:sp>
      <p:sp>
        <p:nvSpPr>
          <p:cNvPr id="26" name="Text 24"/>
          <p:cNvSpPr/>
          <p:nvPr/>
        </p:nvSpPr>
        <p:spPr>
          <a:xfrm>
            <a:off x="12651701" y="2598420"/>
            <a:ext cx="4153898" cy="259080"/>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34D399"/>
                </a:solidFill>
                <a:highlight>
                  <a:srgbClr val="161B22"/>
                </a:highlight>
                <a:latin typeface="Courier New" pitchFamily="34" charset="0"/>
                <a:ea typeface="Courier New" pitchFamily="34" charset="-122"/>
                <a:cs typeface="Courier New" pitchFamily="34" charset="-120"/>
              </a:rPr>
              <a:t>=SUMIF(</a:t>
            </a:r>
            <a:pPr algn="l" indent="0" marL="0">
              <a:buNone/>
            </a:pPr>
            <a:r>
              <a:rPr lang="en-US" sz="1500" spc="30" kern="0" dirty="0">
                <a:solidFill>
                  <a:srgbClr val="FBBF24"/>
                </a:solidFill>
                <a:latin typeface="Courier New" pitchFamily="34" charset="0"/>
                <a:ea typeface="Courier New" pitchFamily="34" charset="-122"/>
                <a:cs typeface="Courier New" pitchFamily="34" charset="-120"/>
              </a:rPr>
              <a:t>range</a:t>
            </a:r>
            <a:pPr algn="l" indent="0" marL="0">
              <a:buNone/>
            </a:pPr>
            <a:r>
              <a:rPr lang="en-US" sz="1500" spc="30" kern="0" dirty="0">
                <a:solidFill>
                  <a:srgbClr val="34D399"/>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34D399"/>
                </a:solidFill>
                <a:latin typeface="Courier New" pitchFamily="34" charset="0"/>
                <a:ea typeface="Courier New" pitchFamily="34" charset="-122"/>
                <a:cs typeface="Courier New" pitchFamily="34" charset="-120"/>
              </a:rPr>
              <a:t>criteria</a:t>
            </a:r>
            <a:pPr algn="l" indent="0" marL="0">
              <a:buNone/>
            </a:pPr>
            <a:r>
              <a:rPr lang="en-US" sz="1500" spc="30" kern="0" dirty="0">
                <a:solidFill>
                  <a:srgbClr val="34D399"/>
                </a:solidFill>
                <a:highlight>
                  <a:srgbClr val="161B22"/>
                </a:highlight>
                <a:latin typeface="Courier New" pitchFamily="34" charset="0"/>
                <a:ea typeface="Courier New" pitchFamily="34" charset="-122"/>
                <a:cs typeface="Courier New" pitchFamily="34" charset="-120"/>
              </a:rPr>
              <a:t>, </a:t>
            </a:r>
            <a:pPr algn="l" indent="0" marL="0">
              <a:buNone/>
            </a:pPr>
            <a:r>
              <a:rPr lang="en-US" sz="1500" spc="30" kern="0" dirty="0">
                <a:solidFill>
                  <a:srgbClr val="FBBF24"/>
                </a:solidFill>
                <a:latin typeface="Courier New" pitchFamily="34" charset="0"/>
                <a:ea typeface="Courier New" pitchFamily="34" charset="-122"/>
                <a:cs typeface="Courier New" pitchFamily="34" charset="-120"/>
              </a:rPr>
              <a:t>sum_range</a:t>
            </a:r>
            <a:pPr algn="l" indent="0" marL="0">
              <a:buNone/>
            </a:pPr>
            <a:r>
              <a:rPr lang="en-US" sz="1500" spc="30" kern="0" dirty="0">
                <a:solidFill>
                  <a:srgbClr val="34D399"/>
                </a:solidFill>
                <a:highlight>
                  <a:srgbClr val="161B22"/>
                </a:highlight>
                <a:latin typeface="Courier New" pitchFamily="34" charset="0"/>
                <a:ea typeface="Courier New" pitchFamily="34" charset="-122"/>
                <a:cs typeface="Courier New" pitchFamily="34" charset="-120"/>
              </a:rPr>
              <a:t>)</a:t>
            </a:r>
            <a:endParaRPr lang="en-US" sz="1500" dirty="0"/>
          </a:p>
        </p:txBody>
      </p:sp>
      <p:sp>
        <p:nvSpPr>
          <p:cNvPr id="27" name="Text 25"/>
          <p:cNvSpPr/>
          <p:nvPr/>
        </p:nvSpPr>
        <p:spPr>
          <a:xfrm>
            <a:off x="12377381" y="3112770"/>
            <a:ext cx="4745828"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0F6FC"/>
                </a:solidFill>
                <a:latin typeface="Arial" pitchFamily="34" charset="0"/>
                <a:ea typeface="Arial" pitchFamily="34" charset="-122"/>
                <a:cs typeface="Arial" pitchFamily="34" charset="-120"/>
              </a:rPr>
              <a:t>Use when: </a:t>
            </a:r>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You need to total values only where a condition is true</a:t>
            </a:r>
            <a:endParaRPr lang="en-US" sz="1950" dirty="0"/>
          </a:p>
        </p:txBody>
      </p:sp>
      <p:sp>
        <p:nvSpPr>
          <p:cNvPr id="28" name="Text 26"/>
          <p:cNvSpPr/>
          <p:nvPr/>
        </p:nvSpPr>
        <p:spPr>
          <a:xfrm>
            <a:off x="12377381" y="4048125"/>
            <a:ext cx="4745828"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4D399"/>
                </a:solidFill>
                <a:latin typeface="Arial" pitchFamily="34" charset="0"/>
                <a:ea typeface="Arial" pitchFamily="34" charset="-122"/>
                <a:cs typeface="Arial" pitchFamily="34" charset="-120"/>
              </a:rPr>
              <a:t>Example: Total revenue from Category A products</a:t>
            </a:r>
            <a:endParaRPr lang="en-US" sz="1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50651"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05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VLOOKUP, COUNTIF &amp; SUMIF</a:t>
            </a:r>
            <a:endParaRPr lang="en-US" sz="3900" dirty="0"/>
          </a:p>
        </p:txBody>
      </p:sp>
      <p:sp>
        <p:nvSpPr>
          <p:cNvPr id="8" name="Text 6"/>
          <p:cNvSpPr/>
          <p:nvPr/>
        </p:nvSpPr>
        <p:spPr>
          <a:xfrm>
            <a:off x="1493520" y="2672715"/>
            <a:ext cx="15759989" cy="2268855"/>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Open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Module5_Data.xlsx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two sheets: Orders and Products.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In the Orders sheet, use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VLOOKUP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 fill in the Product Name column by looking up each Product ID in the Products table.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COUNTIF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 count how many orders came from </a:t>
            </a:r>
            <a:pPr algn="l" indent="0" marL="0">
              <a:lnSpc>
                <a:spcPct val="165000"/>
              </a:lnSpc>
              <a:buNone/>
            </a:pPr>
            <a:r>
              <a:rPr lang="en-US" sz="2100" i="1" dirty="0">
                <a:solidFill>
                  <a:srgbClr val="AEC8C2"/>
                </a:solidFill>
                <a:latin typeface="Arial" pitchFamily="34" charset="0"/>
                <a:ea typeface="Arial" pitchFamily="34" charset="-122"/>
                <a:cs typeface="Arial" pitchFamily="34" charset="-120"/>
              </a:rPr>
              <a:t>Region East</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SUMIF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to calculate total revenue from </a:t>
            </a:r>
            <a:pPr algn="l" indent="0" marL="0">
              <a:lnSpc>
                <a:spcPct val="165000"/>
              </a:lnSpc>
              <a:buNone/>
            </a:pPr>
            <a:r>
              <a:rPr lang="en-US" sz="2100" i="1" dirty="0">
                <a:solidFill>
                  <a:srgbClr val="AEC8C2"/>
                </a:solidFill>
                <a:latin typeface="Arial" pitchFamily="34" charset="0"/>
                <a:ea typeface="Arial" pitchFamily="34" charset="-122"/>
                <a:cs typeface="Arial" pitchFamily="34" charset="-120"/>
              </a:rPr>
              <a:t>Category A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products.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Lock your VLOOKUP table range with F4 and copy the formula down all rows — does it still work?</a:t>
            </a:r>
            <a:endParaRPr lang="en-US" sz="2100" dirty="0"/>
          </a:p>
        </p:txBody>
      </p:sp>
      <p:sp>
        <p:nvSpPr>
          <p:cNvPr id="9" name="Shape 7"/>
          <p:cNvSpPr/>
          <p:nvPr/>
        </p:nvSpPr>
        <p:spPr>
          <a:xfrm>
            <a:off x="1493520" y="5170170"/>
            <a:ext cx="1528167"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263515"/>
            <a:ext cx="1170027"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8 minutes</a:t>
            </a:r>
            <a:endParaRPr lang="en-US" sz="1500" dirty="0"/>
          </a:p>
        </p:txBody>
      </p:sp>
      <p:sp>
        <p:nvSpPr>
          <p:cNvPr id="11" name="Shape 9"/>
          <p:cNvSpPr/>
          <p:nvPr/>
        </p:nvSpPr>
        <p:spPr>
          <a:xfrm>
            <a:off x="3174087" y="5170170"/>
            <a:ext cx="1920121"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91257" y="5263515"/>
            <a:ext cx="1561981"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Intermediate</a:t>
            </a:r>
            <a:endParaRPr lang="en-US" sz="1500" dirty="0"/>
          </a:p>
        </p:txBody>
      </p:sp>
      <p:sp>
        <p:nvSpPr>
          <p:cNvPr id="13" name="Shape 11"/>
          <p:cNvSpPr/>
          <p:nvPr/>
        </p:nvSpPr>
        <p:spPr>
          <a:xfrm>
            <a:off x="5246608" y="5170170"/>
            <a:ext cx="2244923" cy="438150"/>
          </a:xfrm>
          <a:prstGeom prst="roundRect">
            <a:avLst>
              <a:gd name="adj" fmla="val 17391"/>
            </a:avLst>
          </a:prstGeom>
          <a:solidFill>
            <a:srgbClr val="A78BFA">
              <a:alpha val="12000"/>
            </a:srgbClr>
          </a:solidFill>
          <a:ln w="7620">
            <a:solidFill>
              <a:srgbClr val="A78BFA">
                <a:alpha val="28000"/>
              </a:srgbClr>
            </a:solidFill>
            <a:prstDash val="solid"/>
          </a:ln>
        </p:spPr>
      </p:sp>
      <p:sp>
        <p:nvSpPr>
          <p:cNvPr id="14" name="Text 12"/>
          <p:cNvSpPr/>
          <p:nvPr/>
        </p:nvSpPr>
        <p:spPr>
          <a:xfrm>
            <a:off x="5463778" y="5263515"/>
            <a:ext cx="1886783"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A78BFA"/>
                </a:solidFill>
                <a:latin typeface="Arial" pitchFamily="34" charset="0"/>
                <a:ea typeface="Arial" pitchFamily="34" charset="-122"/>
                <a:cs typeface="Arial" pitchFamily="34" charset="-120"/>
              </a:rPr>
              <a:t>✦ Bonus: F4 locking</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617905" y="8382000"/>
            <a:ext cx="2174796"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06</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6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Tables &amp; </a:t>
            </a:r>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Charts</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Turning numbers into visual stories</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25 minutes</a:t>
            </a:r>
            <a:endParaRPr lang="en-US" sz="1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6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Choosing the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Right Chart</a:t>
            </a:r>
            <a:endParaRPr lang="en-US" sz="4200" dirty="0"/>
          </a:p>
        </p:txBody>
      </p:sp>
      <p:sp>
        <p:nvSpPr>
          <p:cNvPr id="11" name="Shape 9"/>
          <p:cNvSpPr/>
          <p:nvPr/>
        </p:nvSpPr>
        <p:spPr>
          <a:xfrm>
            <a:off x="952500" y="1718310"/>
            <a:ext cx="3867150" cy="6208395"/>
          </a:xfrm>
          <a:prstGeom prst="roundRect">
            <a:avLst>
              <a:gd name="adj" fmla="val 2956"/>
            </a:avLst>
          </a:prstGeom>
          <a:solidFill>
            <a:srgbClr val="161B22"/>
          </a:solidFill>
          <a:ln w="7620">
            <a:solidFill>
              <a:srgbClr val="FFFFFF">
                <a:alpha val="8000"/>
              </a:srgbClr>
            </a:solidFill>
            <a:prstDash val="solid"/>
          </a:ln>
        </p:spPr>
      </p:sp>
      <p:sp>
        <p:nvSpPr>
          <p:cNvPr id="12" name="Text 10"/>
          <p:cNvSpPr/>
          <p:nvPr/>
        </p:nvSpPr>
        <p:spPr>
          <a:xfrm>
            <a:off x="1303020" y="2030730"/>
            <a:ext cx="3261093" cy="373380"/>
          </a:xfrm>
          <a:prstGeom prst="rect">
            <a:avLst/>
          </a:prstGeom>
          <a:noFill/>
          <a:ln/>
        </p:spPr>
        <p:txBody>
          <a:bodyPr wrap="square" lIns="25400" tIns="25400" rIns="25400" bIns="25400" rtlCol="0" anchor="t">
            <a:normAutofit/>
          </a:bodyPr>
          <a:lstStyle/>
          <a:p>
            <a:pPr algn="l" indent="0" marL="0">
              <a:buNone/>
            </a:pPr>
            <a:r>
              <a:rPr lang="en-US" sz="2100" b="1" dirty="0">
                <a:solidFill>
                  <a:srgbClr val="2DD4BF"/>
                </a:solidFill>
                <a:latin typeface="Arial" pitchFamily="34" charset="0"/>
                <a:ea typeface="Arial" pitchFamily="34" charset="-122"/>
                <a:cs typeface="Arial" pitchFamily="34" charset="-120"/>
              </a:rPr>
              <a:t>Bar / Column</a:t>
            </a:r>
            <a:endParaRPr lang="en-US" sz="2100" dirty="0"/>
          </a:p>
        </p:txBody>
      </p:sp>
      <p:sp>
        <p:nvSpPr>
          <p:cNvPr id="13" name="Text 11"/>
          <p:cNvSpPr/>
          <p:nvPr/>
        </p:nvSpPr>
        <p:spPr>
          <a:xfrm>
            <a:off x="1303020" y="2518410"/>
            <a:ext cx="3261093" cy="191071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Comparing quantities across </a:t>
            </a:r>
            <a:pPr algn="l" indent="0" marL="0">
              <a:lnSpc>
                <a:spcPct val="150000"/>
              </a:lnSpc>
              <a:buNone/>
            </a:pPr>
            <a:r>
              <a:rPr lang="en-US" sz="1950" b="1" dirty="0">
                <a:solidFill>
                  <a:srgbClr val="F0F6FC"/>
                </a:solidFill>
                <a:latin typeface="Arial" pitchFamily="34" charset="0"/>
                <a:ea typeface="Arial" pitchFamily="34" charset="-122"/>
                <a:cs typeface="Arial" pitchFamily="34" charset="-120"/>
              </a:rPr>
              <a:t>categories </a:t>
            </a:r>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 Best when you have 2–12 categories and want to show magnitude differences clearly.</a:t>
            </a:r>
            <a:endParaRPr lang="en-US" sz="1950" dirty="0"/>
          </a:p>
        </p:txBody>
      </p:sp>
      <p:sp>
        <p:nvSpPr>
          <p:cNvPr id="14" name="Text 12"/>
          <p:cNvSpPr/>
          <p:nvPr/>
        </p:nvSpPr>
        <p:spPr>
          <a:xfrm>
            <a:off x="1303020" y="4543425"/>
            <a:ext cx="3261093" cy="510540"/>
          </a:xfrm>
          <a:prstGeom prst="rect">
            <a:avLst/>
          </a:prstGeom>
          <a:noFill/>
          <a:ln/>
        </p:spPr>
        <p:txBody>
          <a:bodyPr wrap="square" lIns="25400" tIns="25400" rIns="25400" bIns="25400" rtlCol="0" anchor="t">
            <a:normAutofit/>
          </a:bodyPr>
          <a:lstStyle/>
          <a:p>
            <a:pPr algn="l" indent="0" marL="0">
              <a:buNone/>
            </a:pPr>
            <a:r>
              <a:rPr lang="en-US" sz="1500" dirty="0">
                <a:solidFill>
                  <a:srgbClr val="2DD4BF"/>
                </a:solidFill>
                <a:latin typeface="Arial" pitchFamily="34" charset="0"/>
                <a:ea typeface="Arial" pitchFamily="34" charset="-122"/>
                <a:cs typeface="Arial" pitchFamily="34" charset="-120"/>
              </a:rPr>
              <a:t>✓ Sales by region, headcount by dept</a:t>
            </a:r>
            <a:endParaRPr lang="en-US" sz="1500" dirty="0"/>
          </a:p>
        </p:txBody>
      </p:sp>
      <p:sp>
        <p:nvSpPr>
          <p:cNvPr id="15" name="Shape 13"/>
          <p:cNvSpPr/>
          <p:nvPr/>
        </p:nvSpPr>
        <p:spPr>
          <a:xfrm>
            <a:off x="5124450" y="1718310"/>
            <a:ext cx="3867150" cy="6208395"/>
          </a:xfrm>
          <a:prstGeom prst="roundRect">
            <a:avLst>
              <a:gd name="adj" fmla="val 2956"/>
            </a:avLst>
          </a:prstGeom>
          <a:solidFill>
            <a:srgbClr val="161B22"/>
          </a:solidFill>
          <a:ln w="7620">
            <a:solidFill>
              <a:srgbClr val="FFFFFF">
                <a:alpha val="8000"/>
              </a:srgbClr>
            </a:solidFill>
            <a:prstDash val="solid"/>
          </a:ln>
        </p:spPr>
      </p:sp>
      <p:sp>
        <p:nvSpPr>
          <p:cNvPr id="16" name="Text 14"/>
          <p:cNvSpPr/>
          <p:nvPr/>
        </p:nvSpPr>
        <p:spPr>
          <a:xfrm>
            <a:off x="5474970" y="2030730"/>
            <a:ext cx="3261093" cy="373380"/>
          </a:xfrm>
          <a:prstGeom prst="rect">
            <a:avLst/>
          </a:prstGeom>
          <a:noFill/>
          <a:ln/>
        </p:spPr>
        <p:txBody>
          <a:bodyPr wrap="square" lIns="25400" tIns="25400" rIns="25400" bIns="25400" rtlCol="0" anchor="t">
            <a:normAutofit/>
          </a:bodyPr>
          <a:lstStyle/>
          <a:p>
            <a:pPr algn="l" indent="0" marL="0">
              <a:buNone/>
            </a:pPr>
            <a:r>
              <a:rPr lang="en-US" sz="2100" b="1" dirty="0">
                <a:solidFill>
                  <a:srgbClr val="22D3EE"/>
                </a:solidFill>
                <a:latin typeface="Arial" pitchFamily="34" charset="0"/>
                <a:ea typeface="Arial" pitchFamily="34" charset="-122"/>
                <a:cs typeface="Arial" pitchFamily="34" charset="-120"/>
              </a:rPr>
              <a:t>Line</a:t>
            </a:r>
            <a:endParaRPr lang="en-US" sz="2100" dirty="0"/>
          </a:p>
        </p:txBody>
      </p:sp>
      <p:sp>
        <p:nvSpPr>
          <p:cNvPr id="17" name="Text 15"/>
          <p:cNvSpPr/>
          <p:nvPr/>
        </p:nvSpPr>
        <p:spPr>
          <a:xfrm>
            <a:off x="5474970" y="2518410"/>
            <a:ext cx="3261093" cy="191071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Showing change </a:t>
            </a:r>
            <a:pPr algn="l" indent="0" marL="0">
              <a:lnSpc>
                <a:spcPct val="150000"/>
              </a:lnSpc>
              <a:buNone/>
            </a:pPr>
            <a:r>
              <a:rPr lang="en-US" sz="1950" b="1" dirty="0">
                <a:solidFill>
                  <a:srgbClr val="F0F6FC"/>
                </a:solidFill>
                <a:latin typeface="Arial" pitchFamily="34" charset="0"/>
                <a:ea typeface="Arial" pitchFamily="34" charset="-122"/>
                <a:cs typeface="Arial" pitchFamily="34" charset="-120"/>
              </a:rPr>
              <a:t>over time </a:t>
            </a:r>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 Best when you have many time points (daily, monthly, yearly) and direction of change matters.</a:t>
            </a:r>
            <a:endParaRPr lang="en-US" sz="1950" dirty="0"/>
          </a:p>
        </p:txBody>
      </p:sp>
      <p:sp>
        <p:nvSpPr>
          <p:cNvPr id="18" name="Text 16"/>
          <p:cNvSpPr/>
          <p:nvPr/>
        </p:nvSpPr>
        <p:spPr>
          <a:xfrm>
            <a:off x="5474970" y="4543425"/>
            <a:ext cx="3261093"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2D3EE"/>
                </a:solidFill>
                <a:latin typeface="Arial" pitchFamily="34" charset="0"/>
                <a:ea typeface="Arial" pitchFamily="34" charset="-122"/>
                <a:cs typeface="Arial" pitchFamily="34" charset="-120"/>
              </a:rPr>
              <a:t>✓ Monthly revenue trend, stock price</a:t>
            </a:r>
            <a:endParaRPr lang="en-US" sz="1500" dirty="0"/>
          </a:p>
        </p:txBody>
      </p:sp>
      <p:sp>
        <p:nvSpPr>
          <p:cNvPr id="19" name="Shape 17"/>
          <p:cNvSpPr/>
          <p:nvPr/>
        </p:nvSpPr>
        <p:spPr>
          <a:xfrm>
            <a:off x="9296400" y="1718310"/>
            <a:ext cx="3867150" cy="6208395"/>
          </a:xfrm>
          <a:prstGeom prst="roundRect">
            <a:avLst>
              <a:gd name="adj" fmla="val 2956"/>
            </a:avLst>
          </a:prstGeom>
          <a:solidFill>
            <a:srgbClr val="161B22"/>
          </a:solidFill>
          <a:ln w="7620">
            <a:solidFill>
              <a:srgbClr val="FFFFFF">
                <a:alpha val="8000"/>
              </a:srgbClr>
            </a:solidFill>
            <a:prstDash val="solid"/>
          </a:ln>
        </p:spPr>
      </p:sp>
      <p:sp>
        <p:nvSpPr>
          <p:cNvPr id="20" name="Text 18"/>
          <p:cNvSpPr/>
          <p:nvPr/>
        </p:nvSpPr>
        <p:spPr>
          <a:xfrm>
            <a:off x="9646920" y="2030730"/>
            <a:ext cx="3261093" cy="373380"/>
          </a:xfrm>
          <a:prstGeom prst="rect">
            <a:avLst/>
          </a:prstGeom>
          <a:noFill/>
          <a:ln/>
        </p:spPr>
        <p:txBody>
          <a:bodyPr wrap="square" lIns="25400" tIns="25400" rIns="25400" bIns="25400" rtlCol="0" anchor="t">
            <a:normAutofit/>
          </a:bodyPr>
          <a:lstStyle/>
          <a:p>
            <a:pPr algn="l" indent="0" marL="0">
              <a:buNone/>
            </a:pPr>
            <a:r>
              <a:rPr lang="en-US" sz="2100" b="1" dirty="0">
                <a:solidFill>
                  <a:srgbClr val="FBBF24"/>
                </a:solidFill>
                <a:latin typeface="Arial" pitchFamily="34" charset="0"/>
                <a:ea typeface="Arial" pitchFamily="34" charset="-122"/>
                <a:cs typeface="Arial" pitchFamily="34" charset="-120"/>
              </a:rPr>
              <a:t>Pie / Donut</a:t>
            </a:r>
            <a:endParaRPr lang="en-US" sz="2100" dirty="0"/>
          </a:p>
        </p:txBody>
      </p:sp>
      <p:sp>
        <p:nvSpPr>
          <p:cNvPr id="21" name="Text 19"/>
          <p:cNvSpPr/>
          <p:nvPr/>
        </p:nvSpPr>
        <p:spPr>
          <a:xfrm>
            <a:off x="9646920" y="2518410"/>
            <a:ext cx="3261093" cy="191071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Showing </a:t>
            </a:r>
            <a:pPr algn="l" indent="0" marL="0">
              <a:lnSpc>
                <a:spcPct val="150000"/>
              </a:lnSpc>
              <a:buNone/>
            </a:pPr>
            <a:r>
              <a:rPr lang="en-US" sz="1950" b="1" dirty="0">
                <a:solidFill>
                  <a:srgbClr val="F0F6FC"/>
                </a:solidFill>
                <a:latin typeface="Arial" pitchFamily="34" charset="0"/>
                <a:ea typeface="Arial" pitchFamily="34" charset="-122"/>
                <a:cs typeface="Arial" pitchFamily="34" charset="-120"/>
              </a:rPr>
              <a:t>part-to-whole </a:t>
            </a:r>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relationships. Only when slices sum to a meaningful 100% and you have fewer than 6 categories.</a:t>
            </a:r>
            <a:endParaRPr lang="en-US" sz="1950" dirty="0"/>
          </a:p>
        </p:txBody>
      </p:sp>
      <p:sp>
        <p:nvSpPr>
          <p:cNvPr id="22" name="Text 20"/>
          <p:cNvSpPr/>
          <p:nvPr/>
        </p:nvSpPr>
        <p:spPr>
          <a:xfrm>
            <a:off x="9646920" y="4543425"/>
            <a:ext cx="3261093" cy="289560"/>
          </a:xfrm>
          <a:prstGeom prst="rect">
            <a:avLst/>
          </a:prstGeom>
          <a:noFill/>
          <a:ln/>
        </p:spPr>
        <p:txBody>
          <a:bodyPr wrap="square" lIns="25400" tIns="25400" rIns="25400" bIns="25400" rtlCol="0" anchor="t">
            <a:normAutofit/>
          </a:bodyPr>
          <a:lstStyle/>
          <a:p>
            <a:pPr algn="l" indent="0" marL="0">
              <a:buNone/>
            </a:pPr>
            <a:r>
              <a:rPr lang="en-US" sz="1500" dirty="0">
                <a:solidFill>
                  <a:srgbClr val="FBBF24"/>
                </a:solidFill>
                <a:latin typeface="Arial" pitchFamily="34" charset="0"/>
                <a:ea typeface="Arial" pitchFamily="34" charset="-122"/>
                <a:cs typeface="Arial" pitchFamily="34" charset="-120"/>
              </a:rPr>
              <a:t>✓ Market share, budget allocation</a:t>
            </a:r>
            <a:endParaRPr lang="en-US" sz="1500" dirty="0"/>
          </a:p>
        </p:txBody>
      </p:sp>
      <p:sp>
        <p:nvSpPr>
          <p:cNvPr id="23" name="Shape 21"/>
          <p:cNvSpPr/>
          <p:nvPr/>
        </p:nvSpPr>
        <p:spPr>
          <a:xfrm>
            <a:off x="13468350" y="1718310"/>
            <a:ext cx="3867150" cy="6208395"/>
          </a:xfrm>
          <a:prstGeom prst="roundRect">
            <a:avLst>
              <a:gd name="adj" fmla="val 2956"/>
            </a:avLst>
          </a:prstGeom>
          <a:solidFill>
            <a:srgbClr val="161B22"/>
          </a:solidFill>
          <a:ln w="7620">
            <a:solidFill>
              <a:srgbClr val="FFFFFF">
                <a:alpha val="8000"/>
              </a:srgbClr>
            </a:solidFill>
            <a:prstDash val="solid"/>
          </a:ln>
        </p:spPr>
      </p:sp>
      <p:sp>
        <p:nvSpPr>
          <p:cNvPr id="24" name="Text 22"/>
          <p:cNvSpPr/>
          <p:nvPr/>
        </p:nvSpPr>
        <p:spPr>
          <a:xfrm>
            <a:off x="13818870" y="2030730"/>
            <a:ext cx="3261093" cy="373380"/>
          </a:xfrm>
          <a:prstGeom prst="rect">
            <a:avLst/>
          </a:prstGeom>
          <a:noFill/>
          <a:ln/>
        </p:spPr>
        <p:txBody>
          <a:bodyPr wrap="square" lIns="25400" tIns="25400" rIns="25400" bIns="25400" rtlCol="0" anchor="t">
            <a:normAutofit/>
          </a:bodyPr>
          <a:lstStyle/>
          <a:p>
            <a:pPr algn="l" indent="0" marL="0">
              <a:buNone/>
            </a:pPr>
            <a:r>
              <a:rPr lang="en-US" sz="2100" b="1" dirty="0">
                <a:solidFill>
                  <a:srgbClr val="34D399"/>
                </a:solidFill>
                <a:latin typeface="Arial" pitchFamily="34" charset="0"/>
                <a:ea typeface="Arial" pitchFamily="34" charset="-122"/>
                <a:cs typeface="Arial" pitchFamily="34" charset="-120"/>
              </a:rPr>
              <a:t>Scatter</a:t>
            </a:r>
            <a:endParaRPr lang="en-US" sz="2100" dirty="0"/>
          </a:p>
        </p:txBody>
      </p:sp>
      <p:sp>
        <p:nvSpPr>
          <p:cNvPr id="25" name="Text 23"/>
          <p:cNvSpPr/>
          <p:nvPr/>
        </p:nvSpPr>
        <p:spPr>
          <a:xfrm>
            <a:off x="13818870" y="2518410"/>
            <a:ext cx="3261093" cy="191071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Showing </a:t>
            </a:r>
            <a:pPr algn="l" indent="0" marL="0">
              <a:lnSpc>
                <a:spcPct val="150000"/>
              </a:lnSpc>
              <a:buNone/>
            </a:pPr>
            <a:r>
              <a:rPr lang="en-US" sz="1950" b="1" dirty="0">
                <a:solidFill>
                  <a:srgbClr val="F0F6FC"/>
                </a:solidFill>
                <a:latin typeface="Arial" pitchFamily="34" charset="0"/>
                <a:ea typeface="Arial" pitchFamily="34" charset="-122"/>
                <a:cs typeface="Arial" pitchFamily="34" charset="-120"/>
              </a:rPr>
              <a:t>correlation </a:t>
            </a:r>
            <a:pPr algn="l" indent="0" marL="0">
              <a:lnSpc>
                <a:spcPct val="150000"/>
              </a:lnSpc>
              <a:buNone/>
            </a:pPr>
            <a:r>
              <a:rPr lang="en-US" sz="1950" dirty="0">
                <a:solidFill>
                  <a:srgbClr val="7D8590"/>
                </a:solidFill>
                <a:latin typeface="Arial" pitchFamily="34" charset="0"/>
                <a:ea typeface="Arial" pitchFamily="34" charset="-122"/>
                <a:cs typeface="Arial" pitchFamily="34" charset="-120"/>
              </a:rPr>
              <a:t>between two numeric variables. Use to find patterns or outliers in continuous data.</a:t>
            </a:r>
            <a:endParaRPr lang="en-US" sz="1950" dirty="0"/>
          </a:p>
        </p:txBody>
      </p:sp>
      <p:sp>
        <p:nvSpPr>
          <p:cNvPr id="26" name="Text 24"/>
          <p:cNvSpPr/>
          <p:nvPr/>
        </p:nvSpPr>
        <p:spPr>
          <a:xfrm>
            <a:off x="13818870" y="4543425"/>
            <a:ext cx="3261093" cy="289560"/>
          </a:xfrm>
          <a:prstGeom prst="rect">
            <a:avLst/>
          </a:prstGeom>
          <a:noFill/>
          <a:ln/>
        </p:spPr>
        <p:txBody>
          <a:bodyPr wrap="square" lIns="25400" tIns="25400" rIns="25400" bIns="25400" rtlCol="0" anchor="t">
            <a:normAutofit/>
          </a:bodyPr>
          <a:lstStyle/>
          <a:p>
            <a:pPr algn="l" indent="0" marL="0">
              <a:buNone/>
            </a:pPr>
            <a:r>
              <a:rPr lang="en-US" sz="1500" dirty="0">
                <a:solidFill>
                  <a:srgbClr val="34D399"/>
                </a:solidFill>
                <a:latin typeface="Arial" pitchFamily="34" charset="0"/>
                <a:ea typeface="Arial" pitchFamily="34" charset="-122"/>
                <a:cs typeface="Arial" pitchFamily="34" charset="-120"/>
              </a:rPr>
              <a:t>✓ Height vs weight, price vs sales</a:t>
            </a:r>
            <a:endParaRPr lang="en-US" sz="1500" dirty="0"/>
          </a:p>
        </p:txBody>
      </p:sp>
      <p:sp>
        <p:nvSpPr>
          <p:cNvPr id="27" name="Shape 25"/>
          <p:cNvSpPr/>
          <p:nvPr/>
        </p:nvSpPr>
        <p:spPr>
          <a:xfrm>
            <a:off x="952500" y="8117205"/>
            <a:ext cx="16383000" cy="1407795"/>
          </a:xfrm>
          <a:prstGeom prst="roundRect">
            <a:avLst>
              <a:gd name="adj" fmla="val 8119"/>
            </a:avLst>
          </a:prstGeom>
          <a:solidFill>
            <a:srgbClr val="FBBF24">
              <a:alpha val="5000"/>
            </a:srgbClr>
          </a:solidFill>
          <a:ln w="7620">
            <a:solidFill>
              <a:srgbClr val="FBBF24">
                <a:alpha val="30000"/>
              </a:srgbClr>
            </a:solidFill>
            <a:prstDash val="solid"/>
          </a:ln>
        </p:spPr>
      </p:sp>
      <p:sp>
        <p:nvSpPr>
          <p:cNvPr id="28" name="Text 26"/>
          <p:cNvSpPr/>
          <p:nvPr/>
        </p:nvSpPr>
        <p:spPr>
          <a:xfrm>
            <a:off x="1303020" y="8429625"/>
            <a:ext cx="1615241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FBBF24"/>
                </a:solidFill>
                <a:latin typeface="Arial" pitchFamily="34" charset="0"/>
                <a:ea typeface="Arial" pitchFamily="34" charset="-122"/>
                <a:cs typeface="Arial" pitchFamily="34" charset="-120"/>
              </a:rPr>
              <a:t>Golden rule: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The chart should make the insight </a:t>
            </a:r>
            <a:pPr algn="l" indent="0" marL="0">
              <a:lnSpc>
                <a:spcPct val="155000"/>
              </a:lnSpc>
              <a:buNone/>
            </a:pPr>
            <a:r>
              <a:rPr lang="en-US" sz="1950" i="1" dirty="0">
                <a:solidFill>
                  <a:srgbClr val="F0F6FC"/>
                </a:solidFill>
                <a:latin typeface="Arial" pitchFamily="34" charset="0"/>
                <a:ea typeface="Arial" pitchFamily="34" charset="-122"/>
                <a:cs typeface="Arial" pitchFamily="34" charset="-120"/>
              </a:rPr>
              <a:t>obvious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to someone seeing the data for the first time. If they have to study it, choose a different chart type.</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6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Column Chart —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Revenue by Quarter</a:t>
            </a:r>
            <a:endParaRPr lang="en-US" sz="4200" dirty="0"/>
          </a:p>
        </p:txBody>
      </p:sp>
      <p:pic>
        <p:nvPicPr>
          <p:cNvPr id="11" name="Image 0" descr="preencoded.png">    </p:cNvPr>
          <p:cNvPicPr>
            <a:picLocks noChangeAspect="1"/>
          </p:cNvPicPr>
          <p:nvPr/>
        </p:nvPicPr>
        <p:blipFill>
          <a:blip r:embed="rId1"/>
          <a:stretch>
            <a:fillRect/>
          </a:stretch>
        </p:blipFill>
        <p:spPr>
          <a:xfrm>
            <a:off x="952500" y="1642110"/>
            <a:ext cx="7962900" cy="3619500"/>
          </a:xfrm>
          <a:prstGeom prst="rect">
            <a:avLst/>
          </a:prstGeom>
        </p:spPr>
      </p:pic>
      <p:sp>
        <p:nvSpPr>
          <p:cNvPr id="12" name="Text 9"/>
          <p:cNvSpPr/>
          <p:nvPr/>
        </p:nvSpPr>
        <p:spPr>
          <a:xfrm>
            <a:off x="9372600" y="1642110"/>
            <a:ext cx="8201787" cy="541020"/>
          </a:xfrm>
          <a:prstGeom prst="rect">
            <a:avLst/>
          </a:prstGeom>
          <a:noFill/>
          <a:ln/>
        </p:spPr>
        <p:txBody>
          <a:bodyPr wrap="square" lIns="25400" tIns="25400" rIns="25400" bIns="25400" rtlCol="0" anchor="t">
            <a:normAutofit/>
          </a:bodyPr>
          <a:lstStyle/>
          <a:p>
            <a:pPr algn="l" indent="0" marL="0">
              <a:lnSpc>
                <a:spcPct val="120000"/>
              </a:lnSpc>
              <a:buNone/>
            </a:pPr>
            <a:r>
              <a:rPr lang="en-US" sz="3300" b="1" dirty="0">
                <a:solidFill>
                  <a:srgbClr val="F0F6FC"/>
                </a:solidFill>
                <a:latin typeface="Arial" pitchFamily="34" charset="0"/>
                <a:ea typeface="Arial" pitchFamily="34" charset="-122"/>
                <a:cs typeface="Arial" pitchFamily="34" charset="-120"/>
              </a:rPr>
              <a:t>When to use columns</a:t>
            </a:r>
            <a:endParaRPr lang="en-US" sz="3300" dirty="0"/>
          </a:p>
        </p:txBody>
      </p:sp>
      <p:sp>
        <p:nvSpPr>
          <p:cNvPr id="13" name="Shape 10"/>
          <p:cNvSpPr/>
          <p:nvPr/>
        </p:nvSpPr>
        <p:spPr>
          <a:xfrm>
            <a:off x="9372600" y="2145030"/>
            <a:ext cx="7962900" cy="703898"/>
          </a:xfrm>
          <a:prstGeom prst="roundRect">
            <a:avLst>
              <a:gd name="adj" fmla="val 16238"/>
            </a:avLst>
          </a:prstGeom>
          <a:solidFill>
            <a:srgbClr val="161B22"/>
          </a:solidFill>
          <a:ln w="7620">
            <a:solidFill>
              <a:srgbClr val="FFFFFF">
                <a:alpha val="8000"/>
              </a:srgbClr>
            </a:solidFill>
            <a:prstDash val="solid"/>
          </a:ln>
        </p:spPr>
      </p:sp>
      <p:sp>
        <p:nvSpPr>
          <p:cNvPr id="14" name="Text 11"/>
          <p:cNvSpPr/>
          <p:nvPr/>
        </p:nvSpPr>
        <p:spPr>
          <a:xfrm>
            <a:off x="9589770" y="2344579"/>
            <a:ext cx="24753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DD4BF"/>
                </a:solidFill>
                <a:latin typeface="Arial" pitchFamily="34" charset="0"/>
                <a:ea typeface="Arial" pitchFamily="34" charset="-122"/>
                <a:cs typeface="Arial" pitchFamily="34" charset="-120"/>
              </a:rPr>
              <a:t>✓</a:t>
            </a:r>
            <a:endParaRPr lang="en-US" sz="1800" dirty="0"/>
          </a:p>
        </p:txBody>
      </p:sp>
      <p:sp>
        <p:nvSpPr>
          <p:cNvPr id="15" name="Text 12"/>
          <p:cNvSpPr/>
          <p:nvPr/>
        </p:nvSpPr>
        <p:spPr>
          <a:xfrm>
            <a:off x="9913501" y="2305050"/>
            <a:ext cx="4905498"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Comparing discrete categories side-by-side</a:t>
            </a:r>
            <a:endParaRPr lang="en-US" sz="1950" dirty="0"/>
          </a:p>
        </p:txBody>
      </p:sp>
      <p:sp>
        <p:nvSpPr>
          <p:cNvPr id="16" name="Shape 13"/>
          <p:cNvSpPr/>
          <p:nvPr/>
        </p:nvSpPr>
        <p:spPr>
          <a:xfrm>
            <a:off x="9372600" y="2848928"/>
            <a:ext cx="7962900" cy="703898"/>
          </a:xfrm>
          <a:prstGeom prst="roundRect">
            <a:avLst>
              <a:gd name="adj" fmla="val 16238"/>
            </a:avLst>
          </a:prstGeom>
          <a:solidFill>
            <a:srgbClr val="161B22"/>
          </a:solidFill>
          <a:ln w="7620">
            <a:solidFill>
              <a:srgbClr val="FFFFFF">
                <a:alpha val="8000"/>
              </a:srgbClr>
            </a:solidFill>
            <a:prstDash val="solid"/>
          </a:ln>
        </p:spPr>
      </p:sp>
      <p:sp>
        <p:nvSpPr>
          <p:cNvPr id="17" name="Text 14"/>
          <p:cNvSpPr/>
          <p:nvPr/>
        </p:nvSpPr>
        <p:spPr>
          <a:xfrm>
            <a:off x="9589770" y="3048476"/>
            <a:ext cx="24753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DD4BF"/>
                </a:solidFill>
                <a:latin typeface="Arial" pitchFamily="34" charset="0"/>
                <a:ea typeface="Arial" pitchFamily="34" charset="-122"/>
                <a:cs typeface="Arial" pitchFamily="34" charset="-120"/>
              </a:rPr>
              <a:t>✓</a:t>
            </a:r>
            <a:endParaRPr lang="en-US" sz="1800" dirty="0"/>
          </a:p>
        </p:txBody>
      </p:sp>
      <p:sp>
        <p:nvSpPr>
          <p:cNvPr id="18" name="Text 15"/>
          <p:cNvSpPr/>
          <p:nvPr/>
        </p:nvSpPr>
        <p:spPr>
          <a:xfrm>
            <a:off x="9913501" y="3008947"/>
            <a:ext cx="4357199"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Time series with fewer than 12 periods</a:t>
            </a:r>
            <a:endParaRPr lang="en-US" sz="1950" dirty="0"/>
          </a:p>
        </p:txBody>
      </p:sp>
      <p:sp>
        <p:nvSpPr>
          <p:cNvPr id="19" name="Shape 16"/>
          <p:cNvSpPr/>
          <p:nvPr/>
        </p:nvSpPr>
        <p:spPr>
          <a:xfrm>
            <a:off x="9372600" y="3552825"/>
            <a:ext cx="7962900" cy="703898"/>
          </a:xfrm>
          <a:prstGeom prst="roundRect">
            <a:avLst>
              <a:gd name="adj" fmla="val 16238"/>
            </a:avLst>
          </a:prstGeom>
          <a:solidFill>
            <a:srgbClr val="161B22"/>
          </a:solidFill>
          <a:ln w="7620">
            <a:solidFill>
              <a:srgbClr val="FFFFFF">
                <a:alpha val="8000"/>
              </a:srgbClr>
            </a:solidFill>
            <a:prstDash val="solid"/>
          </a:ln>
        </p:spPr>
      </p:sp>
      <p:sp>
        <p:nvSpPr>
          <p:cNvPr id="20" name="Text 17"/>
          <p:cNvSpPr/>
          <p:nvPr/>
        </p:nvSpPr>
        <p:spPr>
          <a:xfrm>
            <a:off x="9589770" y="3752374"/>
            <a:ext cx="2630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87171"/>
                </a:solidFill>
                <a:latin typeface="Arial" pitchFamily="34" charset="0"/>
                <a:ea typeface="Arial" pitchFamily="34" charset="-122"/>
                <a:cs typeface="Arial" pitchFamily="34" charset="-120"/>
              </a:rPr>
              <a:t>✗</a:t>
            </a:r>
            <a:endParaRPr lang="en-US" sz="1800" dirty="0"/>
          </a:p>
        </p:txBody>
      </p:sp>
      <p:sp>
        <p:nvSpPr>
          <p:cNvPr id="21" name="Text 18"/>
          <p:cNvSpPr/>
          <p:nvPr/>
        </p:nvSpPr>
        <p:spPr>
          <a:xfrm>
            <a:off x="9928979" y="3712845"/>
            <a:ext cx="5515849"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Long category labels (use horizontal bar instead)</a:t>
            </a:r>
            <a:endParaRPr lang="en-US" sz="1950" dirty="0"/>
          </a:p>
        </p:txBody>
      </p:sp>
      <p:sp>
        <p:nvSpPr>
          <p:cNvPr id="22" name="Shape 19"/>
          <p:cNvSpPr/>
          <p:nvPr/>
        </p:nvSpPr>
        <p:spPr>
          <a:xfrm>
            <a:off x="9372600" y="4256722"/>
            <a:ext cx="7962900" cy="703898"/>
          </a:xfrm>
          <a:prstGeom prst="roundRect">
            <a:avLst>
              <a:gd name="adj" fmla="val 16238"/>
            </a:avLst>
          </a:prstGeom>
          <a:solidFill>
            <a:srgbClr val="161B22"/>
          </a:solidFill>
          <a:ln w="7620">
            <a:solidFill>
              <a:srgbClr val="FFFFFF">
                <a:alpha val="8000"/>
              </a:srgbClr>
            </a:solidFill>
            <a:prstDash val="solid"/>
          </a:ln>
        </p:spPr>
      </p:sp>
      <p:sp>
        <p:nvSpPr>
          <p:cNvPr id="23" name="Text 20"/>
          <p:cNvSpPr/>
          <p:nvPr/>
        </p:nvSpPr>
        <p:spPr>
          <a:xfrm>
            <a:off x="9589770" y="4456271"/>
            <a:ext cx="2630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87171"/>
                </a:solidFill>
                <a:latin typeface="Arial" pitchFamily="34" charset="0"/>
                <a:ea typeface="Arial" pitchFamily="34" charset="-122"/>
                <a:cs typeface="Arial" pitchFamily="34" charset="-120"/>
              </a:rPr>
              <a:t>✗</a:t>
            </a:r>
            <a:endParaRPr lang="en-US" sz="1800" dirty="0"/>
          </a:p>
        </p:txBody>
      </p:sp>
      <p:sp>
        <p:nvSpPr>
          <p:cNvPr id="24" name="Text 21"/>
          <p:cNvSpPr/>
          <p:nvPr/>
        </p:nvSpPr>
        <p:spPr>
          <a:xfrm>
            <a:off x="9928979" y="4416743"/>
            <a:ext cx="439546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More than 15 categories (too cluttered)</a:t>
            </a:r>
            <a:endParaRPr lang="en-US" sz="1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6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Pie &amp; Line Charts</a:t>
            </a:r>
            <a:endParaRPr lang="en-US" sz="4200" dirty="0"/>
          </a:p>
        </p:txBody>
      </p:sp>
      <p:sp>
        <p:nvSpPr>
          <p:cNvPr id="11" name="Text 9"/>
          <p:cNvSpPr/>
          <p:nvPr/>
        </p:nvSpPr>
        <p:spPr>
          <a:xfrm>
            <a:off x="952500" y="1604010"/>
            <a:ext cx="7961424" cy="350520"/>
          </a:xfrm>
          <a:prstGeom prst="rect">
            <a:avLst/>
          </a:prstGeom>
          <a:noFill/>
          <a:ln/>
        </p:spPr>
        <p:txBody>
          <a:bodyPr wrap="square" lIns="25400" tIns="25400" rIns="25400" bIns="25400" rtlCol="0" anchor="t">
            <a:normAutofit/>
          </a:bodyPr>
          <a:lstStyle/>
          <a:p>
            <a:pPr algn="l" indent="0" marL="0">
              <a:buNone/>
            </a:pPr>
            <a:r>
              <a:rPr lang="en-US" sz="1950" b="1" dirty="0">
                <a:solidFill>
                  <a:srgbClr val="FBBF24"/>
                </a:solidFill>
                <a:latin typeface="Arial" pitchFamily="34" charset="0"/>
                <a:ea typeface="Arial" pitchFamily="34" charset="-122"/>
                <a:cs typeface="Arial" pitchFamily="34" charset="-120"/>
              </a:rPr>
              <a:t>Pie — Market Share by Region</a:t>
            </a:r>
            <a:endParaRPr lang="en-US" sz="1950" dirty="0"/>
          </a:p>
        </p:txBody>
      </p:sp>
      <p:pic>
        <p:nvPicPr>
          <p:cNvPr id="12" name="Image 0" descr="preencoded.png">    </p:cNvPr>
          <p:cNvPicPr>
            <a:picLocks noChangeAspect="1"/>
          </p:cNvPicPr>
          <p:nvPr/>
        </p:nvPicPr>
        <p:blipFill>
          <a:blip r:embed="rId1"/>
          <a:stretch>
            <a:fillRect/>
          </a:stretch>
        </p:blipFill>
        <p:spPr>
          <a:xfrm>
            <a:off x="952500" y="2068830"/>
            <a:ext cx="7729538" cy="2476500"/>
          </a:xfrm>
          <a:prstGeom prst="rect">
            <a:avLst/>
          </a:prstGeom>
        </p:spPr>
      </p:pic>
      <p:sp>
        <p:nvSpPr>
          <p:cNvPr id="13" name="Shape 10"/>
          <p:cNvSpPr/>
          <p:nvPr/>
        </p:nvSpPr>
        <p:spPr>
          <a:xfrm>
            <a:off x="9139238" y="1604010"/>
            <a:ext cx="9525" cy="7920990"/>
          </a:xfrm>
          <a:prstGeom prst="rect">
            <a:avLst/>
          </a:prstGeom>
          <a:solidFill>
            <a:srgbClr val="FFFFFF">
              <a:alpha val="8000"/>
            </a:srgbClr>
          </a:solidFill>
          <a:ln/>
        </p:spPr>
      </p:sp>
      <p:sp>
        <p:nvSpPr>
          <p:cNvPr id="14" name="Text 11"/>
          <p:cNvSpPr/>
          <p:nvPr/>
        </p:nvSpPr>
        <p:spPr>
          <a:xfrm>
            <a:off x="9605963" y="1604010"/>
            <a:ext cx="7961424" cy="350520"/>
          </a:xfrm>
          <a:prstGeom prst="rect">
            <a:avLst/>
          </a:prstGeom>
          <a:noFill/>
          <a:ln/>
        </p:spPr>
        <p:txBody>
          <a:bodyPr wrap="square" lIns="25400" tIns="25400" rIns="25400" bIns="25400" rtlCol="0" anchor="t">
            <a:normAutofit/>
          </a:bodyPr>
          <a:lstStyle/>
          <a:p>
            <a:pPr algn="l" indent="0" marL="0">
              <a:buNone/>
            </a:pPr>
            <a:r>
              <a:rPr lang="en-US" sz="1950" b="1" dirty="0">
                <a:solidFill>
                  <a:srgbClr val="22D3EE"/>
                </a:solidFill>
                <a:latin typeface="Arial" pitchFamily="34" charset="0"/>
                <a:ea typeface="Arial" pitchFamily="34" charset="-122"/>
                <a:cs typeface="Arial" pitchFamily="34" charset="-120"/>
              </a:rPr>
              <a:t>Line — Monthly Revenue Trend</a:t>
            </a:r>
            <a:endParaRPr lang="en-US" sz="1950" dirty="0"/>
          </a:p>
        </p:txBody>
      </p:sp>
      <p:pic>
        <p:nvPicPr>
          <p:cNvPr id="15" name="Image 1" descr="preencoded.png">    </p:cNvPr>
          <p:cNvPicPr>
            <a:picLocks noChangeAspect="1"/>
          </p:cNvPicPr>
          <p:nvPr/>
        </p:nvPicPr>
        <p:blipFill>
          <a:blip r:embed="rId2"/>
          <a:stretch>
            <a:fillRect/>
          </a:stretch>
        </p:blipFill>
        <p:spPr>
          <a:xfrm>
            <a:off x="9605963" y="2068830"/>
            <a:ext cx="7729538" cy="2476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6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solidFill>
          <a:ln/>
        </p:spPr>
      </p:sp>
      <p:sp>
        <p:nvSpPr>
          <p:cNvPr id="9" name="Shape 7"/>
          <p:cNvSpPr/>
          <p:nvPr/>
        </p:nvSpPr>
        <p:spPr>
          <a:xfrm>
            <a:off x="17087850" y="400050"/>
            <a:ext cx="247650" cy="38100"/>
          </a:xfrm>
          <a:prstGeom prst="roundRect">
            <a:avLst>
              <a:gd name="adj" fmla="val 50000"/>
            </a:avLst>
          </a:prstGeom>
          <a:solidFill>
            <a:srgbClr val="1C2430"/>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Chart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Decision Guide</a:t>
            </a:r>
            <a:endParaRPr lang="en-US" sz="4200" dirty="0"/>
          </a:p>
        </p:txBody>
      </p:sp>
      <p:sp>
        <p:nvSpPr>
          <p:cNvPr id="11" name="Shape 9"/>
          <p:cNvSpPr/>
          <p:nvPr/>
        </p:nvSpPr>
        <p:spPr>
          <a:xfrm>
            <a:off x="7239000" y="4528185"/>
            <a:ext cx="3810000" cy="594360"/>
          </a:xfrm>
          <a:prstGeom prst="roundRect">
            <a:avLst>
              <a:gd name="adj" fmla="val 16026"/>
            </a:avLst>
          </a:prstGeom>
          <a:solidFill>
            <a:srgbClr val="1C2430"/>
          </a:solidFill>
          <a:ln w="7620">
            <a:solidFill>
              <a:srgbClr val="FFFFFF">
                <a:alpha val="8000"/>
              </a:srgbClr>
            </a:solidFill>
            <a:prstDash val="solid"/>
          </a:ln>
        </p:spPr>
      </p:sp>
      <p:sp>
        <p:nvSpPr>
          <p:cNvPr id="12" name="Text 10"/>
          <p:cNvSpPr/>
          <p:nvPr/>
        </p:nvSpPr>
        <p:spPr>
          <a:xfrm>
            <a:off x="7399020" y="4669155"/>
            <a:ext cx="3489960" cy="350520"/>
          </a:xfrm>
          <a:prstGeom prst="rect">
            <a:avLst/>
          </a:prstGeom>
          <a:noFill/>
          <a:ln/>
        </p:spPr>
        <p:txBody>
          <a:bodyPr wrap="square" lIns="25400" tIns="25400" rIns="25400" bIns="25400" rtlCol="0" anchor="t">
            <a:normAutofit/>
          </a:bodyPr>
          <a:lstStyle/>
          <a:p>
            <a:pPr algn="ctr" indent="0" marL="0">
              <a:buNone/>
            </a:pPr>
            <a:r>
              <a:rPr lang="en-US" sz="1950" b="1" dirty="0">
                <a:solidFill>
                  <a:srgbClr val="F0F6FC"/>
                </a:solidFill>
                <a:latin typeface="Arial" pitchFamily="34" charset="0"/>
                <a:ea typeface="Arial" pitchFamily="34" charset="-122"/>
                <a:cs typeface="Arial" pitchFamily="34" charset="-120"/>
              </a:rPr>
              <a:t>What do you want to show?</a:t>
            </a:r>
            <a:endParaRPr lang="en-US" sz="1950" dirty="0"/>
          </a:p>
        </p:txBody>
      </p:sp>
      <p:sp>
        <p:nvSpPr>
          <p:cNvPr id="13" name="Text 11"/>
          <p:cNvSpPr/>
          <p:nvPr/>
        </p:nvSpPr>
        <p:spPr>
          <a:xfrm>
            <a:off x="874396" y="5274945"/>
            <a:ext cx="5363169" cy="236220"/>
          </a:xfrm>
          <a:prstGeom prst="rect">
            <a:avLst/>
          </a:prstGeom>
          <a:noFill/>
          <a:ln/>
        </p:spPr>
        <p:txBody>
          <a:bodyPr wrap="square" lIns="25400" tIns="25400" rIns="25400" bIns="25400" rtlCol="0" anchor="t">
            <a:normAutofit/>
          </a:bodyPr>
          <a:lstStyle/>
          <a:p>
            <a:pPr algn="ctr" indent="0" marL="0">
              <a:buNone/>
            </a:pPr>
            <a:r>
              <a:rPr lang="en-US" sz="1350" dirty="0">
                <a:solidFill>
                  <a:srgbClr val="7D8590"/>
                </a:solidFill>
                <a:latin typeface="Arial" pitchFamily="34" charset="0"/>
                <a:ea typeface="Arial" pitchFamily="34" charset="-122"/>
                <a:cs typeface="Arial" pitchFamily="34" charset="-120"/>
              </a:rPr>
              <a:t>Comparison</a:t>
            </a:r>
            <a:endParaRPr lang="en-US" sz="1350" dirty="0"/>
          </a:p>
        </p:txBody>
      </p:sp>
      <p:sp>
        <p:nvSpPr>
          <p:cNvPr id="14" name="Shape 12"/>
          <p:cNvSpPr/>
          <p:nvPr/>
        </p:nvSpPr>
        <p:spPr>
          <a:xfrm>
            <a:off x="952500" y="5473065"/>
            <a:ext cx="5206961" cy="487680"/>
          </a:xfrm>
          <a:prstGeom prst="roundRect">
            <a:avLst>
              <a:gd name="adj" fmla="val 19531"/>
            </a:avLst>
          </a:prstGeom>
          <a:solidFill>
            <a:srgbClr val="2DD4BF">
              <a:alpha val="8000"/>
            </a:srgbClr>
          </a:solidFill>
          <a:ln w="7620">
            <a:solidFill>
              <a:srgbClr val="2DD4BF">
                <a:alpha val="30000"/>
              </a:srgbClr>
            </a:solidFill>
            <a:prstDash val="solid"/>
          </a:ln>
        </p:spPr>
      </p:sp>
      <p:sp>
        <p:nvSpPr>
          <p:cNvPr id="15" name="Text 13"/>
          <p:cNvSpPr/>
          <p:nvPr/>
        </p:nvSpPr>
        <p:spPr>
          <a:xfrm>
            <a:off x="1091566" y="5594985"/>
            <a:ext cx="4928829"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Part of a whole?</a:t>
            </a:r>
            <a:endParaRPr lang="en-US" sz="1500" dirty="0"/>
          </a:p>
        </p:txBody>
      </p:sp>
      <p:sp>
        <p:nvSpPr>
          <p:cNvPr id="16" name="Text 14"/>
          <p:cNvSpPr/>
          <p:nvPr/>
        </p:nvSpPr>
        <p:spPr>
          <a:xfrm>
            <a:off x="952500" y="5960745"/>
            <a:ext cx="26815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Yes</a:t>
            </a:r>
            <a:endParaRPr lang="en-US" sz="1275" dirty="0"/>
          </a:p>
        </p:txBody>
      </p:sp>
      <p:sp>
        <p:nvSpPr>
          <p:cNvPr id="17" name="Shape 15"/>
          <p:cNvSpPr/>
          <p:nvPr/>
        </p:nvSpPr>
        <p:spPr>
          <a:xfrm>
            <a:off x="952500" y="6227445"/>
            <a:ext cx="2603421" cy="449580"/>
          </a:xfrm>
          <a:prstGeom prst="roundRect">
            <a:avLst>
              <a:gd name="adj" fmla="val 16949"/>
            </a:avLst>
          </a:prstGeom>
          <a:solidFill>
            <a:srgbClr val="161B22"/>
          </a:solidFill>
          <a:ln w="7620">
            <a:solidFill>
              <a:srgbClr val="FBBF24">
                <a:alpha val="40000"/>
              </a:srgbClr>
            </a:solidFill>
            <a:prstDash val="solid"/>
          </a:ln>
        </p:spPr>
      </p:sp>
      <p:sp>
        <p:nvSpPr>
          <p:cNvPr id="18" name="Text 16"/>
          <p:cNvSpPr/>
          <p:nvPr/>
        </p:nvSpPr>
        <p:spPr>
          <a:xfrm>
            <a:off x="1073469" y="6330315"/>
            <a:ext cx="2361483"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FBBF24"/>
                </a:solidFill>
                <a:latin typeface="Arial" pitchFamily="34" charset="0"/>
                <a:ea typeface="Arial" pitchFamily="34" charset="-122"/>
                <a:cs typeface="Arial" pitchFamily="34" charset="-120"/>
              </a:rPr>
              <a:t>🥧 Pie / Donut</a:t>
            </a:r>
            <a:endParaRPr lang="en-US" sz="1425" dirty="0"/>
          </a:p>
        </p:txBody>
      </p:sp>
      <p:sp>
        <p:nvSpPr>
          <p:cNvPr id="19" name="Text 17"/>
          <p:cNvSpPr/>
          <p:nvPr/>
        </p:nvSpPr>
        <p:spPr>
          <a:xfrm>
            <a:off x="3555921" y="5960745"/>
            <a:ext cx="268164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No</a:t>
            </a:r>
            <a:endParaRPr lang="en-US" sz="1275" dirty="0"/>
          </a:p>
        </p:txBody>
      </p:sp>
      <p:sp>
        <p:nvSpPr>
          <p:cNvPr id="20" name="Shape 18"/>
          <p:cNvSpPr/>
          <p:nvPr/>
        </p:nvSpPr>
        <p:spPr>
          <a:xfrm>
            <a:off x="3555921" y="6227445"/>
            <a:ext cx="2603540" cy="449580"/>
          </a:xfrm>
          <a:prstGeom prst="roundRect">
            <a:avLst>
              <a:gd name="adj" fmla="val 16949"/>
            </a:avLst>
          </a:prstGeom>
          <a:solidFill>
            <a:srgbClr val="161B22"/>
          </a:solidFill>
          <a:ln w="7620">
            <a:solidFill>
              <a:srgbClr val="2DD4BF">
                <a:alpha val="40000"/>
              </a:srgbClr>
            </a:solidFill>
            <a:prstDash val="solid"/>
          </a:ln>
        </p:spPr>
      </p:sp>
      <p:sp>
        <p:nvSpPr>
          <p:cNvPr id="21" name="Text 19"/>
          <p:cNvSpPr/>
          <p:nvPr/>
        </p:nvSpPr>
        <p:spPr>
          <a:xfrm>
            <a:off x="3676888" y="6330315"/>
            <a:ext cx="2361606"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2DD4BF"/>
                </a:solidFill>
                <a:latin typeface="Arial" pitchFamily="34" charset="0"/>
                <a:ea typeface="Arial" pitchFamily="34" charset="-122"/>
                <a:cs typeface="Arial" pitchFamily="34" charset="-120"/>
              </a:rPr>
              <a:t>📊 Bar / Column</a:t>
            </a:r>
            <a:endParaRPr lang="en-US" sz="1425" dirty="0"/>
          </a:p>
        </p:txBody>
      </p:sp>
      <p:sp>
        <p:nvSpPr>
          <p:cNvPr id="22" name="Text 20"/>
          <p:cNvSpPr/>
          <p:nvPr/>
        </p:nvSpPr>
        <p:spPr>
          <a:xfrm>
            <a:off x="6462354" y="5274945"/>
            <a:ext cx="5363292" cy="236220"/>
          </a:xfrm>
          <a:prstGeom prst="rect">
            <a:avLst/>
          </a:prstGeom>
          <a:noFill/>
          <a:ln/>
        </p:spPr>
        <p:txBody>
          <a:bodyPr wrap="square" lIns="25400" tIns="25400" rIns="25400" bIns="25400" rtlCol="0" anchor="t">
            <a:normAutofit/>
          </a:bodyPr>
          <a:lstStyle/>
          <a:p>
            <a:pPr algn="ctr" indent="0" marL="0">
              <a:buNone/>
            </a:pPr>
            <a:r>
              <a:rPr lang="en-US" sz="1350" dirty="0">
                <a:solidFill>
                  <a:srgbClr val="7D8590"/>
                </a:solidFill>
                <a:latin typeface="Arial" pitchFamily="34" charset="0"/>
                <a:ea typeface="Arial" pitchFamily="34" charset="-122"/>
                <a:cs typeface="Arial" pitchFamily="34" charset="-120"/>
              </a:rPr>
              <a:t>Trend over time</a:t>
            </a:r>
            <a:endParaRPr lang="en-US" sz="1350" dirty="0"/>
          </a:p>
        </p:txBody>
      </p:sp>
      <p:sp>
        <p:nvSpPr>
          <p:cNvPr id="23" name="Shape 21"/>
          <p:cNvSpPr/>
          <p:nvPr/>
        </p:nvSpPr>
        <p:spPr>
          <a:xfrm>
            <a:off x="6540461" y="5473065"/>
            <a:ext cx="5207079" cy="487680"/>
          </a:xfrm>
          <a:prstGeom prst="roundRect">
            <a:avLst>
              <a:gd name="adj" fmla="val 19531"/>
            </a:avLst>
          </a:prstGeom>
          <a:solidFill>
            <a:srgbClr val="2DD4BF">
              <a:alpha val="8000"/>
            </a:srgbClr>
          </a:solidFill>
          <a:ln w="7620">
            <a:solidFill>
              <a:srgbClr val="2DD4BF">
                <a:alpha val="30000"/>
              </a:srgbClr>
            </a:solidFill>
            <a:prstDash val="solid"/>
          </a:ln>
        </p:spPr>
      </p:sp>
      <p:sp>
        <p:nvSpPr>
          <p:cNvPr id="24" name="Text 22"/>
          <p:cNvSpPr/>
          <p:nvPr/>
        </p:nvSpPr>
        <p:spPr>
          <a:xfrm>
            <a:off x="6679524" y="5594985"/>
            <a:ext cx="4928952"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Many time points?</a:t>
            </a:r>
            <a:endParaRPr lang="en-US" sz="1500" dirty="0"/>
          </a:p>
        </p:txBody>
      </p:sp>
      <p:sp>
        <p:nvSpPr>
          <p:cNvPr id="25" name="Text 23"/>
          <p:cNvSpPr/>
          <p:nvPr/>
        </p:nvSpPr>
        <p:spPr>
          <a:xfrm>
            <a:off x="6540461" y="5960745"/>
            <a:ext cx="268164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Yes</a:t>
            </a:r>
            <a:endParaRPr lang="en-US" sz="1275" dirty="0"/>
          </a:p>
        </p:txBody>
      </p:sp>
      <p:sp>
        <p:nvSpPr>
          <p:cNvPr id="26" name="Shape 24"/>
          <p:cNvSpPr/>
          <p:nvPr/>
        </p:nvSpPr>
        <p:spPr>
          <a:xfrm>
            <a:off x="6540461" y="6227445"/>
            <a:ext cx="2603540" cy="449580"/>
          </a:xfrm>
          <a:prstGeom prst="roundRect">
            <a:avLst>
              <a:gd name="adj" fmla="val 16949"/>
            </a:avLst>
          </a:prstGeom>
          <a:solidFill>
            <a:srgbClr val="161B22"/>
          </a:solidFill>
          <a:ln w="7620">
            <a:solidFill>
              <a:srgbClr val="22D3EE">
                <a:alpha val="40000"/>
              </a:srgbClr>
            </a:solidFill>
            <a:prstDash val="solid"/>
          </a:ln>
        </p:spPr>
      </p:sp>
      <p:sp>
        <p:nvSpPr>
          <p:cNvPr id="27" name="Text 25"/>
          <p:cNvSpPr/>
          <p:nvPr/>
        </p:nvSpPr>
        <p:spPr>
          <a:xfrm>
            <a:off x="6661428" y="6330315"/>
            <a:ext cx="2361606"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22D3EE"/>
                </a:solidFill>
                <a:latin typeface="Arial" pitchFamily="34" charset="0"/>
                <a:ea typeface="Arial" pitchFamily="34" charset="-122"/>
                <a:cs typeface="Arial" pitchFamily="34" charset="-120"/>
              </a:rPr>
              <a:t>📈 Line Chart</a:t>
            </a:r>
            <a:endParaRPr lang="en-US" sz="1425" dirty="0"/>
          </a:p>
        </p:txBody>
      </p:sp>
      <p:sp>
        <p:nvSpPr>
          <p:cNvPr id="28" name="Text 26"/>
          <p:cNvSpPr/>
          <p:nvPr/>
        </p:nvSpPr>
        <p:spPr>
          <a:xfrm>
            <a:off x="9144000" y="5960745"/>
            <a:ext cx="268164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No (&lt;5)</a:t>
            </a:r>
            <a:endParaRPr lang="en-US" sz="1275" dirty="0"/>
          </a:p>
        </p:txBody>
      </p:sp>
      <p:sp>
        <p:nvSpPr>
          <p:cNvPr id="29" name="Shape 27"/>
          <p:cNvSpPr/>
          <p:nvPr/>
        </p:nvSpPr>
        <p:spPr>
          <a:xfrm>
            <a:off x="9144000" y="6227445"/>
            <a:ext cx="2603540" cy="449580"/>
          </a:xfrm>
          <a:prstGeom prst="roundRect">
            <a:avLst>
              <a:gd name="adj" fmla="val 16949"/>
            </a:avLst>
          </a:prstGeom>
          <a:solidFill>
            <a:srgbClr val="161B22"/>
          </a:solidFill>
          <a:ln w="7620">
            <a:solidFill>
              <a:srgbClr val="2DD4BF">
                <a:alpha val="40000"/>
              </a:srgbClr>
            </a:solidFill>
            <a:prstDash val="solid"/>
          </a:ln>
        </p:spPr>
      </p:sp>
      <p:sp>
        <p:nvSpPr>
          <p:cNvPr id="30" name="Text 28"/>
          <p:cNvSpPr/>
          <p:nvPr/>
        </p:nvSpPr>
        <p:spPr>
          <a:xfrm>
            <a:off x="9264967" y="6330315"/>
            <a:ext cx="2361606"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2DD4BF"/>
                </a:solidFill>
                <a:latin typeface="Arial" pitchFamily="34" charset="0"/>
                <a:ea typeface="Arial" pitchFamily="34" charset="-122"/>
                <a:cs typeface="Arial" pitchFamily="34" charset="-120"/>
              </a:rPr>
              <a:t>📊 Column Chart</a:t>
            </a:r>
            <a:endParaRPr lang="en-US" sz="1425" dirty="0"/>
          </a:p>
        </p:txBody>
      </p:sp>
      <p:sp>
        <p:nvSpPr>
          <p:cNvPr id="31" name="Text 29"/>
          <p:cNvSpPr/>
          <p:nvPr/>
        </p:nvSpPr>
        <p:spPr>
          <a:xfrm>
            <a:off x="12050436" y="5274945"/>
            <a:ext cx="5363169" cy="236220"/>
          </a:xfrm>
          <a:prstGeom prst="rect">
            <a:avLst/>
          </a:prstGeom>
          <a:noFill/>
          <a:ln/>
        </p:spPr>
        <p:txBody>
          <a:bodyPr wrap="square" lIns="25400" tIns="25400" rIns="25400" bIns="25400" rtlCol="0" anchor="t">
            <a:normAutofit/>
          </a:bodyPr>
          <a:lstStyle/>
          <a:p>
            <a:pPr algn="ctr" indent="0" marL="0">
              <a:buNone/>
            </a:pPr>
            <a:r>
              <a:rPr lang="en-US" sz="1350" dirty="0">
                <a:solidFill>
                  <a:srgbClr val="7D8590"/>
                </a:solidFill>
                <a:latin typeface="Arial" pitchFamily="34" charset="0"/>
                <a:ea typeface="Arial" pitchFamily="34" charset="-122"/>
                <a:cs typeface="Arial" pitchFamily="34" charset="-120"/>
              </a:rPr>
              <a:t>Relationship</a:t>
            </a:r>
            <a:endParaRPr lang="en-US" sz="1350" dirty="0"/>
          </a:p>
        </p:txBody>
      </p:sp>
      <p:sp>
        <p:nvSpPr>
          <p:cNvPr id="32" name="Shape 30"/>
          <p:cNvSpPr/>
          <p:nvPr/>
        </p:nvSpPr>
        <p:spPr>
          <a:xfrm>
            <a:off x="12128540" y="5473065"/>
            <a:ext cx="5206961" cy="487680"/>
          </a:xfrm>
          <a:prstGeom prst="roundRect">
            <a:avLst>
              <a:gd name="adj" fmla="val 19531"/>
            </a:avLst>
          </a:prstGeom>
          <a:solidFill>
            <a:srgbClr val="2DD4BF">
              <a:alpha val="8000"/>
            </a:srgbClr>
          </a:solidFill>
          <a:ln w="7620">
            <a:solidFill>
              <a:srgbClr val="2DD4BF">
                <a:alpha val="30000"/>
              </a:srgbClr>
            </a:solidFill>
            <a:prstDash val="solid"/>
          </a:ln>
        </p:spPr>
      </p:sp>
      <p:sp>
        <p:nvSpPr>
          <p:cNvPr id="33" name="Text 31"/>
          <p:cNvSpPr/>
          <p:nvPr/>
        </p:nvSpPr>
        <p:spPr>
          <a:xfrm>
            <a:off x="12267606" y="5594985"/>
            <a:ext cx="4928829" cy="281940"/>
          </a:xfrm>
          <a:prstGeom prst="rect">
            <a:avLst/>
          </a:prstGeom>
          <a:noFill/>
          <a:ln/>
        </p:spPr>
        <p:txBody>
          <a:bodyPr wrap="square" lIns="25400" tIns="25400" rIns="25400" bIns="25400" rtlCol="0" anchor="t">
            <a:normAutofit/>
          </a:bodyPr>
          <a:lstStyle/>
          <a:p>
            <a:pPr algn="ctr" indent="0" marL="0">
              <a:buNone/>
            </a:pPr>
            <a:r>
              <a:rPr lang="en-US" sz="1500" b="1" dirty="0">
                <a:solidFill>
                  <a:srgbClr val="2DD4BF"/>
                </a:solidFill>
                <a:latin typeface="Arial" pitchFamily="34" charset="0"/>
                <a:ea typeface="Arial" pitchFamily="34" charset="-122"/>
                <a:cs typeface="Arial" pitchFamily="34" charset="-120"/>
              </a:rPr>
              <a:t>Two numeric variables?</a:t>
            </a:r>
            <a:endParaRPr lang="en-US" sz="1500" dirty="0"/>
          </a:p>
        </p:txBody>
      </p:sp>
      <p:sp>
        <p:nvSpPr>
          <p:cNvPr id="34" name="Text 32"/>
          <p:cNvSpPr/>
          <p:nvPr/>
        </p:nvSpPr>
        <p:spPr>
          <a:xfrm>
            <a:off x="12128540" y="5960745"/>
            <a:ext cx="26815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Yes</a:t>
            </a:r>
            <a:endParaRPr lang="en-US" sz="1275" dirty="0"/>
          </a:p>
        </p:txBody>
      </p:sp>
      <p:sp>
        <p:nvSpPr>
          <p:cNvPr id="35" name="Shape 33"/>
          <p:cNvSpPr/>
          <p:nvPr/>
        </p:nvSpPr>
        <p:spPr>
          <a:xfrm>
            <a:off x="12128540" y="6227445"/>
            <a:ext cx="2603421" cy="449580"/>
          </a:xfrm>
          <a:prstGeom prst="roundRect">
            <a:avLst>
              <a:gd name="adj" fmla="val 16949"/>
            </a:avLst>
          </a:prstGeom>
          <a:solidFill>
            <a:srgbClr val="161B22"/>
          </a:solidFill>
          <a:ln w="7620">
            <a:solidFill>
              <a:srgbClr val="34D399">
                <a:alpha val="40000"/>
              </a:srgbClr>
            </a:solidFill>
            <a:prstDash val="solid"/>
          </a:ln>
        </p:spPr>
      </p:sp>
      <p:sp>
        <p:nvSpPr>
          <p:cNvPr id="36" name="Text 34"/>
          <p:cNvSpPr/>
          <p:nvPr/>
        </p:nvSpPr>
        <p:spPr>
          <a:xfrm>
            <a:off x="12249509" y="6330315"/>
            <a:ext cx="2361483"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34D399"/>
                </a:solidFill>
                <a:latin typeface="Arial" pitchFamily="34" charset="0"/>
                <a:ea typeface="Arial" pitchFamily="34" charset="-122"/>
                <a:cs typeface="Arial" pitchFamily="34" charset="-120"/>
              </a:rPr>
              <a:t>⚬ Scatter Plot</a:t>
            </a:r>
            <a:endParaRPr lang="en-US" sz="1425" dirty="0"/>
          </a:p>
        </p:txBody>
      </p:sp>
      <p:sp>
        <p:nvSpPr>
          <p:cNvPr id="37" name="Text 35"/>
          <p:cNvSpPr/>
          <p:nvPr/>
        </p:nvSpPr>
        <p:spPr>
          <a:xfrm>
            <a:off x="14731960" y="5960745"/>
            <a:ext cx="268164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590"/>
                </a:solidFill>
                <a:latin typeface="Arial" pitchFamily="34" charset="0"/>
                <a:ea typeface="Arial" pitchFamily="34" charset="-122"/>
                <a:cs typeface="Arial" pitchFamily="34" charset="-120"/>
              </a:rPr>
              <a:t>Unsure</a:t>
            </a:r>
            <a:endParaRPr lang="en-US" sz="1275" dirty="0"/>
          </a:p>
        </p:txBody>
      </p:sp>
      <p:sp>
        <p:nvSpPr>
          <p:cNvPr id="38" name="Shape 36"/>
          <p:cNvSpPr/>
          <p:nvPr/>
        </p:nvSpPr>
        <p:spPr>
          <a:xfrm>
            <a:off x="14731960" y="6227445"/>
            <a:ext cx="2603540" cy="449580"/>
          </a:xfrm>
          <a:prstGeom prst="roundRect">
            <a:avLst>
              <a:gd name="adj" fmla="val 16949"/>
            </a:avLst>
          </a:prstGeom>
          <a:solidFill>
            <a:srgbClr val="161B22"/>
          </a:solidFill>
          <a:ln w="7620">
            <a:solidFill>
              <a:srgbClr val="FFFFFF">
                <a:alpha val="8000"/>
              </a:srgbClr>
            </a:solidFill>
            <a:prstDash val="solid"/>
          </a:ln>
        </p:spPr>
      </p:sp>
      <p:sp>
        <p:nvSpPr>
          <p:cNvPr id="39" name="Text 37"/>
          <p:cNvSpPr/>
          <p:nvPr/>
        </p:nvSpPr>
        <p:spPr>
          <a:xfrm>
            <a:off x="14852927" y="6330315"/>
            <a:ext cx="2361606" cy="281940"/>
          </a:xfrm>
          <a:prstGeom prst="rect">
            <a:avLst/>
          </a:prstGeom>
          <a:noFill/>
          <a:ln/>
        </p:spPr>
        <p:txBody>
          <a:bodyPr wrap="square" lIns="25400" tIns="25400" rIns="25400" bIns="25400" rtlCol="0" anchor="t">
            <a:normAutofit/>
          </a:bodyPr>
          <a:lstStyle/>
          <a:p>
            <a:pPr algn="ctr" indent="0" marL="0">
              <a:buNone/>
            </a:pPr>
            <a:r>
              <a:rPr lang="en-US" sz="1425" dirty="0">
                <a:solidFill>
                  <a:srgbClr val="F0F6FC"/>
                </a:solidFill>
                <a:latin typeface="Arial" pitchFamily="34" charset="0"/>
                <a:ea typeface="Arial" pitchFamily="34" charset="-122"/>
                <a:cs typeface="Arial" pitchFamily="34" charset="-120"/>
              </a:rPr>
              <a:t>📊 Default: Bar</a:t>
            </a:r>
            <a:endParaRPr lang="en-US" sz="14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63153"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06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Build Three Charts</a:t>
            </a:r>
            <a:endParaRPr lang="en-US" sz="3900" dirty="0"/>
          </a:p>
        </p:txBody>
      </p:sp>
      <p:sp>
        <p:nvSpPr>
          <p:cNvPr id="8" name="Text 6"/>
          <p:cNvSpPr/>
          <p:nvPr/>
        </p:nvSpPr>
        <p:spPr>
          <a:xfrm>
            <a:off x="1493520" y="2672715"/>
            <a:ext cx="15759989" cy="2268855"/>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Using the sales data in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Module6_Data.xlsx</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create three charts on a new sheet called "Dashboard":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Column chart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Total revenue by Quarter (Q1–Q4). Add a chart title and data labels.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Pie chart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Market share by Region (North/East/South/West). Add percentage labels.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Line chart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Monthly revenue trend (Jan–Dec). Add a trendline.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Format all three charts to use a consistent dark color scheme matching this presentation.</a:t>
            </a:r>
            <a:endParaRPr lang="en-US" sz="2100" dirty="0"/>
          </a:p>
        </p:txBody>
      </p:sp>
      <p:sp>
        <p:nvSpPr>
          <p:cNvPr id="9" name="Shape 7"/>
          <p:cNvSpPr/>
          <p:nvPr/>
        </p:nvSpPr>
        <p:spPr>
          <a:xfrm>
            <a:off x="1493520" y="5170170"/>
            <a:ext cx="1513403"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263515"/>
            <a:ext cx="1155263"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7 minutes</a:t>
            </a:r>
            <a:endParaRPr lang="en-US" sz="1500" dirty="0"/>
          </a:p>
        </p:txBody>
      </p:sp>
      <p:sp>
        <p:nvSpPr>
          <p:cNvPr id="11" name="Shape 9"/>
          <p:cNvSpPr/>
          <p:nvPr/>
        </p:nvSpPr>
        <p:spPr>
          <a:xfrm>
            <a:off x="3159323" y="5170170"/>
            <a:ext cx="1920121"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76493" y="5263515"/>
            <a:ext cx="1561981"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Intermediate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90E15"/>
        </a:solidFill>
      </p:bgPr>
    </p:bg>
    <p:spTree>
      <p:nvGrpSpPr>
        <p:cNvPr id="1" name=""/>
        <p:cNvGrpSpPr/>
        <p:nvPr/>
      </p:nvGrpSpPr>
      <p:grpSpPr>
        <a:xfrm>
          <a:off x="0" y="0"/>
          <a:ext cx="0" cy="0"/>
          <a:chOff x="0" y="0"/>
          <a:chExt cx="0" cy="0"/>
        </a:xfrm>
      </p:grpSpPr>
      <p:sp>
        <p:nvSpPr>
          <p:cNvPr id="2" name="Text 0"/>
          <p:cNvSpPr/>
          <p:nvPr/>
        </p:nvSpPr>
        <p:spPr>
          <a:xfrm>
            <a:off x="15657314" y="8382000"/>
            <a:ext cx="2135386"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2DD4BF">
                    <a:alpha val="6000"/>
                  </a:srgbClr>
                </a:solidFill>
                <a:latin typeface="Arial" pitchFamily="34" charset="0"/>
                <a:ea typeface="Arial" pitchFamily="34" charset="-122"/>
                <a:cs typeface="Arial" pitchFamily="34" charset="-120"/>
              </a:rPr>
              <a:t>07</a:t>
            </a:r>
            <a:endParaRPr lang="en-US" sz="13500" dirty="0"/>
          </a:p>
        </p:txBody>
      </p:sp>
      <p:sp>
        <p:nvSpPr>
          <p:cNvPr id="3" name="Shape 1"/>
          <p:cNvSpPr/>
          <p:nvPr/>
        </p:nvSpPr>
        <p:spPr>
          <a:xfrm>
            <a:off x="952500" y="3668078"/>
            <a:ext cx="762000" cy="47625"/>
          </a:xfrm>
          <a:prstGeom prst="roundRect">
            <a:avLst>
              <a:gd name="adj" fmla="val 50000"/>
            </a:avLst>
          </a:prstGeom>
          <a:solidFill>
            <a:srgbClr val="2DD4BF"/>
          </a:solidFill>
          <a:ln/>
        </p:spPr>
      </p:sp>
      <p:sp>
        <p:nvSpPr>
          <p:cNvPr id="4" name="Text 2"/>
          <p:cNvSpPr/>
          <p:nvPr/>
        </p:nvSpPr>
        <p:spPr>
          <a:xfrm>
            <a:off x="952500" y="4020503"/>
            <a:ext cx="16874490" cy="243840"/>
          </a:xfrm>
          <a:prstGeom prst="rect">
            <a:avLst/>
          </a:prstGeom>
          <a:noFill/>
          <a:ln/>
        </p:spPr>
        <p:txBody>
          <a:bodyPr wrap="square" lIns="25400" tIns="25400" rIns="25400" bIns="25400" rtlCol="0" anchor="t">
            <a:normAutofit/>
          </a:bodyPr>
          <a:lstStyle/>
          <a:p>
            <a:pPr algn="l" indent="0" marL="0">
              <a:buNone/>
            </a:pPr>
            <a:r>
              <a:rPr lang="en-US" sz="1275" b="1" spc="166" kern="0" dirty="0">
                <a:solidFill>
                  <a:srgbClr val="7D8590"/>
                </a:solidFill>
                <a:latin typeface="Arial" pitchFamily="34" charset="0"/>
                <a:ea typeface="Arial" pitchFamily="34" charset="-122"/>
                <a:cs typeface="Arial" pitchFamily="34" charset="-120"/>
              </a:rPr>
              <a:t>MODULE 7 OF 7</a:t>
            </a:r>
            <a:endParaRPr lang="en-US" sz="1275" dirty="0"/>
          </a:p>
        </p:txBody>
      </p:sp>
      <p:sp>
        <p:nvSpPr>
          <p:cNvPr id="5" name="Text 3"/>
          <p:cNvSpPr/>
          <p:nvPr/>
        </p:nvSpPr>
        <p:spPr>
          <a:xfrm>
            <a:off x="952500" y="4378643"/>
            <a:ext cx="16874490" cy="792480"/>
          </a:xfrm>
          <a:prstGeom prst="rect">
            <a:avLst/>
          </a:prstGeom>
          <a:noFill/>
          <a:ln/>
        </p:spPr>
        <p:txBody>
          <a:bodyPr wrap="square" lIns="25400" tIns="25400" rIns="25400" bIns="25400" rtlCol="0" anchor="t">
            <a:normAutofit/>
          </a:bodyPr>
          <a:lstStyle/>
          <a:p>
            <a:pPr algn="l" indent="0" marL="0">
              <a:lnSpc>
                <a:spcPct val="110000"/>
              </a:lnSpc>
              <a:buNone/>
            </a:pPr>
            <a:r>
              <a:rPr lang="en-US" sz="5400" b="1" spc="-75" kern="0" dirty="0">
                <a:solidFill>
                  <a:srgbClr val="2DD4BF"/>
                </a:solidFill>
                <a:latin typeface="Arial" pitchFamily="34" charset="0"/>
                <a:ea typeface="Arial" pitchFamily="34" charset="-122"/>
                <a:cs typeface="Arial" pitchFamily="34" charset="-120"/>
              </a:rPr>
              <a:t>Pivot Tables</a:t>
            </a:r>
            <a:endParaRPr lang="en-US" sz="5400" dirty="0"/>
          </a:p>
        </p:txBody>
      </p:sp>
      <p:sp>
        <p:nvSpPr>
          <p:cNvPr id="6" name="Text 4"/>
          <p:cNvSpPr/>
          <p:nvPr/>
        </p:nvSpPr>
        <p:spPr>
          <a:xfrm>
            <a:off x="952500" y="5323523"/>
            <a:ext cx="16874490" cy="5334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7D8590"/>
                </a:solidFill>
                <a:latin typeface="Arial" pitchFamily="34" charset="0"/>
                <a:ea typeface="Arial" pitchFamily="34" charset="-122"/>
                <a:cs typeface="Arial" pitchFamily="34" charset="-120"/>
              </a:rPr>
              <a:t>The most powerful tool in Excel — no formulas required</a:t>
            </a:r>
            <a:endParaRPr lang="en-US" sz="3000" dirty="0"/>
          </a:p>
        </p:txBody>
      </p:sp>
      <p:sp>
        <p:nvSpPr>
          <p:cNvPr id="7" name="Shape 5"/>
          <p:cNvSpPr/>
          <p:nvPr/>
        </p:nvSpPr>
        <p:spPr>
          <a:xfrm>
            <a:off x="952500" y="6085523"/>
            <a:ext cx="16383000" cy="533400"/>
          </a:xfrm>
          <a:prstGeom prst="roundRect">
            <a:avLst>
              <a:gd name="adj" fmla="val 14286"/>
            </a:avLst>
          </a:prstGeom>
          <a:solidFill>
            <a:srgbClr val="1C2430"/>
          </a:solidFill>
          <a:ln w="7620">
            <a:solidFill>
              <a:srgbClr val="FFFFFF">
                <a:alpha val="8000"/>
              </a:srgbClr>
            </a:solidFill>
            <a:prstDash val="solid"/>
          </a:ln>
        </p:spPr>
      </p:sp>
      <p:sp>
        <p:nvSpPr>
          <p:cNvPr id="8" name="Text 6"/>
          <p:cNvSpPr/>
          <p:nvPr/>
        </p:nvSpPr>
        <p:spPr>
          <a:xfrm>
            <a:off x="1188720" y="6188393"/>
            <a:ext cx="16402050" cy="365760"/>
          </a:xfrm>
          <a:prstGeom prst="rect">
            <a:avLst/>
          </a:prstGeom>
          <a:noFill/>
          <a:ln/>
        </p:spPr>
        <p:txBody>
          <a:bodyPr wrap="square" lIns="25400" tIns="25400" rIns="25400" bIns="25400" rtlCol="0" anchor="ctr">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 25 minutes</a:t>
            </a:r>
            <a:endParaRPr lang="en-US" sz="1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7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alpha val="40000"/>
            </a:srgbClr>
          </a:solidFill>
          <a:ln/>
        </p:spPr>
      </p:sp>
      <p:sp>
        <p:nvSpPr>
          <p:cNvPr id="9" name="Shape 7"/>
          <p:cNvSpPr/>
          <p:nvPr/>
        </p:nvSpPr>
        <p:spPr>
          <a:xfrm>
            <a:off x="17087850" y="400050"/>
            <a:ext cx="247650" cy="38100"/>
          </a:xfrm>
          <a:prstGeom prst="roundRect">
            <a:avLst>
              <a:gd name="adj" fmla="val 50000"/>
            </a:avLst>
          </a:prstGeom>
          <a:solidFill>
            <a:srgbClr val="2DD4BF"/>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Raw Data →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Instant Insight</a:t>
            </a:r>
            <a:endParaRPr lang="en-US" sz="4200" dirty="0"/>
          </a:p>
        </p:txBody>
      </p:sp>
      <p:sp>
        <p:nvSpPr>
          <p:cNvPr id="11" name="Text 9"/>
          <p:cNvSpPr/>
          <p:nvPr/>
        </p:nvSpPr>
        <p:spPr>
          <a:xfrm>
            <a:off x="952500" y="3179921"/>
            <a:ext cx="745617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Raw Dataset (1,000+ rows)</a:t>
            </a:r>
            <a:endParaRPr lang="en-US" sz="1500" dirty="0"/>
          </a:p>
        </p:txBody>
      </p:sp>
      <p:sp>
        <p:nvSpPr>
          <p:cNvPr id="12" name="Shape 10"/>
          <p:cNvSpPr/>
          <p:nvPr/>
        </p:nvSpPr>
        <p:spPr>
          <a:xfrm>
            <a:off x="952500" y="3461861"/>
            <a:ext cx="1414582" cy="499110"/>
          </a:xfrm>
          <a:prstGeom prst="rect">
            <a:avLst/>
          </a:prstGeom>
          <a:solidFill>
            <a:srgbClr val="2DD4BF"/>
          </a:solidFill>
          <a:ln/>
        </p:spPr>
      </p:sp>
      <p:sp>
        <p:nvSpPr>
          <p:cNvPr id="13" name="Text 11"/>
          <p:cNvSpPr/>
          <p:nvPr/>
        </p:nvSpPr>
        <p:spPr>
          <a:xfrm>
            <a:off x="1123950" y="3585686"/>
            <a:ext cx="1147882"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Date</a:t>
            </a:r>
            <a:endParaRPr lang="en-US" sz="1575" dirty="0"/>
          </a:p>
        </p:txBody>
      </p:sp>
      <p:sp>
        <p:nvSpPr>
          <p:cNvPr id="14" name="Shape 12"/>
          <p:cNvSpPr/>
          <p:nvPr/>
        </p:nvSpPr>
        <p:spPr>
          <a:xfrm>
            <a:off x="2367082" y="3461861"/>
            <a:ext cx="1644015" cy="499110"/>
          </a:xfrm>
          <a:prstGeom prst="rect">
            <a:avLst/>
          </a:prstGeom>
          <a:solidFill>
            <a:srgbClr val="2DD4BF"/>
          </a:solidFill>
          <a:ln/>
        </p:spPr>
      </p:sp>
      <p:sp>
        <p:nvSpPr>
          <p:cNvPr id="15" name="Text 13"/>
          <p:cNvSpPr/>
          <p:nvPr/>
        </p:nvSpPr>
        <p:spPr>
          <a:xfrm>
            <a:off x="2538532" y="3585686"/>
            <a:ext cx="1377315"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Region</a:t>
            </a:r>
            <a:endParaRPr lang="en-US" sz="1575" dirty="0"/>
          </a:p>
        </p:txBody>
      </p:sp>
      <p:sp>
        <p:nvSpPr>
          <p:cNvPr id="16" name="Shape 14"/>
          <p:cNvSpPr/>
          <p:nvPr/>
        </p:nvSpPr>
        <p:spPr>
          <a:xfrm>
            <a:off x="4011097" y="3461861"/>
            <a:ext cx="2276356" cy="499110"/>
          </a:xfrm>
          <a:prstGeom prst="rect">
            <a:avLst/>
          </a:prstGeom>
          <a:solidFill>
            <a:srgbClr val="2DD4BF"/>
          </a:solidFill>
          <a:ln/>
        </p:spPr>
      </p:sp>
      <p:sp>
        <p:nvSpPr>
          <p:cNvPr id="17" name="Text 15"/>
          <p:cNvSpPr/>
          <p:nvPr/>
        </p:nvSpPr>
        <p:spPr>
          <a:xfrm>
            <a:off x="4182547" y="3585686"/>
            <a:ext cx="2009656" cy="289560"/>
          </a:xfrm>
          <a:prstGeom prst="rect">
            <a:avLst/>
          </a:prstGeom>
          <a:noFill/>
          <a:ln/>
        </p:spPr>
        <p:txBody>
          <a:bodyPr wrap="square" lIns="25400" tIns="25400" rIns="25400" bIns="25400" rtlCol="0" anchor="ctr">
            <a:normAutofit/>
          </a:bodyPr>
          <a:lstStyle/>
          <a:p>
            <a:pPr algn="l" indent="0" marL="0">
              <a:buNone/>
            </a:pPr>
            <a:r>
              <a:rPr lang="en-US" sz="1575" b="1" dirty="0">
                <a:solidFill>
                  <a:srgbClr val="000000"/>
                </a:solidFill>
                <a:latin typeface="Arial" pitchFamily="34" charset="0"/>
                <a:ea typeface="Arial" pitchFamily="34" charset="-122"/>
                <a:cs typeface="Arial" pitchFamily="34" charset="-120"/>
              </a:rPr>
              <a:t>Category</a:t>
            </a:r>
            <a:endParaRPr lang="en-US" sz="1575" dirty="0"/>
          </a:p>
        </p:txBody>
      </p:sp>
      <p:sp>
        <p:nvSpPr>
          <p:cNvPr id="18" name="Shape 16"/>
          <p:cNvSpPr/>
          <p:nvPr/>
        </p:nvSpPr>
        <p:spPr>
          <a:xfrm>
            <a:off x="6287453" y="3461861"/>
            <a:ext cx="1904048" cy="499110"/>
          </a:xfrm>
          <a:prstGeom prst="rect">
            <a:avLst/>
          </a:prstGeom>
          <a:solidFill>
            <a:srgbClr val="2DD4BF"/>
          </a:solidFill>
          <a:ln/>
        </p:spPr>
      </p:sp>
      <p:sp>
        <p:nvSpPr>
          <p:cNvPr id="19" name="Text 17"/>
          <p:cNvSpPr/>
          <p:nvPr/>
        </p:nvSpPr>
        <p:spPr>
          <a:xfrm>
            <a:off x="6382703" y="3585686"/>
            <a:ext cx="1637348" cy="289560"/>
          </a:xfrm>
          <a:prstGeom prst="rect">
            <a:avLst/>
          </a:prstGeom>
          <a:noFill/>
          <a:ln/>
        </p:spPr>
        <p:txBody>
          <a:bodyPr wrap="square" lIns="25400" tIns="25400" rIns="25400" bIns="25400" rtlCol="0" anchor="ctr">
            <a:normAutofit/>
          </a:bodyPr>
          <a:lstStyle/>
          <a:p>
            <a:pPr algn="r" indent="0" marL="0">
              <a:buNone/>
            </a:pPr>
            <a:r>
              <a:rPr lang="en-US" sz="1575" b="1" dirty="0">
                <a:solidFill>
                  <a:srgbClr val="000000"/>
                </a:solidFill>
                <a:latin typeface="Arial" pitchFamily="34" charset="0"/>
                <a:ea typeface="Arial" pitchFamily="34" charset="-122"/>
                <a:cs typeface="Arial" pitchFamily="34" charset="-120"/>
              </a:rPr>
              <a:t>Revenue</a:t>
            </a:r>
            <a:endParaRPr lang="en-US" sz="1575" dirty="0"/>
          </a:p>
        </p:txBody>
      </p:sp>
      <p:sp>
        <p:nvSpPr>
          <p:cNvPr id="20" name="Shape 18"/>
          <p:cNvSpPr/>
          <p:nvPr/>
        </p:nvSpPr>
        <p:spPr>
          <a:xfrm>
            <a:off x="952500" y="3960971"/>
            <a:ext cx="1414582" cy="464820"/>
          </a:xfrm>
          <a:prstGeom prst="rect">
            <a:avLst/>
          </a:prstGeom>
          <a:solidFill>
            <a:srgbClr val="FFFFFF">
              <a:alpha val="2000"/>
            </a:srgbClr>
          </a:solidFill>
          <a:ln/>
        </p:spPr>
      </p:sp>
      <p:sp>
        <p:nvSpPr>
          <p:cNvPr id="21" name="Shape 19"/>
          <p:cNvSpPr/>
          <p:nvPr/>
        </p:nvSpPr>
        <p:spPr>
          <a:xfrm>
            <a:off x="952500" y="4418171"/>
            <a:ext cx="1414582" cy="9525"/>
          </a:xfrm>
          <a:prstGeom prst="rect">
            <a:avLst/>
          </a:prstGeom>
          <a:solidFill>
            <a:srgbClr val="FFFFFF">
              <a:alpha val="8000"/>
            </a:srgbClr>
          </a:solidFill>
          <a:ln/>
        </p:spPr>
      </p:sp>
      <p:sp>
        <p:nvSpPr>
          <p:cNvPr id="22" name="Text 20"/>
          <p:cNvSpPr/>
          <p:nvPr/>
        </p:nvSpPr>
        <p:spPr>
          <a:xfrm>
            <a:off x="1123950" y="4065746"/>
            <a:ext cx="1147882"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3</a:t>
            </a:r>
            <a:endParaRPr lang="en-US" sz="1725" dirty="0"/>
          </a:p>
        </p:txBody>
      </p:sp>
      <p:sp>
        <p:nvSpPr>
          <p:cNvPr id="23" name="Shape 21"/>
          <p:cNvSpPr/>
          <p:nvPr/>
        </p:nvSpPr>
        <p:spPr>
          <a:xfrm>
            <a:off x="2367082" y="3960971"/>
            <a:ext cx="1644015" cy="464820"/>
          </a:xfrm>
          <a:prstGeom prst="rect">
            <a:avLst/>
          </a:prstGeom>
          <a:solidFill>
            <a:srgbClr val="FFFFFF">
              <a:alpha val="2000"/>
            </a:srgbClr>
          </a:solidFill>
          <a:ln/>
        </p:spPr>
      </p:sp>
      <p:sp>
        <p:nvSpPr>
          <p:cNvPr id="24" name="Shape 22"/>
          <p:cNvSpPr/>
          <p:nvPr/>
        </p:nvSpPr>
        <p:spPr>
          <a:xfrm>
            <a:off x="2367082" y="4418171"/>
            <a:ext cx="1644015" cy="9525"/>
          </a:xfrm>
          <a:prstGeom prst="rect">
            <a:avLst/>
          </a:prstGeom>
          <a:solidFill>
            <a:srgbClr val="FFFFFF">
              <a:alpha val="8000"/>
            </a:srgbClr>
          </a:solidFill>
          <a:ln/>
        </p:spPr>
      </p:sp>
      <p:sp>
        <p:nvSpPr>
          <p:cNvPr id="25" name="Text 23"/>
          <p:cNvSpPr/>
          <p:nvPr/>
        </p:nvSpPr>
        <p:spPr>
          <a:xfrm>
            <a:off x="2538532" y="4065746"/>
            <a:ext cx="1377315"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North</a:t>
            </a:r>
            <a:endParaRPr lang="en-US" sz="1725" dirty="0"/>
          </a:p>
        </p:txBody>
      </p:sp>
      <p:sp>
        <p:nvSpPr>
          <p:cNvPr id="26" name="Shape 24"/>
          <p:cNvSpPr/>
          <p:nvPr/>
        </p:nvSpPr>
        <p:spPr>
          <a:xfrm>
            <a:off x="4011097" y="3960971"/>
            <a:ext cx="2276356" cy="464820"/>
          </a:xfrm>
          <a:prstGeom prst="rect">
            <a:avLst/>
          </a:prstGeom>
          <a:solidFill>
            <a:srgbClr val="FFFFFF">
              <a:alpha val="2000"/>
            </a:srgbClr>
          </a:solidFill>
          <a:ln/>
        </p:spPr>
      </p:sp>
      <p:sp>
        <p:nvSpPr>
          <p:cNvPr id="27" name="Shape 25"/>
          <p:cNvSpPr/>
          <p:nvPr/>
        </p:nvSpPr>
        <p:spPr>
          <a:xfrm>
            <a:off x="4011097" y="4418171"/>
            <a:ext cx="2276356" cy="9525"/>
          </a:xfrm>
          <a:prstGeom prst="rect">
            <a:avLst/>
          </a:prstGeom>
          <a:solidFill>
            <a:srgbClr val="FFFFFF">
              <a:alpha val="8000"/>
            </a:srgbClr>
          </a:solidFill>
          <a:ln/>
        </p:spPr>
      </p:sp>
      <p:sp>
        <p:nvSpPr>
          <p:cNvPr id="28" name="Text 26"/>
          <p:cNvSpPr/>
          <p:nvPr/>
        </p:nvSpPr>
        <p:spPr>
          <a:xfrm>
            <a:off x="4182547" y="4065746"/>
            <a:ext cx="2009656" cy="28575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Electronics</a:t>
            </a:r>
            <a:endParaRPr lang="en-US" sz="1725" dirty="0"/>
          </a:p>
        </p:txBody>
      </p:sp>
      <p:sp>
        <p:nvSpPr>
          <p:cNvPr id="29" name="Shape 27"/>
          <p:cNvSpPr/>
          <p:nvPr/>
        </p:nvSpPr>
        <p:spPr>
          <a:xfrm>
            <a:off x="6287453" y="3960971"/>
            <a:ext cx="1904048" cy="464820"/>
          </a:xfrm>
          <a:prstGeom prst="rect">
            <a:avLst/>
          </a:prstGeom>
          <a:solidFill>
            <a:srgbClr val="FFFFFF">
              <a:alpha val="2000"/>
            </a:srgbClr>
          </a:solidFill>
          <a:ln/>
        </p:spPr>
      </p:sp>
      <p:sp>
        <p:nvSpPr>
          <p:cNvPr id="30" name="Shape 28"/>
          <p:cNvSpPr/>
          <p:nvPr/>
        </p:nvSpPr>
        <p:spPr>
          <a:xfrm>
            <a:off x="6287453" y="4418171"/>
            <a:ext cx="1904048" cy="9525"/>
          </a:xfrm>
          <a:prstGeom prst="rect">
            <a:avLst/>
          </a:prstGeom>
          <a:solidFill>
            <a:srgbClr val="FFFFFF">
              <a:alpha val="8000"/>
            </a:srgbClr>
          </a:solidFill>
          <a:ln/>
        </p:spPr>
      </p:sp>
      <p:sp>
        <p:nvSpPr>
          <p:cNvPr id="31" name="Text 29"/>
          <p:cNvSpPr/>
          <p:nvPr/>
        </p:nvSpPr>
        <p:spPr>
          <a:xfrm>
            <a:off x="6382703" y="4065746"/>
            <a:ext cx="1637348" cy="28575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$4,200</a:t>
            </a:r>
            <a:endParaRPr lang="en-US" sz="1725" dirty="0"/>
          </a:p>
        </p:txBody>
      </p:sp>
      <p:sp>
        <p:nvSpPr>
          <p:cNvPr id="32" name="Shape 30"/>
          <p:cNvSpPr/>
          <p:nvPr/>
        </p:nvSpPr>
        <p:spPr>
          <a:xfrm>
            <a:off x="952500" y="4886801"/>
            <a:ext cx="1414582" cy="9525"/>
          </a:xfrm>
          <a:prstGeom prst="rect">
            <a:avLst/>
          </a:prstGeom>
          <a:solidFill>
            <a:srgbClr val="FFFFFF">
              <a:alpha val="8000"/>
            </a:srgbClr>
          </a:solidFill>
          <a:ln/>
        </p:spPr>
      </p:sp>
      <p:sp>
        <p:nvSpPr>
          <p:cNvPr id="33" name="Text 31"/>
          <p:cNvSpPr/>
          <p:nvPr/>
        </p:nvSpPr>
        <p:spPr>
          <a:xfrm>
            <a:off x="1123950" y="4530566"/>
            <a:ext cx="11478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4</a:t>
            </a:r>
            <a:endParaRPr lang="en-US" sz="1725" dirty="0"/>
          </a:p>
        </p:txBody>
      </p:sp>
      <p:sp>
        <p:nvSpPr>
          <p:cNvPr id="34" name="Shape 32"/>
          <p:cNvSpPr/>
          <p:nvPr/>
        </p:nvSpPr>
        <p:spPr>
          <a:xfrm>
            <a:off x="2367082" y="4886801"/>
            <a:ext cx="1644015" cy="9525"/>
          </a:xfrm>
          <a:prstGeom prst="rect">
            <a:avLst/>
          </a:prstGeom>
          <a:solidFill>
            <a:srgbClr val="FFFFFF">
              <a:alpha val="8000"/>
            </a:srgbClr>
          </a:solidFill>
          <a:ln/>
        </p:spPr>
      </p:sp>
      <p:sp>
        <p:nvSpPr>
          <p:cNvPr id="35" name="Text 33"/>
          <p:cNvSpPr/>
          <p:nvPr/>
        </p:nvSpPr>
        <p:spPr>
          <a:xfrm>
            <a:off x="2538532" y="4530566"/>
            <a:ext cx="1377315"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East</a:t>
            </a:r>
            <a:endParaRPr lang="en-US" sz="1725" dirty="0"/>
          </a:p>
        </p:txBody>
      </p:sp>
      <p:sp>
        <p:nvSpPr>
          <p:cNvPr id="36" name="Shape 34"/>
          <p:cNvSpPr/>
          <p:nvPr/>
        </p:nvSpPr>
        <p:spPr>
          <a:xfrm>
            <a:off x="4011097" y="4886801"/>
            <a:ext cx="2276356" cy="9525"/>
          </a:xfrm>
          <a:prstGeom prst="rect">
            <a:avLst/>
          </a:prstGeom>
          <a:solidFill>
            <a:srgbClr val="FFFFFF">
              <a:alpha val="8000"/>
            </a:srgbClr>
          </a:solidFill>
          <a:ln/>
        </p:spPr>
      </p:sp>
      <p:sp>
        <p:nvSpPr>
          <p:cNvPr id="37" name="Text 35"/>
          <p:cNvSpPr/>
          <p:nvPr/>
        </p:nvSpPr>
        <p:spPr>
          <a:xfrm>
            <a:off x="4182547" y="4530566"/>
            <a:ext cx="200965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Apparel</a:t>
            </a:r>
            <a:endParaRPr lang="en-US" sz="1725" dirty="0"/>
          </a:p>
        </p:txBody>
      </p:sp>
      <p:sp>
        <p:nvSpPr>
          <p:cNvPr id="38" name="Shape 36"/>
          <p:cNvSpPr/>
          <p:nvPr/>
        </p:nvSpPr>
        <p:spPr>
          <a:xfrm>
            <a:off x="6287453" y="4886801"/>
            <a:ext cx="1904048" cy="9525"/>
          </a:xfrm>
          <a:prstGeom prst="rect">
            <a:avLst/>
          </a:prstGeom>
          <a:solidFill>
            <a:srgbClr val="FFFFFF">
              <a:alpha val="8000"/>
            </a:srgbClr>
          </a:solidFill>
          <a:ln/>
        </p:spPr>
      </p:sp>
      <p:sp>
        <p:nvSpPr>
          <p:cNvPr id="39" name="Text 37"/>
          <p:cNvSpPr/>
          <p:nvPr/>
        </p:nvSpPr>
        <p:spPr>
          <a:xfrm>
            <a:off x="6382703" y="4530566"/>
            <a:ext cx="163734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$1,800</a:t>
            </a:r>
            <a:endParaRPr lang="en-US" sz="1725" dirty="0"/>
          </a:p>
        </p:txBody>
      </p:sp>
      <p:sp>
        <p:nvSpPr>
          <p:cNvPr id="40" name="Shape 38"/>
          <p:cNvSpPr/>
          <p:nvPr/>
        </p:nvSpPr>
        <p:spPr>
          <a:xfrm>
            <a:off x="952500" y="4894422"/>
            <a:ext cx="1414582" cy="468630"/>
          </a:xfrm>
          <a:prstGeom prst="rect">
            <a:avLst/>
          </a:prstGeom>
          <a:solidFill>
            <a:srgbClr val="FFFFFF">
              <a:alpha val="2000"/>
            </a:srgbClr>
          </a:solidFill>
          <a:ln/>
        </p:spPr>
      </p:sp>
      <p:sp>
        <p:nvSpPr>
          <p:cNvPr id="41" name="Shape 39"/>
          <p:cNvSpPr/>
          <p:nvPr/>
        </p:nvSpPr>
        <p:spPr>
          <a:xfrm>
            <a:off x="952500" y="5355432"/>
            <a:ext cx="1414582" cy="9525"/>
          </a:xfrm>
          <a:prstGeom prst="rect">
            <a:avLst/>
          </a:prstGeom>
          <a:solidFill>
            <a:srgbClr val="FFFFFF">
              <a:alpha val="8000"/>
            </a:srgbClr>
          </a:solidFill>
          <a:ln/>
        </p:spPr>
      </p:sp>
      <p:sp>
        <p:nvSpPr>
          <p:cNvPr id="42" name="Text 40"/>
          <p:cNvSpPr/>
          <p:nvPr/>
        </p:nvSpPr>
        <p:spPr>
          <a:xfrm>
            <a:off x="1123950" y="4999197"/>
            <a:ext cx="11478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5</a:t>
            </a:r>
            <a:endParaRPr lang="en-US" sz="1725" dirty="0"/>
          </a:p>
        </p:txBody>
      </p:sp>
      <p:sp>
        <p:nvSpPr>
          <p:cNvPr id="43" name="Shape 41"/>
          <p:cNvSpPr/>
          <p:nvPr/>
        </p:nvSpPr>
        <p:spPr>
          <a:xfrm>
            <a:off x="2367082" y="4894422"/>
            <a:ext cx="1644015" cy="468630"/>
          </a:xfrm>
          <a:prstGeom prst="rect">
            <a:avLst/>
          </a:prstGeom>
          <a:solidFill>
            <a:srgbClr val="FFFFFF">
              <a:alpha val="2000"/>
            </a:srgbClr>
          </a:solidFill>
          <a:ln/>
        </p:spPr>
      </p:sp>
      <p:sp>
        <p:nvSpPr>
          <p:cNvPr id="44" name="Shape 42"/>
          <p:cNvSpPr/>
          <p:nvPr/>
        </p:nvSpPr>
        <p:spPr>
          <a:xfrm>
            <a:off x="2367082" y="5355432"/>
            <a:ext cx="1644015" cy="9525"/>
          </a:xfrm>
          <a:prstGeom prst="rect">
            <a:avLst/>
          </a:prstGeom>
          <a:solidFill>
            <a:srgbClr val="FFFFFF">
              <a:alpha val="8000"/>
            </a:srgbClr>
          </a:solidFill>
          <a:ln/>
        </p:spPr>
      </p:sp>
      <p:sp>
        <p:nvSpPr>
          <p:cNvPr id="45" name="Text 43"/>
          <p:cNvSpPr/>
          <p:nvPr/>
        </p:nvSpPr>
        <p:spPr>
          <a:xfrm>
            <a:off x="2538532" y="4999197"/>
            <a:ext cx="1377315"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South</a:t>
            </a:r>
            <a:endParaRPr lang="en-US" sz="1725" dirty="0"/>
          </a:p>
        </p:txBody>
      </p:sp>
      <p:sp>
        <p:nvSpPr>
          <p:cNvPr id="46" name="Shape 44"/>
          <p:cNvSpPr/>
          <p:nvPr/>
        </p:nvSpPr>
        <p:spPr>
          <a:xfrm>
            <a:off x="4011097" y="4894422"/>
            <a:ext cx="2276356" cy="468630"/>
          </a:xfrm>
          <a:prstGeom prst="rect">
            <a:avLst/>
          </a:prstGeom>
          <a:solidFill>
            <a:srgbClr val="FFFFFF">
              <a:alpha val="2000"/>
            </a:srgbClr>
          </a:solidFill>
          <a:ln/>
        </p:spPr>
      </p:sp>
      <p:sp>
        <p:nvSpPr>
          <p:cNvPr id="47" name="Shape 45"/>
          <p:cNvSpPr/>
          <p:nvPr/>
        </p:nvSpPr>
        <p:spPr>
          <a:xfrm>
            <a:off x="4011097" y="5355432"/>
            <a:ext cx="2276356" cy="9525"/>
          </a:xfrm>
          <a:prstGeom prst="rect">
            <a:avLst/>
          </a:prstGeom>
          <a:solidFill>
            <a:srgbClr val="FFFFFF">
              <a:alpha val="8000"/>
            </a:srgbClr>
          </a:solidFill>
          <a:ln/>
        </p:spPr>
      </p:sp>
      <p:sp>
        <p:nvSpPr>
          <p:cNvPr id="48" name="Text 46"/>
          <p:cNvSpPr/>
          <p:nvPr/>
        </p:nvSpPr>
        <p:spPr>
          <a:xfrm>
            <a:off x="4182547" y="4999197"/>
            <a:ext cx="200965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Electronics</a:t>
            </a:r>
            <a:endParaRPr lang="en-US" sz="1725" dirty="0"/>
          </a:p>
        </p:txBody>
      </p:sp>
      <p:sp>
        <p:nvSpPr>
          <p:cNvPr id="49" name="Shape 47"/>
          <p:cNvSpPr/>
          <p:nvPr/>
        </p:nvSpPr>
        <p:spPr>
          <a:xfrm>
            <a:off x="6287453" y="4894422"/>
            <a:ext cx="1904048" cy="468630"/>
          </a:xfrm>
          <a:prstGeom prst="rect">
            <a:avLst/>
          </a:prstGeom>
          <a:solidFill>
            <a:srgbClr val="FFFFFF">
              <a:alpha val="2000"/>
            </a:srgbClr>
          </a:solidFill>
          <a:ln/>
        </p:spPr>
      </p:sp>
      <p:sp>
        <p:nvSpPr>
          <p:cNvPr id="50" name="Shape 48"/>
          <p:cNvSpPr/>
          <p:nvPr/>
        </p:nvSpPr>
        <p:spPr>
          <a:xfrm>
            <a:off x="6287453" y="5355432"/>
            <a:ext cx="1904048" cy="9525"/>
          </a:xfrm>
          <a:prstGeom prst="rect">
            <a:avLst/>
          </a:prstGeom>
          <a:solidFill>
            <a:srgbClr val="FFFFFF">
              <a:alpha val="8000"/>
            </a:srgbClr>
          </a:solidFill>
          <a:ln/>
        </p:spPr>
      </p:sp>
      <p:sp>
        <p:nvSpPr>
          <p:cNvPr id="51" name="Text 49"/>
          <p:cNvSpPr/>
          <p:nvPr/>
        </p:nvSpPr>
        <p:spPr>
          <a:xfrm>
            <a:off x="6382703" y="4999197"/>
            <a:ext cx="163734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$3,100</a:t>
            </a:r>
            <a:endParaRPr lang="en-US" sz="1725" dirty="0"/>
          </a:p>
        </p:txBody>
      </p:sp>
      <p:sp>
        <p:nvSpPr>
          <p:cNvPr id="52" name="Shape 50"/>
          <p:cNvSpPr/>
          <p:nvPr/>
        </p:nvSpPr>
        <p:spPr>
          <a:xfrm>
            <a:off x="952500" y="5824061"/>
            <a:ext cx="1414582" cy="9525"/>
          </a:xfrm>
          <a:prstGeom prst="rect">
            <a:avLst/>
          </a:prstGeom>
          <a:solidFill>
            <a:srgbClr val="FFFFFF">
              <a:alpha val="8000"/>
            </a:srgbClr>
          </a:solidFill>
          <a:ln/>
        </p:spPr>
      </p:sp>
      <p:sp>
        <p:nvSpPr>
          <p:cNvPr id="53" name="Text 51"/>
          <p:cNvSpPr/>
          <p:nvPr/>
        </p:nvSpPr>
        <p:spPr>
          <a:xfrm>
            <a:off x="1123950" y="5467826"/>
            <a:ext cx="11478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6</a:t>
            </a:r>
            <a:endParaRPr lang="en-US" sz="1725" dirty="0"/>
          </a:p>
        </p:txBody>
      </p:sp>
      <p:sp>
        <p:nvSpPr>
          <p:cNvPr id="54" name="Shape 52"/>
          <p:cNvSpPr/>
          <p:nvPr/>
        </p:nvSpPr>
        <p:spPr>
          <a:xfrm>
            <a:off x="2367082" y="5824061"/>
            <a:ext cx="1644015" cy="9525"/>
          </a:xfrm>
          <a:prstGeom prst="rect">
            <a:avLst/>
          </a:prstGeom>
          <a:solidFill>
            <a:srgbClr val="FFFFFF">
              <a:alpha val="8000"/>
            </a:srgbClr>
          </a:solidFill>
          <a:ln/>
        </p:spPr>
      </p:sp>
      <p:sp>
        <p:nvSpPr>
          <p:cNvPr id="55" name="Text 53"/>
          <p:cNvSpPr/>
          <p:nvPr/>
        </p:nvSpPr>
        <p:spPr>
          <a:xfrm>
            <a:off x="2538532" y="5467826"/>
            <a:ext cx="1377315"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North</a:t>
            </a:r>
            <a:endParaRPr lang="en-US" sz="1725" dirty="0"/>
          </a:p>
        </p:txBody>
      </p:sp>
      <p:sp>
        <p:nvSpPr>
          <p:cNvPr id="56" name="Shape 54"/>
          <p:cNvSpPr/>
          <p:nvPr/>
        </p:nvSpPr>
        <p:spPr>
          <a:xfrm>
            <a:off x="4011097" y="5824061"/>
            <a:ext cx="2276356" cy="9525"/>
          </a:xfrm>
          <a:prstGeom prst="rect">
            <a:avLst/>
          </a:prstGeom>
          <a:solidFill>
            <a:srgbClr val="FFFFFF">
              <a:alpha val="8000"/>
            </a:srgbClr>
          </a:solidFill>
          <a:ln/>
        </p:spPr>
      </p:sp>
      <p:sp>
        <p:nvSpPr>
          <p:cNvPr id="57" name="Text 55"/>
          <p:cNvSpPr/>
          <p:nvPr/>
        </p:nvSpPr>
        <p:spPr>
          <a:xfrm>
            <a:off x="4182547" y="5467826"/>
            <a:ext cx="200965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Home</a:t>
            </a:r>
            <a:endParaRPr lang="en-US" sz="1725" dirty="0"/>
          </a:p>
        </p:txBody>
      </p:sp>
      <p:sp>
        <p:nvSpPr>
          <p:cNvPr id="58" name="Shape 56"/>
          <p:cNvSpPr/>
          <p:nvPr/>
        </p:nvSpPr>
        <p:spPr>
          <a:xfrm>
            <a:off x="6287453" y="5824061"/>
            <a:ext cx="1904048" cy="9525"/>
          </a:xfrm>
          <a:prstGeom prst="rect">
            <a:avLst/>
          </a:prstGeom>
          <a:solidFill>
            <a:srgbClr val="FFFFFF">
              <a:alpha val="8000"/>
            </a:srgbClr>
          </a:solidFill>
          <a:ln/>
        </p:spPr>
      </p:sp>
      <p:sp>
        <p:nvSpPr>
          <p:cNvPr id="59" name="Text 57"/>
          <p:cNvSpPr/>
          <p:nvPr/>
        </p:nvSpPr>
        <p:spPr>
          <a:xfrm>
            <a:off x="6382703" y="5467826"/>
            <a:ext cx="163734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$2,400</a:t>
            </a:r>
            <a:endParaRPr lang="en-US" sz="1725" dirty="0"/>
          </a:p>
        </p:txBody>
      </p:sp>
      <p:sp>
        <p:nvSpPr>
          <p:cNvPr id="60" name="Shape 58"/>
          <p:cNvSpPr/>
          <p:nvPr/>
        </p:nvSpPr>
        <p:spPr>
          <a:xfrm>
            <a:off x="952500" y="5831681"/>
            <a:ext cx="1414582" cy="468630"/>
          </a:xfrm>
          <a:prstGeom prst="rect">
            <a:avLst/>
          </a:prstGeom>
          <a:solidFill>
            <a:srgbClr val="FFFFFF">
              <a:alpha val="2000"/>
            </a:srgbClr>
          </a:solidFill>
          <a:ln/>
        </p:spPr>
      </p:sp>
      <p:sp>
        <p:nvSpPr>
          <p:cNvPr id="61" name="Shape 59"/>
          <p:cNvSpPr/>
          <p:nvPr/>
        </p:nvSpPr>
        <p:spPr>
          <a:xfrm>
            <a:off x="952500" y="6292691"/>
            <a:ext cx="1414582" cy="9525"/>
          </a:xfrm>
          <a:prstGeom prst="rect">
            <a:avLst/>
          </a:prstGeom>
          <a:solidFill>
            <a:srgbClr val="FFFFFF">
              <a:alpha val="8000"/>
            </a:srgbClr>
          </a:solidFill>
          <a:ln/>
        </p:spPr>
      </p:sp>
      <p:sp>
        <p:nvSpPr>
          <p:cNvPr id="62" name="Text 60"/>
          <p:cNvSpPr/>
          <p:nvPr/>
        </p:nvSpPr>
        <p:spPr>
          <a:xfrm>
            <a:off x="1123950" y="5936456"/>
            <a:ext cx="1147882"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Jan 7</a:t>
            </a:r>
            <a:endParaRPr lang="en-US" sz="1725" dirty="0"/>
          </a:p>
        </p:txBody>
      </p:sp>
      <p:sp>
        <p:nvSpPr>
          <p:cNvPr id="63" name="Shape 61"/>
          <p:cNvSpPr/>
          <p:nvPr/>
        </p:nvSpPr>
        <p:spPr>
          <a:xfrm>
            <a:off x="2367082" y="5831681"/>
            <a:ext cx="1644015" cy="468630"/>
          </a:xfrm>
          <a:prstGeom prst="rect">
            <a:avLst/>
          </a:prstGeom>
          <a:solidFill>
            <a:srgbClr val="FFFFFF">
              <a:alpha val="2000"/>
            </a:srgbClr>
          </a:solidFill>
          <a:ln/>
        </p:spPr>
      </p:sp>
      <p:sp>
        <p:nvSpPr>
          <p:cNvPr id="64" name="Shape 62"/>
          <p:cNvSpPr/>
          <p:nvPr/>
        </p:nvSpPr>
        <p:spPr>
          <a:xfrm>
            <a:off x="2367082" y="6292691"/>
            <a:ext cx="1644015" cy="9525"/>
          </a:xfrm>
          <a:prstGeom prst="rect">
            <a:avLst/>
          </a:prstGeom>
          <a:solidFill>
            <a:srgbClr val="FFFFFF">
              <a:alpha val="8000"/>
            </a:srgbClr>
          </a:solidFill>
          <a:ln/>
        </p:spPr>
      </p:sp>
      <p:sp>
        <p:nvSpPr>
          <p:cNvPr id="65" name="Text 63"/>
          <p:cNvSpPr/>
          <p:nvPr/>
        </p:nvSpPr>
        <p:spPr>
          <a:xfrm>
            <a:off x="2538532" y="5936456"/>
            <a:ext cx="1377315"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West</a:t>
            </a:r>
            <a:endParaRPr lang="en-US" sz="1725" dirty="0"/>
          </a:p>
        </p:txBody>
      </p:sp>
      <p:sp>
        <p:nvSpPr>
          <p:cNvPr id="66" name="Shape 64"/>
          <p:cNvSpPr/>
          <p:nvPr/>
        </p:nvSpPr>
        <p:spPr>
          <a:xfrm>
            <a:off x="4011097" y="5831681"/>
            <a:ext cx="2276356" cy="468630"/>
          </a:xfrm>
          <a:prstGeom prst="rect">
            <a:avLst/>
          </a:prstGeom>
          <a:solidFill>
            <a:srgbClr val="FFFFFF">
              <a:alpha val="2000"/>
            </a:srgbClr>
          </a:solidFill>
          <a:ln/>
        </p:spPr>
      </p:sp>
      <p:sp>
        <p:nvSpPr>
          <p:cNvPr id="67" name="Shape 65"/>
          <p:cNvSpPr/>
          <p:nvPr/>
        </p:nvSpPr>
        <p:spPr>
          <a:xfrm>
            <a:off x="4011097" y="6292691"/>
            <a:ext cx="2276356" cy="9525"/>
          </a:xfrm>
          <a:prstGeom prst="rect">
            <a:avLst/>
          </a:prstGeom>
          <a:solidFill>
            <a:srgbClr val="FFFFFF">
              <a:alpha val="8000"/>
            </a:srgbClr>
          </a:solidFill>
          <a:ln/>
        </p:spPr>
      </p:sp>
      <p:sp>
        <p:nvSpPr>
          <p:cNvPr id="68" name="Text 66"/>
          <p:cNvSpPr/>
          <p:nvPr/>
        </p:nvSpPr>
        <p:spPr>
          <a:xfrm>
            <a:off x="4182547" y="5936456"/>
            <a:ext cx="2009656"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F0F6FC"/>
                </a:solidFill>
                <a:latin typeface="Arial" pitchFamily="34" charset="0"/>
                <a:ea typeface="Arial" pitchFamily="34" charset="-122"/>
                <a:cs typeface="Arial" pitchFamily="34" charset="-120"/>
              </a:rPr>
              <a:t>Apparel</a:t>
            </a:r>
            <a:endParaRPr lang="en-US" sz="1725" dirty="0"/>
          </a:p>
        </p:txBody>
      </p:sp>
      <p:sp>
        <p:nvSpPr>
          <p:cNvPr id="69" name="Shape 67"/>
          <p:cNvSpPr/>
          <p:nvPr/>
        </p:nvSpPr>
        <p:spPr>
          <a:xfrm>
            <a:off x="6287453" y="5831681"/>
            <a:ext cx="1904048" cy="468630"/>
          </a:xfrm>
          <a:prstGeom prst="rect">
            <a:avLst/>
          </a:prstGeom>
          <a:solidFill>
            <a:srgbClr val="FFFFFF">
              <a:alpha val="2000"/>
            </a:srgbClr>
          </a:solidFill>
          <a:ln/>
        </p:spPr>
      </p:sp>
      <p:sp>
        <p:nvSpPr>
          <p:cNvPr id="70" name="Shape 68"/>
          <p:cNvSpPr/>
          <p:nvPr/>
        </p:nvSpPr>
        <p:spPr>
          <a:xfrm>
            <a:off x="6287453" y="6292691"/>
            <a:ext cx="1904048" cy="9525"/>
          </a:xfrm>
          <a:prstGeom prst="rect">
            <a:avLst/>
          </a:prstGeom>
          <a:solidFill>
            <a:srgbClr val="FFFFFF">
              <a:alpha val="8000"/>
            </a:srgbClr>
          </a:solidFill>
          <a:ln/>
        </p:spPr>
      </p:sp>
      <p:sp>
        <p:nvSpPr>
          <p:cNvPr id="71" name="Text 69"/>
          <p:cNvSpPr/>
          <p:nvPr/>
        </p:nvSpPr>
        <p:spPr>
          <a:xfrm>
            <a:off x="6382703" y="5936456"/>
            <a:ext cx="1637348" cy="289560"/>
          </a:xfrm>
          <a:prstGeom prst="rect">
            <a:avLst/>
          </a:prstGeom>
          <a:noFill/>
          <a:ln/>
        </p:spPr>
        <p:txBody>
          <a:bodyPr wrap="square" lIns="25400" tIns="25400" rIns="25400" bIns="25400" rtlCol="0" anchor="ctr">
            <a:normAutofit/>
          </a:bodyPr>
          <a:lstStyle/>
          <a:p>
            <a:pPr algn="r" indent="0" marL="0">
              <a:buNone/>
            </a:pPr>
            <a:r>
              <a:rPr lang="en-US" sz="1725" dirty="0">
                <a:solidFill>
                  <a:srgbClr val="F0F6FC"/>
                </a:solidFill>
                <a:latin typeface="monospace" pitchFamily="34" charset="0"/>
                <a:ea typeface="monospace" pitchFamily="34" charset="-122"/>
                <a:cs typeface="monospace" pitchFamily="34" charset="-120"/>
              </a:rPr>
              <a:t>$980</a:t>
            </a:r>
            <a:endParaRPr lang="en-US" sz="1725" dirty="0"/>
          </a:p>
        </p:txBody>
      </p:sp>
      <p:sp>
        <p:nvSpPr>
          <p:cNvPr id="72" name="Shape 70"/>
          <p:cNvSpPr/>
          <p:nvPr/>
        </p:nvSpPr>
        <p:spPr>
          <a:xfrm>
            <a:off x="952500" y="6761321"/>
            <a:ext cx="7239000" cy="9525"/>
          </a:xfrm>
          <a:prstGeom prst="rect">
            <a:avLst/>
          </a:prstGeom>
          <a:solidFill>
            <a:srgbClr val="FFFFFF">
              <a:alpha val="8000"/>
            </a:srgbClr>
          </a:solidFill>
          <a:ln/>
        </p:spPr>
      </p:sp>
      <p:sp>
        <p:nvSpPr>
          <p:cNvPr id="73" name="Text 71"/>
          <p:cNvSpPr/>
          <p:nvPr/>
        </p:nvSpPr>
        <p:spPr>
          <a:xfrm>
            <a:off x="1123950" y="6405086"/>
            <a:ext cx="7113270" cy="289560"/>
          </a:xfrm>
          <a:prstGeom prst="rect">
            <a:avLst/>
          </a:prstGeom>
          <a:noFill/>
          <a:ln/>
        </p:spPr>
        <p:txBody>
          <a:bodyPr wrap="square" lIns="25400" tIns="25400" rIns="25400" bIns="25400" rtlCol="0" anchor="ctr">
            <a:normAutofit/>
          </a:bodyPr>
          <a:lstStyle/>
          <a:p>
            <a:pPr algn="l" indent="0" marL="0">
              <a:buNone/>
            </a:pPr>
            <a:r>
              <a:rPr lang="en-US" sz="1725" dirty="0">
                <a:solidFill>
                  <a:srgbClr val="7D8590"/>
                </a:solidFill>
                <a:latin typeface="Arial" pitchFamily="34" charset="0"/>
                <a:ea typeface="Arial" pitchFamily="34" charset="-122"/>
                <a:cs typeface="Arial" pitchFamily="34" charset="-120"/>
              </a:rPr>
              <a:t>· · · 995 more rows · · ·</a:t>
            </a:r>
            <a:endParaRPr lang="en-US" sz="1725" dirty="0"/>
          </a:p>
        </p:txBody>
      </p:sp>
      <p:sp>
        <p:nvSpPr>
          <p:cNvPr id="74" name="Text 72"/>
          <p:cNvSpPr/>
          <p:nvPr/>
        </p:nvSpPr>
        <p:spPr>
          <a:xfrm>
            <a:off x="8896350" y="4435316"/>
            <a:ext cx="571500" cy="609600"/>
          </a:xfrm>
          <a:prstGeom prst="rect">
            <a:avLst/>
          </a:prstGeom>
          <a:noFill/>
          <a:ln/>
        </p:spPr>
        <p:txBody>
          <a:bodyPr wrap="square" lIns="25400" tIns="25400" rIns="25400" bIns="25400" rtlCol="0" anchor="t">
            <a:normAutofit/>
          </a:bodyPr>
          <a:lstStyle/>
          <a:p>
            <a:pPr algn="l" indent="0" marL="0">
              <a:buNone/>
            </a:pPr>
            <a:r>
              <a:rPr lang="en-US" sz="3900" dirty="0">
                <a:solidFill>
                  <a:srgbClr val="2DD4BF"/>
                </a:solidFill>
                <a:latin typeface="Arial" pitchFamily="34" charset="0"/>
                <a:ea typeface="Arial" pitchFamily="34" charset="-122"/>
                <a:cs typeface="Arial" pitchFamily="34" charset="-120"/>
              </a:rPr>
              <a:t>→</a:t>
            </a:r>
            <a:endParaRPr lang="en-US" sz="3900" dirty="0"/>
          </a:p>
        </p:txBody>
      </p:sp>
      <p:sp>
        <p:nvSpPr>
          <p:cNvPr id="75" name="Text 73"/>
          <p:cNvSpPr/>
          <p:nvPr/>
        </p:nvSpPr>
        <p:spPr>
          <a:xfrm>
            <a:off x="8900875" y="5121116"/>
            <a:ext cx="486132" cy="434340"/>
          </a:xfrm>
          <a:prstGeom prst="rect">
            <a:avLst/>
          </a:prstGeom>
          <a:noFill/>
          <a:ln/>
        </p:spPr>
        <p:txBody>
          <a:bodyPr wrap="square" lIns="25400" tIns="25400" rIns="25400" bIns="25400" rtlCol="0" anchor="t">
            <a:normAutofit/>
          </a:bodyPr>
          <a:lstStyle/>
          <a:p>
            <a:pPr algn="ctr" indent="0" marL="0">
              <a:buNone/>
            </a:pPr>
            <a:r>
              <a:rPr lang="en-US" sz="1350" dirty="0">
                <a:solidFill>
                  <a:srgbClr val="7D8590"/>
                </a:solidFill>
                <a:latin typeface="Arial" pitchFamily="34" charset="0"/>
                <a:ea typeface="Arial" pitchFamily="34" charset="-122"/>
                <a:cs typeface="Arial" pitchFamily="34" charset="-120"/>
              </a:rPr>
              <a:t>Pivot Table</a:t>
            </a:r>
            <a:endParaRPr lang="en-US" sz="1350" dirty="0"/>
          </a:p>
        </p:txBody>
      </p:sp>
      <p:sp>
        <p:nvSpPr>
          <p:cNvPr id="76" name="Text 74"/>
          <p:cNvSpPr/>
          <p:nvPr/>
        </p:nvSpPr>
        <p:spPr>
          <a:xfrm>
            <a:off x="10096500" y="3532346"/>
            <a:ext cx="745617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2DD4BF"/>
                </a:solidFill>
                <a:latin typeface="Arial" pitchFamily="34" charset="0"/>
                <a:ea typeface="Arial" pitchFamily="34" charset="-122"/>
                <a:cs typeface="Arial" pitchFamily="34" charset="-120"/>
              </a:rPr>
              <a:t>Summary: Revenue by Region &amp; Category</a:t>
            </a:r>
            <a:endParaRPr lang="en-US" sz="1500" dirty="0"/>
          </a:p>
        </p:txBody>
      </p:sp>
      <p:sp>
        <p:nvSpPr>
          <p:cNvPr id="77" name="Shape 75"/>
          <p:cNvSpPr/>
          <p:nvPr/>
        </p:nvSpPr>
        <p:spPr>
          <a:xfrm>
            <a:off x="10100310" y="3818096"/>
            <a:ext cx="1573530" cy="445770"/>
          </a:xfrm>
          <a:prstGeom prst="rect">
            <a:avLst/>
          </a:prstGeom>
          <a:solidFill>
            <a:srgbClr val="1C3A5E"/>
          </a:solidFill>
          <a:ln w="7620">
            <a:solidFill>
              <a:srgbClr val="FFFFFF">
                <a:alpha val="10000"/>
              </a:srgbClr>
            </a:solidFill>
            <a:prstDash val="solid"/>
          </a:ln>
        </p:spPr>
      </p:sp>
      <p:sp>
        <p:nvSpPr>
          <p:cNvPr id="78" name="Text 76"/>
          <p:cNvSpPr/>
          <p:nvPr/>
        </p:nvSpPr>
        <p:spPr>
          <a:xfrm>
            <a:off x="10241280" y="3930491"/>
            <a:ext cx="1291590"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Region</a:t>
            </a:r>
            <a:endParaRPr lang="en-US" sz="1425" dirty="0"/>
          </a:p>
        </p:txBody>
      </p:sp>
      <p:sp>
        <p:nvSpPr>
          <p:cNvPr id="79" name="Shape 77"/>
          <p:cNvSpPr/>
          <p:nvPr/>
        </p:nvSpPr>
        <p:spPr>
          <a:xfrm>
            <a:off x="11673840" y="3818096"/>
            <a:ext cx="1405057" cy="445770"/>
          </a:xfrm>
          <a:prstGeom prst="rect">
            <a:avLst/>
          </a:prstGeom>
          <a:solidFill>
            <a:srgbClr val="1C3A5E"/>
          </a:solidFill>
          <a:ln w="7620">
            <a:solidFill>
              <a:srgbClr val="FFFFFF">
                <a:alpha val="10000"/>
              </a:srgbClr>
            </a:solidFill>
            <a:prstDash val="solid"/>
          </a:ln>
        </p:spPr>
      </p:sp>
      <p:sp>
        <p:nvSpPr>
          <p:cNvPr id="80" name="Text 78"/>
          <p:cNvSpPr/>
          <p:nvPr/>
        </p:nvSpPr>
        <p:spPr>
          <a:xfrm>
            <a:off x="11814810" y="3930491"/>
            <a:ext cx="1123117"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Apparel</a:t>
            </a:r>
            <a:endParaRPr lang="en-US" sz="1425" dirty="0"/>
          </a:p>
        </p:txBody>
      </p:sp>
      <p:sp>
        <p:nvSpPr>
          <p:cNvPr id="81" name="Shape 79"/>
          <p:cNvSpPr/>
          <p:nvPr/>
        </p:nvSpPr>
        <p:spPr>
          <a:xfrm>
            <a:off x="13078897" y="3818096"/>
            <a:ext cx="1442323" cy="445770"/>
          </a:xfrm>
          <a:prstGeom prst="rect">
            <a:avLst/>
          </a:prstGeom>
          <a:solidFill>
            <a:srgbClr val="1C3A5E"/>
          </a:solidFill>
          <a:ln w="7620">
            <a:solidFill>
              <a:srgbClr val="FFFFFF">
                <a:alpha val="10000"/>
              </a:srgbClr>
            </a:solidFill>
            <a:prstDash val="solid"/>
          </a:ln>
        </p:spPr>
      </p:sp>
      <p:sp>
        <p:nvSpPr>
          <p:cNvPr id="82" name="Text 80"/>
          <p:cNvSpPr/>
          <p:nvPr/>
        </p:nvSpPr>
        <p:spPr>
          <a:xfrm>
            <a:off x="13219867" y="3930491"/>
            <a:ext cx="1160383"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Electronics</a:t>
            </a:r>
            <a:endParaRPr lang="en-US" sz="1425" dirty="0"/>
          </a:p>
        </p:txBody>
      </p:sp>
      <p:sp>
        <p:nvSpPr>
          <p:cNvPr id="83" name="Shape 81"/>
          <p:cNvSpPr/>
          <p:nvPr/>
        </p:nvSpPr>
        <p:spPr>
          <a:xfrm>
            <a:off x="14521219" y="3818096"/>
            <a:ext cx="1373743" cy="445770"/>
          </a:xfrm>
          <a:prstGeom prst="rect">
            <a:avLst/>
          </a:prstGeom>
          <a:solidFill>
            <a:srgbClr val="1C3A5E"/>
          </a:solidFill>
          <a:ln w="7620">
            <a:solidFill>
              <a:srgbClr val="FFFFFF">
                <a:alpha val="10000"/>
              </a:srgbClr>
            </a:solidFill>
            <a:prstDash val="solid"/>
          </a:ln>
        </p:spPr>
      </p:sp>
      <p:sp>
        <p:nvSpPr>
          <p:cNvPr id="84" name="Text 82"/>
          <p:cNvSpPr/>
          <p:nvPr/>
        </p:nvSpPr>
        <p:spPr>
          <a:xfrm>
            <a:off x="14662189" y="3930491"/>
            <a:ext cx="1091803"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Home</a:t>
            </a:r>
            <a:endParaRPr lang="en-US" sz="1425" dirty="0"/>
          </a:p>
        </p:txBody>
      </p:sp>
      <p:sp>
        <p:nvSpPr>
          <p:cNvPr id="85" name="Shape 83"/>
          <p:cNvSpPr/>
          <p:nvPr/>
        </p:nvSpPr>
        <p:spPr>
          <a:xfrm>
            <a:off x="15894964" y="3818096"/>
            <a:ext cx="1436727" cy="445770"/>
          </a:xfrm>
          <a:prstGeom prst="rect">
            <a:avLst/>
          </a:prstGeom>
          <a:solidFill>
            <a:srgbClr val="2DD4BF">
              <a:alpha val="20000"/>
            </a:srgbClr>
          </a:solidFill>
          <a:ln w="7620">
            <a:solidFill>
              <a:srgbClr val="FFFFFF">
                <a:alpha val="10000"/>
              </a:srgbClr>
            </a:solidFill>
            <a:prstDash val="solid"/>
          </a:ln>
        </p:spPr>
      </p:sp>
      <p:sp>
        <p:nvSpPr>
          <p:cNvPr id="86" name="Text 84"/>
          <p:cNvSpPr/>
          <p:nvPr/>
        </p:nvSpPr>
        <p:spPr>
          <a:xfrm>
            <a:off x="16035934" y="3930491"/>
            <a:ext cx="1154787"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DD4BF"/>
                </a:solidFill>
                <a:latin typeface="Arial" pitchFamily="34" charset="0"/>
                <a:ea typeface="Arial" pitchFamily="34" charset="-122"/>
                <a:cs typeface="Arial" pitchFamily="34" charset="-120"/>
              </a:rPr>
              <a:t>Total</a:t>
            </a:r>
            <a:endParaRPr lang="en-US" sz="1425" dirty="0"/>
          </a:p>
        </p:txBody>
      </p:sp>
      <p:sp>
        <p:nvSpPr>
          <p:cNvPr id="87" name="Shape 85"/>
          <p:cNvSpPr/>
          <p:nvPr/>
        </p:nvSpPr>
        <p:spPr>
          <a:xfrm>
            <a:off x="10100310" y="4263866"/>
            <a:ext cx="1573530" cy="430530"/>
          </a:xfrm>
          <a:prstGeom prst="rect">
            <a:avLst/>
          </a:prstGeom>
          <a:solidFill>
            <a:srgbClr val="1A2535"/>
          </a:solidFill>
          <a:ln w="7620">
            <a:solidFill>
              <a:srgbClr val="FFFFFF">
                <a:alpha val="8000"/>
              </a:srgbClr>
            </a:solidFill>
            <a:prstDash val="solid"/>
          </a:ln>
        </p:spPr>
      </p:sp>
      <p:sp>
        <p:nvSpPr>
          <p:cNvPr id="88" name="Text 86"/>
          <p:cNvSpPr/>
          <p:nvPr/>
        </p:nvSpPr>
        <p:spPr>
          <a:xfrm>
            <a:off x="10279380" y="4357211"/>
            <a:ext cx="129159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East</a:t>
            </a:r>
            <a:endParaRPr lang="en-US" sz="1575" dirty="0"/>
          </a:p>
        </p:txBody>
      </p:sp>
      <p:sp>
        <p:nvSpPr>
          <p:cNvPr id="89" name="Shape 87"/>
          <p:cNvSpPr/>
          <p:nvPr/>
        </p:nvSpPr>
        <p:spPr>
          <a:xfrm>
            <a:off x="11673840" y="4263866"/>
            <a:ext cx="1405057" cy="430530"/>
          </a:xfrm>
          <a:prstGeom prst="rect">
            <a:avLst/>
          </a:prstGeom>
          <a:ln w="7620">
            <a:solidFill>
              <a:srgbClr val="FFFFFF">
                <a:alpha val="8000"/>
              </a:srgbClr>
            </a:solidFill>
            <a:prstDash val="solid"/>
          </a:ln>
        </p:spPr>
      </p:sp>
      <p:sp>
        <p:nvSpPr>
          <p:cNvPr id="90" name="Text 88"/>
          <p:cNvSpPr/>
          <p:nvPr/>
        </p:nvSpPr>
        <p:spPr>
          <a:xfrm>
            <a:off x="11852910" y="4357211"/>
            <a:ext cx="1123117"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$48,200</a:t>
            </a:r>
            <a:endParaRPr lang="en-US" sz="1575" dirty="0"/>
          </a:p>
        </p:txBody>
      </p:sp>
      <p:sp>
        <p:nvSpPr>
          <p:cNvPr id="91" name="Shape 89"/>
          <p:cNvSpPr/>
          <p:nvPr/>
        </p:nvSpPr>
        <p:spPr>
          <a:xfrm>
            <a:off x="13078897" y="4263866"/>
            <a:ext cx="1442323" cy="430530"/>
          </a:xfrm>
          <a:prstGeom prst="rect">
            <a:avLst/>
          </a:prstGeom>
          <a:ln w="7620">
            <a:solidFill>
              <a:srgbClr val="FFFFFF">
                <a:alpha val="8000"/>
              </a:srgbClr>
            </a:solidFill>
            <a:prstDash val="solid"/>
          </a:ln>
        </p:spPr>
      </p:sp>
      <p:sp>
        <p:nvSpPr>
          <p:cNvPr id="92" name="Text 90"/>
          <p:cNvSpPr/>
          <p:nvPr/>
        </p:nvSpPr>
        <p:spPr>
          <a:xfrm>
            <a:off x="13257967" y="4357211"/>
            <a:ext cx="116038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$91,400</a:t>
            </a:r>
            <a:endParaRPr lang="en-US" sz="1575" dirty="0"/>
          </a:p>
        </p:txBody>
      </p:sp>
      <p:sp>
        <p:nvSpPr>
          <p:cNvPr id="93" name="Shape 91"/>
          <p:cNvSpPr/>
          <p:nvPr/>
        </p:nvSpPr>
        <p:spPr>
          <a:xfrm>
            <a:off x="14521219" y="4263866"/>
            <a:ext cx="1373743" cy="430530"/>
          </a:xfrm>
          <a:prstGeom prst="rect">
            <a:avLst/>
          </a:prstGeom>
          <a:ln w="7620">
            <a:solidFill>
              <a:srgbClr val="FFFFFF">
                <a:alpha val="8000"/>
              </a:srgbClr>
            </a:solidFill>
            <a:prstDash val="solid"/>
          </a:ln>
        </p:spPr>
      </p:sp>
      <p:sp>
        <p:nvSpPr>
          <p:cNvPr id="94" name="Text 92"/>
          <p:cNvSpPr/>
          <p:nvPr/>
        </p:nvSpPr>
        <p:spPr>
          <a:xfrm>
            <a:off x="14700289" y="4357211"/>
            <a:ext cx="109180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$32,100</a:t>
            </a:r>
            <a:endParaRPr lang="en-US" sz="1575" dirty="0"/>
          </a:p>
        </p:txBody>
      </p:sp>
      <p:sp>
        <p:nvSpPr>
          <p:cNvPr id="95" name="Shape 93"/>
          <p:cNvSpPr/>
          <p:nvPr/>
        </p:nvSpPr>
        <p:spPr>
          <a:xfrm>
            <a:off x="15894964" y="4263866"/>
            <a:ext cx="1436727" cy="430530"/>
          </a:xfrm>
          <a:prstGeom prst="rect">
            <a:avLst/>
          </a:prstGeom>
          <a:solidFill>
            <a:srgbClr val="2DD4BF">
              <a:alpha val="10000"/>
            </a:srgbClr>
          </a:solidFill>
          <a:ln w="7620">
            <a:solidFill>
              <a:srgbClr val="FFFFFF">
                <a:alpha val="8000"/>
              </a:srgbClr>
            </a:solidFill>
            <a:prstDash val="solid"/>
          </a:ln>
        </p:spPr>
      </p:sp>
      <p:sp>
        <p:nvSpPr>
          <p:cNvPr id="96" name="Text 94"/>
          <p:cNvSpPr/>
          <p:nvPr/>
        </p:nvSpPr>
        <p:spPr>
          <a:xfrm>
            <a:off x="16074034" y="4357211"/>
            <a:ext cx="115478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$171,700</a:t>
            </a:r>
            <a:endParaRPr lang="en-US" sz="1575" dirty="0"/>
          </a:p>
        </p:txBody>
      </p:sp>
      <p:sp>
        <p:nvSpPr>
          <p:cNvPr id="97" name="Shape 95"/>
          <p:cNvSpPr/>
          <p:nvPr/>
        </p:nvSpPr>
        <p:spPr>
          <a:xfrm>
            <a:off x="10100310" y="4694396"/>
            <a:ext cx="1573530" cy="430530"/>
          </a:xfrm>
          <a:prstGeom prst="rect">
            <a:avLst/>
          </a:prstGeom>
          <a:solidFill>
            <a:srgbClr val="1A2535"/>
          </a:solidFill>
          <a:ln w="7620">
            <a:solidFill>
              <a:srgbClr val="FFFFFF">
                <a:alpha val="8000"/>
              </a:srgbClr>
            </a:solidFill>
            <a:prstDash val="solid"/>
          </a:ln>
        </p:spPr>
      </p:sp>
      <p:sp>
        <p:nvSpPr>
          <p:cNvPr id="98" name="Text 96"/>
          <p:cNvSpPr/>
          <p:nvPr/>
        </p:nvSpPr>
        <p:spPr>
          <a:xfrm>
            <a:off x="10279380" y="4787741"/>
            <a:ext cx="129159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North</a:t>
            </a:r>
            <a:endParaRPr lang="en-US" sz="1575" dirty="0"/>
          </a:p>
        </p:txBody>
      </p:sp>
      <p:sp>
        <p:nvSpPr>
          <p:cNvPr id="99" name="Shape 97"/>
          <p:cNvSpPr/>
          <p:nvPr/>
        </p:nvSpPr>
        <p:spPr>
          <a:xfrm>
            <a:off x="11673840" y="4694396"/>
            <a:ext cx="1405057" cy="430530"/>
          </a:xfrm>
          <a:prstGeom prst="rect">
            <a:avLst/>
          </a:prstGeom>
          <a:ln w="7620">
            <a:solidFill>
              <a:srgbClr val="FFFFFF">
                <a:alpha val="8000"/>
              </a:srgbClr>
            </a:solidFill>
            <a:prstDash val="solid"/>
          </a:ln>
        </p:spPr>
      </p:sp>
      <p:sp>
        <p:nvSpPr>
          <p:cNvPr id="100" name="Text 98"/>
          <p:cNvSpPr/>
          <p:nvPr/>
        </p:nvSpPr>
        <p:spPr>
          <a:xfrm>
            <a:off x="11852910" y="4787741"/>
            <a:ext cx="1123117"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$52,800</a:t>
            </a:r>
            <a:endParaRPr lang="en-US" sz="1575" dirty="0"/>
          </a:p>
        </p:txBody>
      </p:sp>
      <p:sp>
        <p:nvSpPr>
          <p:cNvPr id="101" name="Shape 99"/>
          <p:cNvSpPr/>
          <p:nvPr/>
        </p:nvSpPr>
        <p:spPr>
          <a:xfrm>
            <a:off x="13078897" y="4694396"/>
            <a:ext cx="1442323" cy="430530"/>
          </a:xfrm>
          <a:prstGeom prst="rect">
            <a:avLst/>
          </a:prstGeom>
          <a:ln w="7620">
            <a:solidFill>
              <a:srgbClr val="FFFFFF">
                <a:alpha val="8000"/>
              </a:srgbClr>
            </a:solidFill>
            <a:prstDash val="solid"/>
          </a:ln>
        </p:spPr>
      </p:sp>
      <p:sp>
        <p:nvSpPr>
          <p:cNvPr id="102" name="Text 100"/>
          <p:cNvSpPr/>
          <p:nvPr/>
        </p:nvSpPr>
        <p:spPr>
          <a:xfrm>
            <a:off x="13257967" y="4787741"/>
            <a:ext cx="116038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$108,600</a:t>
            </a:r>
            <a:endParaRPr lang="en-US" sz="1575" dirty="0"/>
          </a:p>
        </p:txBody>
      </p:sp>
      <p:sp>
        <p:nvSpPr>
          <p:cNvPr id="103" name="Shape 101"/>
          <p:cNvSpPr/>
          <p:nvPr/>
        </p:nvSpPr>
        <p:spPr>
          <a:xfrm>
            <a:off x="14521219" y="4694396"/>
            <a:ext cx="1373743" cy="430530"/>
          </a:xfrm>
          <a:prstGeom prst="rect">
            <a:avLst/>
          </a:prstGeom>
          <a:ln w="7620">
            <a:solidFill>
              <a:srgbClr val="FFFFFF">
                <a:alpha val="8000"/>
              </a:srgbClr>
            </a:solidFill>
            <a:prstDash val="solid"/>
          </a:ln>
        </p:spPr>
      </p:sp>
      <p:sp>
        <p:nvSpPr>
          <p:cNvPr id="104" name="Text 102"/>
          <p:cNvSpPr/>
          <p:nvPr/>
        </p:nvSpPr>
        <p:spPr>
          <a:xfrm>
            <a:off x="14700289" y="4787741"/>
            <a:ext cx="109180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$41,200</a:t>
            </a:r>
            <a:endParaRPr lang="en-US" sz="1575" dirty="0"/>
          </a:p>
        </p:txBody>
      </p:sp>
      <p:sp>
        <p:nvSpPr>
          <p:cNvPr id="105" name="Shape 103"/>
          <p:cNvSpPr/>
          <p:nvPr/>
        </p:nvSpPr>
        <p:spPr>
          <a:xfrm>
            <a:off x="15894964" y="4694396"/>
            <a:ext cx="1436727" cy="430530"/>
          </a:xfrm>
          <a:prstGeom prst="rect">
            <a:avLst/>
          </a:prstGeom>
          <a:solidFill>
            <a:srgbClr val="2DD4BF">
              <a:alpha val="10000"/>
            </a:srgbClr>
          </a:solidFill>
          <a:ln w="7620">
            <a:solidFill>
              <a:srgbClr val="FFFFFF">
                <a:alpha val="8000"/>
              </a:srgbClr>
            </a:solidFill>
            <a:prstDash val="solid"/>
          </a:ln>
        </p:spPr>
      </p:sp>
      <p:sp>
        <p:nvSpPr>
          <p:cNvPr id="106" name="Text 104"/>
          <p:cNvSpPr/>
          <p:nvPr/>
        </p:nvSpPr>
        <p:spPr>
          <a:xfrm>
            <a:off x="16074034" y="4787741"/>
            <a:ext cx="115478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$202,600</a:t>
            </a:r>
            <a:endParaRPr lang="en-US" sz="1575" dirty="0"/>
          </a:p>
        </p:txBody>
      </p:sp>
      <p:sp>
        <p:nvSpPr>
          <p:cNvPr id="107" name="Shape 105"/>
          <p:cNvSpPr/>
          <p:nvPr/>
        </p:nvSpPr>
        <p:spPr>
          <a:xfrm>
            <a:off x="10100310" y="5124926"/>
            <a:ext cx="1573530" cy="430530"/>
          </a:xfrm>
          <a:prstGeom prst="rect">
            <a:avLst/>
          </a:prstGeom>
          <a:solidFill>
            <a:srgbClr val="1A2535"/>
          </a:solidFill>
          <a:ln w="7620">
            <a:solidFill>
              <a:srgbClr val="FFFFFF">
                <a:alpha val="8000"/>
              </a:srgbClr>
            </a:solidFill>
            <a:prstDash val="solid"/>
          </a:ln>
        </p:spPr>
      </p:sp>
      <p:sp>
        <p:nvSpPr>
          <p:cNvPr id="108" name="Text 106"/>
          <p:cNvSpPr/>
          <p:nvPr/>
        </p:nvSpPr>
        <p:spPr>
          <a:xfrm>
            <a:off x="10279380" y="5218271"/>
            <a:ext cx="129159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South</a:t>
            </a:r>
            <a:endParaRPr lang="en-US" sz="1575" dirty="0"/>
          </a:p>
        </p:txBody>
      </p:sp>
      <p:sp>
        <p:nvSpPr>
          <p:cNvPr id="109" name="Shape 107"/>
          <p:cNvSpPr/>
          <p:nvPr/>
        </p:nvSpPr>
        <p:spPr>
          <a:xfrm>
            <a:off x="11673840" y="5124926"/>
            <a:ext cx="1405057" cy="430530"/>
          </a:xfrm>
          <a:prstGeom prst="rect">
            <a:avLst/>
          </a:prstGeom>
          <a:ln w="7620">
            <a:solidFill>
              <a:srgbClr val="FFFFFF">
                <a:alpha val="8000"/>
              </a:srgbClr>
            </a:solidFill>
            <a:prstDash val="solid"/>
          </a:ln>
        </p:spPr>
      </p:sp>
      <p:sp>
        <p:nvSpPr>
          <p:cNvPr id="110" name="Text 108"/>
          <p:cNvSpPr/>
          <p:nvPr/>
        </p:nvSpPr>
        <p:spPr>
          <a:xfrm>
            <a:off x="11852910" y="5218271"/>
            <a:ext cx="1123117"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$38,400</a:t>
            </a:r>
            <a:endParaRPr lang="en-US" sz="1575" dirty="0"/>
          </a:p>
        </p:txBody>
      </p:sp>
      <p:sp>
        <p:nvSpPr>
          <p:cNvPr id="111" name="Shape 109"/>
          <p:cNvSpPr/>
          <p:nvPr/>
        </p:nvSpPr>
        <p:spPr>
          <a:xfrm>
            <a:off x="13078897" y="5124926"/>
            <a:ext cx="1442323" cy="430530"/>
          </a:xfrm>
          <a:prstGeom prst="rect">
            <a:avLst/>
          </a:prstGeom>
          <a:ln w="7620">
            <a:solidFill>
              <a:srgbClr val="FFFFFF">
                <a:alpha val="8000"/>
              </a:srgbClr>
            </a:solidFill>
            <a:prstDash val="solid"/>
          </a:ln>
        </p:spPr>
      </p:sp>
      <p:sp>
        <p:nvSpPr>
          <p:cNvPr id="112" name="Text 110"/>
          <p:cNvSpPr/>
          <p:nvPr/>
        </p:nvSpPr>
        <p:spPr>
          <a:xfrm>
            <a:off x="13257967" y="5218271"/>
            <a:ext cx="116038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$79,200</a:t>
            </a:r>
            <a:endParaRPr lang="en-US" sz="1575" dirty="0"/>
          </a:p>
        </p:txBody>
      </p:sp>
      <p:sp>
        <p:nvSpPr>
          <p:cNvPr id="113" name="Shape 111"/>
          <p:cNvSpPr/>
          <p:nvPr/>
        </p:nvSpPr>
        <p:spPr>
          <a:xfrm>
            <a:off x="14521219" y="5124926"/>
            <a:ext cx="1373743" cy="430530"/>
          </a:xfrm>
          <a:prstGeom prst="rect">
            <a:avLst/>
          </a:prstGeom>
          <a:ln w="7620">
            <a:solidFill>
              <a:srgbClr val="FFFFFF">
                <a:alpha val="8000"/>
              </a:srgbClr>
            </a:solidFill>
            <a:prstDash val="solid"/>
          </a:ln>
        </p:spPr>
      </p:sp>
      <p:sp>
        <p:nvSpPr>
          <p:cNvPr id="114" name="Text 112"/>
          <p:cNvSpPr/>
          <p:nvPr/>
        </p:nvSpPr>
        <p:spPr>
          <a:xfrm>
            <a:off x="14700289" y="5218271"/>
            <a:ext cx="109180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$28,900</a:t>
            </a:r>
            <a:endParaRPr lang="en-US" sz="1575" dirty="0"/>
          </a:p>
        </p:txBody>
      </p:sp>
      <p:sp>
        <p:nvSpPr>
          <p:cNvPr id="115" name="Shape 113"/>
          <p:cNvSpPr/>
          <p:nvPr/>
        </p:nvSpPr>
        <p:spPr>
          <a:xfrm>
            <a:off x="15894964" y="5124926"/>
            <a:ext cx="1436727" cy="430530"/>
          </a:xfrm>
          <a:prstGeom prst="rect">
            <a:avLst/>
          </a:prstGeom>
          <a:solidFill>
            <a:srgbClr val="2DD4BF">
              <a:alpha val="10000"/>
            </a:srgbClr>
          </a:solidFill>
          <a:ln w="7620">
            <a:solidFill>
              <a:srgbClr val="FFFFFF">
                <a:alpha val="8000"/>
              </a:srgbClr>
            </a:solidFill>
            <a:prstDash val="solid"/>
          </a:ln>
        </p:spPr>
      </p:sp>
      <p:sp>
        <p:nvSpPr>
          <p:cNvPr id="116" name="Text 114"/>
          <p:cNvSpPr/>
          <p:nvPr/>
        </p:nvSpPr>
        <p:spPr>
          <a:xfrm>
            <a:off x="16074034" y="5218271"/>
            <a:ext cx="115478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$146,500</a:t>
            </a:r>
            <a:endParaRPr lang="en-US" sz="1575" dirty="0"/>
          </a:p>
        </p:txBody>
      </p:sp>
      <p:sp>
        <p:nvSpPr>
          <p:cNvPr id="117" name="Shape 115"/>
          <p:cNvSpPr/>
          <p:nvPr/>
        </p:nvSpPr>
        <p:spPr>
          <a:xfrm>
            <a:off x="10100310" y="5555456"/>
            <a:ext cx="1573530" cy="430530"/>
          </a:xfrm>
          <a:prstGeom prst="rect">
            <a:avLst/>
          </a:prstGeom>
          <a:solidFill>
            <a:srgbClr val="1A2535"/>
          </a:solidFill>
          <a:ln w="7620">
            <a:solidFill>
              <a:srgbClr val="FFFFFF">
                <a:alpha val="8000"/>
              </a:srgbClr>
            </a:solidFill>
            <a:prstDash val="solid"/>
          </a:ln>
        </p:spPr>
      </p:sp>
      <p:sp>
        <p:nvSpPr>
          <p:cNvPr id="118" name="Text 116"/>
          <p:cNvSpPr/>
          <p:nvPr/>
        </p:nvSpPr>
        <p:spPr>
          <a:xfrm>
            <a:off x="10279380" y="5648801"/>
            <a:ext cx="129159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West</a:t>
            </a:r>
            <a:endParaRPr lang="en-US" sz="1575" dirty="0"/>
          </a:p>
        </p:txBody>
      </p:sp>
      <p:sp>
        <p:nvSpPr>
          <p:cNvPr id="119" name="Shape 117"/>
          <p:cNvSpPr/>
          <p:nvPr/>
        </p:nvSpPr>
        <p:spPr>
          <a:xfrm>
            <a:off x="11673840" y="5555456"/>
            <a:ext cx="1405057" cy="430530"/>
          </a:xfrm>
          <a:prstGeom prst="rect">
            <a:avLst/>
          </a:prstGeom>
          <a:ln w="7620">
            <a:solidFill>
              <a:srgbClr val="FFFFFF">
                <a:alpha val="8000"/>
              </a:srgbClr>
            </a:solidFill>
            <a:prstDash val="solid"/>
          </a:ln>
        </p:spPr>
      </p:sp>
      <p:sp>
        <p:nvSpPr>
          <p:cNvPr id="120" name="Text 118"/>
          <p:cNvSpPr/>
          <p:nvPr/>
        </p:nvSpPr>
        <p:spPr>
          <a:xfrm>
            <a:off x="11852910" y="5648801"/>
            <a:ext cx="1123117"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$41,100</a:t>
            </a:r>
            <a:endParaRPr lang="en-US" sz="1575" dirty="0"/>
          </a:p>
        </p:txBody>
      </p:sp>
      <p:sp>
        <p:nvSpPr>
          <p:cNvPr id="121" name="Shape 119"/>
          <p:cNvSpPr/>
          <p:nvPr/>
        </p:nvSpPr>
        <p:spPr>
          <a:xfrm>
            <a:off x="13078897" y="5555456"/>
            <a:ext cx="1442323" cy="430530"/>
          </a:xfrm>
          <a:prstGeom prst="rect">
            <a:avLst/>
          </a:prstGeom>
          <a:ln w="7620">
            <a:solidFill>
              <a:srgbClr val="FFFFFF">
                <a:alpha val="8000"/>
              </a:srgbClr>
            </a:solidFill>
            <a:prstDash val="solid"/>
          </a:ln>
        </p:spPr>
      </p:sp>
      <p:sp>
        <p:nvSpPr>
          <p:cNvPr id="122" name="Text 120"/>
          <p:cNvSpPr/>
          <p:nvPr/>
        </p:nvSpPr>
        <p:spPr>
          <a:xfrm>
            <a:off x="13257967" y="5648801"/>
            <a:ext cx="116038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$84,500</a:t>
            </a:r>
            <a:endParaRPr lang="en-US" sz="1575" dirty="0"/>
          </a:p>
        </p:txBody>
      </p:sp>
      <p:sp>
        <p:nvSpPr>
          <p:cNvPr id="123" name="Shape 121"/>
          <p:cNvSpPr/>
          <p:nvPr/>
        </p:nvSpPr>
        <p:spPr>
          <a:xfrm>
            <a:off x="14521219" y="5555456"/>
            <a:ext cx="1373743" cy="430530"/>
          </a:xfrm>
          <a:prstGeom prst="rect">
            <a:avLst/>
          </a:prstGeom>
          <a:ln w="7620">
            <a:solidFill>
              <a:srgbClr val="FFFFFF">
                <a:alpha val="8000"/>
              </a:srgbClr>
            </a:solidFill>
            <a:prstDash val="solid"/>
          </a:ln>
        </p:spPr>
      </p:sp>
      <p:sp>
        <p:nvSpPr>
          <p:cNvPr id="124" name="Text 122"/>
          <p:cNvSpPr/>
          <p:nvPr/>
        </p:nvSpPr>
        <p:spPr>
          <a:xfrm>
            <a:off x="14700289" y="5648801"/>
            <a:ext cx="1091803"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$30,700</a:t>
            </a:r>
            <a:endParaRPr lang="en-US" sz="1575" dirty="0"/>
          </a:p>
        </p:txBody>
      </p:sp>
      <p:sp>
        <p:nvSpPr>
          <p:cNvPr id="125" name="Shape 123"/>
          <p:cNvSpPr/>
          <p:nvPr/>
        </p:nvSpPr>
        <p:spPr>
          <a:xfrm>
            <a:off x="15894964" y="5555456"/>
            <a:ext cx="1436727" cy="430530"/>
          </a:xfrm>
          <a:prstGeom prst="rect">
            <a:avLst/>
          </a:prstGeom>
          <a:solidFill>
            <a:srgbClr val="2DD4BF">
              <a:alpha val="10000"/>
            </a:srgbClr>
          </a:solidFill>
          <a:ln w="7620">
            <a:solidFill>
              <a:srgbClr val="FFFFFF">
                <a:alpha val="8000"/>
              </a:srgbClr>
            </a:solidFill>
            <a:prstDash val="solid"/>
          </a:ln>
        </p:spPr>
      </p:sp>
      <p:sp>
        <p:nvSpPr>
          <p:cNvPr id="126" name="Text 124"/>
          <p:cNvSpPr/>
          <p:nvPr/>
        </p:nvSpPr>
        <p:spPr>
          <a:xfrm>
            <a:off x="16074034" y="5648801"/>
            <a:ext cx="115478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$156,300</a:t>
            </a:r>
            <a:endParaRPr lang="en-US" sz="1575" dirty="0"/>
          </a:p>
        </p:txBody>
      </p:sp>
      <p:sp>
        <p:nvSpPr>
          <p:cNvPr id="127" name="Shape 125"/>
          <p:cNvSpPr/>
          <p:nvPr/>
        </p:nvSpPr>
        <p:spPr>
          <a:xfrm>
            <a:off x="10100310" y="5985986"/>
            <a:ext cx="7231380" cy="430530"/>
          </a:xfrm>
          <a:prstGeom prst="rect">
            <a:avLst/>
          </a:prstGeom>
          <a:solidFill>
            <a:srgbClr val="2DD4BF">
              <a:alpha val="20000"/>
            </a:srgbClr>
          </a:solidFill>
          <a:ln/>
        </p:spPr>
      </p:sp>
      <p:sp>
        <p:nvSpPr>
          <p:cNvPr id="128" name="Shape 126"/>
          <p:cNvSpPr/>
          <p:nvPr/>
        </p:nvSpPr>
        <p:spPr>
          <a:xfrm>
            <a:off x="10100310" y="5985986"/>
            <a:ext cx="1573530" cy="430530"/>
          </a:xfrm>
          <a:prstGeom prst="rect">
            <a:avLst/>
          </a:prstGeom>
          <a:solidFill>
            <a:srgbClr val="2DD4BF">
              <a:alpha val="20000"/>
            </a:srgbClr>
          </a:solidFill>
          <a:ln w="7620">
            <a:solidFill>
              <a:srgbClr val="FFFFFF">
                <a:alpha val="8000"/>
              </a:srgbClr>
            </a:solidFill>
            <a:prstDash val="solid"/>
          </a:ln>
        </p:spPr>
      </p:sp>
      <p:sp>
        <p:nvSpPr>
          <p:cNvPr id="129" name="Text 127"/>
          <p:cNvSpPr/>
          <p:nvPr/>
        </p:nvSpPr>
        <p:spPr>
          <a:xfrm>
            <a:off x="10279380" y="6079331"/>
            <a:ext cx="129159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Grand Total</a:t>
            </a:r>
            <a:endParaRPr lang="en-US" sz="1575" dirty="0"/>
          </a:p>
        </p:txBody>
      </p:sp>
      <p:sp>
        <p:nvSpPr>
          <p:cNvPr id="130" name="Shape 128"/>
          <p:cNvSpPr/>
          <p:nvPr/>
        </p:nvSpPr>
        <p:spPr>
          <a:xfrm>
            <a:off x="11673840" y="5985986"/>
            <a:ext cx="1405057" cy="430530"/>
          </a:xfrm>
          <a:prstGeom prst="rect">
            <a:avLst/>
          </a:prstGeom>
          <a:solidFill>
            <a:srgbClr val="2DD4BF">
              <a:alpha val="20000"/>
            </a:srgbClr>
          </a:solidFill>
          <a:ln w="7620">
            <a:solidFill>
              <a:srgbClr val="FFFFFF">
                <a:alpha val="8000"/>
              </a:srgbClr>
            </a:solidFill>
            <a:prstDash val="solid"/>
          </a:ln>
        </p:spPr>
      </p:sp>
      <p:sp>
        <p:nvSpPr>
          <p:cNvPr id="131" name="Text 129"/>
          <p:cNvSpPr/>
          <p:nvPr/>
        </p:nvSpPr>
        <p:spPr>
          <a:xfrm>
            <a:off x="11852910" y="6079331"/>
            <a:ext cx="112311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$180,500</a:t>
            </a:r>
            <a:endParaRPr lang="en-US" sz="1575" dirty="0"/>
          </a:p>
        </p:txBody>
      </p:sp>
      <p:sp>
        <p:nvSpPr>
          <p:cNvPr id="132" name="Shape 130"/>
          <p:cNvSpPr/>
          <p:nvPr/>
        </p:nvSpPr>
        <p:spPr>
          <a:xfrm>
            <a:off x="13078897" y="5985986"/>
            <a:ext cx="1442323" cy="430530"/>
          </a:xfrm>
          <a:prstGeom prst="rect">
            <a:avLst/>
          </a:prstGeom>
          <a:solidFill>
            <a:srgbClr val="2DD4BF">
              <a:alpha val="20000"/>
            </a:srgbClr>
          </a:solidFill>
          <a:ln w="7620">
            <a:solidFill>
              <a:srgbClr val="FFFFFF">
                <a:alpha val="8000"/>
              </a:srgbClr>
            </a:solidFill>
            <a:prstDash val="solid"/>
          </a:ln>
        </p:spPr>
      </p:sp>
      <p:sp>
        <p:nvSpPr>
          <p:cNvPr id="133" name="Text 131"/>
          <p:cNvSpPr/>
          <p:nvPr/>
        </p:nvSpPr>
        <p:spPr>
          <a:xfrm>
            <a:off x="13257967" y="6079331"/>
            <a:ext cx="1160383"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$363,700</a:t>
            </a:r>
            <a:endParaRPr lang="en-US" sz="1575" dirty="0"/>
          </a:p>
        </p:txBody>
      </p:sp>
      <p:sp>
        <p:nvSpPr>
          <p:cNvPr id="134" name="Shape 132"/>
          <p:cNvSpPr/>
          <p:nvPr/>
        </p:nvSpPr>
        <p:spPr>
          <a:xfrm>
            <a:off x="14521219" y="5985986"/>
            <a:ext cx="1373743" cy="430530"/>
          </a:xfrm>
          <a:prstGeom prst="rect">
            <a:avLst/>
          </a:prstGeom>
          <a:solidFill>
            <a:srgbClr val="2DD4BF">
              <a:alpha val="20000"/>
            </a:srgbClr>
          </a:solidFill>
          <a:ln w="7620">
            <a:solidFill>
              <a:srgbClr val="FFFFFF">
                <a:alpha val="8000"/>
              </a:srgbClr>
            </a:solidFill>
            <a:prstDash val="solid"/>
          </a:ln>
        </p:spPr>
      </p:sp>
      <p:sp>
        <p:nvSpPr>
          <p:cNvPr id="135" name="Text 133"/>
          <p:cNvSpPr/>
          <p:nvPr/>
        </p:nvSpPr>
        <p:spPr>
          <a:xfrm>
            <a:off x="14700289" y="6079331"/>
            <a:ext cx="1091803"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$132,900</a:t>
            </a:r>
            <a:endParaRPr lang="en-US" sz="1575" dirty="0"/>
          </a:p>
        </p:txBody>
      </p:sp>
      <p:sp>
        <p:nvSpPr>
          <p:cNvPr id="136" name="Shape 134"/>
          <p:cNvSpPr/>
          <p:nvPr/>
        </p:nvSpPr>
        <p:spPr>
          <a:xfrm>
            <a:off x="15894964" y="5985986"/>
            <a:ext cx="1436727" cy="430530"/>
          </a:xfrm>
          <a:prstGeom prst="rect">
            <a:avLst/>
          </a:prstGeom>
          <a:solidFill>
            <a:srgbClr val="2DD4BF">
              <a:alpha val="20000"/>
            </a:srgbClr>
          </a:solidFill>
          <a:ln w="7620">
            <a:solidFill>
              <a:srgbClr val="FFFFFF">
                <a:alpha val="8000"/>
              </a:srgbClr>
            </a:solidFill>
            <a:prstDash val="solid"/>
          </a:ln>
        </p:spPr>
      </p:sp>
      <p:sp>
        <p:nvSpPr>
          <p:cNvPr id="137" name="Text 135"/>
          <p:cNvSpPr/>
          <p:nvPr/>
        </p:nvSpPr>
        <p:spPr>
          <a:xfrm>
            <a:off x="16074034" y="6079331"/>
            <a:ext cx="1154787"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$677,100</a:t>
            </a:r>
            <a:endParaRPr lang="en-US" sz="1575" dirty="0"/>
          </a:p>
        </p:txBody>
      </p:sp>
      <p:sp>
        <p:nvSpPr>
          <p:cNvPr id="138" name="Shape 136"/>
          <p:cNvSpPr/>
          <p:nvPr/>
        </p:nvSpPr>
        <p:spPr>
          <a:xfrm>
            <a:off x="952500" y="8501063"/>
            <a:ext cx="16383000" cy="1023938"/>
          </a:xfrm>
          <a:prstGeom prst="roundRect">
            <a:avLst>
              <a:gd name="adj" fmla="val 11163"/>
            </a:avLst>
          </a:prstGeom>
          <a:solidFill>
            <a:srgbClr val="2DD4BF">
              <a:alpha val="5000"/>
            </a:srgbClr>
          </a:solidFill>
          <a:ln w="7620">
            <a:solidFill>
              <a:srgbClr val="2DD4BF">
                <a:alpha val="30000"/>
              </a:srgbClr>
            </a:solidFill>
            <a:prstDash val="solid"/>
          </a:ln>
        </p:spPr>
      </p:sp>
      <p:sp>
        <p:nvSpPr>
          <p:cNvPr id="139" name="Text 137"/>
          <p:cNvSpPr/>
          <p:nvPr/>
        </p:nvSpPr>
        <p:spPr>
          <a:xfrm>
            <a:off x="1303020" y="8813482"/>
            <a:ext cx="16152419" cy="437198"/>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No formulas.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No manual calculations. Excel counts, sums, and groups automatically — and rebuilds instantly when you drag fields around.</a:t>
            </a:r>
            <a:endParaRPr lang="en-US" sz="1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7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alpha val="40000"/>
            </a:srgbClr>
          </a:solidFill>
          <a:ln/>
        </p:spPr>
      </p:sp>
      <p:sp>
        <p:nvSpPr>
          <p:cNvPr id="9" name="Shape 7"/>
          <p:cNvSpPr/>
          <p:nvPr/>
        </p:nvSpPr>
        <p:spPr>
          <a:xfrm>
            <a:off x="17087850" y="400050"/>
            <a:ext cx="247650" cy="38100"/>
          </a:xfrm>
          <a:prstGeom prst="roundRect">
            <a:avLst>
              <a:gd name="adj" fmla="val 50000"/>
            </a:avLst>
          </a:prstGeom>
          <a:solidFill>
            <a:srgbClr val="2DD4BF"/>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Building a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Pivot Table </a:t>
            </a:r>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in 4 Steps</a:t>
            </a:r>
            <a:endParaRPr lang="en-US" sz="4200" dirty="0"/>
          </a:p>
        </p:txBody>
      </p:sp>
      <p:sp>
        <p:nvSpPr>
          <p:cNvPr id="11" name="Shape 9"/>
          <p:cNvSpPr/>
          <p:nvPr/>
        </p:nvSpPr>
        <p:spPr>
          <a:xfrm>
            <a:off x="952500" y="1680210"/>
            <a:ext cx="3924300" cy="7844790"/>
          </a:xfrm>
          <a:prstGeom prst="roundRect">
            <a:avLst>
              <a:gd name="adj" fmla="val 2913"/>
            </a:avLst>
          </a:prstGeom>
          <a:solidFill>
            <a:srgbClr val="161B22"/>
          </a:solidFill>
          <a:ln w="7620">
            <a:solidFill>
              <a:srgbClr val="FFFFFF">
                <a:alpha val="8000"/>
              </a:srgbClr>
            </a:solidFill>
            <a:prstDash val="solid"/>
          </a:ln>
        </p:spPr>
      </p:sp>
      <p:sp>
        <p:nvSpPr>
          <p:cNvPr id="12" name="Text 10"/>
          <p:cNvSpPr/>
          <p:nvPr/>
        </p:nvSpPr>
        <p:spPr>
          <a:xfrm>
            <a:off x="1303020" y="1992630"/>
            <a:ext cx="3319958" cy="632460"/>
          </a:xfrm>
          <a:prstGeom prst="rect">
            <a:avLst/>
          </a:prstGeom>
          <a:noFill/>
          <a:ln/>
        </p:spPr>
        <p:txBody>
          <a:bodyPr wrap="square" lIns="25400" tIns="25400" rIns="25400" bIns="25400" rtlCol="0" anchor="t">
            <a:normAutofit/>
          </a:bodyPr>
          <a:lstStyle/>
          <a:p>
            <a:pPr algn="l" indent="0" marL="0">
              <a:buNone/>
            </a:pPr>
            <a:r>
              <a:rPr lang="en-US" sz="3900" b="1" dirty="0">
                <a:solidFill>
                  <a:srgbClr val="2DD4BF"/>
                </a:solidFill>
                <a:latin typeface="Arial" pitchFamily="34" charset="0"/>
                <a:ea typeface="Arial" pitchFamily="34" charset="-122"/>
                <a:cs typeface="Arial" pitchFamily="34" charset="-120"/>
              </a:rPr>
              <a:t>01</a:t>
            </a:r>
            <a:endParaRPr lang="en-US" sz="3900" dirty="0"/>
          </a:p>
        </p:txBody>
      </p:sp>
      <p:sp>
        <p:nvSpPr>
          <p:cNvPr id="13" name="Text 11"/>
          <p:cNvSpPr/>
          <p:nvPr/>
        </p:nvSpPr>
        <p:spPr>
          <a:xfrm>
            <a:off x="1303020" y="2739390"/>
            <a:ext cx="3319958" cy="35052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Click inside your data</a:t>
            </a:r>
            <a:endParaRPr lang="en-US" sz="1950" dirty="0"/>
          </a:p>
        </p:txBody>
      </p:sp>
      <p:sp>
        <p:nvSpPr>
          <p:cNvPr id="14" name="Text 12"/>
          <p:cNvSpPr/>
          <p:nvPr/>
        </p:nvSpPr>
        <p:spPr>
          <a:xfrm>
            <a:off x="1303020" y="3204210"/>
            <a:ext cx="3319958"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Any cell within the dataset. Excel will auto-detect the entire range including headers.</a:t>
            </a:r>
            <a:endParaRPr lang="en-US" sz="1950" dirty="0"/>
          </a:p>
        </p:txBody>
      </p:sp>
      <p:sp>
        <p:nvSpPr>
          <p:cNvPr id="15" name="Shape 13"/>
          <p:cNvSpPr/>
          <p:nvPr/>
        </p:nvSpPr>
        <p:spPr>
          <a:xfrm>
            <a:off x="5105400" y="1680210"/>
            <a:ext cx="3924300" cy="7844790"/>
          </a:xfrm>
          <a:prstGeom prst="roundRect">
            <a:avLst>
              <a:gd name="adj" fmla="val 2913"/>
            </a:avLst>
          </a:prstGeom>
          <a:solidFill>
            <a:srgbClr val="161B22"/>
          </a:solidFill>
          <a:ln w="7620">
            <a:solidFill>
              <a:srgbClr val="FFFFFF">
                <a:alpha val="8000"/>
              </a:srgbClr>
            </a:solidFill>
            <a:prstDash val="solid"/>
          </a:ln>
        </p:spPr>
      </p:sp>
      <p:sp>
        <p:nvSpPr>
          <p:cNvPr id="16" name="Text 14"/>
          <p:cNvSpPr/>
          <p:nvPr/>
        </p:nvSpPr>
        <p:spPr>
          <a:xfrm>
            <a:off x="5455920" y="1992630"/>
            <a:ext cx="3319958" cy="632460"/>
          </a:xfrm>
          <a:prstGeom prst="rect">
            <a:avLst/>
          </a:prstGeom>
          <a:noFill/>
          <a:ln/>
        </p:spPr>
        <p:txBody>
          <a:bodyPr wrap="square" lIns="25400" tIns="25400" rIns="25400" bIns="25400" rtlCol="0" anchor="t">
            <a:normAutofit/>
          </a:bodyPr>
          <a:lstStyle/>
          <a:p>
            <a:pPr algn="l" indent="0" marL="0">
              <a:buNone/>
            </a:pPr>
            <a:r>
              <a:rPr lang="en-US" sz="3900" b="1" dirty="0">
                <a:solidFill>
                  <a:srgbClr val="2DD4BF"/>
                </a:solidFill>
                <a:latin typeface="Arial" pitchFamily="34" charset="0"/>
                <a:ea typeface="Arial" pitchFamily="34" charset="-122"/>
                <a:cs typeface="Arial" pitchFamily="34" charset="-120"/>
              </a:rPr>
              <a:t>02</a:t>
            </a:r>
            <a:endParaRPr lang="en-US" sz="3900" dirty="0"/>
          </a:p>
        </p:txBody>
      </p:sp>
      <p:sp>
        <p:nvSpPr>
          <p:cNvPr id="17" name="Text 15"/>
          <p:cNvSpPr/>
          <p:nvPr/>
        </p:nvSpPr>
        <p:spPr>
          <a:xfrm>
            <a:off x="5455920" y="2739390"/>
            <a:ext cx="3319958"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Insert → PivotTable</a:t>
            </a:r>
            <a:endParaRPr lang="en-US" sz="1950" dirty="0"/>
          </a:p>
        </p:txBody>
      </p:sp>
      <p:sp>
        <p:nvSpPr>
          <p:cNvPr id="18" name="Text 16"/>
          <p:cNvSpPr/>
          <p:nvPr/>
        </p:nvSpPr>
        <p:spPr>
          <a:xfrm>
            <a:off x="5455920" y="3211830"/>
            <a:ext cx="3319958"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Excel confirms the data range. Choose "New Worksheet" and click OK.</a:t>
            </a:r>
            <a:endParaRPr lang="en-US" sz="1950" dirty="0"/>
          </a:p>
        </p:txBody>
      </p:sp>
      <p:sp>
        <p:nvSpPr>
          <p:cNvPr id="19" name="Shape 17"/>
          <p:cNvSpPr/>
          <p:nvPr/>
        </p:nvSpPr>
        <p:spPr>
          <a:xfrm>
            <a:off x="9258300" y="1680210"/>
            <a:ext cx="3924300" cy="7844790"/>
          </a:xfrm>
          <a:prstGeom prst="roundRect">
            <a:avLst>
              <a:gd name="adj" fmla="val 2913"/>
            </a:avLst>
          </a:prstGeom>
          <a:solidFill>
            <a:srgbClr val="161B22"/>
          </a:solidFill>
          <a:ln w="7620">
            <a:solidFill>
              <a:srgbClr val="FFFFFF">
                <a:alpha val="8000"/>
              </a:srgbClr>
            </a:solidFill>
            <a:prstDash val="solid"/>
          </a:ln>
        </p:spPr>
      </p:sp>
      <p:sp>
        <p:nvSpPr>
          <p:cNvPr id="20" name="Text 18"/>
          <p:cNvSpPr/>
          <p:nvPr/>
        </p:nvSpPr>
        <p:spPr>
          <a:xfrm>
            <a:off x="9608820" y="1992630"/>
            <a:ext cx="3319958" cy="632460"/>
          </a:xfrm>
          <a:prstGeom prst="rect">
            <a:avLst/>
          </a:prstGeom>
          <a:noFill/>
          <a:ln/>
        </p:spPr>
        <p:txBody>
          <a:bodyPr wrap="square" lIns="25400" tIns="25400" rIns="25400" bIns="25400" rtlCol="0" anchor="t">
            <a:normAutofit/>
          </a:bodyPr>
          <a:lstStyle/>
          <a:p>
            <a:pPr algn="l" indent="0" marL="0">
              <a:buNone/>
            </a:pPr>
            <a:r>
              <a:rPr lang="en-US" sz="3900" b="1" dirty="0">
                <a:solidFill>
                  <a:srgbClr val="2DD4BF"/>
                </a:solidFill>
                <a:latin typeface="Arial" pitchFamily="34" charset="0"/>
                <a:ea typeface="Arial" pitchFamily="34" charset="-122"/>
                <a:cs typeface="Arial" pitchFamily="34" charset="-120"/>
              </a:rPr>
              <a:t>03</a:t>
            </a:r>
            <a:endParaRPr lang="en-US" sz="3900" dirty="0"/>
          </a:p>
        </p:txBody>
      </p:sp>
      <p:sp>
        <p:nvSpPr>
          <p:cNvPr id="21" name="Text 19"/>
          <p:cNvSpPr/>
          <p:nvPr/>
        </p:nvSpPr>
        <p:spPr>
          <a:xfrm>
            <a:off x="9608820" y="2739390"/>
            <a:ext cx="3319958" cy="35052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Drag fields into zones</a:t>
            </a:r>
            <a:endParaRPr lang="en-US" sz="1950" dirty="0"/>
          </a:p>
        </p:txBody>
      </p:sp>
      <p:sp>
        <p:nvSpPr>
          <p:cNvPr id="22" name="Text 20"/>
          <p:cNvSpPr/>
          <p:nvPr/>
        </p:nvSpPr>
        <p:spPr>
          <a:xfrm>
            <a:off x="9608820" y="3204210"/>
            <a:ext cx="3319958"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The Field List panel shows all your column headers. Drag them into Rows, Columns, Values, or Filters.</a:t>
            </a:r>
            <a:endParaRPr lang="en-US" sz="1950" dirty="0"/>
          </a:p>
        </p:txBody>
      </p:sp>
      <p:sp>
        <p:nvSpPr>
          <p:cNvPr id="23" name="Shape 21"/>
          <p:cNvSpPr/>
          <p:nvPr/>
        </p:nvSpPr>
        <p:spPr>
          <a:xfrm>
            <a:off x="13411200" y="1680210"/>
            <a:ext cx="3924300" cy="7844790"/>
          </a:xfrm>
          <a:prstGeom prst="roundRect">
            <a:avLst>
              <a:gd name="adj" fmla="val 2913"/>
            </a:avLst>
          </a:prstGeom>
          <a:solidFill>
            <a:srgbClr val="161B22"/>
          </a:solidFill>
          <a:ln w="7620">
            <a:solidFill>
              <a:srgbClr val="FFFFFF">
                <a:alpha val="8000"/>
              </a:srgbClr>
            </a:solidFill>
            <a:prstDash val="solid"/>
          </a:ln>
        </p:spPr>
      </p:sp>
      <p:sp>
        <p:nvSpPr>
          <p:cNvPr id="24" name="Text 22"/>
          <p:cNvSpPr/>
          <p:nvPr/>
        </p:nvSpPr>
        <p:spPr>
          <a:xfrm>
            <a:off x="13761720" y="1992630"/>
            <a:ext cx="3319958" cy="632460"/>
          </a:xfrm>
          <a:prstGeom prst="rect">
            <a:avLst/>
          </a:prstGeom>
          <a:noFill/>
          <a:ln/>
        </p:spPr>
        <p:txBody>
          <a:bodyPr wrap="square" lIns="25400" tIns="25400" rIns="25400" bIns="25400" rtlCol="0" anchor="t">
            <a:normAutofit/>
          </a:bodyPr>
          <a:lstStyle/>
          <a:p>
            <a:pPr algn="l" indent="0" marL="0">
              <a:buNone/>
            </a:pPr>
            <a:r>
              <a:rPr lang="en-US" sz="3900" b="1" dirty="0">
                <a:solidFill>
                  <a:srgbClr val="2DD4BF"/>
                </a:solidFill>
                <a:latin typeface="Arial" pitchFamily="34" charset="0"/>
                <a:ea typeface="Arial" pitchFamily="34" charset="-122"/>
                <a:cs typeface="Arial" pitchFamily="34" charset="-120"/>
              </a:rPr>
              <a:t>04</a:t>
            </a:r>
            <a:endParaRPr lang="en-US" sz="3900" dirty="0"/>
          </a:p>
        </p:txBody>
      </p:sp>
      <p:sp>
        <p:nvSpPr>
          <p:cNvPr id="25" name="Text 23"/>
          <p:cNvSpPr/>
          <p:nvPr/>
        </p:nvSpPr>
        <p:spPr>
          <a:xfrm>
            <a:off x="13761720" y="2739390"/>
            <a:ext cx="3319958" cy="350520"/>
          </a:xfrm>
          <a:prstGeom prst="rect">
            <a:avLst/>
          </a:prstGeom>
          <a:noFill/>
          <a:ln/>
        </p:spPr>
        <p:txBody>
          <a:bodyPr wrap="square" lIns="25400" tIns="25400" rIns="25400" bIns="25400" rtlCol="0" anchor="t">
            <a:normAutofit/>
          </a:bodyPr>
          <a:lstStyle/>
          <a:p>
            <a:pPr algn="l" indent="0" marL="0">
              <a:buNone/>
            </a:pPr>
            <a:r>
              <a:rPr lang="en-US" sz="1950" b="1" dirty="0">
                <a:solidFill>
                  <a:srgbClr val="F0F6FC"/>
                </a:solidFill>
                <a:latin typeface="Arial" pitchFamily="34" charset="0"/>
                <a:ea typeface="Arial" pitchFamily="34" charset="-122"/>
                <a:cs typeface="Arial" pitchFamily="34" charset="-120"/>
              </a:rPr>
              <a:t>Read the result instantly</a:t>
            </a:r>
            <a:endParaRPr lang="en-US" sz="1950" dirty="0"/>
          </a:p>
        </p:txBody>
      </p:sp>
      <p:sp>
        <p:nvSpPr>
          <p:cNvPr id="26" name="Text 24"/>
          <p:cNvSpPr/>
          <p:nvPr/>
        </p:nvSpPr>
        <p:spPr>
          <a:xfrm>
            <a:off x="13761720" y="3204210"/>
            <a:ext cx="3319958"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Excel builds the summary table in real time. Drag fields around to change the view — no rebuilding needed.</a:t>
            </a:r>
            <a:endParaRPr lang="en-US" sz="1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7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alpha val="40000"/>
            </a:srgbClr>
          </a:solidFill>
          <a:ln/>
        </p:spPr>
      </p:sp>
      <p:sp>
        <p:nvSpPr>
          <p:cNvPr id="9" name="Shape 7"/>
          <p:cNvSpPr/>
          <p:nvPr/>
        </p:nvSpPr>
        <p:spPr>
          <a:xfrm>
            <a:off x="17087850" y="400050"/>
            <a:ext cx="247650" cy="38100"/>
          </a:xfrm>
          <a:prstGeom prst="roundRect">
            <a:avLst>
              <a:gd name="adj" fmla="val 50000"/>
            </a:avLst>
          </a:prstGeom>
          <a:solidFill>
            <a:srgbClr val="2DD4BF"/>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The Four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Field Zones</a:t>
            </a:r>
            <a:endParaRPr lang="en-US" sz="4200" dirty="0"/>
          </a:p>
        </p:txBody>
      </p:sp>
      <p:sp>
        <p:nvSpPr>
          <p:cNvPr id="11" name="Shape 9"/>
          <p:cNvSpPr/>
          <p:nvPr/>
        </p:nvSpPr>
        <p:spPr>
          <a:xfrm>
            <a:off x="952500" y="1680210"/>
            <a:ext cx="3924300" cy="6208395"/>
          </a:xfrm>
          <a:prstGeom prst="roundRect">
            <a:avLst>
              <a:gd name="adj" fmla="val 2427"/>
            </a:avLst>
          </a:prstGeom>
          <a:ln w="7620">
            <a:solidFill>
              <a:srgbClr val="2DD4BF">
                <a:alpha val="35000"/>
              </a:srgbClr>
            </a:solidFill>
            <a:prstDash val="solid"/>
          </a:ln>
        </p:spPr>
      </p:sp>
      <p:sp>
        <p:nvSpPr>
          <p:cNvPr id="12" name="Text 10"/>
          <p:cNvSpPr/>
          <p:nvPr/>
        </p:nvSpPr>
        <p:spPr>
          <a:xfrm>
            <a:off x="1188720" y="1878330"/>
            <a:ext cx="3555416" cy="25146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2DD4BF"/>
                </a:solidFill>
                <a:latin typeface="Arial" pitchFamily="34" charset="0"/>
                <a:ea typeface="Arial" pitchFamily="34" charset="-122"/>
                <a:cs typeface="Arial" pitchFamily="34" charset="-120"/>
              </a:rPr>
              <a:t>ROWS</a:t>
            </a:r>
            <a:endParaRPr lang="en-US" sz="1350" dirty="0"/>
          </a:p>
        </p:txBody>
      </p:sp>
      <p:sp>
        <p:nvSpPr>
          <p:cNvPr id="13" name="Shape 11"/>
          <p:cNvSpPr/>
          <p:nvPr/>
        </p:nvSpPr>
        <p:spPr>
          <a:xfrm>
            <a:off x="1188720" y="2186940"/>
            <a:ext cx="3451860" cy="411480"/>
          </a:xfrm>
          <a:prstGeom prst="roundRect">
            <a:avLst>
              <a:gd name="adj" fmla="val 13889"/>
            </a:avLst>
          </a:prstGeom>
          <a:solidFill>
            <a:srgbClr val="1C2430"/>
          </a:solidFill>
          <a:ln w="7620">
            <a:solidFill>
              <a:srgbClr val="FFFFFF">
                <a:alpha val="8000"/>
              </a:srgbClr>
            </a:solidFill>
            <a:prstDash val="solid"/>
          </a:ln>
        </p:spPr>
      </p:sp>
      <p:sp>
        <p:nvSpPr>
          <p:cNvPr id="14" name="Shape 12"/>
          <p:cNvSpPr/>
          <p:nvPr/>
        </p:nvSpPr>
        <p:spPr>
          <a:xfrm>
            <a:off x="1329690" y="2354580"/>
            <a:ext cx="76200" cy="76200"/>
          </a:xfrm>
          <a:prstGeom prst="ellipse">
            <a:avLst/>
          </a:prstGeom>
          <a:solidFill>
            <a:srgbClr val="2DD4BF"/>
          </a:solidFill>
          <a:ln/>
        </p:spPr>
      </p:sp>
      <p:sp>
        <p:nvSpPr>
          <p:cNvPr id="15" name="Text 13"/>
          <p:cNvSpPr/>
          <p:nvPr/>
        </p:nvSpPr>
        <p:spPr>
          <a:xfrm>
            <a:off x="1482090" y="2270760"/>
            <a:ext cx="716756" cy="281940"/>
          </a:xfrm>
          <a:prstGeom prst="rect">
            <a:avLst/>
          </a:prstGeom>
          <a:noFill/>
          <a:ln/>
        </p:spPr>
        <p:txBody>
          <a:bodyPr wrap="square" lIns="0" tIns="0" rIns="0" bIns="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Region</a:t>
            </a:r>
            <a:endParaRPr lang="en-US" sz="1500" dirty="0"/>
          </a:p>
        </p:txBody>
      </p:sp>
      <p:sp>
        <p:nvSpPr>
          <p:cNvPr id="16" name="Text 14"/>
          <p:cNvSpPr/>
          <p:nvPr/>
        </p:nvSpPr>
        <p:spPr>
          <a:xfrm>
            <a:off x="1188720" y="2693670"/>
            <a:ext cx="3555416"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Categories shown as row labels down the left side. Add a second field for sub-grouping.</a:t>
            </a:r>
            <a:endParaRPr lang="en-US" sz="1950" dirty="0"/>
          </a:p>
        </p:txBody>
      </p:sp>
      <p:sp>
        <p:nvSpPr>
          <p:cNvPr id="17" name="Shape 15"/>
          <p:cNvSpPr/>
          <p:nvPr/>
        </p:nvSpPr>
        <p:spPr>
          <a:xfrm>
            <a:off x="5105400" y="1680210"/>
            <a:ext cx="3924300" cy="6208395"/>
          </a:xfrm>
          <a:prstGeom prst="roundRect">
            <a:avLst>
              <a:gd name="adj" fmla="val 2427"/>
            </a:avLst>
          </a:prstGeom>
          <a:ln w="7620">
            <a:solidFill>
              <a:srgbClr val="22D3EE">
                <a:alpha val="35000"/>
              </a:srgbClr>
            </a:solidFill>
            <a:prstDash val="solid"/>
          </a:ln>
        </p:spPr>
      </p:sp>
      <p:sp>
        <p:nvSpPr>
          <p:cNvPr id="18" name="Text 16"/>
          <p:cNvSpPr/>
          <p:nvPr/>
        </p:nvSpPr>
        <p:spPr>
          <a:xfrm>
            <a:off x="5341620" y="1878330"/>
            <a:ext cx="3555416" cy="25146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22D3EE"/>
                </a:solidFill>
                <a:latin typeface="Arial" pitchFamily="34" charset="0"/>
                <a:ea typeface="Arial" pitchFamily="34" charset="-122"/>
                <a:cs typeface="Arial" pitchFamily="34" charset="-120"/>
              </a:rPr>
              <a:t>COLUMNS</a:t>
            </a:r>
            <a:endParaRPr lang="en-US" sz="1350" dirty="0"/>
          </a:p>
        </p:txBody>
      </p:sp>
      <p:sp>
        <p:nvSpPr>
          <p:cNvPr id="19" name="Shape 17"/>
          <p:cNvSpPr/>
          <p:nvPr/>
        </p:nvSpPr>
        <p:spPr>
          <a:xfrm>
            <a:off x="5341620" y="2186940"/>
            <a:ext cx="3451860" cy="411480"/>
          </a:xfrm>
          <a:prstGeom prst="roundRect">
            <a:avLst>
              <a:gd name="adj" fmla="val 13889"/>
            </a:avLst>
          </a:prstGeom>
          <a:solidFill>
            <a:srgbClr val="1C2430"/>
          </a:solidFill>
          <a:ln w="7620">
            <a:solidFill>
              <a:srgbClr val="FFFFFF">
                <a:alpha val="8000"/>
              </a:srgbClr>
            </a:solidFill>
            <a:prstDash val="solid"/>
          </a:ln>
        </p:spPr>
      </p:sp>
      <p:sp>
        <p:nvSpPr>
          <p:cNvPr id="20" name="Shape 18"/>
          <p:cNvSpPr/>
          <p:nvPr/>
        </p:nvSpPr>
        <p:spPr>
          <a:xfrm>
            <a:off x="5482590" y="2354580"/>
            <a:ext cx="76200" cy="76200"/>
          </a:xfrm>
          <a:prstGeom prst="ellipse">
            <a:avLst/>
          </a:prstGeom>
          <a:solidFill>
            <a:srgbClr val="22D3EE"/>
          </a:solidFill>
          <a:ln/>
        </p:spPr>
      </p:sp>
      <p:sp>
        <p:nvSpPr>
          <p:cNvPr id="21" name="Text 19"/>
          <p:cNvSpPr/>
          <p:nvPr/>
        </p:nvSpPr>
        <p:spPr>
          <a:xfrm>
            <a:off x="5634990" y="2270760"/>
            <a:ext cx="942022" cy="281940"/>
          </a:xfrm>
          <a:prstGeom prst="rect">
            <a:avLst/>
          </a:prstGeom>
          <a:noFill/>
          <a:ln/>
        </p:spPr>
        <p:txBody>
          <a:bodyPr wrap="square" lIns="0" tIns="0" rIns="0" bIns="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Category</a:t>
            </a:r>
            <a:endParaRPr lang="en-US" sz="1500" dirty="0"/>
          </a:p>
        </p:txBody>
      </p:sp>
      <p:sp>
        <p:nvSpPr>
          <p:cNvPr id="22" name="Text 20"/>
          <p:cNvSpPr/>
          <p:nvPr/>
        </p:nvSpPr>
        <p:spPr>
          <a:xfrm>
            <a:off x="5341620" y="2693670"/>
            <a:ext cx="3555416"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Categories shown across the top as column headers. Best for time dimensions (Q1, Q2…) or a small number of items.</a:t>
            </a:r>
            <a:endParaRPr lang="en-US" sz="1950" dirty="0"/>
          </a:p>
        </p:txBody>
      </p:sp>
      <p:sp>
        <p:nvSpPr>
          <p:cNvPr id="23" name="Shape 21"/>
          <p:cNvSpPr/>
          <p:nvPr/>
        </p:nvSpPr>
        <p:spPr>
          <a:xfrm>
            <a:off x="9258300" y="1680210"/>
            <a:ext cx="3924300" cy="6208395"/>
          </a:xfrm>
          <a:prstGeom prst="roundRect">
            <a:avLst>
              <a:gd name="adj" fmla="val 2427"/>
            </a:avLst>
          </a:prstGeom>
          <a:ln w="7620">
            <a:solidFill>
              <a:srgbClr val="34D399">
                <a:alpha val="35000"/>
              </a:srgbClr>
            </a:solidFill>
            <a:prstDash val="solid"/>
          </a:ln>
        </p:spPr>
      </p:sp>
      <p:sp>
        <p:nvSpPr>
          <p:cNvPr id="24" name="Text 22"/>
          <p:cNvSpPr/>
          <p:nvPr/>
        </p:nvSpPr>
        <p:spPr>
          <a:xfrm>
            <a:off x="9494520" y="1878330"/>
            <a:ext cx="3555416" cy="25146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34D399"/>
                </a:solidFill>
                <a:latin typeface="Arial" pitchFamily="34" charset="0"/>
                <a:ea typeface="Arial" pitchFamily="34" charset="-122"/>
                <a:cs typeface="Arial" pitchFamily="34" charset="-120"/>
              </a:rPr>
              <a:t>VALUES</a:t>
            </a:r>
            <a:endParaRPr lang="en-US" sz="1350" dirty="0"/>
          </a:p>
        </p:txBody>
      </p:sp>
      <p:sp>
        <p:nvSpPr>
          <p:cNvPr id="25" name="Shape 23"/>
          <p:cNvSpPr/>
          <p:nvPr/>
        </p:nvSpPr>
        <p:spPr>
          <a:xfrm>
            <a:off x="9494520" y="2186940"/>
            <a:ext cx="3451860" cy="411480"/>
          </a:xfrm>
          <a:prstGeom prst="roundRect">
            <a:avLst>
              <a:gd name="adj" fmla="val 13889"/>
            </a:avLst>
          </a:prstGeom>
          <a:solidFill>
            <a:srgbClr val="1C2430"/>
          </a:solidFill>
          <a:ln w="7620">
            <a:solidFill>
              <a:srgbClr val="FFFFFF">
                <a:alpha val="8000"/>
              </a:srgbClr>
            </a:solidFill>
            <a:prstDash val="solid"/>
          </a:ln>
        </p:spPr>
      </p:sp>
      <p:sp>
        <p:nvSpPr>
          <p:cNvPr id="26" name="Shape 24"/>
          <p:cNvSpPr/>
          <p:nvPr/>
        </p:nvSpPr>
        <p:spPr>
          <a:xfrm>
            <a:off x="9635490" y="2354580"/>
            <a:ext cx="76200" cy="76200"/>
          </a:xfrm>
          <a:prstGeom prst="ellipse">
            <a:avLst/>
          </a:prstGeom>
          <a:solidFill>
            <a:srgbClr val="34D399"/>
          </a:solidFill>
          <a:ln/>
        </p:spPr>
      </p:sp>
      <p:sp>
        <p:nvSpPr>
          <p:cNvPr id="27" name="Text 25"/>
          <p:cNvSpPr/>
          <p:nvPr/>
        </p:nvSpPr>
        <p:spPr>
          <a:xfrm>
            <a:off x="9787890" y="2270760"/>
            <a:ext cx="1533883" cy="281940"/>
          </a:xfrm>
          <a:prstGeom prst="rect">
            <a:avLst/>
          </a:prstGeom>
          <a:noFill/>
          <a:ln/>
        </p:spPr>
        <p:txBody>
          <a:bodyPr wrap="square" lIns="0" tIns="0" rIns="0" bIns="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Sum of Revenue</a:t>
            </a:r>
            <a:endParaRPr lang="en-US" sz="1500" dirty="0"/>
          </a:p>
        </p:txBody>
      </p:sp>
      <p:sp>
        <p:nvSpPr>
          <p:cNvPr id="28" name="Text 26"/>
          <p:cNvSpPr/>
          <p:nvPr/>
        </p:nvSpPr>
        <p:spPr>
          <a:xfrm>
            <a:off x="9494520" y="2693670"/>
            <a:ext cx="3555416"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What gets calculated at each intersection. Default is SUM — right-click to switch to COUNT, AVERAGE, MIN, MAX, etc.</a:t>
            </a:r>
            <a:endParaRPr lang="en-US" sz="1950" dirty="0"/>
          </a:p>
        </p:txBody>
      </p:sp>
      <p:sp>
        <p:nvSpPr>
          <p:cNvPr id="29" name="Shape 27"/>
          <p:cNvSpPr/>
          <p:nvPr/>
        </p:nvSpPr>
        <p:spPr>
          <a:xfrm>
            <a:off x="13411200" y="1680210"/>
            <a:ext cx="3924300" cy="6208395"/>
          </a:xfrm>
          <a:prstGeom prst="roundRect">
            <a:avLst>
              <a:gd name="adj" fmla="val 2427"/>
            </a:avLst>
          </a:prstGeom>
          <a:ln w="7620">
            <a:solidFill>
              <a:srgbClr val="FBBF24">
                <a:alpha val="35000"/>
              </a:srgbClr>
            </a:solidFill>
            <a:prstDash val="solid"/>
          </a:ln>
        </p:spPr>
      </p:sp>
      <p:sp>
        <p:nvSpPr>
          <p:cNvPr id="30" name="Text 28"/>
          <p:cNvSpPr/>
          <p:nvPr/>
        </p:nvSpPr>
        <p:spPr>
          <a:xfrm>
            <a:off x="13647420" y="1878330"/>
            <a:ext cx="3555416" cy="25146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FBBF24"/>
                </a:solidFill>
                <a:latin typeface="Arial" pitchFamily="34" charset="0"/>
                <a:ea typeface="Arial" pitchFamily="34" charset="-122"/>
                <a:cs typeface="Arial" pitchFamily="34" charset="-120"/>
              </a:rPr>
              <a:t>FILTERS</a:t>
            </a:r>
            <a:endParaRPr lang="en-US" sz="1350" dirty="0"/>
          </a:p>
        </p:txBody>
      </p:sp>
      <p:sp>
        <p:nvSpPr>
          <p:cNvPr id="31" name="Shape 29"/>
          <p:cNvSpPr/>
          <p:nvPr/>
        </p:nvSpPr>
        <p:spPr>
          <a:xfrm>
            <a:off x="13647420" y="2186940"/>
            <a:ext cx="3451860" cy="411480"/>
          </a:xfrm>
          <a:prstGeom prst="roundRect">
            <a:avLst>
              <a:gd name="adj" fmla="val 13889"/>
            </a:avLst>
          </a:prstGeom>
          <a:solidFill>
            <a:srgbClr val="1C2430"/>
          </a:solidFill>
          <a:ln w="7620">
            <a:solidFill>
              <a:srgbClr val="FFFFFF">
                <a:alpha val="8000"/>
              </a:srgbClr>
            </a:solidFill>
            <a:prstDash val="solid"/>
          </a:ln>
        </p:spPr>
      </p:sp>
      <p:sp>
        <p:nvSpPr>
          <p:cNvPr id="32" name="Shape 30"/>
          <p:cNvSpPr/>
          <p:nvPr/>
        </p:nvSpPr>
        <p:spPr>
          <a:xfrm>
            <a:off x="13788390" y="2354580"/>
            <a:ext cx="76200" cy="76200"/>
          </a:xfrm>
          <a:prstGeom prst="ellipse">
            <a:avLst/>
          </a:prstGeom>
          <a:solidFill>
            <a:srgbClr val="FBBF24"/>
          </a:solidFill>
          <a:ln/>
        </p:spPr>
      </p:sp>
      <p:sp>
        <p:nvSpPr>
          <p:cNvPr id="33" name="Text 31"/>
          <p:cNvSpPr/>
          <p:nvPr/>
        </p:nvSpPr>
        <p:spPr>
          <a:xfrm>
            <a:off x="13940790" y="2270760"/>
            <a:ext cx="470417" cy="281940"/>
          </a:xfrm>
          <a:prstGeom prst="rect">
            <a:avLst/>
          </a:prstGeom>
          <a:noFill/>
          <a:ln/>
        </p:spPr>
        <p:txBody>
          <a:bodyPr wrap="square" lIns="0" tIns="0" rIns="0" bIns="0" rtlCol="0" anchor="t">
            <a:normAutofit/>
          </a:bodyPr>
          <a:lstStyle/>
          <a:p>
            <a:pPr algn="l" indent="0" marL="0">
              <a:buNone/>
            </a:pPr>
            <a:r>
              <a:rPr lang="en-US" sz="1500" dirty="0">
                <a:solidFill>
                  <a:srgbClr val="F0F6FC"/>
                </a:solidFill>
                <a:latin typeface="Arial" pitchFamily="34" charset="0"/>
                <a:ea typeface="Arial" pitchFamily="34" charset="-122"/>
                <a:cs typeface="Arial" pitchFamily="34" charset="-120"/>
              </a:rPr>
              <a:t>Year</a:t>
            </a:r>
            <a:endParaRPr lang="en-US" sz="1500" dirty="0"/>
          </a:p>
        </p:txBody>
      </p:sp>
      <p:sp>
        <p:nvSpPr>
          <p:cNvPr id="34" name="Text 32"/>
          <p:cNvSpPr/>
          <p:nvPr/>
        </p:nvSpPr>
        <p:spPr>
          <a:xfrm>
            <a:off x="13647420" y="2693670"/>
            <a:ext cx="3555416"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A slicer above the pivot that filters the entire table. Select 2023 to see only 2023 data across all rows and columns.</a:t>
            </a:r>
            <a:endParaRPr lang="en-US" sz="1950" dirty="0"/>
          </a:p>
        </p:txBody>
      </p:sp>
      <p:sp>
        <p:nvSpPr>
          <p:cNvPr id="35" name="Shape 33"/>
          <p:cNvSpPr/>
          <p:nvPr/>
        </p:nvSpPr>
        <p:spPr>
          <a:xfrm>
            <a:off x="952500" y="8117205"/>
            <a:ext cx="16383000" cy="1407795"/>
          </a:xfrm>
          <a:prstGeom prst="roundRect">
            <a:avLst>
              <a:gd name="adj" fmla="val 8119"/>
            </a:avLst>
          </a:prstGeom>
          <a:solidFill>
            <a:srgbClr val="2DD4BF">
              <a:alpha val="5000"/>
            </a:srgbClr>
          </a:solidFill>
          <a:ln w="7620">
            <a:solidFill>
              <a:srgbClr val="2DD4BF">
                <a:alpha val="30000"/>
              </a:srgbClr>
            </a:solidFill>
            <a:prstDash val="solid"/>
          </a:ln>
        </p:spPr>
      </p:sp>
      <p:sp>
        <p:nvSpPr>
          <p:cNvPr id="36" name="Text 34"/>
          <p:cNvSpPr/>
          <p:nvPr/>
        </p:nvSpPr>
        <p:spPr>
          <a:xfrm>
            <a:off x="1303020" y="8429625"/>
            <a:ext cx="16152419" cy="8210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2DD4BF"/>
                </a:solidFill>
                <a:latin typeface="Arial" pitchFamily="34" charset="0"/>
                <a:ea typeface="Arial" pitchFamily="34" charset="-122"/>
                <a:cs typeface="Arial" pitchFamily="34" charset="-120"/>
              </a:rPr>
              <a:t>Tip: </a:t>
            </a:r>
            <a:pPr algn="l" indent="0" marL="0">
              <a:lnSpc>
                <a:spcPct val="155000"/>
              </a:lnSpc>
              <a:buNone/>
            </a:pPr>
            <a:r>
              <a:rPr lang="en-US" sz="1950" dirty="0">
                <a:solidFill>
                  <a:srgbClr val="F0F6FC"/>
                </a:solidFill>
                <a:latin typeface="Arial" pitchFamily="34" charset="0"/>
                <a:ea typeface="Arial" pitchFamily="34" charset="-122"/>
                <a:cs typeface="Arial" pitchFamily="34" charset="-120"/>
              </a:rPr>
              <a:t>Right-click any value in the pivot → "Value Field Settings" to change from SUM to COUNT, AVERAGE, MAX, etc. This is how you get headcount from a name column.</a:t>
            </a:r>
            <a:endParaRPr lang="en-US" sz="1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14129862" y="323850"/>
            <a:ext cx="1091089" cy="228600"/>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7D8590"/>
                </a:solidFill>
                <a:latin typeface="Arial" pitchFamily="34" charset="0"/>
                <a:ea typeface="Arial" pitchFamily="34" charset="-122"/>
                <a:cs typeface="Arial" pitchFamily="34" charset="-120"/>
              </a:rPr>
              <a:t>MOD 7 OF 7</a:t>
            </a:r>
            <a:endParaRPr lang="en-US" sz="1275" dirty="0"/>
          </a:p>
        </p:txBody>
      </p:sp>
      <p:sp>
        <p:nvSpPr>
          <p:cNvPr id="3" name="Shape 1"/>
          <p:cNvSpPr/>
          <p:nvPr/>
        </p:nvSpPr>
        <p:spPr>
          <a:xfrm>
            <a:off x="15259050" y="400050"/>
            <a:ext cx="247650" cy="38100"/>
          </a:xfrm>
          <a:prstGeom prst="roundRect">
            <a:avLst>
              <a:gd name="adj" fmla="val 50000"/>
            </a:avLst>
          </a:prstGeom>
          <a:solidFill>
            <a:srgbClr val="2DD4BF">
              <a:alpha val="40000"/>
            </a:srgbClr>
          </a:solidFill>
          <a:ln/>
        </p:spPr>
      </p:sp>
      <p:sp>
        <p:nvSpPr>
          <p:cNvPr id="4" name="Shape 2"/>
          <p:cNvSpPr/>
          <p:nvPr/>
        </p:nvSpPr>
        <p:spPr>
          <a:xfrm>
            <a:off x="15563850" y="400050"/>
            <a:ext cx="247650" cy="38100"/>
          </a:xfrm>
          <a:prstGeom prst="roundRect">
            <a:avLst>
              <a:gd name="adj" fmla="val 50000"/>
            </a:avLst>
          </a:prstGeom>
          <a:solidFill>
            <a:srgbClr val="2DD4BF">
              <a:alpha val="40000"/>
            </a:srgbClr>
          </a:solidFill>
          <a:ln/>
        </p:spPr>
      </p:sp>
      <p:sp>
        <p:nvSpPr>
          <p:cNvPr id="5" name="Shape 3"/>
          <p:cNvSpPr/>
          <p:nvPr/>
        </p:nvSpPr>
        <p:spPr>
          <a:xfrm>
            <a:off x="15868650" y="400050"/>
            <a:ext cx="247650" cy="38100"/>
          </a:xfrm>
          <a:prstGeom prst="roundRect">
            <a:avLst>
              <a:gd name="adj" fmla="val 50000"/>
            </a:avLst>
          </a:prstGeom>
          <a:solidFill>
            <a:srgbClr val="2DD4BF">
              <a:alpha val="40000"/>
            </a:srgbClr>
          </a:solidFill>
          <a:ln/>
        </p:spPr>
      </p:sp>
      <p:sp>
        <p:nvSpPr>
          <p:cNvPr id="6" name="Shape 4"/>
          <p:cNvSpPr/>
          <p:nvPr/>
        </p:nvSpPr>
        <p:spPr>
          <a:xfrm>
            <a:off x="16173450" y="400050"/>
            <a:ext cx="247650" cy="38100"/>
          </a:xfrm>
          <a:prstGeom prst="roundRect">
            <a:avLst>
              <a:gd name="adj" fmla="val 50000"/>
            </a:avLst>
          </a:prstGeom>
          <a:solidFill>
            <a:srgbClr val="2DD4BF">
              <a:alpha val="40000"/>
            </a:srgbClr>
          </a:solidFill>
          <a:ln/>
        </p:spPr>
      </p:sp>
      <p:sp>
        <p:nvSpPr>
          <p:cNvPr id="7" name="Shape 5"/>
          <p:cNvSpPr/>
          <p:nvPr/>
        </p:nvSpPr>
        <p:spPr>
          <a:xfrm>
            <a:off x="16478250" y="400050"/>
            <a:ext cx="247650" cy="38100"/>
          </a:xfrm>
          <a:prstGeom prst="roundRect">
            <a:avLst>
              <a:gd name="adj" fmla="val 50000"/>
            </a:avLst>
          </a:prstGeom>
          <a:solidFill>
            <a:srgbClr val="2DD4BF">
              <a:alpha val="40000"/>
            </a:srgbClr>
          </a:solidFill>
          <a:ln/>
        </p:spPr>
      </p:sp>
      <p:sp>
        <p:nvSpPr>
          <p:cNvPr id="8" name="Shape 6"/>
          <p:cNvSpPr/>
          <p:nvPr/>
        </p:nvSpPr>
        <p:spPr>
          <a:xfrm>
            <a:off x="16783050" y="400050"/>
            <a:ext cx="247650" cy="38100"/>
          </a:xfrm>
          <a:prstGeom prst="roundRect">
            <a:avLst>
              <a:gd name="adj" fmla="val 50000"/>
            </a:avLst>
          </a:prstGeom>
          <a:solidFill>
            <a:srgbClr val="2DD4BF">
              <a:alpha val="40000"/>
            </a:srgbClr>
          </a:solidFill>
          <a:ln/>
        </p:spPr>
      </p:sp>
      <p:sp>
        <p:nvSpPr>
          <p:cNvPr id="9" name="Shape 7"/>
          <p:cNvSpPr/>
          <p:nvPr/>
        </p:nvSpPr>
        <p:spPr>
          <a:xfrm>
            <a:off x="17087850" y="400050"/>
            <a:ext cx="247650" cy="38100"/>
          </a:xfrm>
          <a:prstGeom prst="roundRect">
            <a:avLst>
              <a:gd name="adj" fmla="val 50000"/>
            </a:avLst>
          </a:prstGeom>
          <a:solidFill>
            <a:srgbClr val="2DD4BF"/>
          </a:solidFill>
          <a:ln/>
        </p:spPr>
      </p:sp>
      <p:sp>
        <p:nvSpPr>
          <p:cNvPr id="10" name="Text 8"/>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Pivot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Power Moves</a:t>
            </a:r>
            <a:endParaRPr lang="en-US" sz="4200" dirty="0"/>
          </a:p>
        </p:txBody>
      </p:sp>
      <p:sp>
        <p:nvSpPr>
          <p:cNvPr id="11" name="Shape 9"/>
          <p:cNvSpPr/>
          <p:nvPr/>
        </p:nvSpPr>
        <p:spPr>
          <a:xfrm>
            <a:off x="952500" y="1642110"/>
            <a:ext cx="8001000" cy="1659255"/>
          </a:xfrm>
          <a:prstGeom prst="roundRect">
            <a:avLst>
              <a:gd name="adj" fmla="val 6889"/>
            </a:avLst>
          </a:prstGeom>
          <a:solidFill>
            <a:srgbClr val="161B22"/>
          </a:solidFill>
          <a:ln w="7620">
            <a:solidFill>
              <a:srgbClr val="FFFFFF">
                <a:alpha val="8000"/>
              </a:srgbClr>
            </a:solidFill>
            <a:prstDash val="solid"/>
          </a:ln>
        </p:spPr>
      </p:sp>
      <p:sp>
        <p:nvSpPr>
          <p:cNvPr id="12" name="Text 10"/>
          <p:cNvSpPr/>
          <p:nvPr/>
        </p:nvSpPr>
        <p:spPr>
          <a:xfrm>
            <a:off x="1303020" y="1954530"/>
            <a:ext cx="7518959"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2DD4BF"/>
                </a:solidFill>
                <a:latin typeface="Arial" pitchFamily="34" charset="0"/>
                <a:ea typeface="Arial" pitchFamily="34" charset="-122"/>
                <a:cs typeface="Arial" pitchFamily="34" charset="-120"/>
              </a:rPr>
              <a:t>Rearrange with drag &amp; drop</a:t>
            </a:r>
            <a:endParaRPr lang="en-US" sz="1650" dirty="0"/>
          </a:p>
        </p:txBody>
      </p:sp>
      <p:sp>
        <p:nvSpPr>
          <p:cNvPr id="13" name="Text 11"/>
          <p:cNvSpPr/>
          <p:nvPr/>
        </p:nvSpPr>
        <p:spPr>
          <a:xfrm>
            <a:off x="1303020" y="2221230"/>
            <a:ext cx="7518959"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Move Region from Rows → Columns and your entire view instantly rotates. Zero extra work.</a:t>
            </a:r>
            <a:endParaRPr lang="en-US" sz="1950" dirty="0"/>
          </a:p>
        </p:txBody>
      </p:sp>
      <p:sp>
        <p:nvSpPr>
          <p:cNvPr id="14" name="Shape 12"/>
          <p:cNvSpPr/>
          <p:nvPr/>
        </p:nvSpPr>
        <p:spPr>
          <a:xfrm>
            <a:off x="952500" y="3301365"/>
            <a:ext cx="8001000" cy="1659255"/>
          </a:xfrm>
          <a:prstGeom prst="roundRect">
            <a:avLst>
              <a:gd name="adj" fmla="val 6889"/>
            </a:avLst>
          </a:prstGeom>
          <a:solidFill>
            <a:srgbClr val="161B22"/>
          </a:solidFill>
          <a:ln w="7620">
            <a:solidFill>
              <a:srgbClr val="FFFFFF">
                <a:alpha val="8000"/>
              </a:srgbClr>
            </a:solidFill>
            <a:prstDash val="solid"/>
          </a:ln>
        </p:spPr>
      </p:sp>
      <p:sp>
        <p:nvSpPr>
          <p:cNvPr id="15" name="Text 13"/>
          <p:cNvSpPr/>
          <p:nvPr/>
        </p:nvSpPr>
        <p:spPr>
          <a:xfrm>
            <a:off x="1303020" y="3613785"/>
            <a:ext cx="7518959"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22D3EE"/>
                </a:solidFill>
                <a:latin typeface="Arial" pitchFamily="34" charset="0"/>
                <a:ea typeface="Arial" pitchFamily="34" charset="-122"/>
                <a:cs typeface="Arial" pitchFamily="34" charset="-120"/>
              </a:rPr>
              <a:t>Add a second Row field for sub-grouping</a:t>
            </a:r>
            <a:endParaRPr lang="en-US" sz="1650" dirty="0"/>
          </a:p>
        </p:txBody>
      </p:sp>
      <p:sp>
        <p:nvSpPr>
          <p:cNvPr id="16" name="Text 14"/>
          <p:cNvSpPr/>
          <p:nvPr/>
        </p:nvSpPr>
        <p:spPr>
          <a:xfrm>
            <a:off x="1303020" y="3880485"/>
            <a:ext cx="7518959"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Drag Category below Region in the Rows zone — now you see sales broken out by Region AND Category.</a:t>
            </a:r>
            <a:endParaRPr lang="en-US" sz="1950" dirty="0"/>
          </a:p>
        </p:txBody>
      </p:sp>
      <p:sp>
        <p:nvSpPr>
          <p:cNvPr id="17" name="Shape 15"/>
          <p:cNvSpPr/>
          <p:nvPr/>
        </p:nvSpPr>
        <p:spPr>
          <a:xfrm>
            <a:off x="952500" y="4960620"/>
            <a:ext cx="8001000" cy="1659255"/>
          </a:xfrm>
          <a:prstGeom prst="roundRect">
            <a:avLst>
              <a:gd name="adj" fmla="val 6889"/>
            </a:avLst>
          </a:prstGeom>
          <a:solidFill>
            <a:srgbClr val="161B22"/>
          </a:solidFill>
          <a:ln w="7620">
            <a:solidFill>
              <a:srgbClr val="FFFFFF">
                <a:alpha val="8000"/>
              </a:srgbClr>
            </a:solidFill>
            <a:prstDash val="solid"/>
          </a:ln>
        </p:spPr>
      </p:sp>
      <p:sp>
        <p:nvSpPr>
          <p:cNvPr id="18" name="Text 16"/>
          <p:cNvSpPr/>
          <p:nvPr/>
        </p:nvSpPr>
        <p:spPr>
          <a:xfrm>
            <a:off x="1303020" y="5273040"/>
            <a:ext cx="7518959"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FBBF24"/>
                </a:solidFill>
                <a:latin typeface="Arial" pitchFamily="34" charset="0"/>
                <a:ea typeface="Arial" pitchFamily="34" charset="-122"/>
                <a:cs typeface="Arial" pitchFamily="34" charset="-120"/>
              </a:rPr>
              <a:t>Refresh when source data changes</a:t>
            </a:r>
            <a:endParaRPr lang="en-US" sz="1650" dirty="0"/>
          </a:p>
        </p:txBody>
      </p:sp>
      <p:sp>
        <p:nvSpPr>
          <p:cNvPr id="19" name="Text 17"/>
          <p:cNvSpPr/>
          <p:nvPr/>
        </p:nvSpPr>
        <p:spPr>
          <a:xfrm>
            <a:off x="1303020" y="5539740"/>
            <a:ext cx="7518959"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Right-click the pivot → Refresh. The pivot updates without rebuilding. Always refresh after adding new rows.</a:t>
            </a:r>
            <a:endParaRPr lang="en-US" sz="1950" dirty="0"/>
          </a:p>
        </p:txBody>
      </p:sp>
      <p:sp>
        <p:nvSpPr>
          <p:cNvPr id="20" name="Shape 18"/>
          <p:cNvSpPr/>
          <p:nvPr/>
        </p:nvSpPr>
        <p:spPr>
          <a:xfrm>
            <a:off x="952500" y="6619875"/>
            <a:ext cx="8001000" cy="1659255"/>
          </a:xfrm>
          <a:prstGeom prst="roundRect">
            <a:avLst>
              <a:gd name="adj" fmla="val 6889"/>
            </a:avLst>
          </a:prstGeom>
          <a:solidFill>
            <a:srgbClr val="161B22"/>
          </a:solidFill>
          <a:ln w="7620">
            <a:solidFill>
              <a:srgbClr val="FFFFFF">
                <a:alpha val="8000"/>
              </a:srgbClr>
            </a:solidFill>
            <a:prstDash val="solid"/>
          </a:ln>
        </p:spPr>
      </p:sp>
      <p:sp>
        <p:nvSpPr>
          <p:cNvPr id="21" name="Text 19"/>
          <p:cNvSpPr/>
          <p:nvPr/>
        </p:nvSpPr>
        <p:spPr>
          <a:xfrm>
            <a:off x="1303020" y="6932295"/>
            <a:ext cx="7518959"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34D399"/>
                </a:solidFill>
                <a:latin typeface="Arial" pitchFamily="34" charset="0"/>
                <a:ea typeface="Arial" pitchFamily="34" charset="-122"/>
                <a:cs typeface="Arial" pitchFamily="34" charset="-120"/>
              </a:rPr>
              <a:t>Group dates into months or quarters</a:t>
            </a:r>
            <a:endParaRPr lang="en-US" sz="1650" dirty="0"/>
          </a:p>
        </p:txBody>
      </p:sp>
      <p:sp>
        <p:nvSpPr>
          <p:cNvPr id="22" name="Text 20"/>
          <p:cNvSpPr/>
          <p:nvPr/>
        </p:nvSpPr>
        <p:spPr>
          <a:xfrm>
            <a:off x="1303020" y="7198995"/>
            <a:ext cx="7518959" cy="80581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7D8590"/>
                </a:solidFill>
                <a:latin typeface="Arial" pitchFamily="34" charset="0"/>
                <a:ea typeface="Arial" pitchFamily="34" charset="-122"/>
                <a:cs typeface="Arial" pitchFamily="34" charset="-120"/>
              </a:rPr>
              <a:t>Right-click a date in the pivot → Group → select Month. Excel automatically rolls up daily data.</a:t>
            </a:r>
            <a:endParaRPr lang="en-US" sz="1950" dirty="0"/>
          </a:p>
        </p:txBody>
      </p:sp>
      <p:sp>
        <p:nvSpPr>
          <p:cNvPr id="23" name="Text 21"/>
          <p:cNvSpPr/>
          <p:nvPr/>
        </p:nvSpPr>
        <p:spPr>
          <a:xfrm>
            <a:off x="9334500" y="1642110"/>
            <a:ext cx="8241030" cy="281940"/>
          </a:xfrm>
          <a:prstGeom prst="rect">
            <a:avLst/>
          </a:prstGeom>
          <a:noFill/>
          <a:ln/>
        </p:spPr>
        <p:txBody>
          <a:bodyPr wrap="square" lIns="25400" tIns="25400" rIns="25400" bIns="25400" rtlCol="0" anchor="t">
            <a:normAutofit/>
          </a:bodyPr>
          <a:lstStyle/>
          <a:p>
            <a:pPr algn="l" indent="0" marL="0">
              <a:buNone/>
            </a:pPr>
            <a:r>
              <a:rPr lang="en-US" sz="1500" b="1" dirty="0">
                <a:solidFill>
                  <a:srgbClr val="7D8590"/>
                </a:solidFill>
                <a:latin typeface="Arial" pitchFamily="34" charset="0"/>
                <a:ea typeface="Arial" pitchFamily="34" charset="-122"/>
                <a:cs typeface="Arial" pitchFamily="34" charset="-120"/>
              </a:rPr>
              <a:t>Same data, different view (Region → Columns)</a:t>
            </a:r>
            <a:endParaRPr lang="en-US" sz="1500" dirty="0"/>
          </a:p>
        </p:txBody>
      </p:sp>
      <p:sp>
        <p:nvSpPr>
          <p:cNvPr id="24" name="Shape 22"/>
          <p:cNvSpPr/>
          <p:nvPr/>
        </p:nvSpPr>
        <p:spPr>
          <a:xfrm>
            <a:off x="9338310" y="1965960"/>
            <a:ext cx="1008936" cy="445770"/>
          </a:xfrm>
          <a:prstGeom prst="rect">
            <a:avLst/>
          </a:prstGeom>
          <a:solidFill>
            <a:srgbClr val="1C3A5E"/>
          </a:solidFill>
          <a:ln w="7620">
            <a:solidFill>
              <a:srgbClr val="FFFFFF">
                <a:alpha val="10000"/>
              </a:srgbClr>
            </a:solidFill>
            <a:prstDash val="solid"/>
          </a:ln>
        </p:spPr>
      </p:sp>
      <p:sp>
        <p:nvSpPr>
          <p:cNvPr id="25" name="Text 23"/>
          <p:cNvSpPr/>
          <p:nvPr/>
        </p:nvSpPr>
        <p:spPr>
          <a:xfrm>
            <a:off x="9479280" y="2078355"/>
            <a:ext cx="726996"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Month</a:t>
            </a:r>
            <a:endParaRPr lang="en-US" sz="1425" dirty="0"/>
          </a:p>
        </p:txBody>
      </p:sp>
      <p:sp>
        <p:nvSpPr>
          <p:cNvPr id="26" name="Shape 24"/>
          <p:cNvSpPr/>
          <p:nvPr/>
        </p:nvSpPr>
        <p:spPr>
          <a:xfrm>
            <a:off x="10347246" y="1965960"/>
            <a:ext cx="1338024" cy="445770"/>
          </a:xfrm>
          <a:prstGeom prst="rect">
            <a:avLst/>
          </a:prstGeom>
          <a:solidFill>
            <a:srgbClr val="1C3A5E"/>
          </a:solidFill>
          <a:ln w="7620">
            <a:solidFill>
              <a:srgbClr val="FFFFFF">
                <a:alpha val="10000"/>
              </a:srgbClr>
            </a:solidFill>
            <a:prstDash val="solid"/>
          </a:ln>
        </p:spPr>
      </p:sp>
      <p:sp>
        <p:nvSpPr>
          <p:cNvPr id="27" name="Text 25"/>
          <p:cNvSpPr/>
          <p:nvPr/>
        </p:nvSpPr>
        <p:spPr>
          <a:xfrm>
            <a:off x="10488216" y="2078355"/>
            <a:ext cx="1056084"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East</a:t>
            </a:r>
            <a:endParaRPr lang="en-US" sz="1425" dirty="0"/>
          </a:p>
        </p:txBody>
      </p:sp>
      <p:sp>
        <p:nvSpPr>
          <p:cNvPr id="28" name="Shape 26"/>
          <p:cNvSpPr/>
          <p:nvPr/>
        </p:nvSpPr>
        <p:spPr>
          <a:xfrm>
            <a:off x="11685270" y="1965960"/>
            <a:ext cx="1465421" cy="445770"/>
          </a:xfrm>
          <a:prstGeom prst="rect">
            <a:avLst/>
          </a:prstGeom>
          <a:solidFill>
            <a:srgbClr val="1C3A5E"/>
          </a:solidFill>
          <a:ln w="7620">
            <a:solidFill>
              <a:srgbClr val="FFFFFF">
                <a:alpha val="10000"/>
              </a:srgbClr>
            </a:solidFill>
            <a:prstDash val="solid"/>
          </a:ln>
        </p:spPr>
      </p:sp>
      <p:sp>
        <p:nvSpPr>
          <p:cNvPr id="29" name="Text 27"/>
          <p:cNvSpPr/>
          <p:nvPr/>
        </p:nvSpPr>
        <p:spPr>
          <a:xfrm>
            <a:off x="11826240" y="2078355"/>
            <a:ext cx="1183481"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North</a:t>
            </a:r>
            <a:endParaRPr lang="en-US" sz="1425" dirty="0"/>
          </a:p>
        </p:txBody>
      </p:sp>
      <p:sp>
        <p:nvSpPr>
          <p:cNvPr id="30" name="Shape 28"/>
          <p:cNvSpPr/>
          <p:nvPr/>
        </p:nvSpPr>
        <p:spPr>
          <a:xfrm>
            <a:off x="13150691" y="1965960"/>
            <a:ext cx="1414820" cy="445770"/>
          </a:xfrm>
          <a:prstGeom prst="rect">
            <a:avLst/>
          </a:prstGeom>
          <a:solidFill>
            <a:srgbClr val="1C3A5E"/>
          </a:solidFill>
          <a:ln w="7620">
            <a:solidFill>
              <a:srgbClr val="FFFFFF">
                <a:alpha val="10000"/>
              </a:srgbClr>
            </a:solidFill>
            <a:prstDash val="solid"/>
          </a:ln>
        </p:spPr>
      </p:sp>
      <p:sp>
        <p:nvSpPr>
          <p:cNvPr id="31" name="Text 29"/>
          <p:cNvSpPr/>
          <p:nvPr/>
        </p:nvSpPr>
        <p:spPr>
          <a:xfrm>
            <a:off x="13291661" y="2078355"/>
            <a:ext cx="1132880"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South</a:t>
            </a:r>
            <a:endParaRPr lang="en-US" sz="1425" dirty="0"/>
          </a:p>
        </p:txBody>
      </p:sp>
      <p:sp>
        <p:nvSpPr>
          <p:cNvPr id="32" name="Shape 30"/>
          <p:cNvSpPr/>
          <p:nvPr/>
        </p:nvSpPr>
        <p:spPr>
          <a:xfrm>
            <a:off x="14565511" y="1965960"/>
            <a:ext cx="1405414" cy="445770"/>
          </a:xfrm>
          <a:prstGeom prst="rect">
            <a:avLst/>
          </a:prstGeom>
          <a:solidFill>
            <a:srgbClr val="1C3A5E"/>
          </a:solidFill>
          <a:ln w="7620">
            <a:solidFill>
              <a:srgbClr val="FFFFFF">
                <a:alpha val="10000"/>
              </a:srgbClr>
            </a:solidFill>
            <a:prstDash val="solid"/>
          </a:ln>
        </p:spPr>
      </p:sp>
      <p:sp>
        <p:nvSpPr>
          <p:cNvPr id="33" name="Text 31"/>
          <p:cNvSpPr/>
          <p:nvPr/>
        </p:nvSpPr>
        <p:spPr>
          <a:xfrm>
            <a:off x="14706481" y="2078355"/>
            <a:ext cx="1123474"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2D3EE"/>
                </a:solidFill>
                <a:latin typeface="Arial" pitchFamily="34" charset="0"/>
                <a:ea typeface="Arial" pitchFamily="34" charset="-122"/>
                <a:cs typeface="Arial" pitchFamily="34" charset="-120"/>
              </a:rPr>
              <a:t>West</a:t>
            </a:r>
            <a:endParaRPr lang="en-US" sz="1425" dirty="0"/>
          </a:p>
        </p:txBody>
      </p:sp>
      <p:sp>
        <p:nvSpPr>
          <p:cNvPr id="34" name="Shape 32"/>
          <p:cNvSpPr/>
          <p:nvPr/>
        </p:nvSpPr>
        <p:spPr>
          <a:xfrm>
            <a:off x="15970925" y="1965960"/>
            <a:ext cx="1360765" cy="445770"/>
          </a:xfrm>
          <a:prstGeom prst="rect">
            <a:avLst/>
          </a:prstGeom>
          <a:solidFill>
            <a:srgbClr val="2DD4BF">
              <a:alpha val="20000"/>
            </a:srgbClr>
          </a:solidFill>
          <a:ln w="7620">
            <a:solidFill>
              <a:srgbClr val="FFFFFF">
                <a:alpha val="10000"/>
              </a:srgbClr>
            </a:solidFill>
            <a:prstDash val="solid"/>
          </a:ln>
        </p:spPr>
      </p:sp>
      <p:sp>
        <p:nvSpPr>
          <p:cNvPr id="35" name="Text 33"/>
          <p:cNvSpPr/>
          <p:nvPr/>
        </p:nvSpPr>
        <p:spPr>
          <a:xfrm>
            <a:off x="16111895" y="2078355"/>
            <a:ext cx="1078825" cy="259080"/>
          </a:xfrm>
          <a:prstGeom prst="rect">
            <a:avLst/>
          </a:prstGeom>
          <a:noFill/>
          <a:ln/>
        </p:spPr>
        <p:txBody>
          <a:bodyPr wrap="square" lIns="25400" tIns="25400" rIns="25400" bIns="25400" rtlCol="0" anchor="ctr">
            <a:normAutofit/>
          </a:bodyPr>
          <a:lstStyle/>
          <a:p>
            <a:pPr algn="ctr" indent="0" marL="0">
              <a:buNone/>
            </a:pPr>
            <a:r>
              <a:rPr lang="en-US" sz="1425" b="1" dirty="0">
                <a:solidFill>
                  <a:srgbClr val="2DD4BF"/>
                </a:solidFill>
                <a:latin typeface="Arial" pitchFamily="34" charset="0"/>
                <a:ea typeface="Arial" pitchFamily="34" charset="-122"/>
                <a:cs typeface="Arial" pitchFamily="34" charset="-120"/>
              </a:rPr>
              <a:t>Total</a:t>
            </a:r>
            <a:endParaRPr lang="en-US" sz="1425" dirty="0"/>
          </a:p>
        </p:txBody>
      </p:sp>
      <p:sp>
        <p:nvSpPr>
          <p:cNvPr id="36" name="Shape 34"/>
          <p:cNvSpPr/>
          <p:nvPr/>
        </p:nvSpPr>
        <p:spPr>
          <a:xfrm>
            <a:off x="9338310" y="2411730"/>
            <a:ext cx="1008936" cy="430530"/>
          </a:xfrm>
          <a:prstGeom prst="rect">
            <a:avLst/>
          </a:prstGeom>
          <a:solidFill>
            <a:srgbClr val="1A2535"/>
          </a:solidFill>
          <a:ln w="7620">
            <a:solidFill>
              <a:srgbClr val="FFFFFF">
                <a:alpha val="8000"/>
              </a:srgbClr>
            </a:solidFill>
            <a:prstDash val="solid"/>
          </a:ln>
        </p:spPr>
      </p:sp>
      <p:sp>
        <p:nvSpPr>
          <p:cNvPr id="37" name="Text 35"/>
          <p:cNvSpPr/>
          <p:nvPr/>
        </p:nvSpPr>
        <p:spPr>
          <a:xfrm>
            <a:off x="9517380" y="2505075"/>
            <a:ext cx="726996"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Jan</a:t>
            </a:r>
            <a:endParaRPr lang="en-US" sz="1575" dirty="0"/>
          </a:p>
        </p:txBody>
      </p:sp>
      <p:sp>
        <p:nvSpPr>
          <p:cNvPr id="38" name="Shape 36"/>
          <p:cNvSpPr/>
          <p:nvPr/>
        </p:nvSpPr>
        <p:spPr>
          <a:xfrm>
            <a:off x="10347246" y="2411730"/>
            <a:ext cx="1338024" cy="430530"/>
          </a:xfrm>
          <a:prstGeom prst="rect">
            <a:avLst/>
          </a:prstGeom>
          <a:ln w="7620">
            <a:solidFill>
              <a:srgbClr val="FFFFFF">
                <a:alpha val="8000"/>
              </a:srgbClr>
            </a:solidFill>
            <a:prstDash val="solid"/>
          </a:ln>
        </p:spPr>
      </p:sp>
      <p:sp>
        <p:nvSpPr>
          <p:cNvPr id="39" name="Text 37"/>
          <p:cNvSpPr/>
          <p:nvPr/>
        </p:nvSpPr>
        <p:spPr>
          <a:xfrm>
            <a:off x="10526316" y="2505075"/>
            <a:ext cx="105608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$14,200</a:t>
            </a:r>
            <a:endParaRPr lang="en-US" sz="1575" dirty="0"/>
          </a:p>
        </p:txBody>
      </p:sp>
      <p:sp>
        <p:nvSpPr>
          <p:cNvPr id="40" name="Shape 38"/>
          <p:cNvSpPr/>
          <p:nvPr/>
        </p:nvSpPr>
        <p:spPr>
          <a:xfrm>
            <a:off x="11685270" y="2411730"/>
            <a:ext cx="1465421" cy="430530"/>
          </a:xfrm>
          <a:prstGeom prst="rect">
            <a:avLst/>
          </a:prstGeom>
          <a:ln w="7620">
            <a:solidFill>
              <a:srgbClr val="FFFFFF">
                <a:alpha val="8000"/>
              </a:srgbClr>
            </a:solidFill>
            <a:prstDash val="solid"/>
          </a:ln>
        </p:spPr>
      </p:sp>
      <p:sp>
        <p:nvSpPr>
          <p:cNvPr id="41" name="Text 39"/>
          <p:cNvSpPr/>
          <p:nvPr/>
        </p:nvSpPr>
        <p:spPr>
          <a:xfrm>
            <a:off x="11864340" y="2505075"/>
            <a:ext cx="1183481"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$17,800</a:t>
            </a:r>
            <a:endParaRPr lang="en-US" sz="1575" dirty="0"/>
          </a:p>
        </p:txBody>
      </p:sp>
      <p:sp>
        <p:nvSpPr>
          <p:cNvPr id="42" name="Shape 40"/>
          <p:cNvSpPr/>
          <p:nvPr/>
        </p:nvSpPr>
        <p:spPr>
          <a:xfrm>
            <a:off x="13150691" y="2411730"/>
            <a:ext cx="1414820" cy="430530"/>
          </a:xfrm>
          <a:prstGeom prst="rect">
            <a:avLst/>
          </a:prstGeom>
          <a:ln w="7620">
            <a:solidFill>
              <a:srgbClr val="FFFFFF">
                <a:alpha val="8000"/>
              </a:srgbClr>
            </a:solidFill>
            <a:prstDash val="solid"/>
          </a:ln>
        </p:spPr>
      </p:sp>
      <p:sp>
        <p:nvSpPr>
          <p:cNvPr id="43" name="Text 41"/>
          <p:cNvSpPr/>
          <p:nvPr/>
        </p:nvSpPr>
        <p:spPr>
          <a:xfrm>
            <a:off x="13329761" y="2505075"/>
            <a:ext cx="1132880"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$12,100</a:t>
            </a:r>
            <a:endParaRPr lang="en-US" sz="1575" dirty="0"/>
          </a:p>
        </p:txBody>
      </p:sp>
      <p:sp>
        <p:nvSpPr>
          <p:cNvPr id="44" name="Shape 42"/>
          <p:cNvSpPr/>
          <p:nvPr/>
        </p:nvSpPr>
        <p:spPr>
          <a:xfrm>
            <a:off x="14565511" y="2411730"/>
            <a:ext cx="1405414" cy="430530"/>
          </a:xfrm>
          <a:prstGeom prst="rect">
            <a:avLst/>
          </a:prstGeom>
          <a:ln w="7620">
            <a:solidFill>
              <a:srgbClr val="FFFFFF">
                <a:alpha val="8000"/>
              </a:srgbClr>
            </a:solidFill>
            <a:prstDash val="solid"/>
          </a:ln>
        </p:spPr>
      </p:sp>
      <p:sp>
        <p:nvSpPr>
          <p:cNvPr id="45" name="Text 43"/>
          <p:cNvSpPr/>
          <p:nvPr/>
        </p:nvSpPr>
        <p:spPr>
          <a:xfrm>
            <a:off x="14744581" y="2505075"/>
            <a:ext cx="112347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$13,400</a:t>
            </a:r>
            <a:endParaRPr lang="en-US" sz="1575" dirty="0"/>
          </a:p>
        </p:txBody>
      </p:sp>
      <p:sp>
        <p:nvSpPr>
          <p:cNvPr id="46" name="Shape 44"/>
          <p:cNvSpPr/>
          <p:nvPr/>
        </p:nvSpPr>
        <p:spPr>
          <a:xfrm>
            <a:off x="15970925" y="2411730"/>
            <a:ext cx="1360765" cy="430530"/>
          </a:xfrm>
          <a:prstGeom prst="rect">
            <a:avLst/>
          </a:prstGeom>
          <a:solidFill>
            <a:srgbClr val="2DD4BF">
              <a:alpha val="10000"/>
            </a:srgbClr>
          </a:solidFill>
          <a:ln w="7620">
            <a:solidFill>
              <a:srgbClr val="FFFFFF">
                <a:alpha val="8000"/>
              </a:srgbClr>
            </a:solidFill>
            <a:prstDash val="solid"/>
          </a:ln>
        </p:spPr>
      </p:sp>
      <p:sp>
        <p:nvSpPr>
          <p:cNvPr id="47" name="Text 45"/>
          <p:cNvSpPr/>
          <p:nvPr/>
        </p:nvSpPr>
        <p:spPr>
          <a:xfrm>
            <a:off x="16149995" y="2505075"/>
            <a:ext cx="1078825"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$57,500</a:t>
            </a:r>
            <a:endParaRPr lang="en-US" sz="1575" dirty="0"/>
          </a:p>
        </p:txBody>
      </p:sp>
      <p:sp>
        <p:nvSpPr>
          <p:cNvPr id="48" name="Shape 46"/>
          <p:cNvSpPr/>
          <p:nvPr/>
        </p:nvSpPr>
        <p:spPr>
          <a:xfrm>
            <a:off x="9338310" y="2842260"/>
            <a:ext cx="1008936" cy="430530"/>
          </a:xfrm>
          <a:prstGeom prst="rect">
            <a:avLst/>
          </a:prstGeom>
          <a:solidFill>
            <a:srgbClr val="1A2535"/>
          </a:solidFill>
          <a:ln w="7620">
            <a:solidFill>
              <a:srgbClr val="FFFFFF">
                <a:alpha val="8000"/>
              </a:srgbClr>
            </a:solidFill>
            <a:prstDash val="solid"/>
          </a:ln>
        </p:spPr>
      </p:sp>
      <p:sp>
        <p:nvSpPr>
          <p:cNvPr id="49" name="Text 47"/>
          <p:cNvSpPr/>
          <p:nvPr/>
        </p:nvSpPr>
        <p:spPr>
          <a:xfrm>
            <a:off x="9517380" y="2935605"/>
            <a:ext cx="726996"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Feb</a:t>
            </a:r>
            <a:endParaRPr lang="en-US" sz="1575" dirty="0"/>
          </a:p>
        </p:txBody>
      </p:sp>
      <p:sp>
        <p:nvSpPr>
          <p:cNvPr id="50" name="Shape 48"/>
          <p:cNvSpPr/>
          <p:nvPr/>
        </p:nvSpPr>
        <p:spPr>
          <a:xfrm>
            <a:off x="10347246" y="2842260"/>
            <a:ext cx="1338024" cy="430530"/>
          </a:xfrm>
          <a:prstGeom prst="rect">
            <a:avLst/>
          </a:prstGeom>
          <a:ln w="7620">
            <a:solidFill>
              <a:srgbClr val="FFFFFF">
                <a:alpha val="8000"/>
              </a:srgbClr>
            </a:solidFill>
            <a:prstDash val="solid"/>
          </a:ln>
        </p:spPr>
      </p:sp>
      <p:sp>
        <p:nvSpPr>
          <p:cNvPr id="51" name="Text 49"/>
          <p:cNvSpPr/>
          <p:nvPr/>
        </p:nvSpPr>
        <p:spPr>
          <a:xfrm>
            <a:off x="10526316" y="2935605"/>
            <a:ext cx="105608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$13,900</a:t>
            </a:r>
            <a:endParaRPr lang="en-US" sz="1575" dirty="0"/>
          </a:p>
        </p:txBody>
      </p:sp>
      <p:sp>
        <p:nvSpPr>
          <p:cNvPr id="52" name="Shape 50"/>
          <p:cNvSpPr/>
          <p:nvPr/>
        </p:nvSpPr>
        <p:spPr>
          <a:xfrm>
            <a:off x="11685270" y="2842260"/>
            <a:ext cx="1465421" cy="430530"/>
          </a:xfrm>
          <a:prstGeom prst="rect">
            <a:avLst/>
          </a:prstGeom>
          <a:ln w="7620">
            <a:solidFill>
              <a:srgbClr val="FFFFFF">
                <a:alpha val="8000"/>
              </a:srgbClr>
            </a:solidFill>
            <a:prstDash val="solid"/>
          </a:ln>
        </p:spPr>
      </p:sp>
      <p:sp>
        <p:nvSpPr>
          <p:cNvPr id="53" name="Text 51"/>
          <p:cNvSpPr/>
          <p:nvPr/>
        </p:nvSpPr>
        <p:spPr>
          <a:xfrm>
            <a:off x="11864340" y="2935605"/>
            <a:ext cx="1183481"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$16,400</a:t>
            </a:r>
            <a:endParaRPr lang="en-US" sz="1575" dirty="0"/>
          </a:p>
        </p:txBody>
      </p:sp>
      <p:sp>
        <p:nvSpPr>
          <p:cNvPr id="54" name="Shape 52"/>
          <p:cNvSpPr/>
          <p:nvPr/>
        </p:nvSpPr>
        <p:spPr>
          <a:xfrm>
            <a:off x="13150691" y="2842260"/>
            <a:ext cx="1414820" cy="430530"/>
          </a:xfrm>
          <a:prstGeom prst="rect">
            <a:avLst/>
          </a:prstGeom>
          <a:ln w="7620">
            <a:solidFill>
              <a:srgbClr val="FFFFFF">
                <a:alpha val="8000"/>
              </a:srgbClr>
            </a:solidFill>
            <a:prstDash val="solid"/>
          </a:ln>
        </p:spPr>
      </p:sp>
      <p:sp>
        <p:nvSpPr>
          <p:cNvPr id="55" name="Text 53"/>
          <p:cNvSpPr/>
          <p:nvPr/>
        </p:nvSpPr>
        <p:spPr>
          <a:xfrm>
            <a:off x="13329761" y="2935605"/>
            <a:ext cx="1132880"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$11,800</a:t>
            </a:r>
            <a:endParaRPr lang="en-US" sz="1575" dirty="0"/>
          </a:p>
        </p:txBody>
      </p:sp>
      <p:sp>
        <p:nvSpPr>
          <p:cNvPr id="56" name="Shape 54"/>
          <p:cNvSpPr/>
          <p:nvPr/>
        </p:nvSpPr>
        <p:spPr>
          <a:xfrm>
            <a:off x="14565511" y="2842260"/>
            <a:ext cx="1405414" cy="430530"/>
          </a:xfrm>
          <a:prstGeom prst="rect">
            <a:avLst/>
          </a:prstGeom>
          <a:ln w="7620">
            <a:solidFill>
              <a:srgbClr val="FFFFFF">
                <a:alpha val="8000"/>
              </a:srgbClr>
            </a:solidFill>
            <a:prstDash val="solid"/>
          </a:ln>
        </p:spPr>
      </p:sp>
      <p:sp>
        <p:nvSpPr>
          <p:cNvPr id="57" name="Text 55"/>
          <p:cNvSpPr/>
          <p:nvPr/>
        </p:nvSpPr>
        <p:spPr>
          <a:xfrm>
            <a:off x="14744581" y="2935605"/>
            <a:ext cx="112347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$12,900</a:t>
            </a:r>
            <a:endParaRPr lang="en-US" sz="1575" dirty="0"/>
          </a:p>
        </p:txBody>
      </p:sp>
      <p:sp>
        <p:nvSpPr>
          <p:cNvPr id="58" name="Shape 56"/>
          <p:cNvSpPr/>
          <p:nvPr/>
        </p:nvSpPr>
        <p:spPr>
          <a:xfrm>
            <a:off x="15970925" y="2842260"/>
            <a:ext cx="1360765" cy="430530"/>
          </a:xfrm>
          <a:prstGeom prst="rect">
            <a:avLst/>
          </a:prstGeom>
          <a:solidFill>
            <a:srgbClr val="2DD4BF">
              <a:alpha val="10000"/>
            </a:srgbClr>
          </a:solidFill>
          <a:ln w="7620">
            <a:solidFill>
              <a:srgbClr val="FFFFFF">
                <a:alpha val="8000"/>
              </a:srgbClr>
            </a:solidFill>
            <a:prstDash val="solid"/>
          </a:ln>
        </p:spPr>
      </p:sp>
      <p:sp>
        <p:nvSpPr>
          <p:cNvPr id="59" name="Text 57"/>
          <p:cNvSpPr/>
          <p:nvPr/>
        </p:nvSpPr>
        <p:spPr>
          <a:xfrm>
            <a:off x="16149995" y="2935605"/>
            <a:ext cx="1078825"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$55,000</a:t>
            </a:r>
            <a:endParaRPr lang="en-US" sz="1575" dirty="0"/>
          </a:p>
        </p:txBody>
      </p:sp>
      <p:sp>
        <p:nvSpPr>
          <p:cNvPr id="60" name="Shape 58"/>
          <p:cNvSpPr/>
          <p:nvPr/>
        </p:nvSpPr>
        <p:spPr>
          <a:xfrm>
            <a:off x="9338310" y="3272790"/>
            <a:ext cx="1008936" cy="430530"/>
          </a:xfrm>
          <a:prstGeom prst="rect">
            <a:avLst/>
          </a:prstGeom>
          <a:solidFill>
            <a:srgbClr val="1A2535"/>
          </a:solidFill>
          <a:ln w="7620">
            <a:solidFill>
              <a:srgbClr val="FFFFFF">
                <a:alpha val="8000"/>
              </a:srgbClr>
            </a:solidFill>
            <a:prstDash val="solid"/>
          </a:ln>
        </p:spPr>
      </p:sp>
      <p:sp>
        <p:nvSpPr>
          <p:cNvPr id="61" name="Text 59"/>
          <p:cNvSpPr/>
          <p:nvPr/>
        </p:nvSpPr>
        <p:spPr>
          <a:xfrm>
            <a:off x="9517380" y="3366135"/>
            <a:ext cx="726996"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Mar</a:t>
            </a:r>
            <a:endParaRPr lang="en-US" sz="1575" dirty="0"/>
          </a:p>
        </p:txBody>
      </p:sp>
      <p:sp>
        <p:nvSpPr>
          <p:cNvPr id="62" name="Shape 60"/>
          <p:cNvSpPr/>
          <p:nvPr/>
        </p:nvSpPr>
        <p:spPr>
          <a:xfrm>
            <a:off x="10347246" y="3272790"/>
            <a:ext cx="1338024" cy="430530"/>
          </a:xfrm>
          <a:prstGeom prst="rect">
            <a:avLst/>
          </a:prstGeom>
          <a:ln w="7620">
            <a:solidFill>
              <a:srgbClr val="FFFFFF">
                <a:alpha val="8000"/>
              </a:srgbClr>
            </a:solidFill>
            <a:prstDash val="solid"/>
          </a:ln>
        </p:spPr>
      </p:sp>
      <p:sp>
        <p:nvSpPr>
          <p:cNvPr id="63" name="Text 61"/>
          <p:cNvSpPr/>
          <p:nvPr/>
        </p:nvSpPr>
        <p:spPr>
          <a:xfrm>
            <a:off x="10526316" y="3366135"/>
            <a:ext cx="105608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$15,600</a:t>
            </a:r>
            <a:endParaRPr lang="en-US" sz="1575" dirty="0"/>
          </a:p>
        </p:txBody>
      </p:sp>
      <p:sp>
        <p:nvSpPr>
          <p:cNvPr id="64" name="Shape 62"/>
          <p:cNvSpPr/>
          <p:nvPr/>
        </p:nvSpPr>
        <p:spPr>
          <a:xfrm>
            <a:off x="11685270" y="3272790"/>
            <a:ext cx="1465421" cy="430530"/>
          </a:xfrm>
          <a:prstGeom prst="rect">
            <a:avLst/>
          </a:prstGeom>
          <a:ln w="7620">
            <a:solidFill>
              <a:srgbClr val="FFFFFF">
                <a:alpha val="8000"/>
              </a:srgbClr>
            </a:solidFill>
            <a:prstDash val="solid"/>
          </a:ln>
        </p:spPr>
      </p:sp>
      <p:sp>
        <p:nvSpPr>
          <p:cNvPr id="65" name="Text 63"/>
          <p:cNvSpPr/>
          <p:nvPr/>
        </p:nvSpPr>
        <p:spPr>
          <a:xfrm>
            <a:off x="11864340" y="3366135"/>
            <a:ext cx="1183481"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$19,200</a:t>
            </a:r>
            <a:endParaRPr lang="en-US" sz="1575" dirty="0"/>
          </a:p>
        </p:txBody>
      </p:sp>
      <p:sp>
        <p:nvSpPr>
          <p:cNvPr id="66" name="Shape 64"/>
          <p:cNvSpPr/>
          <p:nvPr/>
        </p:nvSpPr>
        <p:spPr>
          <a:xfrm>
            <a:off x="13150691" y="3272790"/>
            <a:ext cx="1414820" cy="430530"/>
          </a:xfrm>
          <a:prstGeom prst="rect">
            <a:avLst/>
          </a:prstGeom>
          <a:ln w="7620">
            <a:solidFill>
              <a:srgbClr val="FFFFFF">
                <a:alpha val="8000"/>
              </a:srgbClr>
            </a:solidFill>
            <a:prstDash val="solid"/>
          </a:ln>
        </p:spPr>
      </p:sp>
      <p:sp>
        <p:nvSpPr>
          <p:cNvPr id="67" name="Text 65"/>
          <p:cNvSpPr/>
          <p:nvPr/>
        </p:nvSpPr>
        <p:spPr>
          <a:xfrm>
            <a:off x="13329761" y="3366135"/>
            <a:ext cx="1132880"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$13,400</a:t>
            </a:r>
            <a:endParaRPr lang="en-US" sz="1575" dirty="0"/>
          </a:p>
        </p:txBody>
      </p:sp>
      <p:sp>
        <p:nvSpPr>
          <p:cNvPr id="68" name="Shape 66"/>
          <p:cNvSpPr/>
          <p:nvPr/>
        </p:nvSpPr>
        <p:spPr>
          <a:xfrm>
            <a:off x="14565511" y="3272790"/>
            <a:ext cx="1405414" cy="430530"/>
          </a:xfrm>
          <a:prstGeom prst="rect">
            <a:avLst/>
          </a:prstGeom>
          <a:ln w="7620">
            <a:solidFill>
              <a:srgbClr val="FFFFFF">
                <a:alpha val="8000"/>
              </a:srgbClr>
            </a:solidFill>
            <a:prstDash val="solid"/>
          </a:ln>
        </p:spPr>
      </p:sp>
      <p:sp>
        <p:nvSpPr>
          <p:cNvPr id="69" name="Text 67"/>
          <p:cNvSpPr/>
          <p:nvPr/>
        </p:nvSpPr>
        <p:spPr>
          <a:xfrm>
            <a:off x="14744581" y="3366135"/>
            <a:ext cx="112347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$14,800</a:t>
            </a:r>
            <a:endParaRPr lang="en-US" sz="1575" dirty="0"/>
          </a:p>
        </p:txBody>
      </p:sp>
      <p:sp>
        <p:nvSpPr>
          <p:cNvPr id="70" name="Shape 68"/>
          <p:cNvSpPr/>
          <p:nvPr/>
        </p:nvSpPr>
        <p:spPr>
          <a:xfrm>
            <a:off x="15970925" y="3272790"/>
            <a:ext cx="1360765" cy="430530"/>
          </a:xfrm>
          <a:prstGeom prst="rect">
            <a:avLst/>
          </a:prstGeom>
          <a:solidFill>
            <a:srgbClr val="2DD4BF">
              <a:alpha val="10000"/>
            </a:srgbClr>
          </a:solidFill>
          <a:ln w="7620">
            <a:solidFill>
              <a:srgbClr val="FFFFFF">
                <a:alpha val="8000"/>
              </a:srgbClr>
            </a:solidFill>
            <a:prstDash val="solid"/>
          </a:ln>
        </p:spPr>
      </p:sp>
      <p:sp>
        <p:nvSpPr>
          <p:cNvPr id="71" name="Text 69"/>
          <p:cNvSpPr/>
          <p:nvPr/>
        </p:nvSpPr>
        <p:spPr>
          <a:xfrm>
            <a:off x="16149995" y="3366135"/>
            <a:ext cx="1078825"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$63,000</a:t>
            </a:r>
            <a:endParaRPr lang="en-US" sz="1575" dirty="0"/>
          </a:p>
        </p:txBody>
      </p:sp>
      <p:sp>
        <p:nvSpPr>
          <p:cNvPr id="72" name="Shape 70"/>
          <p:cNvSpPr/>
          <p:nvPr/>
        </p:nvSpPr>
        <p:spPr>
          <a:xfrm>
            <a:off x="9338310" y="3703320"/>
            <a:ext cx="1008936" cy="430530"/>
          </a:xfrm>
          <a:prstGeom prst="rect">
            <a:avLst/>
          </a:prstGeom>
          <a:solidFill>
            <a:srgbClr val="1A2535"/>
          </a:solidFill>
          <a:ln w="7620">
            <a:solidFill>
              <a:srgbClr val="FFFFFF">
                <a:alpha val="8000"/>
              </a:srgbClr>
            </a:solidFill>
            <a:prstDash val="solid"/>
          </a:ln>
        </p:spPr>
      </p:sp>
      <p:sp>
        <p:nvSpPr>
          <p:cNvPr id="73" name="Text 71"/>
          <p:cNvSpPr/>
          <p:nvPr/>
        </p:nvSpPr>
        <p:spPr>
          <a:xfrm>
            <a:off x="9517380" y="3796665"/>
            <a:ext cx="726996"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a:t>
            </a:r>
            <a:endParaRPr lang="en-US" sz="1575" dirty="0"/>
          </a:p>
        </p:txBody>
      </p:sp>
      <p:sp>
        <p:nvSpPr>
          <p:cNvPr id="74" name="Shape 72"/>
          <p:cNvSpPr/>
          <p:nvPr/>
        </p:nvSpPr>
        <p:spPr>
          <a:xfrm>
            <a:off x="10347246" y="3703320"/>
            <a:ext cx="1338024" cy="430530"/>
          </a:xfrm>
          <a:prstGeom prst="rect">
            <a:avLst/>
          </a:prstGeom>
          <a:ln w="7620">
            <a:solidFill>
              <a:srgbClr val="FFFFFF">
                <a:alpha val="8000"/>
              </a:srgbClr>
            </a:solidFill>
            <a:prstDash val="solid"/>
          </a:ln>
        </p:spPr>
      </p:sp>
      <p:sp>
        <p:nvSpPr>
          <p:cNvPr id="75" name="Text 73"/>
          <p:cNvSpPr/>
          <p:nvPr/>
        </p:nvSpPr>
        <p:spPr>
          <a:xfrm>
            <a:off x="10526316" y="3796665"/>
            <a:ext cx="105608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a:t>
            </a:r>
            <a:endParaRPr lang="en-US" sz="1575" dirty="0"/>
          </a:p>
        </p:txBody>
      </p:sp>
      <p:sp>
        <p:nvSpPr>
          <p:cNvPr id="76" name="Shape 74"/>
          <p:cNvSpPr/>
          <p:nvPr/>
        </p:nvSpPr>
        <p:spPr>
          <a:xfrm>
            <a:off x="11685270" y="3703320"/>
            <a:ext cx="1465421" cy="430530"/>
          </a:xfrm>
          <a:prstGeom prst="rect">
            <a:avLst/>
          </a:prstGeom>
          <a:ln w="7620">
            <a:solidFill>
              <a:srgbClr val="FFFFFF">
                <a:alpha val="8000"/>
              </a:srgbClr>
            </a:solidFill>
            <a:prstDash val="solid"/>
          </a:ln>
        </p:spPr>
      </p:sp>
      <p:sp>
        <p:nvSpPr>
          <p:cNvPr id="77" name="Text 75"/>
          <p:cNvSpPr/>
          <p:nvPr/>
        </p:nvSpPr>
        <p:spPr>
          <a:xfrm>
            <a:off x="11864340" y="3796665"/>
            <a:ext cx="1183481"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a:t>
            </a:r>
            <a:endParaRPr lang="en-US" sz="1575" dirty="0"/>
          </a:p>
        </p:txBody>
      </p:sp>
      <p:sp>
        <p:nvSpPr>
          <p:cNvPr id="78" name="Shape 76"/>
          <p:cNvSpPr/>
          <p:nvPr/>
        </p:nvSpPr>
        <p:spPr>
          <a:xfrm>
            <a:off x="13150691" y="3703320"/>
            <a:ext cx="1414820" cy="430530"/>
          </a:xfrm>
          <a:prstGeom prst="rect">
            <a:avLst/>
          </a:prstGeom>
          <a:ln w="7620">
            <a:solidFill>
              <a:srgbClr val="FFFFFF">
                <a:alpha val="8000"/>
              </a:srgbClr>
            </a:solidFill>
            <a:prstDash val="solid"/>
          </a:ln>
        </p:spPr>
      </p:sp>
      <p:sp>
        <p:nvSpPr>
          <p:cNvPr id="79" name="Text 77"/>
          <p:cNvSpPr/>
          <p:nvPr/>
        </p:nvSpPr>
        <p:spPr>
          <a:xfrm>
            <a:off x="13329761" y="3796665"/>
            <a:ext cx="1132880"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a:t>
            </a:r>
            <a:endParaRPr lang="en-US" sz="1575" dirty="0"/>
          </a:p>
        </p:txBody>
      </p:sp>
      <p:sp>
        <p:nvSpPr>
          <p:cNvPr id="80" name="Shape 78"/>
          <p:cNvSpPr/>
          <p:nvPr/>
        </p:nvSpPr>
        <p:spPr>
          <a:xfrm>
            <a:off x="14565511" y="3703320"/>
            <a:ext cx="1405414" cy="430530"/>
          </a:xfrm>
          <a:prstGeom prst="rect">
            <a:avLst/>
          </a:prstGeom>
          <a:ln w="7620">
            <a:solidFill>
              <a:srgbClr val="FFFFFF">
                <a:alpha val="8000"/>
              </a:srgbClr>
            </a:solidFill>
            <a:prstDash val="solid"/>
          </a:ln>
        </p:spPr>
      </p:sp>
      <p:sp>
        <p:nvSpPr>
          <p:cNvPr id="81" name="Text 79"/>
          <p:cNvSpPr/>
          <p:nvPr/>
        </p:nvSpPr>
        <p:spPr>
          <a:xfrm>
            <a:off x="14744581" y="3796665"/>
            <a:ext cx="1123474"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a:t>
            </a:r>
            <a:endParaRPr lang="en-US" sz="1575" dirty="0"/>
          </a:p>
        </p:txBody>
      </p:sp>
      <p:sp>
        <p:nvSpPr>
          <p:cNvPr id="82" name="Shape 80"/>
          <p:cNvSpPr/>
          <p:nvPr/>
        </p:nvSpPr>
        <p:spPr>
          <a:xfrm>
            <a:off x="15970925" y="3703320"/>
            <a:ext cx="1360765" cy="430530"/>
          </a:xfrm>
          <a:prstGeom prst="rect">
            <a:avLst/>
          </a:prstGeom>
          <a:ln w="7620">
            <a:solidFill>
              <a:srgbClr val="FFFFFF">
                <a:alpha val="8000"/>
              </a:srgbClr>
            </a:solidFill>
            <a:prstDash val="solid"/>
          </a:ln>
        </p:spPr>
      </p:sp>
      <p:sp>
        <p:nvSpPr>
          <p:cNvPr id="83" name="Text 81"/>
          <p:cNvSpPr/>
          <p:nvPr/>
        </p:nvSpPr>
        <p:spPr>
          <a:xfrm>
            <a:off x="16149995" y="3796665"/>
            <a:ext cx="1078825" cy="281940"/>
          </a:xfrm>
          <a:prstGeom prst="rect">
            <a:avLst/>
          </a:prstGeom>
          <a:noFill/>
          <a:ln/>
        </p:spPr>
        <p:txBody>
          <a:bodyPr wrap="square" lIns="25400" tIns="25400" rIns="25400" bIns="25400" rtlCol="0" anchor="ctr">
            <a:normAutofit/>
          </a:bodyPr>
          <a:lstStyle/>
          <a:p>
            <a:pPr algn="l" indent="0" marL="0">
              <a:buNone/>
            </a:pPr>
            <a:r>
              <a:rPr lang="en-US" sz="1575" dirty="0">
                <a:solidFill>
                  <a:srgbClr val="F0F6FC"/>
                </a:solidFill>
                <a:latin typeface="Arial" pitchFamily="34" charset="0"/>
                <a:ea typeface="Arial" pitchFamily="34" charset="-122"/>
                <a:cs typeface="Arial" pitchFamily="34" charset="-120"/>
              </a:rPr>
              <a:t>···</a:t>
            </a:r>
            <a:endParaRPr lang="en-US" sz="1575" dirty="0"/>
          </a:p>
        </p:txBody>
      </p:sp>
      <p:sp>
        <p:nvSpPr>
          <p:cNvPr id="84" name="Shape 82"/>
          <p:cNvSpPr/>
          <p:nvPr/>
        </p:nvSpPr>
        <p:spPr>
          <a:xfrm>
            <a:off x="9338310" y="4133850"/>
            <a:ext cx="7993380" cy="430530"/>
          </a:xfrm>
          <a:prstGeom prst="rect">
            <a:avLst/>
          </a:prstGeom>
          <a:solidFill>
            <a:srgbClr val="2DD4BF">
              <a:alpha val="20000"/>
            </a:srgbClr>
          </a:solidFill>
          <a:ln/>
        </p:spPr>
      </p:sp>
      <p:sp>
        <p:nvSpPr>
          <p:cNvPr id="85" name="Shape 83"/>
          <p:cNvSpPr/>
          <p:nvPr/>
        </p:nvSpPr>
        <p:spPr>
          <a:xfrm>
            <a:off x="9338310" y="4133850"/>
            <a:ext cx="1008936" cy="430530"/>
          </a:xfrm>
          <a:prstGeom prst="rect">
            <a:avLst/>
          </a:prstGeom>
          <a:solidFill>
            <a:srgbClr val="2DD4BF">
              <a:alpha val="20000"/>
            </a:srgbClr>
          </a:solidFill>
          <a:ln w="7620">
            <a:solidFill>
              <a:srgbClr val="FFFFFF">
                <a:alpha val="8000"/>
              </a:srgbClr>
            </a:solidFill>
            <a:prstDash val="solid"/>
          </a:ln>
        </p:spPr>
      </p:sp>
      <p:sp>
        <p:nvSpPr>
          <p:cNvPr id="86" name="Text 84"/>
          <p:cNvSpPr/>
          <p:nvPr/>
        </p:nvSpPr>
        <p:spPr>
          <a:xfrm>
            <a:off x="9517380" y="4227195"/>
            <a:ext cx="726996"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Total</a:t>
            </a:r>
            <a:endParaRPr lang="en-US" sz="1575" dirty="0"/>
          </a:p>
        </p:txBody>
      </p:sp>
      <p:sp>
        <p:nvSpPr>
          <p:cNvPr id="87" name="Shape 85"/>
          <p:cNvSpPr/>
          <p:nvPr/>
        </p:nvSpPr>
        <p:spPr>
          <a:xfrm>
            <a:off x="10347246" y="4133850"/>
            <a:ext cx="1338024" cy="430530"/>
          </a:xfrm>
          <a:prstGeom prst="rect">
            <a:avLst/>
          </a:prstGeom>
          <a:solidFill>
            <a:srgbClr val="2DD4BF">
              <a:alpha val="20000"/>
            </a:srgbClr>
          </a:solidFill>
          <a:ln w="7620">
            <a:solidFill>
              <a:srgbClr val="FFFFFF">
                <a:alpha val="8000"/>
              </a:srgbClr>
            </a:solidFill>
            <a:prstDash val="solid"/>
          </a:ln>
        </p:spPr>
      </p:sp>
      <p:sp>
        <p:nvSpPr>
          <p:cNvPr id="88" name="Text 86"/>
          <p:cNvSpPr/>
          <p:nvPr/>
        </p:nvSpPr>
        <p:spPr>
          <a:xfrm>
            <a:off x="10526316" y="4227195"/>
            <a:ext cx="1056084"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$171,700</a:t>
            </a:r>
            <a:endParaRPr lang="en-US" sz="1575" dirty="0"/>
          </a:p>
        </p:txBody>
      </p:sp>
      <p:sp>
        <p:nvSpPr>
          <p:cNvPr id="89" name="Shape 87"/>
          <p:cNvSpPr/>
          <p:nvPr/>
        </p:nvSpPr>
        <p:spPr>
          <a:xfrm>
            <a:off x="11685270" y="4133850"/>
            <a:ext cx="1465421" cy="430530"/>
          </a:xfrm>
          <a:prstGeom prst="rect">
            <a:avLst/>
          </a:prstGeom>
          <a:solidFill>
            <a:srgbClr val="2DD4BF">
              <a:alpha val="20000"/>
            </a:srgbClr>
          </a:solidFill>
          <a:ln w="7620">
            <a:solidFill>
              <a:srgbClr val="FFFFFF">
                <a:alpha val="8000"/>
              </a:srgbClr>
            </a:solidFill>
            <a:prstDash val="solid"/>
          </a:ln>
        </p:spPr>
      </p:sp>
      <p:sp>
        <p:nvSpPr>
          <p:cNvPr id="90" name="Text 88"/>
          <p:cNvSpPr/>
          <p:nvPr/>
        </p:nvSpPr>
        <p:spPr>
          <a:xfrm>
            <a:off x="11864340" y="4227195"/>
            <a:ext cx="1183481"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$202,600</a:t>
            </a:r>
            <a:endParaRPr lang="en-US" sz="1575" dirty="0"/>
          </a:p>
        </p:txBody>
      </p:sp>
      <p:sp>
        <p:nvSpPr>
          <p:cNvPr id="91" name="Shape 89"/>
          <p:cNvSpPr/>
          <p:nvPr/>
        </p:nvSpPr>
        <p:spPr>
          <a:xfrm>
            <a:off x="13150691" y="4133850"/>
            <a:ext cx="1414820" cy="430530"/>
          </a:xfrm>
          <a:prstGeom prst="rect">
            <a:avLst/>
          </a:prstGeom>
          <a:solidFill>
            <a:srgbClr val="2DD4BF">
              <a:alpha val="20000"/>
            </a:srgbClr>
          </a:solidFill>
          <a:ln w="7620">
            <a:solidFill>
              <a:srgbClr val="FFFFFF">
                <a:alpha val="8000"/>
              </a:srgbClr>
            </a:solidFill>
            <a:prstDash val="solid"/>
          </a:ln>
        </p:spPr>
      </p:sp>
      <p:sp>
        <p:nvSpPr>
          <p:cNvPr id="92" name="Text 90"/>
          <p:cNvSpPr/>
          <p:nvPr/>
        </p:nvSpPr>
        <p:spPr>
          <a:xfrm>
            <a:off x="13329761" y="4227195"/>
            <a:ext cx="1132880"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$146,500</a:t>
            </a:r>
            <a:endParaRPr lang="en-US" sz="1575" dirty="0"/>
          </a:p>
        </p:txBody>
      </p:sp>
      <p:sp>
        <p:nvSpPr>
          <p:cNvPr id="93" name="Shape 91"/>
          <p:cNvSpPr/>
          <p:nvPr/>
        </p:nvSpPr>
        <p:spPr>
          <a:xfrm>
            <a:off x="14565511" y="4133850"/>
            <a:ext cx="1405414" cy="430530"/>
          </a:xfrm>
          <a:prstGeom prst="rect">
            <a:avLst/>
          </a:prstGeom>
          <a:solidFill>
            <a:srgbClr val="2DD4BF">
              <a:alpha val="20000"/>
            </a:srgbClr>
          </a:solidFill>
          <a:ln w="7620">
            <a:solidFill>
              <a:srgbClr val="FFFFFF">
                <a:alpha val="8000"/>
              </a:srgbClr>
            </a:solidFill>
            <a:prstDash val="solid"/>
          </a:ln>
        </p:spPr>
      </p:sp>
      <p:sp>
        <p:nvSpPr>
          <p:cNvPr id="94" name="Text 92"/>
          <p:cNvSpPr/>
          <p:nvPr/>
        </p:nvSpPr>
        <p:spPr>
          <a:xfrm>
            <a:off x="14744581" y="4227195"/>
            <a:ext cx="1123474"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$156,300</a:t>
            </a:r>
            <a:endParaRPr lang="en-US" sz="1575" dirty="0"/>
          </a:p>
        </p:txBody>
      </p:sp>
      <p:sp>
        <p:nvSpPr>
          <p:cNvPr id="95" name="Shape 93"/>
          <p:cNvSpPr/>
          <p:nvPr/>
        </p:nvSpPr>
        <p:spPr>
          <a:xfrm>
            <a:off x="15970925" y="4133850"/>
            <a:ext cx="1360765" cy="430530"/>
          </a:xfrm>
          <a:prstGeom prst="rect">
            <a:avLst/>
          </a:prstGeom>
          <a:solidFill>
            <a:srgbClr val="2DD4BF">
              <a:alpha val="20000"/>
            </a:srgbClr>
          </a:solidFill>
          <a:ln w="7620">
            <a:solidFill>
              <a:srgbClr val="FFFFFF">
                <a:alpha val="8000"/>
              </a:srgbClr>
            </a:solidFill>
            <a:prstDash val="solid"/>
          </a:ln>
        </p:spPr>
      </p:sp>
      <p:sp>
        <p:nvSpPr>
          <p:cNvPr id="96" name="Text 94"/>
          <p:cNvSpPr/>
          <p:nvPr/>
        </p:nvSpPr>
        <p:spPr>
          <a:xfrm>
            <a:off x="16149995" y="4227195"/>
            <a:ext cx="1078825" cy="281940"/>
          </a:xfrm>
          <a:prstGeom prst="rect">
            <a:avLst/>
          </a:prstGeom>
          <a:noFill/>
          <a:ln/>
        </p:spPr>
        <p:txBody>
          <a:bodyPr wrap="square" lIns="25400" tIns="25400" rIns="25400" bIns="25400" rtlCol="0" anchor="ctr">
            <a:normAutofit/>
          </a:bodyPr>
          <a:lstStyle/>
          <a:p>
            <a:pPr algn="l" indent="0" marL="0">
              <a:buNone/>
            </a:pPr>
            <a:r>
              <a:rPr lang="en-US" sz="1575" b="1" dirty="0">
                <a:solidFill>
                  <a:srgbClr val="2DD4BF"/>
                </a:solidFill>
                <a:latin typeface="Arial" pitchFamily="34" charset="0"/>
                <a:ea typeface="Arial" pitchFamily="34" charset="-122"/>
                <a:cs typeface="Arial" pitchFamily="34" charset="-120"/>
              </a:rPr>
              <a:t>$677,100</a:t>
            </a:r>
            <a:endParaRPr lang="en-US" sz="1575" dirty="0"/>
          </a:p>
        </p:txBody>
      </p:sp>
      <p:sp>
        <p:nvSpPr>
          <p:cNvPr id="97" name="Text 95"/>
          <p:cNvSpPr/>
          <p:nvPr/>
        </p:nvSpPr>
        <p:spPr>
          <a:xfrm>
            <a:off x="9334500" y="4644390"/>
            <a:ext cx="8241030" cy="251460"/>
          </a:xfrm>
          <a:prstGeom prst="rect">
            <a:avLst/>
          </a:prstGeom>
          <a:noFill/>
          <a:ln/>
        </p:spPr>
        <p:txBody>
          <a:bodyPr wrap="square" lIns="25400" tIns="25400" rIns="25400" bIns="25400" rtlCol="0" anchor="t">
            <a:normAutofit/>
          </a:bodyPr>
          <a:lstStyle/>
          <a:p>
            <a:pPr algn="l" indent="0" marL="0">
              <a:buNone/>
            </a:pPr>
            <a:r>
              <a:rPr lang="en-US" sz="1425" dirty="0">
                <a:solidFill>
                  <a:srgbClr val="7D8590"/>
                </a:solidFill>
                <a:latin typeface="Arial" pitchFamily="34" charset="0"/>
                <a:ea typeface="Arial" pitchFamily="34" charset="-122"/>
                <a:cs typeface="Arial" pitchFamily="34" charset="-120"/>
              </a:rPr>
              <a:t>Same dataset, Region is now a column — one drag, zero formulas</a:t>
            </a:r>
            <a:endParaRPr lang="en-US" sz="14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0F0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4000"/>
            </a:srgbClr>
          </a:solidFill>
          <a:ln/>
        </p:spPr>
      </p:sp>
      <p:sp>
        <p:nvSpPr>
          <p:cNvPr id="3" name="Text 1"/>
          <p:cNvSpPr/>
          <p:nvPr/>
        </p:nvSpPr>
        <p:spPr>
          <a:xfrm>
            <a:off x="952500" y="762000"/>
            <a:ext cx="1242655"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2DD4BF"/>
                </a:solidFill>
                <a:latin typeface="Arial" pitchFamily="34" charset="0"/>
                <a:ea typeface="Arial" pitchFamily="34" charset="-122"/>
                <a:cs typeface="Arial" pitchFamily="34" charset="-120"/>
              </a:rPr>
              <a:t>TRY IT!</a:t>
            </a:r>
            <a:endParaRPr lang="en-US" sz="2250" dirty="0"/>
          </a:p>
        </p:txBody>
      </p:sp>
      <p:sp>
        <p:nvSpPr>
          <p:cNvPr id="4" name="Shape 2"/>
          <p:cNvSpPr/>
          <p:nvPr/>
        </p:nvSpPr>
        <p:spPr>
          <a:xfrm>
            <a:off x="2309455" y="800100"/>
            <a:ext cx="19050" cy="266700"/>
          </a:xfrm>
          <a:prstGeom prst="rect">
            <a:avLst/>
          </a:prstGeom>
          <a:solidFill>
            <a:srgbClr val="FFFFFF">
              <a:alpha val="8000"/>
            </a:srgbClr>
          </a:solidFill>
          <a:ln/>
        </p:spPr>
      </p:sp>
      <p:sp>
        <p:nvSpPr>
          <p:cNvPr id="5" name="Text 3"/>
          <p:cNvSpPr/>
          <p:nvPr/>
        </p:nvSpPr>
        <p:spPr>
          <a:xfrm>
            <a:off x="2519005" y="762000"/>
            <a:ext cx="234803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7D8590"/>
                </a:solidFill>
                <a:latin typeface="Arial" pitchFamily="34" charset="0"/>
                <a:ea typeface="Arial" pitchFamily="34" charset="-122"/>
                <a:cs typeface="Arial" pitchFamily="34" charset="-120"/>
              </a:rPr>
              <a:t>Challenge 07 / 07</a:t>
            </a:r>
            <a:endParaRPr lang="en-US" sz="2250" dirty="0"/>
          </a:p>
        </p:txBody>
      </p:sp>
      <p:sp>
        <p:nvSpPr>
          <p:cNvPr id="6" name="Shape 4"/>
          <p:cNvSpPr/>
          <p:nvPr/>
        </p:nvSpPr>
        <p:spPr>
          <a:xfrm>
            <a:off x="952500" y="1447800"/>
            <a:ext cx="16383000" cy="8077200"/>
          </a:xfrm>
          <a:prstGeom prst="roundRect">
            <a:avLst>
              <a:gd name="adj" fmla="val 1887"/>
            </a:avLst>
          </a:prstGeom>
          <a:solidFill>
            <a:srgbClr val="2DD4BF">
              <a:alpha val="5000"/>
            </a:srgbClr>
          </a:solidFill>
          <a:ln w="7620">
            <a:solidFill>
              <a:srgbClr val="2DD4BF">
                <a:alpha val="22000"/>
              </a:srgbClr>
            </a:solidFill>
            <a:prstDash val="solid"/>
          </a:ln>
        </p:spPr>
      </p:sp>
      <p:sp>
        <p:nvSpPr>
          <p:cNvPr id="7" name="Text 5"/>
          <p:cNvSpPr/>
          <p:nvPr/>
        </p:nvSpPr>
        <p:spPr>
          <a:xfrm>
            <a:off x="1493520" y="1874520"/>
            <a:ext cx="15759989" cy="607695"/>
          </a:xfrm>
          <a:prstGeom prst="rect">
            <a:avLst/>
          </a:prstGeom>
          <a:noFill/>
          <a:ln/>
        </p:spPr>
        <p:txBody>
          <a:bodyPr wrap="square" lIns="25400" tIns="25400" rIns="25400" bIns="25400" rtlCol="0" anchor="t">
            <a:normAutofit/>
          </a:bodyPr>
          <a:lstStyle/>
          <a:p>
            <a:pPr algn="l" indent="0" marL="0">
              <a:lnSpc>
                <a:spcPct val="115000"/>
              </a:lnSpc>
              <a:buNone/>
            </a:pPr>
            <a:r>
              <a:rPr lang="en-US" sz="3900" b="1" dirty="0">
                <a:solidFill>
                  <a:srgbClr val="F0F6FC"/>
                </a:solidFill>
                <a:latin typeface="Arial" pitchFamily="34" charset="0"/>
                <a:ea typeface="Arial" pitchFamily="34" charset="-122"/>
                <a:cs typeface="Arial" pitchFamily="34" charset="-120"/>
              </a:rPr>
              <a:t>Build a Regional Revenue Pivot Table</a:t>
            </a:r>
            <a:endParaRPr lang="en-US" sz="3900" dirty="0"/>
          </a:p>
        </p:txBody>
      </p:sp>
      <p:sp>
        <p:nvSpPr>
          <p:cNvPr id="8" name="Text 6"/>
          <p:cNvSpPr/>
          <p:nvPr/>
        </p:nvSpPr>
        <p:spPr>
          <a:xfrm>
            <a:off x="1493520" y="2672715"/>
            <a:ext cx="15759989" cy="2716530"/>
          </a:xfrm>
          <a:prstGeom prst="rect">
            <a:avLst/>
          </a:prstGeom>
          <a:noFill/>
          <a:ln/>
        </p:spPr>
        <p:txBody>
          <a:bodyPr wrap="square" lIns="25400" tIns="25400" rIns="25400" bIns="25400" rtlCol="0" anchor="t">
            <a:normAutofit/>
          </a:bodyPr>
          <a:lstStyle/>
          <a:p>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Open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Module7_Data.xlsx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1,000 rows of sales transactions.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1.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Insert a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Pivot Table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on a new sheet. Set Rows = Region, Columns = Category, Values = Sum of Revenue.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Drag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Year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into the Filters zone. Use it to filter to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2024 only</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3.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Which region had the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highest Q4 revenue</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 (Add Quarter to Columns to find out.) </a:t>
            </a:r>
            <a:pPr algn="l" indent="0" marL="0">
              <a:lnSpc>
                <a:spcPct val="165000"/>
              </a:lnSpc>
              <a:buNone/>
            </a:pPr>
            <a:r>
              <a:rPr lang="en-US" sz="2100" b="1" dirty="0">
                <a:solidFill>
                  <a:srgbClr val="F0F6FC"/>
                </a:solidFill>
                <a:latin typeface="Arial" pitchFamily="34" charset="0"/>
                <a:ea typeface="Arial" pitchFamily="34" charset="-122"/>
                <a:cs typeface="Arial" pitchFamily="34" charset="-120"/>
              </a:rPr>
              <a:t>4.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Rearrange: drag Month into Rows instead of Region — now you have a monthly trend view. </a:t>
            </a:r>
            <a:pPr algn="l" indent="0" marL="0">
              <a:lnSpc>
                <a:spcPct val="165000"/>
              </a:lnSpc>
              <a:buNone/>
            </a:pPr>
            <a:r>
              <a:rPr lang="en-US" sz="2100" dirty="0">
                <a:solidFill>
                  <a:srgbClr val="2DD4BF"/>
                </a:solidFill>
                <a:latin typeface="Arial" pitchFamily="34" charset="0"/>
                <a:ea typeface="Arial" pitchFamily="34" charset="-122"/>
                <a:cs typeface="Arial" pitchFamily="34" charset="-120"/>
              </a:rPr>
              <a:t>✦ Bonus: </a:t>
            </a:r>
            <a:pPr algn="l" indent="0" marL="0">
              <a:lnSpc>
                <a:spcPct val="165000"/>
              </a:lnSpc>
              <a:buNone/>
            </a:pPr>
            <a:r>
              <a:rPr lang="en-US" sz="2100" dirty="0">
                <a:solidFill>
                  <a:srgbClr val="AEC8C2"/>
                </a:solidFill>
                <a:latin typeface="Arial" pitchFamily="34" charset="0"/>
                <a:ea typeface="Arial" pitchFamily="34" charset="-122"/>
                <a:cs typeface="Arial" pitchFamily="34" charset="-120"/>
              </a:rPr>
              <a:t>Right-click a value → Show Values As → % of Grand Total. What percentage does North contribute?</a:t>
            </a:r>
            <a:endParaRPr lang="en-US" sz="2100" dirty="0"/>
          </a:p>
        </p:txBody>
      </p:sp>
      <p:sp>
        <p:nvSpPr>
          <p:cNvPr id="9" name="Shape 7"/>
          <p:cNvSpPr/>
          <p:nvPr/>
        </p:nvSpPr>
        <p:spPr>
          <a:xfrm>
            <a:off x="1493520" y="5617845"/>
            <a:ext cx="1528167"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10" name="Text 8"/>
          <p:cNvSpPr/>
          <p:nvPr/>
        </p:nvSpPr>
        <p:spPr>
          <a:xfrm>
            <a:off x="1710690" y="5711190"/>
            <a:ext cx="1170027"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8 minutes</a:t>
            </a:r>
            <a:endParaRPr lang="en-US" sz="1500" dirty="0"/>
          </a:p>
        </p:txBody>
      </p:sp>
      <p:sp>
        <p:nvSpPr>
          <p:cNvPr id="11" name="Shape 9"/>
          <p:cNvSpPr/>
          <p:nvPr/>
        </p:nvSpPr>
        <p:spPr>
          <a:xfrm>
            <a:off x="3174087" y="5617845"/>
            <a:ext cx="1667470"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12" name="Text 10"/>
          <p:cNvSpPr/>
          <p:nvPr/>
        </p:nvSpPr>
        <p:spPr>
          <a:xfrm>
            <a:off x="3391257" y="5711190"/>
            <a:ext cx="1309330"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Advanced</a:t>
            </a:r>
            <a:endParaRPr lang="en-US" sz="1500" dirty="0"/>
          </a:p>
        </p:txBody>
      </p:sp>
      <p:sp>
        <p:nvSpPr>
          <p:cNvPr id="13" name="Shape 11"/>
          <p:cNvSpPr/>
          <p:nvPr/>
        </p:nvSpPr>
        <p:spPr>
          <a:xfrm>
            <a:off x="4993957" y="5617845"/>
            <a:ext cx="2189798" cy="438150"/>
          </a:xfrm>
          <a:prstGeom prst="roundRect">
            <a:avLst>
              <a:gd name="adj" fmla="val 17391"/>
            </a:avLst>
          </a:prstGeom>
          <a:solidFill>
            <a:srgbClr val="A78BFA">
              <a:alpha val="12000"/>
            </a:srgbClr>
          </a:solidFill>
          <a:ln w="7620">
            <a:solidFill>
              <a:srgbClr val="A78BFA">
                <a:alpha val="28000"/>
              </a:srgbClr>
            </a:solidFill>
            <a:prstDash val="solid"/>
          </a:ln>
        </p:spPr>
      </p:sp>
      <p:sp>
        <p:nvSpPr>
          <p:cNvPr id="14" name="Text 12"/>
          <p:cNvSpPr/>
          <p:nvPr/>
        </p:nvSpPr>
        <p:spPr>
          <a:xfrm>
            <a:off x="5211127" y="5711190"/>
            <a:ext cx="1831658"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A78BFA"/>
                </a:solidFill>
                <a:latin typeface="Arial" pitchFamily="34" charset="0"/>
                <a:ea typeface="Arial" pitchFamily="34" charset="-122"/>
                <a:cs typeface="Arial" pitchFamily="34" charset="-120"/>
              </a:rPr>
              <a:t>✦ Bonus: % of total</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A78BFA">
              <a:alpha val="7000"/>
            </a:srgbClr>
          </a:solidFill>
          <a:ln/>
        </p:spPr>
      </p:sp>
      <p:sp>
        <p:nvSpPr>
          <p:cNvPr id="3" name="Text 1"/>
          <p:cNvSpPr/>
          <p:nvPr/>
        </p:nvSpPr>
        <p:spPr>
          <a:xfrm>
            <a:off x="952500" y="762000"/>
            <a:ext cx="2292310" cy="4191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A78BFA"/>
                </a:solidFill>
                <a:latin typeface="Arial" pitchFamily="34" charset="0"/>
                <a:ea typeface="Arial" pitchFamily="34" charset="-122"/>
                <a:cs typeface="Arial" pitchFamily="34" charset="-120"/>
              </a:rPr>
              <a:t>⚡ CAPSTONE</a:t>
            </a:r>
            <a:endParaRPr lang="en-US" sz="2250" dirty="0"/>
          </a:p>
        </p:txBody>
      </p:sp>
      <p:sp>
        <p:nvSpPr>
          <p:cNvPr id="4" name="Shape 2"/>
          <p:cNvSpPr/>
          <p:nvPr/>
        </p:nvSpPr>
        <p:spPr>
          <a:xfrm>
            <a:off x="3359110" y="819150"/>
            <a:ext cx="19050" cy="266700"/>
          </a:xfrm>
          <a:prstGeom prst="rect">
            <a:avLst/>
          </a:prstGeom>
          <a:solidFill>
            <a:srgbClr val="FFFFFF">
              <a:alpha val="8000"/>
            </a:srgbClr>
          </a:solidFill>
          <a:ln/>
        </p:spPr>
      </p:sp>
      <p:sp>
        <p:nvSpPr>
          <p:cNvPr id="5" name="Text 3"/>
          <p:cNvSpPr/>
          <p:nvPr/>
        </p:nvSpPr>
        <p:spPr>
          <a:xfrm>
            <a:off x="3568660" y="781050"/>
            <a:ext cx="3928224"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A78BFA"/>
                </a:solidFill>
                <a:latin typeface="Arial" pitchFamily="34" charset="0"/>
                <a:ea typeface="Arial" pitchFamily="34" charset="-122"/>
                <a:cs typeface="Arial" pitchFamily="34" charset="-120"/>
              </a:rPr>
              <a:t>Final Challenge — All 7 Skills</a:t>
            </a:r>
            <a:endParaRPr lang="en-US" sz="2250" dirty="0"/>
          </a:p>
        </p:txBody>
      </p:sp>
      <p:sp>
        <p:nvSpPr>
          <p:cNvPr id="6" name="Shape 4"/>
          <p:cNvSpPr/>
          <p:nvPr/>
        </p:nvSpPr>
        <p:spPr>
          <a:xfrm>
            <a:off x="952500" y="1409700"/>
            <a:ext cx="16383000" cy="8115300"/>
          </a:xfrm>
          <a:prstGeom prst="roundRect">
            <a:avLst>
              <a:gd name="adj" fmla="val 1878"/>
            </a:avLst>
          </a:prstGeom>
          <a:solidFill>
            <a:srgbClr val="2DD4BF">
              <a:alpha val="6000"/>
            </a:srgbClr>
          </a:solidFill>
          <a:ln w="7620">
            <a:solidFill>
              <a:srgbClr val="A78BFA">
                <a:alpha val="30000"/>
              </a:srgbClr>
            </a:solidFill>
            <a:prstDash val="solid"/>
          </a:ln>
        </p:spPr>
      </p:sp>
      <p:sp>
        <p:nvSpPr>
          <p:cNvPr id="7" name="Text 5"/>
          <p:cNvSpPr/>
          <p:nvPr/>
        </p:nvSpPr>
        <p:spPr>
          <a:xfrm>
            <a:off x="1493520" y="1836420"/>
            <a:ext cx="15759989" cy="563880"/>
          </a:xfrm>
          <a:prstGeom prst="rect">
            <a:avLst/>
          </a:prstGeom>
          <a:noFill/>
          <a:ln/>
        </p:spPr>
        <p:txBody>
          <a:bodyPr wrap="square" lIns="25400" tIns="25400" rIns="25400" bIns="25400" rtlCol="0" anchor="t">
            <a:normAutofit/>
          </a:bodyPr>
          <a:lstStyle/>
          <a:p>
            <a:pPr algn="l" indent="0" marL="0">
              <a:lnSpc>
                <a:spcPct val="115000"/>
              </a:lnSpc>
              <a:buNone/>
            </a:pPr>
            <a:r>
              <a:rPr lang="en-US" sz="3600" b="1" dirty="0">
                <a:solidFill>
                  <a:srgbClr val="F0F6FC"/>
                </a:solidFill>
                <a:latin typeface="Arial" pitchFamily="34" charset="0"/>
                <a:ea typeface="Arial" pitchFamily="34" charset="-122"/>
                <a:cs typeface="Arial" pitchFamily="34" charset="-120"/>
              </a:rPr>
              <a:t>Boss Level: End-to-End Analysis</a:t>
            </a:r>
            <a:endParaRPr lang="en-US" sz="3600" dirty="0"/>
          </a:p>
        </p:txBody>
      </p:sp>
      <p:sp>
        <p:nvSpPr>
          <p:cNvPr id="8" name="Text 6"/>
          <p:cNvSpPr/>
          <p:nvPr/>
        </p:nvSpPr>
        <p:spPr>
          <a:xfrm>
            <a:off x="1493520" y="2628900"/>
            <a:ext cx="15759989" cy="469582"/>
          </a:xfrm>
          <a:prstGeom prst="rect">
            <a:avLst/>
          </a:prstGeom>
          <a:noFill/>
          <a:ln/>
        </p:spPr>
        <p:txBody>
          <a:bodyPr wrap="square" lIns="25400" tIns="25400" rIns="25400" bIns="25400" rtlCol="0" anchor="t">
            <a:normAutofit/>
          </a:bodyPr>
          <a:lstStyle/>
          <a:p>
            <a:pPr algn="l" indent="0" marL="0">
              <a:lnSpc>
                <a:spcPct val="165000"/>
              </a:lnSpc>
              <a:buNone/>
            </a:pPr>
            <a:r>
              <a:rPr lang="en-US" sz="1950" dirty="0">
                <a:solidFill>
                  <a:srgbClr val="AEC8C2"/>
                </a:solidFill>
                <a:latin typeface="Arial" pitchFamily="34" charset="0"/>
                <a:ea typeface="Arial" pitchFamily="34" charset="-122"/>
                <a:cs typeface="Arial" pitchFamily="34" charset="-120"/>
              </a:rPr>
              <a:t>Open </a:t>
            </a:r>
            <a:pPr algn="l" indent="0" marL="0">
              <a:lnSpc>
                <a:spcPct val="165000"/>
              </a:lnSpc>
              <a:buNone/>
            </a:pPr>
            <a:r>
              <a:rPr lang="en-US" sz="1950" b="1" dirty="0">
                <a:solidFill>
                  <a:srgbClr val="F0F6FC"/>
                </a:solidFill>
                <a:latin typeface="Arial" pitchFamily="34" charset="0"/>
                <a:ea typeface="Arial" pitchFamily="34" charset="-122"/>
                <a:cs typeface="Arial" pitchFamily="34" charset="-120"/>
              </a:rPr>
              <a:t>Capstone_RawData.xlsx </a:t>
            </a:r>
            <a:pPr algn="l" indent="0" marL="0">
              <a:lnSpc>
                <a:spcPct val="165000"/>
              </a:lnSpc>
              <a:buNone/>
            </a:pPr>
            <a:r>
              <a:rPr lang="en-US" sz="1950" dirty="0">
                <a:solidFill>
                  <a:srgbClr val="AEC8C2"/>
                </a:solidFill>
                <a:latin typeface="Arial" pitchFamily="34" charset="0"/>
                <a:ea typeface="Arial" pitchFamily="34" charset="-122"/>
                <a:cs typeface="Arial" pitchFamily="34" charset="-120"/>
              </a:rPr>
              <a:t>— a real-world messy sales file. Chain all 7 skills to produce a final dashboard:</a:t>
            </a:r>
            <a:endParaRPr lang="en-US" sz="1950" dirty="0"/>
          </a:p>
        </p:txBody>
      </p:sp>
      <p:sp>
        <p:nvSpPr>
          <p:cNvPr id="9" name="Shape 7"/>
          <p:cNvSpPr/>
          <p:nvPr/>
        </p:nvSpPr>
        <p:spPr>
          <a:xfrm>
            <a:off x="1493520" y="3327083"/>
            <a:ext cx="7464504" cy="529590"/>
          </a:xfrm>
          <a:prstGeom prst="roundRect">
            <a:avLst>
              <a:gd name="adj" fmla="val 17986"/>
            </a:avLst>
          </a:prstGeom>
          <a:solidFill>
            <a:srgbClr val="1C2430"/>
          </a:solidFill>
          <a:ln w="7620">
            <a:solidFill>
              <a:srgbClr val="FFFFFF">
                <a:alpha val="8000"/>
              </a:srgbClr>
            </a:solidFill>
            <a:prstDash val="solid"/>
          </a:ln>
        </p:spPr>
      </p:sp>
      <p:sp>
        <p:nvSpPr>
          <p:cNvPr id="10" name="Shape 8"/>
          <p:cNvSpPr/>
          <p:nvPr/>
        </p:nvSpPr>
        <p:spPr>
          <a:xfrm>
            <a:off x="1691640" y="3449003"/>
            <a:ext cx="285750" cy="285750"/>
          </a:xfrm>
          <a:prstGeom prst="ellipse">
            <a:avLst/>
          </a:prstGeom>
          <a:solidFill>
            <a:srgbClr val="A78BFA"/>
          </a:solidFill>
          <a:ln/>
        </p:spPr>
      </p:sp>
      <p:sp>
        <p:nvSpPr>
          <p:cNvPr id="11" name="Text 9"/>
          <p:cNvSpPr/>
          <p:nvPr/>
        </p:nvSpPr>
        <p:spPr>
          <a:xfrm>
            <a:off x="1653540" y="344900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1</a:t>
            </a:r>
            <a:endParaRPr lang="en-US" sz="1200" dirty="0"/>
          </a:p>
        </p:txBody>
      </p:sp>
      <p:sp>
        <p:nvSpPr>
          <p:cNvPr id="12" name="Text 10"/>
          <p:cNvSpPr/>
          <p:nvPr/>
        </p:nvSpPr>
        <p:spPr>
          <a:xfrm>
            <a:off x="2072640" y="3454718"/>
            <a:ext cx="6887882"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Format raw data — bold headers, currency, dates, table borders</a:t>
            </a:r>
            <a:endParaRPr lang="en-US" sz="1725" dirty="0"/>
          </a:p>
        </p:txBody>
      </p:sp>
      <p:sp>
        <p:nvSpPr>
          <p:cNvPr id="13" name="Text 11"/>
          <p:cNvSpPr/>
          <p:nvPr/>
        </p:nvSpPr>
        <p:spPr>
          <a:xfrm>
            <a:off x="9091375" y="3327083"/>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14" name="Shape 12"/>
          <p:cNvSpPr/>
          <p:nvPr/>
        </p:nvSpPr>
        <p:spPr>
          <a:xfrm>
            <a:off x="9472375" y="3327083"/>
            <a:ext cx="6107787" cy="529590"/>
          </a:xfrm>
          <a:prstGeom prst="roundRect">
            <a:avLst>
              <a:gd name="adj" fmla="val 17986"/>
            </a:avLst>
          </a:prstGeom>
          <a:solidFill>
            <a:srgbClr val="1C2430"/>
          </a:solidFill>
          <a:ln w="7620">
            <a:solidFill>
              <a:srgbClr val="FFFFFF">
                <a:alpha val="8000"/>
              </a:srgbClr>
            </a:solidFill>
            <a:prstDash val="solid"/>
          </a:ln>
        </p:spPr>
      </p:sp>
      <p:sp>
        <p:nvSpPr>
          <p:cNvPr id="15" name="Shape 13"/>
          <p:cNvSpPr/>
          <p:nvPr/>
        </p:nvSpPr>
        <p:spPr>
          <a:xfrm>
            <a:off x="9670495" y="3449003"/>
            <a:ext cx="285750" cy="285750"/>
          </a:xfrm>
          <a:prstGeom prst="ellipse">
            <a:avLst/>
          </a:prstGeom>
          <a:solidFill>
            <a:srgbClr val="A78BFA"/>
          </a:solidFill>
          <a:ln/>
        </p:spPr>
      </p:sp>
      <p:sp>
        <p:nvSpPr>
          <p:cNvPr id="16" name="Text 14"/>
          <p:cNvSpPr/>
          <p:nvPr/>
        </p:nvSpPr>
        <p:spPr>
          <a:xfrm>
            <a:off x="9632395" y="344900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10051495" y="3454718"/>
            <a:ext cx="5490463"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Add SUM, AVERAGE, MIN, MAX to the summary row</a:t>
            </a:r>
            <a:endParaRPr lang="en-US" sz="1725" dirty="0"/>
          </a:p>
        </p:txBody>
      </p:sp>
      <p:sp>
        <p:nvSpPr>
          <p:cNvPr id="18" name="Text 16"/>
          <p:cNvSpPr/>
          <p:nvPr/>
        </p:nvSpPr>
        <p:spPr>
          <a:xfrm>
            <a:off x="15713512" y="3327083"/>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19" name="Shape 17"/>
          <p:cNvSpPr/>
          <p:nvPr/>
        </p:nvSpPr>
        <p:spPr>
          <a:xfrm>
            <a:off x="1493520" y="3990022"/>
            <a:ext cx="6100763" cy="529590"/>
          </a:xfrm>
          <a:prstGeom prst="roundRect">
            <a:avLst>
              <a:gd name="adj" fmla="val 17986"/>
            </a:avLst>
          </a:prstGeom>
          <a:solidFill>
            <a:srgbClr val="1C2430"/>
          </a:solidFill>
          <a:ln w="7620">
            <a:solidFill>
              <a:srgbClr val="FFFFFF">
                <a:alpha val="8000"/>
              </a:srgbClr>
            </a:solidFill>
            <a:prstDash val="solid"/>
          </a:ln>
        </p:spPr>
      </p:sp>
      <p:sp>
        <p:nvSpPr>
          <p:cNvPr id="20" name="Shape 18"/>
          <p:cNvSpPr/>
          <p:nvPr/>
        </p:nvSpPr>
        <p:spPr>
          <a:xfrm>
            <a:off x="1691640" y="4111943"/>
            <a:ext cx="285750" cy="285750"/>
          </a:xfrm>
          <a:prstGeom prst="ellipse">
            <a:avLst/>
          </a:prstGeom>
          <a:solidFill>
            <a:srgbClr val="A78BFA"/>
          </a:solidFill>
          <a:ln/>
        </p:spPr>
      </p:sp>
      <p:sp>
        <p:nvSpPr>
          <p:cNvPr id="21" name="Text 19"/>
          <p:cNvSpPr/>
          <p:nvPr/>
        </p:nvSpPr>
        <p:spPr>
          <a:xfrm>
            <a:off x="1653540" y="411194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3</a:t>
            </a:r>
            <a:endParaRPr lang="en-US" sz="1200" dirty="0"/>
          </a:p>
        </p:txBody>
      </p:sp>
      <p:sp>
        <p:nvSpPr>
          <p:cNvPr id="22" name="Text 20"/>
          <p:cNvSpPr/>
          <p:nvPr/>
        </p:nvSpPr>
        <p:spPr>
          <a:xfrm>
            <a:off x="2072640" y="4117658"/>
            <a:ext cx="5483228"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VLOOKUP product names from the Products sheet</a:t>
            </a:r>
            <a:endParaRPr lang="en-US" sz="1725" dirty="0"/>
          </a:p>
        </p:txBody>
      </p:sp>
      <p:sp>
        <p:nvSpPr>
          <p:cNvPr id="23" name="Text 21"/>
          <p:cNvSpPr/>
          <p:nvPr/>
        </p:nvSpPr>
        <p:spPr>
          <a:xfrm>
            <a:off x="7727632" y="3990022"/>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24" name="Shape 22"/>
          <p:cNvSpPr/>
          <p:nvPr/>
        </p:nvSpPr>
        <p:spPr>
          <a:xfrm>
            <a:off x="8108632" y="3990022"/>
            <a:ext cx="6559391" cy="529590"/>
          </a:xfrm>
          <a:prstGeom prst="roundRect">
            <a:avLst>
              <a:gd name="adj" fmla="val 17986"/>
            </a:avLst>
          </a:prstGeom>
          <a:solidFill>
            <a:srgbClr val="1C2430"/>
          </a:solidFill>
          <a:ln w="7620">
            <a:solidFill>
              <a:srgbClr val="FFFFFF">
                <a:alpha val="8000"/>
              </a:srgbClr>
            </a:solidFill>
            <a:prstDash val="solid"/>
          </a:ln>
        </p:spPr>
      </p:sp>
      <p:sp>
        <p:nvSpPr>
          <p:cNvPr id="25" name="Shape 23"/>
          <p:cNvSpPr/>
          <p:nvPr/>
        </p:nvSpPr>
        <p:spPr>
          <a:xfrm>
            <a:off x="8306753" y="4111943"/>
            <a:ext cx="285750" cy="285750"/>
          </a:xfrm>
          <a:prstGeom prst="ellipse">
            <a:avLst/>
          </a:prstGeom>
          <a:solidFill>
            <a:srgbClr val="A78BFA"/>
          </a:solidFill>
          <a:ln/>
        </p:spPr>
      </p:sp>
      <p:sp>
        <p:nvSpPr>
          <p:cNvPr id="26" name="Text 24"/>
          <p:cNvSpPr/>
          <p:nvPr/>
        </p:nvSpPr>
        <p:spPr>
          <a:xfrm>
            <a:off x="8268653" y="411194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4</a:t>
            </a:r>
            <a:endParaRPr lang="en-US" sz="1200" dirty="0"/>
          </a:p>
        </p:txBody>
      </p:sp>
      <p:sp>
        <p:nvSpPr>
          <p:cNvPr id="27" name="Text 25"/>
          <p:cNvSpPr/>
          <p:nvPr/>
        </p:nvSpPr>
        <p:spPr>
          <a:xfrm>
            <a:off x="8687753" y="4117658"/>
            <a:ext cx="5955616"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COUNTIF orders by region · SUMIF revenue by category</a:t>
            </a:r>
            <a:endParaRPr lang="en-US" sz="1725" dirty="0"/>
          </a:p>
        </p:txBody>
      </p:sp>
      <p:sp>
        <p:nvSpPr>
          <p:cNvPr id="28" name="Text 26"/>
          <p:cNvSpPr/>
          <p:nvPr/>
        </p:nvSpPr>
        <p:spPr>
          <a:xfrm>
            <a:off x="14801374" y="3990022"/>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29" name="Shape 27"/>
          <p:cNvSpPr/>
          <p:nvPr/>
        </p:nvSpPr>
        <p:spPr>
          <a:xfrm>
            <a:off x="1493520" y="4652963"/>
            <a:ext cx="5663565" cy="529590"/>
          </a:xfrm>
          <a:prstGeom prst="roundRect">
            <a:avLst>
              <a:gd name="adj" fmla="val 17986"/>
            </a:avLst>
          </a:prstGeom>
          <a:solidFill>
            <a:srgbClr val="1C2430"/>
          </a:solidFill>
          <a:ln w="7620">
            <a:solidFill>
              <a:srgbClr val="FFFFFF">
                <a:alpha val="8000"/>
              </a:srgbClr>
            </a:solidFill>
            <a:prstDash val="solid"/>
          </a:ln>
        </p:spPr>
      </p:sp>
      <p:sp>
        <p:nvSpPr>
          <p:cNvPr id="30" name="Shape 28"/>
          <p:cNvSpPr/>
          <p:nvPr/>
        </p:nvSpPr>
        <p:spPr>
          <a:xfrm>
            <a:off x="1691640" y="4774883"/>
            <a:ext cx="285750" cy="285750"/>
          </a:xfrm>
          <a:prstGeom prst="ellipse">
            <a:avLst/>
          </a:prstGeom>
          <a:solidFill>
            <a:srgbClr val="A78BFA"/>
          </a:solidFill>
          <a:ln/>
        </p:spPr>
      </p:sp>
      <p:sp>
        <p:nvSpPr>
          <p:cNvPr id="31" name="Text 29"/>
          <p:cNvSpPr/>
          <p:nvPr/>
        </p:nvSpPr>
        <p:spPr>
          <a:xfrm>
            <a:off x="1653540" y="477488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5</a:t>
            </a:r>
            <a:endParaRPr lang="en-US" sz="1200" dirty="0"/>
          </a:p>
        </p:txBody>
      </p:sp>
      <p:sp>
        <p:nvSpPr>
          <p:cNvPr id="32" name="Text 30"/>
          <p:cNvSpPr/>
          <p:nvPr/>
        </p:nvSpPr>
        <p:spPr>
          <a:xfrm>
            <a:off x="2072640" y="4780597"/>
            <a:ext cx="5032915"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Sort by Region A–Z, then Revenue high-to-low</a:t>
            </a:r>
            <a:endParaRPr lang="en-US" sz="1725" dirty="0"/>
          </a:p>
        </p:txBody>
      </p:sp>
      <p:sp>
        <p:nvSpPr>
          <p:cNvPr id="33" name="Text 31"/>
          <p:cNvSpPr/>
          <p:nvPr/>
        </p:nvSpPr>
        <p:spPr>
          <a:xfrm>
            <a:off x="7290435" y="4652963"/>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34" name="Shape 32"/>
          <p:cNvSpPr/>
          <p:nvPr/>
        </p:nvSpPr>
        <p:spPr>
          <a:xfrm>
            <a:off x="7671435" y="4652963"/>
            <a:ext cx="5381387" cy="529590"/>
          </a:xfrm>
          <a:prstGeom prst="roundRect">
            <a:avLst>
              <a:gd name="adj" fmla="val 17986"/>
            </a:avLst>
          </a:prstGeom>
          <a:solidFill>
            <a:srgbClr val="1C2430"/>
          </a:solidFill>
          <a:ln w="7620">
            <a:solidFill>
              <a:srgbClr val="FFFFFF">
                <a:alpha val="8000"/>
              </a:srgbClr>
            </a:solidFill>
            <a:prstDash val="solid"/>
          </a:ln>
        </p:spPr>
      </p:sp>
      <p:sp>
        <p:nvSpPr>
          <p:cNvPr id="35" name="Shape 33"/>
          <p:cNvSpPr/>
          <p:nvPr/>
        </p:nvSpPr>
        <p:spPr>
          <a:xfrm>
            <a:off x="7869555" y="4774883"/>
            <a:ext cx="285750" cy="285750"/>
          </a:xfrm>
          <a:prstGeom prst="ellipse">
            <a:avLst/>
          </a:prstGeom>
          <a:solidFill>
            <a:srgbClr val="A78BFA"/>
          </a:solidFill>
          <a:ln/>
        </p:spPr>
      </p:sp>
      <p:sp>
        <p:nvSpPr>
          <p:cNvPr id="36" name="Text 34"/>
          <p:cNvSpPr/>
          <p:nvPr/>
        </p:nvSpPr>
        <p:spPr>
          <a:xfrm>
            <a:off x="7831455" y="477488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6</a:t>
            </a:r>
            <a:endParaRPr lang="en-US" sz="1200" dirty="0"/>
          </a:p>
        </p:txBody>
      </p:sp>
      <p:sp>
        <p:nvSpPr>
          <p:cNvPr id="37" name="Text 35"/>
          <p:cNvSpPr/>
          <p:nvPr/>
        </p:nvSpPr>
        <p:spPr>
          <a:xfrm>
            <a:off x="8250555" y="4780597"/>
            <a:ext cx="4742272"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Create a column chart of revenue by quarter</a:t>
            </a:r>
            <a:endParaRPr lang="en-US" sz="1725" dirty="0"/>
          </a:p>
        </p:txBody>
      </p:sp>
      <p:sp>
        <p:nvSpPr>
          <p:cNvPr id="38" name="Text 36"/>
          <p:cNvSpPr/>
          <p:nvPr/>
        </p:nvSpPr>
        <p:spPr>
          <a:xfrm>
            <a:off x="13186172" y="4652963"/>
            <a:ext cx="323850" cy="567690"/>
          </a:xfrm>
          <a:prstGeom prst="rect">
            <a:avLst/>
          </a:prstGeom>
          <a:noFill/>
          <a:ln/>
        </p:spPr>
        <p:txBody>
          <a:bodyPr wrap="square" lIns="25400" tIns="25400" rIns="25400" bIns="25400" rtlCol="0" anchor="t">
            <a:normAutofit/>
          </a:bodyPr>
          <a:lstStyle/>
          <a:p>
            <a:pPr algn="l" indent="0" marL="0">
              <a:buNone/>
            </a:pPr>
            <a:r>
              <a:rPr lang="en-US" sz="1950" dirty="0">
                <a:solidFill>
                  <a:srgbClr val="7D8590"/>
                </a:solidFill>
                <a:latin typeface="Arial" pitchFamily="34" charset="0"/>
                <a:ea typeface="Arial" pitchFamily="34" charset="-122"/>
                <a:cs typeface="Arial" pitchFamily="34" charset="-120"/>
              </a:rPr>
              <a:t>→</a:t>
            </a:r>
            <a:endParaRPr lang="en-US" sz="1950" dirty="0"/>
          </a:p>
        </p:txBody>
      </p:sp>
      <p:sp>
        <p:nvSpPr>
          <p:cNvPr id="39" name="Shape 37"/>
          <p:cNvSpPr/>
          <p:nvPr/>
        </p:nvSpPr>
        <p:spPr>
          <a:xfrm>
            <a:off x="1493520" y="5315903"/>
            <a:ext cx="6777752" cy="529590"/>
          </a:xfrm>
          <a:prstGeom prst="roundRect">
            <a:avLst>
              <a:gd name="adj" fmla="val 17986"/>
            </a:avLst>
          </a:prstGeom>
          <a:solidFill>
            <a:srgbClr val="1C2430"/>
          </a:solidFill>
          <a:ln w="7620">
            <a:solidFill>
              <a:srgbClr val="FFFFFF">
                <a:alpha val="8000"/>
              </a:srgbClr>
            </a:solidFill>
            <a:prstDash val="solid"/>
          </a:ln>
        </p:spPr>
      </p:sp>
      <p:sp>
        <p:nvSpPr>
          <p:cNvPr id="40" name="Shape 38"/>
          <p:cNvSpPr/>
          <p:nvPr/>
        </p:nvSpPr>
        <p:spPr>
          <a:xfrm>
            <a:off x="1691640" y="5437823"/>
            <a:ext cx="285750" cy="285750"/>
          </a:xfrm>
          <a:prstGeom prst="ellipse">
            <a:avLst/>
          </a:prstGeom>
          <a:solidFill>
            <a:srgbClr val="A78BFA"/>
          </a:solidFill>
          <a:ln/>
        </p:spPr>
      </p:sp>
      <p:sp>
        <p:nvSpPr>
          <p:cNvPr id="41" name="Text 39"/>
          <p:cNvSpPr/>
          <p:nvPr/>
        </p:nvSpPr>
        <p:spPr>
          <a:xfrm>
            <a:off x="1653540" y="5437823"/>
            <a:ext cx="361950" cy="323850"/>
          </a:xfrm>
          <a:prstGeom prst="rect">
            <a:avLst/>
          </a:prstGeom>
          <a:noFill/>
          <a:ln/>
        </p:spPr>
        <p:txBody>
          <a:bodyPr wrap="square" lIns="25400" tIns="25400" rIns="25400" bIns="25400" rtlCol="0" anchor="ctr">
            <a:normAutofit/>
          </a:bodyPr>
          <a:lstStyle/>
          <a:p>
            <a:pPr algn="ctr" indent="0" marL="0">
              <a:buNone/>
            </a:pPr>
            <a:r>
              <a:rPr lang="en-US" sz="1200" b="1" dirty="0">
                <a:solidFill>
                  <a:srgbClr val="000000"/>
                </a:solidFill>
                <a:latin typeface="Arial" pitchFamily="34" charset="0"/>
                <a:ea typeface="Arial" pitchFamily="34" charset="-122"/>
                <a:cs typeface="Arial" pitchFamily="34" charset="-120"/>
              </a:rPr>
              <a:t>7</a:t>
            </a:r>
            <a:endParaRPr lang="en-US" sz="1200" dirty="0"/>
          </a:p>
        </p:txBody>
      </p:sp>
      <p:sp>
        <p:nvSpPr>
          <p:cNvPr id="42" name="Text 40"/>
          <p:cNvSpPr/>
          <p:nvPr/>
        </p:nvSpPr>
        <p:spPr>
          <a:xfrm>
            <a:off x="2072640" y="5443538"/>
            <a:ext cx="6180527" cy="312420"/>
          </a:xfrm>
          <a:prstGeom prst="rect">
            <a:avLst/>
          </a:prstGeom>
          <a:noFill/>
          <a:ln/>
        </p:spPr>
        <p:txBody>
          <a:bodyPr wrap="square" lIns="0" tIns="0" rIns="0" bIns="0" rtlCol="0" anchor="t">
            <a:normAutofit/>
          </a:bodyPr>
          <a:lstStyle/>
          <a:p>
            <a:pPr algn="l" indent="0" marL="0">
              <a:buNone/>
            </a:pPr>
            <a:r>
              <a:rPr lang="en-US" sz="1725" b="1" dirty="0">
                <a:solidFill>
                  <a:srgbClr val="F0F6FC"/>
                </a:solidFill>
                <a:latin typeface="Arial" pitchFamily="34" charset="0"/>
                <a:ea typeface="Arial" pitchFamily="34" charset="-122"/>
                <a:cs typeface="Arial" pitchFamily="34" charset="-120"/>
              </a:rPr>
              <a:t>Pivot Table: Revenue by Region × Category with Year filter</a:t>
            </a:r>
            <a:endParaRPr lang="en-US" sz="1725" dirty="0"/>
          </a:p>
        </p:txBody>
      </p:sp>
      <p:sp>
        <p:nvSpPr>
          <p:cNvPr id="43" name="Shape 41"/>
          <p:cNvSpPr/>
          <p:nvPr/>
        </p:nvSpPr>
        <p:spPr>
          <a:xfrm>
            <a:off x="1493520" y="6150293"/>
            <a:ext cx="1658184" cy="438150"/>
          </a:xfrm>
          <a:prstGeom prst="roundRect">
            <a:avLst>
              <a:gd name="adj" fmla="val 17391"/>
            </a:avLst>
          </a:prstGeom>
          <a:solidFill>
            <a:srgbClr val="FBBF24">
              <a:alpha val="12000"/>
            </a:srgbClr>
          </a:solidFill>
          <a:ln w="7620">
            <a:solidFill>
              <a:srgbClr val="FBBF24">
                <a:alpha val="28000"/>
              </a:srgbClr>
            </a:solidFill>
            <a:prstDash val="solid"/>
          </a:ln>
        </p:spPr>
      </p:sp>
      <p:sp>
        <p:nvSpPr>
          <p:cNvPr id="44" name="Text 42"/>
          <p:cNvSpPr/>
          <p:nvPr/>
        </p:nvSpPr>
        <p:spPr>
          <a:xfrm>
            <a:off x="1710690" y="6243638"/>
            <a:ext cx="1300044"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FBBF24"/>
                </a:solidFill>
                <a:latin typeface="Arial" pitchFamily="34" charset="0"/>
                <a:ea typeface="Arial" pitchFamily="34" charset="-122"/>
                <a:cs typeface="Arial" pitchFamily="34" charset="-120"/>
              </a:rPr>
              <a:t>⏱ 20 minutes</a:t>
            </a:r>
            <a:endParaRPr lang="en-US" sz="1500" dirty="0"/>
          </a:p>
        </p:txBody>
      </p:sp>
      <p:sp>
        <p:nvSpPr>
          <p:cNvPr id="45" name="Shape 43"/>
          <p:cNvSpPr/>
          <p:nvPr/>
        </p:nvSpPr>
        <p:spPr>
          <a:xfrm>
            <a:off x="3304104" y="6150293"/>
            <a:ext cx="1697831" cy="438150"/>
          </a:xfrm>
          <a:prstGeom prst="roundRect">
            <a:avLst>
              <a:gd name="adj" fmla="val 17391"/>
            </a:avLst>
          </a:prstGeom>
          <a:solidFill>
            <a:srgbClr val="34D399">
              <a:alpha val="12000"/>
            </a:srgbClr>
          </a:solidFill>
          <a:ln w="7620">
            <a:solidFill>
              <a:srgbClr val="34D399">
                <a:alpha val="28000"/>
              </a:srgbClr>
            </a:solidFill>
            <a:prstDash val="solid"/>
          </a:ln>
        </p:spPr>
      </p:sp>
      <p:sp>
        <p:nvSpPr>
          <p:cNvPr id="46" name="Text 44"/>
          <p:cNvSpPr/>
          <p:nvPr/>
        </p:nvSpPr>
        <p:spPr>
          <a:xfrm>
            <a:off x="3521274" y="6243638"/>
            <a:ext cx="1339691"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34D399"/>
                </a:solidFill>
                <a:latin typeface="Arial" pitchFamily="34" charset="0"/>
                <a:ea typeface="Arial" pitchFamily="34" charset="-122"/>
                <a:cs typeface="Arial" pitchFamily="34" charset="-120"/>
              </a:rPr>
              <a:t>🔴 Boss Level</a:t>
            </a:r>
            <a:endParaRPr lang="en-US" sz="1500" dirty="0"/>
          </a:p>
        </p:txBody>
      </p:sp>
      <p:sp>
        <p:nvSpPr>
          <p:cNvPr id="47" name="Shape 45"/>
          <p:cNvSpPr/>
          <p:nvPr/>
        </p:nvSpPr>
        <p:spPr>
          <a:xfrm>
            <a:off x="5154335" y="6150293"/>
            <a:ext cx="2798921" cy="438150"/>
          </a:xfrm>
          <a:prstGeom prst="roundRect">
            <a:avLst>
              <a:gd name="adj" fmla="val 17391"/>
            </a:avLst>
          </a:prstGeom>
          <a:solidFill>
            <a:srgbClr val="A78BFA">
              <a:alpha val="12000"/>
            </a:srgbClr>
          </a:solidFill>
          <a:ln w="7620">
            <a:solidFill>
              <a:srgbClr val="A78BFA">
                <a:alpha val="28000"/>
              </a:srgbClr>
            </a:solidFill>
            <a:prstDash val="solid"/>
          </a:ln>
        </p:spPr>
      </p:sp>
      <p:sp>
        <p:nvSpPr>
          <p:cNvPr id="48" name="Text 46"/>
          <p:cNvSpPr/>
          <p:nvPr/>
        </p:nvSpPr>
        <p:spPr>
          <a:xfrm>
            <a:off x="5371505" y="6243638"/>
            <a:ext cx="2448549" cy="289560"/>
          </a:xfrm>
          <a:prstGeom prst="rect">
            <a:avLst/>
          </a:prstGeom>
          <a:noFill/>
          <a:ln/>
        </p:spPr>
        <p:txBody>
          <a:bodyPr wrap="square" lIns="25400" tIns="25400" rIns="25400" bIns="25400" rtlCol="0" anchor="ctr">
            <a:normAutofit/>
          </a:bodyPr>
          <a:lstStyle/>
          <a:p>
            <a:pPr algn="l" indent="0" marL="0">
              <a:buNone/>
            </a:pPr>
            <a:r>
              <a:rPr lang="en-US" sz="1500" b="1" dirty="0">
                <a:solidFill>
                  <a:srgbClr val="A78BFA"/>
                </a:solidFill>
                <a:latin typeface="Arial" pitchFamily="34" charset="0"/>
                <a:ea typeface="Arial" pitchFamily="34" charset="-122"/>
                <a:cs typeface="Arial" pitchFamily="34" charset="-120"/>
              </a:rPr>
              <a:t>✦ All 7 modules combined</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952500" y="762000"/>
            <a:ext cx="16874490" cy="651510"/>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0F6FC"/>
                </a:solidFill>
                <a:latin typeface="Arial" pitchFamily="34" charset="0"/>
                <a:ea typeface="Arial" pitchFamily="34" charset="-122"/>
                <a:cs typeface="Arial" pitchFamily="34" charset="-120"/>
              </a:rPr>
              <a:t>Seven Skills, </a:t>
            </a:r>
            <a:pPr algn="l" indent="0" marL="0">
              <a:lnSpc>
                <a:spcPct val="115000"/>
              </a:lnSpc>
              <a:buNone/>
            </a:pPr>
            <a:r>
              <a:rPr lang="en-US" sz="4200" b="1" dirty="0">
                <a:solidFill>
                  <a:srgbClr val="2DD4BF"/>
                </a:solidFill>
                <a:latin typeface="Arial" pitchFamily="34" charset="0"/>
                <a:ea typeface="Arial" pitchFamily="34" charset="-122"/>
                <a:cs typeface="Arial" pitchFamily="34" charset="-120"/>
              </a:rPr>
              <a:t>One Toolkit</a:t>
            </a:r>
            <a:endParaRPr lang="en-US" sz="4200" dirty="0"/>
          </a:p>
        </p:txBody>
      </p:sp>
      <p:sp>
        <p:nvSpPr>
          <p:cNvPr id="3" name="Shape 1"/>
          <p:cNvSpPr/>
          <p:nvPr/>
        </p:nvSpPr>
        <p:spPr>
          <a:xfrm>
            <a:off x="952500" y="1680210"/>
            <a:ext cx="3952875" cy="3811905"/>
          </a:xfrm>
          <a:prstGeom prst="roundRect">
            <a:avLst>
              <a:gd name="adj" fmla="val 2999"/>
            </a:avLst>
          </a:prstGeom>
          <a:solidFill>
            <a:srgbClr val="161B22"/>
          </a:solidFill>
          <a:ln w="7620">
            <a:solidFill>
              <a:srgbClr val="FFFFFF">
                <a:alpha val="8000"/>
              </a:srgbClr>
            </a:solidFill>
            <a:prstDash val="solid"/>
          </a:ln>
        </p:spPr>
      </p:sp>
      <p:sp>
        <p:nvSpPr>
          <p:cNvPr id="4" name="Text 2"/>
          <p:cNvSpPr/>
          <p:nvPr/>
        </p:nvSpPr>
        <p:spPr>
          <a:xfrm>
            <a:off x="1226820" y="1935480"/>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01</a:t>
            </a:r>
            <a:endParaRPr lang="en-US" sz="3150" dirty="0"/>
          </a:p>
        </p:txBody>
      </p:sp>
      <p:sp>
        <p:nvSpPr>
          <p:cNvPr id="5" name="Text 3"/>
          <p:cNvSpPr/>
          <p:nvPr/>
        </p:nvSpPr>
        <p:spPr>
          <a:xfrm>
            <a:off x="1226820" y="2510790"/>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Excel Interface</a:t>
            </a:r>
            <a:endParaRPr lang="en-US" sz="1575" dirty="0"/>
          </a:p>
        </p:txBody>
      </p:sp>
      <p:sp>
        <p:nvSpPr>
          <p:cNvPr id="6" name="Text 4"/>
          <p:cNvSpPr/>
          <p:nvPr/>
        </p:nvSpPr>
        <p:spPr>
          <a:xfrm>
            <a:off x="1226820" y="2857500"/>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Ribbon, Formula Bar, Name Box, Tabs, Status Bar — know your workspace</a:t>
            </a:r>
            <a:endParaRPr lang="en-US" sz="1350" dirty="0"/>
          </a:p>
        </p:txBody>
      </p:sp>
      <p:sp>
        <p:nvSpPr>
          <p:cNvPr id="7" name="Shape 5"/>
          <p:cNvSpPr/>
          <p:nvPr/>
        </p:nvSpPr>
        <p:spPr>
          <a:xfrm>
            <a:off x="5095875" y="1680210"/>
            <a:ext cx="3952875" cy="3811905"/>
          </a:xfrm>
          <a:prstGeom prst="roundRect">
            <a:avLst>
              <a:gd name="adj" fmla="val 2999"/>
            </a:avLst>
          </a:prstGeom>
          <a:solidFill>
            <a:srgbClr val="161B22"/>
          </a:solidFill>
          <a:ln w="7620">
            <a:solidFill>
              <a:srgbClr val="FFFFFF">
                <a:alpha val="8000"/>
              </a:srgbClr>
            </a:solidFill>
            <a:prstDash val="solid"/>
          </a:ln>
        </p:spPr>
      </p:sp>
      <p:sp>
        <p:nvSpPr>
          <p:cNvPr id="8" name="Text 6"/>
          <p:cNvSpPr/>
          <p:nvPr/>
        </p:nvSpPr>
        <p:spPr>
          <a:xfrm>
            <a:off x="5370195" y="1935480"/>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02</a:t>
            </a:r>
            <a:endParaRPr lang="en-US" sz="3150" dirty="0"/>
          </a:p>
        </p:txBody>
      </p:sp>
      <p:sp>
        <p:nvSpPr>
          <p:cNvPr id="9" name="Text 7"/>
          <p:cNvSpPr/>
          <p:nvPr/>
        </p:nvSpPr>
        <p:spPr>
          <a:xfrm>
            <a:off x="5370195" y="2510790"/>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Data Formatting</a:t>
            </a:r>
            <a:endParaRPr lang="en-US" sz="1575" dirty="0"/>
          </a:p>
        </p:txBody>
      </p:sp>
      <p:sp>
        <p:nvSpPr>
          <p:cNvPr id="10" name="Text 8"/>
          <p:cNvSpPr/>
          <p:nvPr/>
        </p:nvSpPr>
        <p:spPr>
          <a:xfrm>
            <a:off x="5370195" y="2857500"/>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Currency, dates, borders, bold headers — formatting is communication</a:t>
            </a:r>
            <a:endParaRPr lang="en-US" sz="1350" dirty="0"/>
          </a:p>
        </p:txBody>
      </p:sp>
      <p:sp>
        <p:nvSpPr>
          <p:cNvPr id="11" name="Shape 9"/>
          <p:cNvSpPr/>
          <p:nvPr/>
        </p:nvSpPr>
        <p:spPr>
          <a:xfrm>
            <a:off x="9239250" y="1680210"/>
            <a:ext cx="3952875" cy="3811905"/>
          </a:xfrm>
          <a:prstGeom prst="roundRect">
            <a:avLst>
              <a:gd name="adj" fmla="val 2999"/>
            </a:avLst>
          </a:prstGeom>
          <a:solidFill>
            <a:srgbClr val="161B22"/>
          </a:solidFill>
          <a:ln w="7620">
            <a:solidFill>
              <a:srgbClr val="FFFFFF">
                <a:alpha val="8000"/>
              </a:srgbClr>
            </a:solidFill>
            <a:prstDash val="solid"/>
          </a:ln>
        </p:spPr>
      </p:sp>
      <p:sp>
        <p:nvSpPr>
          <p:cNvPr id="12" name="Text 10"/>
          <p:cNvSpPr/>
          <p:nvPr/>
        </p:nvSpPr>
        <p:spPr>
          <a:xfrm>
            <a:off x="9513570" y="1935480"/>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03</a:t>
            </a:r>
            <a:endParaRPr lang="en-US" sz="3150" dirty="0"/>
          </a:p>
        </p:txBody>
      </p:sp>
      <p:sp>
        <p:nvSpPr>
          <p:cNvPr id="13" name="Text 11"/>
          <p:cNvSpPr/>
          <p:nvPr/>
        </p:nvSpPr>
        <p:spPr>
          <a:xfrm>
            <a:off x="9513570" y="2510790"/>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Core Functions</a:t>
            </a:r>
            <a:endParaRPr lang="en-US" sz="1575" dirty="0"/>
          </a:p>
        </p:txBody>
      </p:sp>
      <p:sp>
        <p:nvSpPr>
          <p:cNvPr id="14" name="Text 12"/>
          <p:cNvSpPr/>
          <p:nvPr/>
        </p:nvSpPr>
        <p:spPr>
          <a:xfrm>
            <a:off x="9513570" y="2857500"/>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SUM, AVERAGE, MIN, MAX answer most number questions instantly</a:t>
            </a:r>
            <a:endParaRPr lang="en-US" sz="1350" dirty="0"/>
          </a:p>
        </p:txBody>
      </p:sp>
      <p:sp>
        <p:nvSpPr>
          <p:cNvPr id="15" name="Shape 13"/>
          <p:cNvSpPr/>
          <p:nvPr/>
        </p:nvSpPr>
        <p:spPr>
          <a:xfrm>
            <a:off x="13382625" y="1680210"/>
            <a:ext cx="3952875" cy="3811905"/>
          </a:xfrm>
          <a:prstGeom prst="roundRect">
            <a:avLst>
              <a:gd name="adj" fmla="val 2999"/>
            </a:avLst>
          </a:prstGeom>
          <a:solidFill>
            <a:srgbClr val="161B22"/>
          </a:solidFill>
          <a:ln w="7620">
            <a:solidFill>
              <a:srgbClr val="FFFFFF">
                <a:alpha val="8000"/>
              </a:srgbClr>
            </a:solidFill>
            <a:prstDash val="solid"/>
          </a:ln>
        </p:spPr>
      </p:sp>
      <p:sp>
        <p:nvSpPr>
          <p:cNvPr id="16" name="Text 14"/>
          <p:cNvSpPr/>
          <p:nvPr/>
        </p:nvSpPr>
        <p:spPr>
          <a:xfrm>
            <a:off x="13656945" y="1935480"/>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04</a:t>
            </a:r>
            <a:endParaRPr lang="en-US" sz="3150" dirty="0"/>
          </a:p>
        </p:txBody>
      </p:sp>
      <p:sp>
        <p:nvSpPr>
          <p:cNvPr id="17" name="Text 15"/>
          <p:cNvSpPr/>
          <p:nvPr/>
        </p:nvSpPr>
        <p:spPr>
          <a:xfrm>
            <a:off x="13656945" y="2510790"/>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Sort &amp; Filter</a:t>
            </a:r>
            <a:endParaRPr lang="en-US" sz="1575" dirty="0"/>
          </a:p>
        </p:txBody>
      </p:sp>
      <p:sp>
        <p:nvSpPr>
          <p:cNvPr id="18" name="Text 16"/>
          <p:cNvSpPr/>
          <p:nvPr/>
        </p:nvSpPr>
        <p:spPr>
          <a:xfrm>
            <a:off x="13656945" y="2857500"/>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Multi-level sort + SUBTOTAL-aware filtering to slice any dataset</a:t>
            </a:r>
            <a:endParaRPr lang="en-US" sz="1350" dirty="0"/>
          </a:p>
        </p:txBody>
      </p:sp>
      <p:sp>
        <p:nvSpPr>
          <p:cNvPr id="19" name="Shape 17"/>
          <p:cNvSpPr/>
          <p:nvPr/>
        </p:nvSpPr>
        <p:spPr>
          <a:xfrm>
            <a:off x="952500" y="5682615"/>
            <a:ext cx="3952875" cy="3842385"/>
          </a:xfrm>
          <a:prstGeom prst="roundRect">
            <a:avLst>
              <a:gd name="adj" fmla="val 2975"/>
            </a:avLst>
          </a:prstGeom>
          <a:solidFill>
            <a:srgbClr val="161B22"/>
          </a:solidFill>
          <a:ln w="7620">
            <a:solidFill>
              <a:srgbClr val="FFFFFF">
                <a:alpha val="8000"/>
              </a:srgbClr>
            </a:solidFill>
            <a:prstDash val="solid"/>
          </a:ln>
        </p:spPr>
      </p:sp>
      <p:sp>
        <p:nvSpPr>
          <p:cNvPr id="20" name="Text 18"/>
          <p:cNvSpPr/>
          <p:nvPr/>
        </p:nvSpPr>
        <p:spPr>
          <a:xfrm>
            <a:off x="1226820" y="5937885"/>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05</a:t>
            </a:r>
            <a:endParaRPr lang="en-US" sz="3150" dirty="0"/>
          </a:p>
        </p:txBody>
      </p:sp>
      <p:sp>
        <p:nvSpPr>
          <p:cNvPr id="21" name="Text 19"/>
          <p:cNvSpPr/>
          <p:nvPr/>
        </p:nvSpPr>
        <p:spPr>
          <a:xfrm>
            <a:off x="1226820" y="6513195"/>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Lookup &amp; Logic</a:t>
            </a:r>
            <a:endParaRPr lang="en-US" sz="1575" dirty="0"/>
          </a:p>
        </p:txBody>
      </p:sp>
      <p:sp>
        <p:nvSpPr>
          <p:cNvPr id="22" name="Text 20"/>
          <p:cNvSpPr/>
          <p:nvPr/>
        </p:nvSpPr>
        <p:spPr>
          <a:xfrm>
            <a:off x="1226820" y="6859905"/>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VLOOKUP connects tables · COUNTIF counts · SUMIF totals conditionally</a:t>
            </a:r>
            <a:endParaRPr lang="en-US" sz="1350" dirty="0"/>
          </a:p>
        </p:txBody>
      </p:sp>
      <p:sp>
        <p:nvSpPr>
          <p:cNvPr id="23" name="Shape 21"/>
          <p:cNvSpPr/>
          <p:nvPr/>
        </p:nvSpPr>
        <p:spPr>
          <a:xfrm>
            <a:off x="5095875" y="5682615"/>
            <a:ext cx="3952875" cy="3842385"/>
          </a:xfrm>
          <a:prstGeom prst="roundRect">
            <a:avLst>
              <a:gd name="adj" fmla="val 2975"/>
            </a:avLst>
          </a:prstGeom>
          <a:solidFill>
            <a:srgbClr val="161B22"/>
          </a:solidFill>
          <a:ln w="7620">
            <a:solidFill>
              <a:srgbClr val="FFFFFF">
                <a:alpha val="8000"/>
              </a:srgbClr>
            </a:solidFill>
            <a:prstDash val="solid"/>
          </a:ln>
        </p:spPr>
      </p:sp>
      <p:sp>
        <p:nvSpPr>
          <p:cNvPr id="24" name="Text 22"/>
          <p:cNvSpPr/>
          <p:nvPr/>
        </p:nvSpPr>
        <p:spPr>
          <a:xfrm>
            <a:off x="5370195" y="5937885"/>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06</a:t>
            </a:r>
            <a:endParaRPr lang="en-US" sz="3150" dirty="0"/>
          </a:p>
        </p:txBody>
      </p:sp>
      <p:sp>
        <p:nvSpPr>
          <p:cNvPr id="25" name="Text 23"/>
          <p:cNvSpPr/>
          <p:nvPr/>
        </p:nvSpPr>
        <p:spPr>
          <a:xfrm>
            <a:off x="5370195" y="6513195"/>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Charts</a:t>
            </a:r>
            <a:endParaRPr lang="en-US" sz="1575" dirty="0"/>
          </a:p>
        </p:txBody>
      </p:sp>
      <p:sp>
        <p:nvSpPr>
          <p:cNvPr id="26" name="Text 24"/>
          <p:cNvSpPr/>
          <p:nvPr/>
        </p:nvSpPr>
        <p:spPr>
          <a:xfrm>
            <a:off x="5370195" y="6859905"/>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Bar for comparison · Line for trends · Pie for part-to-whole only</a:t>
            </a:r>
            <a:endParaRPr lang="en-US" sz="1350" dirty="0"/>
          </a:p>
        </p:txBody>
      </p:sp>
      <p:sp>
        <p:nvSpPr>
          <p:cNvPr id="27" name="Shape 25"/>
          <p:cNvSpPr/>
          <p:nvPr/>
        </p:nvSpPr>
        <p:spPr>
          <a:xfrm>
            <a:off x="9239250" y="5682615"/>
            <a:ext cx="3952875" cy="3842385"/>
          </a:xfrm>
          <a:prstGeom prst="roundRect">
            <a:avLst>
              <a:gd name="adj" fmla="val 2975"/>
            </a:avLst>
          </a:prstGeom>
          <a:solidFill>
            <a:srgbClr val="161B22"/>
          </a:solidFill>
          <a:ln w="7620">
            <a:solidFill>
              <a:srgbClr val="FFFFFF">
                <a:alpha val="8000"/>
              </a:srgbClr>
            </a:solidFill>
            <a:prstDash val="solid"/>
          </a:ln>
        </p:spPr>
      </p:sp>
      <p:sp>
        <p:nvSpPr>
          <p:cNvPr id="28" name="Text 26"/>
          <p:cNvSpPr/>
          <p:nvPr/>
        </p:nvSpPr>
        <p:spPr>
          <a:xfrm>
            <a:off x="9513570" y="5937885"/>
            <a:ext cx="3506362" cy="518160"/>
          </a:xfrm>
          <a:prstGeom prst="rect">
            <a:avLst/>
          </a:prstGeom>
          <a:noFill/>
          <a:ln/>
        </p:spPr>
        <p:txBody>
          <a:bodyPr wrap="square" lIns="25400" tIns="25400" rIns="25400" bIns="25400" rtlCol="0" anchor="t">
            <a:normAutofit/>
          </a:bodyPr>
          <a:lstStyle/>
          <a:p>
            <a:pPr algn="l" indent="0" marL="0">
              <a:buNone/>
            </a:pPr>
            <a:r>
              <a:rPr lang="en-US" sz="3150" b="1" dirty="0">
                <a:solidFill>
                  <a:srgbClr val="2DD4BF"/>
                </a:solidFill>
                <a:latin typeface="Arial" pitchFamily="34" charset="0"/>
                <a:ea typeface="Arial" pitchFamily="34" charset="-122"/>
                <a:cs typeface="Arial" pitchFamily="34" charset="-120"/>
              </a:rPr>
              <a:t>07</a:t>
            </a:r>
            <a:endParaRPr lang="en-US" sz="3150" dirty="0"/>
          </a:p>
        </p:txBody>
      </p:sp>
      <p:sp>
        <p:nvSpPr>
          <p:cNvPr id="29" name="Text 27"/>
          <p:cNvSpPr/>
          <p:nvPr/>
        </p:nvSpPr>
        <p:spPr>
          <a:xfrm>
            <a:off x="9513570" y="6513195"/>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Pivot Tables</a:t>
            </a:r>
            <a:endParaRPr lang="en-US" sz="1575" dirty="0"/>
          </a:p>
        </p:txBody>
      </p:sp>
      <p:sp>
        <p:nvSpPr>
          <p:cNvPr id="30" name="Text 28"/>
          <p:cNvSpPr/>
          <p:nvPr/>
        </p:nvSpPr>
        <p:spPr>
          <a:xfrm>
            <a:off x="9513570" y="6859905"/>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Summarize 1,000+ rows into a clear, interactive report — no formulas</a:t>
            </a:r>
            <a:endParaRPr lang="en-US" sz="1350" dirty="0"/>
          </a:p>
        </p:txBody>
      </p:sp>
      <p:sp>
        <p:nvSpPr>
          <p:cNvPr id="31" name="Shape 29"/>
          <p:cNvSpPr/>
          <p:nvPr/>
        </p:nvSpPr>
        <p:spPr>
          <a:xfrm>
            <a:off x="13382625" y="5682615"/>
            <a:ext cx="3952875" cy="3842385"/>
          </a:xfrm>
          <a:prstGeom prst="roundRect">
            <a:avLst>
              <a:gd name="adj" fmla="val 2975"/>
            </a:avLst>
          </a:prstGeom>
          <a:solidFill>
            <a:srgbClr val="2DD4BF">
              <a:alpha val="5000"/>
            </a:srgbClr>
          </a:solidFill>
          <a:ln w="7620">
            <a:solidFill>
              <a:srgbClr val="2DD4BF">
                <a:alpha val="25000"/>
              </a:srgbClr>
            </a:solidFill>
            <a:prstDash val="solid"/>
          </a:ln>
        </p:spPr>
      </p:sp>
      <p:sp>
        <p:nvSpPr>
          <p:cNvPr id="32" name="Text 30"/>
          <p:cNvSpPr/>
          <p:nvPr/>
        </p:nvSpPr>
        <p:spPr>
          <a:xfrm>
            <a:off x="13656945" y="5937885"/>
            <a:ext cx="3506362" cy="548640"/>
          </a:xfrm>
          <a:prstGeom prst="rect">
            <a:avLst/>
          </a:prstGeom>
          <a:noFill/>
          <a:ln/>
        </p:spPr>
        <p:txBody>
          <a:bodyPr wrap="square" lIns="25400" tIns="25400" rIns="25400" bIns="25400" rtlCol="0" anchor="t">
            <a:normAutofit/>
          </a:bodyPr>
          <a:lstStyle/>
          <a:p>
            <a:pPr algn="l" indent="0" marL="0">
              <a:buNone/>
            </a:pPr>
            <a:r>
              <a:rPr lang="en-US" sz="3000" dirty="0">
                <a:solidFill>
                  <a:srgbClr val="F0F6FC"/>
                </a:solidFill>
                <a:latin typeface="Arial" pitchFamily="34" charset="0"/>
                <a:ea typeface="Arial" pitchFamily="34" charset="-122"/>
                <a:cs typeface="Arial" pitchFamily="34" charset="-120"/>
              </a:rPr>
              <a:t>🎯</a:t>
            </a:r>
            <a:endParaRPr lang="en-US" sz="3000" dirty="0"/>
          </a:p>
        </p:txBody>
      </p:sp>
      <p:sp>
        <p:nvSpPr>
          <p:cNvPr id="33" name="Text 31"/>
          <p:cNvSpPr/>
          <p:nvPr/>
        </p:nvSpPr>
        <p:spPr>
          <a:xfrm>
            <a:off x="13656945" y="6543675"/>
            <a:ext cx="3506362" cy="289560"/>
          </a:xfrm>
          <a:prstGeom prst="rect">
            <a:avLst/>
          </a:prstGeom>
          <a:noFill/>
          <a:ln/>
        </p:spPr>
        <p:txBody>
          <a:bodyPr wrap="square" lIns="25400" tIns="25400" rIns="25400" bIns="25400" rtlCol="0" anchor="t">
            <a:normAutofit/>
          </a:bodyPr>
          <a:lstStyle/>
          <a:p>
            <a:pPr algn="l" indent="0" marL="0">
              <a:buNone/>
            </a:pPr>
            <a:r>
              <a:rPr lang="en-US" sz="1575" b="1" dirty="0">
                <a:solidFill>
                  <a:srgbClr val="F0F6FC"/>
                </a:solidFill>
                <a:latin typeface="Arial" pitchFamily="34" charset="0"/>
                <a:ea typeface="Arial" pitchFamily="34" charset="-122"/>
                <a:cs typeface="Arial" pitchFamily="34" charset="-120"/>
              </a:rPr>
              <a:t>What's next?</a:t>
            </a:r>
            <a:endParaRPr lang="en-US" sz="1575" dirty="0"/>
          </a:p>
        </p:txBody>
      </p:sp>
      <p:sp>
        <p:nvSpPr>
          <p:cNvPr id="34" name="Text 32"/>
          <p:cNvSpPr/>
          <p:nvPr/>
        </p:nvSpPr>
        <p:spPr>
          <a:xfrm>
            <a:off x="13656945" y="6890385"/>
            <a:ext cx="350636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7D8590"/>
                </a:solidFill>
                <a:latin typeface="Arial" pitchFamily="34" charset="0"/>
                <a:ea typeface="Arial" pitchFamily="34" charset="-122"/>
                <a:cs typeface="Arial" pitchFamily="34" charset="-120"/>
              </a:rPr>
              <a:t>Use these skills on real work this week while they're fresh. Repetition builds mastery.</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DD4BF">
              <a:alpha val="6000"/>
            </a:srgbClr>
          </a:solidFill>
          <a:ln/>
        </p:spPr>
      </p:sp>
      <p:sp>
        <p:nvSpPr>
          <p:cNvPr id="3" name="Shape 1"/>
          <p:cNvSpPr/>
          <p:nvPr/>
        </p:nvSpPr>
        <p:spPr>
          <a:xfrm>
            <a:off x="8286750" y="1733550"/>
            <a:ext cx="1714500" cy="1714500"/>
          </a:xfrm>
          <a:prstGeom prst="ellipse">
            <a:avLst/>
          </a:prstGeom>
          <a:ln w="22860">
            <a:solidFill>
              <a:srgbClr val="2DD4BF">
                <a:alpha val="30000"/>
              </a:srgbClr>
            </a:solidFill>
            <a:prstDash val="solid"/>
          </a:ln>
        </p:spPr>
      </p:sp>
      <p:sp>
        <p:nvSpPr>
          <p:cNvPr id="4" name="Shape 2"/>
          <p:cNvSpPr/>
          <p:nvPr/>
        </p:nvSpPr>
        <p:spPr>
          <a:xfrm>
            <a:off x="8477250" y="1924050"/>
            <a:ext cx="1333500" cy="1333500"/>
          </a:xfrm>
          <a:prstGeom prst="ellipse">
            <a:avLst/>
          </a:prstGeom>
          <a:solidFill>
            <a:srgbClr val="2DD4BF">
              <a:alpha val="10000"/>
            </a:srgbClr>
          </a:solidFill>
          <a:ln w="15240">
            <a:solidFill>
              <a:srgbClr val="2DD4BF"/>
            </a:solidFill>
            <a:prstDash val="solid"/>
          </a:ln>
        </p:spPr>
      </p:sp>
      <p:sp>
        <p:nvSpPr>
          <p:cNvPr id="5" name="Text 3"/>
          <p:cNvSpPr/>
          <p:nvPr/>
        </p:nvSpPr>
        <p:spPr>
          <a:xfrm>
            <a:off x="8454390" y="1939290"/>
            <a:ext cx="1379220" cy="1341120"/>
          </a:xfrm>
          <a:prstGeom prst="rect">
            <a:avLst/>
          </a:prstGeom>
          <a:noFill/>
          <a:ln/>
        </p:spPr>
        <p:txBody>
          <a:bodyPr wrap="square" lIns="25400" tIns="25400" rIns="25400" bIns="25400" rtlCol="0" anchor="ctr">
            <a:normAutofit/>
          </a:bodyPr>
          <a:lstStyle/>
          <a:p>
            <a:pPr algn="ctr" indent="0" marL="0">
              <a:buNone/>
            </a:pPr>
            <a:r>
              <a:rPr lang="en-US" sz="3600" b="1" dirty="0">
                <a:solidFill>
                  <a:srgbClr val="2DD4BF"/>
                </a:solidFill>
                <a:latin typeface="Arial" pitchFamily="34" charset="0"/>
                <a:ea typeface="Arial" pitchFamily="34" charset="-122"/>
                <a:cs typeface="Arial" pitchFamily="34" charset="-120"/>
              </a:rPr>
              <a:t>XL</a:t>
            </a:r>
            <a:endParaRPr lang="en-US" sz="3600" dirty="0"/>
          </a:p>
        </p:txBody>
      </p:sp>
      <p:sp>
        <p:nvSpPr>
          <p:cNvPr id="6" name="Text 4"/>
          <p:cNvSpPr/>
          <p:nvPr/>
        </p:nvSpPr>
        <p:spPr>
          <a:xfrm>
            <a:off x="7417678" y="3905250"/>
            <a:ext cx="3452526" cy="792480"/>
          </a:xfrm>
          <a:prstGeom prst="rect">
            <a:avLst/>
          </a:prstGeom>
          <a:noFill/>
          <a:ln/>
        </p:spPr>
        <p:txBody>
          <a:bodyPr wrap="square" lIns="25400" tIns="25400" rIns="25400" bIns="25400" rtlCol="0" anchor="t">
            <a:normAutofit/>
          </a:bodyPr>
          <a:lstStyle/>
          <a:p>
            <a:pPr algn="ctr" indent="0" marL="0">
              <a:lnSpc>
                <a:spcPct val="110000"/>
              </a:lnSpc>
              <a:buNone/>
            </a:pPr>
            <a:r>
              <a:rPr lang="en-US" sz="5400" b="1" spc="-75" kern="0" dirty="0">
                <a:solidFill>
                  <a:srgbClr val="F0F6FC"/>
                </a:solidFill>
                <a:latin typeface="Arial" pitchFamily="34" charset="0"/>
                <a:ea typeface="Arial" pitchFamily="34" charset="-122"/>
                <a:cs typeface="Arial" pitchFamily="34" charset="-120"/>
              </a:rPr>
              <a:t>Thank You</a:t>
            </a:r>
            <a:endParaRPr lang="en-US" sz="5400" dirty="0"/>
          </a:p>
        </p:txBody>
      </p:sp>
      <p:sp>
        <p:nvSpPr>
          <p:cNvPr id="7" name="Text 5"/>
          <p:cNvSpPr/>
          <p:nvPr/>
        </p:nvSpPr>
        <p:spPr>
          <a:xfrm>
            <a:off x="5710238" y="4812030"/>
            <a:ext cx="6867525" cy="1524000"/>
          </a:xfrm>
          <a:prstGeom prst="rect">
            <a:avLst/>
          </a:prstGeom>
          <a:noFill/>
          <a:ln/>
        </p:spPr>
        <p:txBody>
          <a:bodyPr wrap="square" lIns="25400" tIns="25400" rIns="25400" bIns="25400" rtlCol="0" anchor="t">
            <a:normAutofit/>
          </a:bodyPr>
          <a:lstStyle/>
          <a:p>
            <a:pPr algn="ctr" indent="0" marL="0">
              <a:lnSpc>
                <a:spcPct val="130000"/>
              </a:lnSpc>
              <a:buNone/>
            </a:pPr>
            <a:r>
              <a:rPr lang="en-US" sz="3000" dirty="0">
                <a:solidFill>
                  <a:srgbClr val="7D8590"/>
                </a:solidFill>
                <a:latin typeface="Arial" pitchFamily="34" charset="0"/>
                <a:ea typeface="Arial" pitchFamily="34" charset="-122"/>
                <a:cs typeface="Arial" pitchFamily="34" charset="-120"/>
              </a:rPr>
              <a:t>The difference between someone who's good at Excel and someone who's not is just </a:t>
            </a:r>
            <a:pPr algn="ctr" indent="0" marL="0">
              <a:lnSpc>
                <a:spcPct val="130000"/>
              </a:lnSpc>
              <a:buNone/>
            </a:pPr>
            <a:r>
              <a:rPr lang="en-US" sz="3000" dirty="0">
                <a:solidFill>
                  <a:srgbClr val="2DD4BF"/>
                </a:solidFill>
                <a:latin typeface="Arial" pitchFamily="34" charset="0"/>
                <a:ea typeface="Arial" pitchFamily="34" charset="-122"/>
                <a:cs typeface="Arial" pitchFamily="34" charset="-120"/>
              </a:rPr>
              <a:t>practice</a:t>
            </a:r>
            <a:pPr algn="ctr" indent="0" marL="0">
              <a:lnSpc>
                <a:spcPct val="130000"/>
              </a:lnSpc>
              <a:buNone/>
            </a:pPr>
            <a:r>
              <a:rPr lang="en-US" sz="3000" dirty="0">
                <a:solidFill>
                  <a:srgbClr val="7D8590"/>
                </a:solidFill>
                <a:latin typeface="Arial" pitchFamily="34" charset="0"/>
                <a:ea typeface="Arial" pitchFamily="34" charset="-122"/>
                <a:cs typeface="Arial" pitchFamily="34" charset="-120"/>
              </a:rPr>
              <a:t>.</a:t>
            </a:r>
            <a:endParaRPr lang="en-US" sz="3000" dirty="0"/>
          </a:p>
        </p:txBody>
      </p:sp>
      <p:sp>
        <p:nvSpPr>
          <p:cNvPr id="8" name="Shape 6"/>
          <p:cNvSpPr/>
          <p:nvPr/>
        </p:nvSpPr>
        <p:spPr>
          <a:xfrm>
            <a:off x="4632484" y="6602730"/>
            <a:ext cx="2362081" cy="1097280"/>
          </a:xfrm>
          <a:prstGeom prst="roundRect">
            <a:avLst>
              <a:gd name="adj" fmla="val 10417"/>
            </a:avLst>
          </a:prstGeom>
          <a:solidFill>
            <a:srgbClr val="161B22"/>
          </a:solidFill>
          <a:ln w="7620">
            <a:solidFill>
              <a:srgbClr val="FFFFFF">
                <a:alpha val="8000"/>
              </a:srgbClr>
            </a:solidFill>
            <a:prstDash val="solid"/>
          </a:ln>
        </p:spPr>
      </p:sp>
      <p:sp>
        <p:nvSpPr>
          <p:cNvPr id="9" name="Text 7"/>
          <p:cNvSpPr/>
          <p:nvPr/>
        </p:nvSpPr>
        <p:spPr>
          <a:xfrm>
            <a:off x="4983004" y="6838950"/>
            <a:ext cx="1661041" cy="251460"/>
          </a:xfrm>
          <a:prstGeom prst="rect">
            <a:avLst/>
          </a:prstGeom>
          <a:noFill/>
          <a:ln/>
        </p:spPr>
        <p:txBody>
          <a:bodyPr wrap="square" lIns="25400" tIns="25400" rIns="25400" bIns="25400" rtlCol="0" anchor="t">
            <a:normAutofit/>
          </a:bodyPr>
          <a:lstStyle/>
          <a:p>
            <a:pPr algn="ctr" indent="0" marL="0">
              <a:buNone/>
            </a:pPr>
            <a:r>
              <a:rPr lang="en-US" sz="1350" b="1" spc="108" kern="0" dirty="0">
                <a:solidFill>
                  <a:srgbClr val="7D8590"/>
                </a:solidFill>
                <a:latin typeface="Arial" pitchFamily="34" charset="0"/>
                <a:ea typeface="Arial" pitchFamily="34" charset="-122"/>
                <a:cs typeface="Arial" pitchFamily="34" charset="-120"/>
              </a:rPr>
              <a:t>INSTRUCTOR</a:t>
            </a:r>
            <a:endParaRPr lang="en-US" sz="1350" dirty="0"/>
          </a:p>
        </p:txBody>
      </p:sp>
      <p:sp>
        <p:nvSpPr>
          <p:cNvPr id="10" name="Text 8"/>
          <p:cNvSpPr/>
          <p:nvPr/>
        </p:nvSpPr>
        <p:spPr>
          <a:xfrm>
            <a:off x="4983004" y="7128510"/>
            <a:ext cx="1661041" cy="373380"/>
          </a:xfrm>
          <a:prstGeom prst="rect">
            <a:avLst/>
          </a:prstGeom>
          <a:noFill/>
          <a:ln/>
        </p:spPr>
        <p:txBody>
          <a:bodyPr wrap="square" lIns="25400" tIns="25400" rIns="25400" bIns="25400" rtlCol="0" anchor="t">
            <a:normAutofit/>
          </a:bodyPr>
          <a:lstStyle/>
          <a:p>
            <a:pPr algn="ctr" indent="0" marL="0">
              <a:buNone/>
            </a:pPr>
            <a:r>
              <a:rPr lang="en-US" sz="2100" b="1" dirty="0">
                <a:solidFill>
                  <a:srgbClr val="F0F6FC"/>
                </a:solidFill>
                <a:latin typeface="Arial" pitchFamily="34" charset="0"/>
                <a:ea typeface="Arial" pitchFamily="34" charset="-122"/>
                <a:cs typeface="Arial" pitchFamily="34" charset="-120"/>
              </a:rPr>
              <a:t>[Your Name]</a:t>
            </a:r>
            <a:endParaRPr lang="en-US" sz="2100" dirty="0"/>
          </a:p>
        </p:txBody>
      </p:sp>
      <p:sp>
        <p:nvSpPr>
          <p:cNvPr id="11" name="Shape 9"/>
          <p:cNvSpPr/>
          <p:nvPr/>
        </p:nvSpPr>
        <p:spPr>
          <a:xfrm>
            <a:off x="7299365" y="6640830"/>
            <a:ext cx="3482578" cy="1021080"/>
          </a:xfrm>
          <a:prstGeom prst="roundRect">
            <a:avLst>
              <a:gd name="adj" fmla="val 11194"/>
            </a:avLst>
          </a:prstGeom>
          <a:solidFill>
            <a:srgbClr val="161B22"/>
          </a:solidFill>
          <a:ln w="7620">
            <a:solidFill>
              <a:srgbClr val="FFFFFF">
                <a:alpha val="8000"/>
              </a:srgbClr>
            </a:solidFill>
            <a:prstDash val="solid"/>
          </a:ln>
        </p:spPr>
      </p:sp>
      <p:sp>
        <p:nvSpPr>
          <p:cNvPr id="12" name="Text 10"/>
          <p:cNvSpPr/>
          <p:nvPr/>
        </p:nvSpPr>
        <p:spPr>
          <a:xfrm>
            <a:off x="7647405" y="6877050"/>
            <a:ext cx="2786498" cy="251460"/>
          </a:xfrm>
          <a:prstGeom prst="rect">
            <a:avLst/>
          </a:prstGeom>
          <a:noFill/>
          <a:ln/>
        </p:spPr>
        <p:txBody>
          <a:bodyPr wrap="square" lIns="25400" tIns="25400" rIns="25400" bIns="25400" rtlCol="0" anchor="t">
            <a:normAutofit/>
          </a:bodyPr>
          <a:lstStyle/>
          <a:p>
            <a:pPr algn="ctr" indent="0" marL="0">
              <a:buNone/>
            </a:pPr>
            <a:r>
              <a:rPr lang="en-US" sz="1350" b="1" spc="108" kern="0" dirty="0">
                <a:solidFill>
                  <a:srgbClr val="7D8590"/>
                </a:solidFill>
                <a:latin typeface="Arial" pitchFamily="34" charset="0"/>
                <a:ea typeface="Arial" pitchFamily="34" charset="-122"/>
                <a:cs typeface="Arial" pitchFamily="34" charset="-120"/>
              </a:rPr>
              <a:t>EMAIL</a:t>
            </a:r>
            <a:endParaRPr lang="en-US" sz="1350" dirty="0"/>
          </a:p>
        </p:txBody>
      </p:sp>
      <p:sp>
        <p:nvSpPr>
          <p:cNvPr id="13" name="Text 11"/>
          <p:cNvSpPr/>
          <p:nvPr/>
        </p:nvSpPr>
        <p:spPr>
          <a:xfrm>
            <a:off x="7647405" y="7166610"/>
            <a:ext cx="2786498"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2DD4BF"/>
                </a:solidFill>
                <a:latin typeface="Arial" pitchFamily="34" charset="0"/>
                <a:ea typeface="Arial" pitchFamily="34" charset="-122"/>
                <a:cs typeface="Arial" pitchFamily="34" charset="-120"/>
              </a:rPr>
              <a:t>[ instructor@company.com ]</a:t>
            </a:r>
            <a:endParaRPr lang="en-US" sz="1800" dirty="0"/>
          </a:p>
        </p:txBody>
      </p:sp>
      <p:sp>
        <p:nvSpPr>
          <p:cNvPr id="14" name="Shape 12"/>
          <p:cNvSpPr/>
          <p:nvPr/>
        </p:nvSpPr>
        <p:spPr>
          <a:xfrm>
            <a:off x="11086743" y="6640830"/>
            <a:ext cx="2568773" cy="1021080"/>
          </a:xfrm>
          <a:prstGeom prst="roundRect">
            <a:avLst>
              <a:gd name="adj" fmla="val 11194"/>
            </a:avLst>
          </a:prstGeom>
          <a:solidFill>
            <a:srgbClr val="161B22"/>
          </a:solidFill>
          <a:ln w="7620">
            <a:solidFill>
              <a:srgbClr val="FFFFFF">
                <a:alpha val="8000"/>
              </a:srgbClr>
            </a:solidFill>
            <a:prstDash val="solid"/>
          </a:ln>
        </p:spPr>
      </p:sp>
      <p:sp>
        <p:nvSpPr>
          <p:cNvPr id="15" name="Text 13"/>
          <p:cNvSpPr/>
          <p:nvPr/>
        </p:nvSpPr>
        <p:spPr>
          <a:xfrm>
            <a:off x="11437264" y="6877050"/>
            <a:ext cx="1867734" cy="251460"/>
          </a:xfrm>
          <a:prstGeom prst="rect">
            <a:avLst/>
          </a:prstGeom>
          <a:noFill/>
          <a:ln/>
        </p:spPr>
        <p:txBody>
          <a:bodyPr wrap="square" lIns="25400" tIns="25400" rIns="25400" bIns="25400" rtlCol="0" anchor="t">
            <a:normAutofit/>
          </a:bodyPr>
          <a:lstStyle/>
          <a:p>
            <a:pPr algn="ctr" indent="0" marL="0">
              <a:buNone/>
            </a:pPr>
            <a:r>
              <a:rPr lang="en-US" sz="1350" b="1" spc="108" kern="0" dirty="0">
                <a:solidFill>
                  <a:srgbClr val="7D8590"/>
                </a:solidFill>
                <a:latin typeface="Arial" pitchFamily="34" charset="0"/>
                <a:ea typeface="Arial" pitchFamily="34" charset="-122"/>
                <a:cs typeface="Arial" pitchFamily="34" charset="-120"/>
              </a:rPr>
              <a:t>RESOURCES</a:t>
            </a:r>
            <a:endParaRPr lang="en-US" sz="1350" dirty="0"/>
          </a:p>
        </p:txBody>
      </p:sp>
      <p:sp>
        <p:nvSpPr>
          <p:cNvPr id="16" name="Text 14"/>
          <p:cNvSpPr/>
          <p:nvPr/>
        </p:nvSpPr>
        <p:spPr>
          <a:xfrm>
            <a:off x="11437264" y="7166610"/>
            <a:ext cx="1867734"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22D3EE"/>
                </a:solidFill>
                <a:latin typeface="Arial" pitchFamily="34" charset="0"/>
                <a:ea typeface="Arial" pitchFamily="34" charset="-122"/>
                <a:cs typeface="Arial" pitchFamily="34" charset="-120"/>
              </a:rPr>
              <a:t>[shared drive link]</a:t>
            </a:r>
            <a:endParaRPr lang="en-US" sz="1800" dirty="0"/>
          </a:p>
        </p:txBody>
      </p:sp>
      <p:sp>
        <p:nvSpPr>
          <p:cNvPr id="17" name="Text 15"/>
          <p:cNvSpPr/>
          <p:nvPr/>
        </p:nvSpPr>
        <p:spPr>
          <a:xfrm>
            <a:off x="8262342" y="8157210"/>
            <a:ext cx="1763197" cy="434340"/>
          </a:xfrm>
          <a:prstGeom prst="rect">
            <a:avLst/>
          </a:prstGeom>
          <a:noFill/>
          <a:ln/>
        </p:spPr>
        <p:txBody>
          <a:bodyPr wrap="square" lIns="25400" tIns="25400" rIns="25400" bIns="25400" rtlCol="0" anchor="t">
            <a:normAutofit/>
          </a:bodyPr>
          <a:lstStyle/>
          <a:p>
            <a:pPr algn="ctr" indent="0" marL="0">
              <a:buNone/>
            </a:pPr>
            <a:r>
              <a:rPr lang="en-US" sz="2700" spc="-37" kern="0" dirty="0">
                <a:solidFill>
                  <a:srgbClr val="7D8590"/>
                </a:solidFill>
                <a:latin typeface="Arial" pitchFamily="34" charset="0"/>
                <a:ea typeface="Arial" pitchFamily="34" charset="-122"/>
                <a:cs typeface="Arial" pitchFamily="34" charset="-120"/>
              </a:rPr>
              <a:t>Questions?</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2026-04-24T19:37:00Z</dcterms:created>
  <dcterms:modified xsi:type="dcterms:W3CDTF">2026-04-24T19:37:00Z</dcterms:modified>
</cp:coreProperties>
</file>